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1"/>
  </p:notesMasterIdLst>
  <p:sldIdLst>
    <p:sldId id="689" r:id="rId2"/>
    <p:sldId id="690" r:id="rId3"/>
    <p:sldId id="691" r:id="rId4"/>
    <p:sldId id="692" r:id="rId5"/>
    <p:sldId id="693" r:id="rId6"/>
    <p:sldId id="694" r:id="rId7"/>
    <p:sldId id="695" r:id="rId8"/>
    <p:sldId id="696" r:id="rId9"/>
    <p:sldId id="697" r:id="rId10"/>
    <p:sldId id="698" r:id="rId11"/>
    <p:sldId id="699" r:id="rId12"/>
    <p:sldId id="700" r:id="rId13"/>
    <p:sldId id="701" r:id="rId14"/>
    <p:sldId id="702" r:id="rId15"/>
    <p:sldId id="703" r:id="rId16"/>
    <p:sldId id="704" r:id="rId17"/>
    <p:sldId id="705" r:id="rId18"/>
    <p:sldId id="706" r:id="rId19"/>
    <p:sldId id="707" r:id="rId20"/>
    <p:sldId id="708" r:id="rId21"/>
    <p:sldId id="709" r:id="rId22"/>
    <p:sldId id="710" r:id="rId23"/>
    <p:sldId id="711" r:id="rId24"/>
    <p:sldId id="712" r:id="rId25"/>
    <p:sldId id="713" r:id="rId26"/>
    <p:sldId id="714" r:id="rId27"/>
    <p:sldId id="715" r:id="rId28"/>
    <p:sldId id="716" r:id="rId29"/>
    <p:sldId id="717" r:id="rId30"/>
    <p:sldId id="718" r:id="rId31"/>
    <p:sldId id="719" r:id="rId32"/>
    <p:sldId id="720" r:id="rId33"/>
    <p:sldId id="721" r:id="rId34"/>
    <p:sldId id="722" r:id="rId35"/>
    <p:sldId id="723" r:id="rId36"/>
    <p:sldId id="724" r:id="rId37"/>
    <p:sldId id="725" r:id="rId38"/>
    <p:sldId id="726" r:id="rId39"/>
    <p:sldId id="727" r:id="rId40"/>
    <p:sldId id="728" r:id="rId41"/>
    <p:sldId id="729" r:id="rId42"/>
    <p:sldId id="730" r:id="rId43"/>
    <p:sldId id="731" r:id="rId44"/>
    <p:sldId id="732" r:id="rId45"/>
    <p:sldId id="733" r:id="rId46"/>
    <p:sldId id="734" r:id="rId47"/>
    <p:sldId id="735" r:id="rId48"/>
    <p:sldId id="736" r:id="rId49"/>
    <p:sldId id="737" r:id="rId50"/>
    <p:sldId id="738" r:id="rId51"/>
    <p:sldId id="739" r:id="rId52"/>
    <p:sldId id="740" r:id="rId53"/>
    <p:sldId id="741" r:id="rId54"/>
    <p:sldId id="742" r:id="rId55"/>
    <p:sldId id="743" r:id="rId56"/>
    <p:sldId id="744" r:id="rId57"/>
    <p:sldId id="745" r:id="rId58"/>
    <p:sldId id="746" r:id="rId59"/>
    <p:sldId id="747" r:id="rId6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042" autoAdjust="0"/>
    <p:restoredTop sz="94669"/>
  </p:normalViewPr>
  <p:slideViewPr>
    <p:cSldViewPr snapToGrid="0">
      <p:cViewPr varScale="1">
        <p:scale>
          <a:sx n="209" d="100"/>
          <a:sy n="209" d="100"/>
        </p:scale>
        <p:origin x="465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AB7413-AF54-469D-ABFD-75D5619B0007}" type="datetimeFigureOut">
              <a:rPr lang="zh-CN" altLang="en-US" smtClean="0"/>
              <a:t>2026/3/24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0A31E6-CBE9-40EA-A2F4-8D17CCD5DDDB}"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www.officeplus.cn/p/51/102751.shtml" TargetMode="External"/><Relationship Id="rId7" Type="http://schemas.openxmlformats.org/officeDocument/2006/relationships/hyperlink" Target="https://zhuanlan.zhihu.com/p/335298500" TargetMode="External"/><Relationship Id="rId2" Type="http://schemas.openxmlformats.org/officeDocument/2006/relationships/slide" Target="../slides/slide1.xml"/><Relationship Id="rId1" Type="http://schemas.openxmlformats.org/officeDocument/2006/relationships/notesMaster" Target="../notesMasters/notesMaster1.xml"/><Relationship Id="rId6" Type="http://schemas.openxmlformats.org/officeDocument/2006/relationships/hyperlink" Target="https://weibo.com/p/1005052284144087/photos?type=photo" TargetMode="External"/><Relationship Id="rId5" Type="http://schemas.openxmlformats.org/officeDocument/2006/relationships/hyperlink" Target="https://www.seu.edu.cn/bsxtwxw/main.htm" TargetMode="External"/><Relationship Id="rId4" Type="http://schemas.openxmlformats.org/officeDocument/2006/relationships/hyperlink" Target="https://mp.weixin.qq.com/mp/profile_ext?action=home&amp;__biz=MzA4MzM3Mzc3Ng==&amp;scene=124#wechat_redirect"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85750" indent="-285750">
              <a:lnSpc>
                <a:spcPct val="150000"/>
              </a:lnSpc>
              <a:buFont typeface="Arial" panose="020B0604020202020204" pitchFamily="34" charset="0"/>
              <a:buChar char="•"/>
            </a:pPr>
            <a:r>
              <a:rPr lang="zh-CN" altLang="en-US" dirty="0">
                <a:cs typeface="+mn-ea"/>
                <a:sym typeface="+mn-lt"/>
              </a:rPr>
              <a:t>本模板基于“</a:t>
            </a:r>
            <a:r>
              <a:rPr lang="zh-CN" altLang="en-US" dirty="0">
                <a:hlinkClick r:id="rId3"/>
              </a:rPr>
              <a:t>中国科学院大学</a:t>
            </a:r>
            <a:r>
              <a:rPr lang="en-US" altLang="zh-CN" dirty="0">
                <a:hlinkClick r:id="rId3"/>
              </a:rPr>
              <a:t>-</a:t>
            </a:r>
            <a:r>
              <a:rPr lang="zh-CN" altLang="en-US" dirty="0">
                <a:hlinkClick r:id="rId3"/>
              </a:rPr>
              <a:t>路人丁</a:t>
            </a:r>
            <a:r>
              <a:rPr lang="en-US" altLang="zh-CN" dirty="0">
                <a:hlinkClick r:id="rId3"/>
              </a:rPr>
              <a:t>-PPT</a:t>
            </a:r>
            <a:r>
              <a:rPr lang="zh-CN" altLang="en-US" dirty="0">
                <a:hlinkClick r:id="rId3"/>
              </a:rPr>
              <a:t>模板</a:t>
            </a:r>
            <a:r>
              <a:rPr lang="zh-CN" altLang="en-US" dirty="0"/>
              <a:t>”魔改而成，著作权归该作者所有。</a:t>
            </a:r>
            <a:endParaRPr lang="en-US" altLang="zh-CN" dirty="0"/>
          </a:p>
          <a:p>
            <a:pPr marL="285750" indent="-285750">
              <a:lnSpc>
                <a:spcPct val="150000"/>
              </a:lnSpc>
              <a:buFont typeface="Arial" panose="020B0604020202020204" pitchFamily="34" charset="0"/>
              <a:buChar char="•"/>
            </a:pPr>
            <a:r>
              <a:rPr lang="zh-CN" altLang="en-US" dirty="0"/>
              <a:t>本模板中使用的东南大学校徽、校标文字组合、校训文字等素材来自于微信公众号“</a:t>
            </a:r>
            <a:r>
              <a:rPr lang="zh-CN" altLang="en-US" dirty="0">
                <a:hlinkClick r:id="rId4"/>
              </a:rPr>
              <a:t>金木屋</a:t>
            </a:r>
            <a:r>
              <a:rPr lang="zh-CN" altLang="en-US" dirty="0"/>
              <a:t>”。</a:t>
            </a:r>
            <a:endParaRPr lang="en-US" altLang="zh-CN" dirty="0"/>
          </a:p>
          <a:p>
            <a:pPr marL="285750" indent="-285750">
              <a:lnSpc>
                <a:spcPct val="150000"/>
              </a:lnSpc>
              <a:buFont typeface="Arial" panose="020B0604020202020204" pitchFamily="34" charset="0"/>
              <a:buChar char="•"/>
            </a:pPr>
            <a:r>
              <a:rPr lang="zh-CN" altLang="en-US" dirty="0"/>
              <a:t>本模板的视觉设计参考了“</a:t>
            </a:r>
            <a:r>
              <a:rPr lang="zh-CN" altLang="en-US" dirty="0">
                <a:hlinkClick r:id="rId5"/>
              </a:rPr>
              <a:t>东南大学视觉识别系统</a:t>
            </a:r>
            <a:r>
              <a:rPr lang="zh-CN" altLang="en-US" dirty="0"/>
              <a:t>”。</a:t>
            </a:r>
            <a:endParaRPr lang="en-US" altLang="zh-CN" dirty="0"/>
          </a:p>
          <a:p>
            <a:pPr marL="285750" indent="-285750">
              <a:lnSpc>
                <a:spcPct val="150000"/>
              </a:lnSpc>
              <a:buFont typeface="Arial" panose="020B0604020202020204" pitchFamily="34" charset="0"/>
              <a:buChar char="•"/>
            </a:pPr>
            <a:r>
              <a:rPr lang="zh-CN" altLang="en-US" dirty="0"/>
              <a:t>人物介绍页头像素材来自 </a:t>
            </a:r>
            <a:r>
              <a:rPr lang="zh-CN" altLang="en-US" dirty="0">
                <a:hlinkClick r:id="rId6"/>
              </a:rPr>
              <a:t>小肥柴</a:t>
            </a:r>
            <a:r>
              <a:rPr lang="zh-CN" altLang="en-US" dirty="0"/>
              <a:t>。</a:t>
            </a:r>
            <a:endParaRPr lang="en-US" altLang="zh-CN" dirty="0"/>
          </a:p>
          <a:p>
            <a:pPr marL="285750" indent="-285750">
              <a:lnSpc>
                <a:spcPct val="150000"/>
              </a:lnSpc>
              <a:buFont typeface="Arial" panose="020B0604020202020204" pitchFamily="34" charset="0"/>
              <a:buChar char="•"/>
            </a:pPr>
            <a:endParaRPr lang="en-US" altLang="zh-CN" sz="800" dirty="0"/>
          </a:p>
          <a:p>
            <a:pPr marL="285750" indent="-285750">
              <a:lnSpc>
                <a:spcPct val="150000"/>
              </a:lnSpc>
              <a:buFont typeface="Arial" panose="020B0604020202020204" pitchFamily="34" charset="0"/>
              <a:buChar char="•"/>
            </a:pPr>
            <a:r>
              <a:rPr lang="zh-CN" altLang="en-US" dirty="0"/>
              <a:t>本模板力求简洁，布局合理，主次分明。以学术风为设计理念，适用于学术报告与论文答辩等相关应用场景。模板未使用任何动画效果。</a:t>
            </a:r>
            <a:endParaRPr lang="en-US" altLang="zh-CN" dirty="0"/>
          </a:p>
          <a:p>
            <a:pPr marL="285750" indent="-285750">
              <a:lnSpc>
                <a:spcPct val="150000"/>
              </a:lnSpc>
              <a:buFont typeface="Arial" panose="020B0604020202020204" pitchFamily="34" charset="0"/>
              <a:buChar char="•"/>
            </a:pPr>
            <a:r>
              <a:rPr lang="zh-CN" altLang="en-US" dirty="0"/>
              <a:t>您仅可以以个人非商业用途使用本</a:t>
            </a:r>
            <a:r>
              <a:rPr lang="en-US" altLang="zh-CN" dirty="0"/>
              <a:t>PPT</a:t>
            </a:r>
            <a:r>
              <a:rPr lang="zh-CN" altLang="en-US" dirty="0"/>
              <a:t>模板，不可将信息内容的全部或部分用以出售，或以出租、出借、转让、分销、发布等其他任何方式供其他人使用。</a:t>
            </a:r>
            <a:endParaRPr lang="en-US" altLang="zh-CN" dirty="0"/>
          </a:p>
          <a:p>
            <a:pPr marL="285750" indent="-285750">
              <a:lnSpc>
                <a:spcPct val="150000"/>
              </a:lnSpc>
              <a:buFont typeface="Arial" panose="020B0604020202020204" pitchFamily="34" charset="0"/>
              <a:buChar char="•"/>
            </a:pPr>
            <a:endParaRPr lang="en-US" altLang="zh-CN" sz="800" dirty="0"/>
          </a:p>
          <a:p>
            <a:pPr marL="285750" indent="-285750">
              <a:lnSpc>
                <a:spcPct val="150000"/>
              </a:lnSpc>
              <a:buFont typeface="Arial" panose="020B0604020202020204" pitchFamily="34" charset="0"/>
              <a:buChar char="•"/>
            </a:pPr>
            <a:r>
              <a:rPr lang="zh-CN" altLang="en-US" dirty="0"/>
              <a:t>欢迎 </a:t>
            </a:r>
            <a:r>
              <a:rPr lang="zh-CN" altLang="en-US" dirty="0">
                <a:hlinkClick r:id="rId7"/>
              </a:rPr>
              <a:t>持续关注东南大学止于至善学术风</a:t>
            </a:r>
            <a:r>
              <a:rPr lang="en-US" altLang="zh-CN" dirty="0">
                <a:hlinkClick r:id="rId7"/>
              </a:rPr>
              <a:t> PPT </a:t>
            </a:r>
            <a:r>
              <a:rPr lang="zh-CN" altLang="en-US" dirty="0">
                <a:hlinkClick r:id="rId7"/>
              </a:rPr>
              <a:t>模板</a:t>
            </a:r>
            <a:r>
              <a:rPr lang="zh-CN" altLang="en-US" dirty="0"/>
              <a:t> （</a:t>
            </a:r>
            <a:r>
              <a:rPr lang="en-US" altLang="zh-CN" sz="1200" b="0" i="0" kern="1200" dirty="0">
                <a:solidFill>
                  <a:schemeClr val="tx1"/>
                </a:solidFill>
                <a:effectLst/>
                <a:latin typeface="+mn-lt"/>
                <a:ea typeface="+mn-ea"/>
                <a:cs typeface="+mn-cs"/>
              </a:rPr>
              <a:t>https://</a:t>
            </a:r>
            <a:r>
              <a:rPr lang="en-US" altLang="zh-CN" sz="1200" b="0" i="0" kern="1200" dirty="0" err="1">
                <a:solidFill>
                  <a:schemeClr val="tx1"/>
                </a:solidFill>
                <a:effectLst/>
                <a:latin typeface="+mn-lt"/>
                <a:ea typeface="+mn-ea"/>
                <a:cs typeface="+mn-cs"/>
              </a:rPr>
              <a:t>zhuanlan.zhihu.com</a:t>
            </a:r>
            <a:r>
              <a:rPr lang="en-US" altLang="zh-CN" sz="1200" b="0" i="0" kern="1200" dirty="0">
                <a:solidFill>
                  <a:schemeClr val="tx1"/>
                </a:solidFill>
                <a:effectLst/>
                <a:latin typeface="+mn-lt"/>
                <a:ea typeface="+mn-ea"/>
                <a:cs typeface="+mn-cs"/>
              </a:rPr>
              <a:t>/p/335298500</a:t>
            </a:r>
            <a:r>
              <a:rPr lang="zh-CN" altLang="en-US" dirty="0"/>
              <a:t>）后续的功能优化及多语言更新版本。</a:t>
            </a:r>
            <a:endParaRPr lang="en-US" altLang="zh-CN" dirty="0"/>
          </a:p>
          <a:p>
            <a:pPr marL="285750" indent="-285750">
              <a:lnSpc>
                <a:spcPct val="150000"/>
              </a:lnSpc>
              <a:buFont typeface="Arial" panose="020B0604020202020204" pitchFamily="34" charset="0"/>
              <a:buChar char="•"/>
            </a:pPr>
            <a:r>
              <a:rPr lang="zh-CN" altLang="en-US" dirty="0"/>
              <a:t>最后，祝汇报顺利，马到成功！</a:t>
            </a:r>
            <a:endParaRPr lang="en-US" altLang="zh-CN" dirty="0"/>
          </a:p>
          <a:p>
            <a:pPr marL="285750" indent="-285750">
              <a:lnSpc>
                <a:spcPct val="150000"/>
              </a:lnSpc>
              <a:buFont typeface="Arial" panose="020B0604020202020204" pitchFamily="34" charset="0"/>
              <a:buChar char="•"/>
            </a:pPr>
            <a:endParaRPr lang="en-US" altLang="zh-CN" dirty="0"/>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1" lang="en-US" altLang="zh-CN" dirty="0">
                <a:latin typeface="+mn-ea"/>
                <a:cs typeface="Arial" panose="020B0604020202020204" pitchFamily="34" charset="0"/>
              </a:rPr>
              <a:t>Version:</a:t>
            </a:r>
            <a:r>
              <a:rPr kumimoji="1" lang="zh-CN" altLang="en-US" dirty="0">
                <a:latin typeface="+mn-ea"/>
                <a:cs typeface="Arial" panose="020B0604020202020204" pitchFamily="34" charset="0"/>
              </a:rPr>
              <a:t> </a:t>
            </a:r>
            <a:r>
              <a:rPr kumimoji="1" lang="en-US" altLang="zh-CN" dirty="0">
                <a:latin typeface="+mn-ea"/>
                <a:cs typeface="Arial" panose="020B0604020202020204" pitchFamily="34" charset="0"/>
              </a:rPr>
              <a:t>(2021) v1.5-en.</a:t>
            </a:r>
            <a:endParaRPr kumimoji="1" lang="zh-CN" altLang="en-US" dirty="0">
              <a:latin typeface="+mn-ea"/>
              <a:cs typeface="Arial" panose="020B0604020202020204" pitchFamily="34" charset="0"/>
            </a:endParaRPr>
          </a:p>
        </p:txBody>
      </p:sp>
      <p:sp>
        <p:nvSpPr>
          <p:cNvPr id="4" name="灯片编号占位符 3"/>
          <p:cNvSpPr>
            <a:spLocks noGrp="1"/>
          </p:cNvSpPr>
          <p:nvPr>
            <p:ph type="sldNum" sz="quarter" idx="5"/>
          </p:nvPr>
        </p:nvSpPr>
        <p:spPr/>
        <p:txBody>
          <a:bodyPr/>
          <a:lstStyle/>
          <a:p>
            <a:fld id="{6371B729-817F-448C-AF52-5327A9569471}"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t>30</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幻灯片1">
    <p:bg>
      <p:bgPr>
        <a:solidFill>
          <a:schemeClr val="bg1"/>
        </a:solidFill>
        <a:effectLst/>
      </p:bgPr>
    </p:bg>
    <p:spTree>
      <p:nvGrpSpPr>
        <p:cNvPr id="1" name=""/>
        <p:cNvGrpSpPr/>
        <p:nvPr/>
      </p:nvGrpSpPr>
      <p:grpSpPr>
        <a:xfrm>
          <a:off x="0" y="0"/>
          <a:ext cx="0" cy="0"/>
          <a:chOff x="0" y="0"/>
          <a:chExt cx="0" cy="0"/>
        </a:xfrm>
      </p:grpSpPr>
      <p:sp>
        <p:nvSpPr>
          <p:cNvPr id="47" name="箭头: 五边形 46"/>
          <p:cNvSpPr/>
          <p:nvPr userDrawn="1"/>
        </p:nvSpPr>
        <p:spPr>
          <a:xfrm rot="5400000">
            <a:off x="-1070579" y="2025798"/>
            <a:ext cx="6858002" cy="2806406"/>
          </a:xfrm>
          <a:prstGeom prst="homePlate">
            <a:avLst>
              <a:gd name="adj" fmla="val 3223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solidFill>
                <a:schemeClr val="accent6"/>
              </a:solidFill>
              <a:latin typeface="Helvetica Regular" pitchFamily="2" charset="0"/>
            </a:endParaRPr>
          </a:p>
        </p:txBody>
      </p:sp>
      <p:pic>
        <p:nvPicPr>
          <p:cNvPr id="4" name="图片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93142" y="2263721"/>
            <a:ext cx="2330560" cy="233056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页版式">
    <p:bg>
      <p:bgPr>
        <a:solidFill>
          <a:schemeClr val="bg1"/>
        </a:solidFill>
        <a:effectLst/>
      </p:bgPr>
    </p:bg>
    <p:spTree>
      <p:nvGrpSpPr>
        <p:cNvPr id="1" name=""/>
        <p:cNvGrpSpPr/>
        <p:nvPr/>
      </p:nvGrpSpPr>
      <p:grpSpPr>
        <a:xfrm>
          <a:off x="0" y="0"/>
          <a:ext cx="0" cy="0"/>
          <a:chOff x="0" y="0"/>
          <a:chExt cx="0" cy="0"/>
        </a:xfrm>
      </p:grpSpPr>
      <p:sp>
        <p:nvSpPr>
          <p:cNvPr id="85" name="任意多边形: 形状 84"/>
          <p:cNvSpPr/>
          <p:nvPr userDrawn="1"/>
        </p:nvSpPr>
        <p:spPr bwMode="auto">
          <a:xfrm rot="5400000">
            <a:off x="4539448" y="-380490"/>
            <a:ext cx="3113105" cy="2609911"/>
          </a:xfrm>
          <a:custGeom>
            <a:avLst/>
            <a:gdLst>
              <a:gd name="connsiteX0" fmla="*/ 0 w 3113105"/>
              <a:gd name="connsiteY0" fmla="*/ 2609911 h 2609911"/>
              <a:gd name="connsiteX1" fmla="*/ 0 w 3113105"/>
              <a:gd name="connsiteY1" fmla="*/ 0 h 2609911"/>
              <a:gd name="connsiteX2" fmla="*/ 2301594 w 3113105"/>
              <a:gd name="connsiteY2" fmla="*/ 0 h 2609911"/>
              <a:gd name="connsiteX3" fmla="*/ 3113105 w 3113105"/>
              <a:gd name="connsiteY3" fmla="*/ 1304956 h 2609911"/>
              <a:gd name="connsiteX4" fmla="*/ 2301594 w 3113105"/>
              <a:gd name="connsiteY4" fmla="*/ 2609910 h 2609911"/>
              <a:gd name="connsiteX5" fmla="*/ 2301594 w 3113105"/>
              <a:gd name="connsiteY5" fmla="*/ 2609911 h 2609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13105" h="2609911">
                <a:moveTo>
                  <a:pt x="0" y="2609911"/>
                </a:moveTo>
                <a:lnTo>
                  <a:pt x="0" y="0"/>
                </a:lnTo>
                <a:lnTo>
                  <a:pt x="2301594" y="0"/>
                </a:lnTo>
                <a:lnTo>
                  <a:pt x="3113105" y="1304956"/>
                </a:lnTo>
                <a:lnTo>
                  <a:pt x="2301594" y="2609910"/>
                </a:lnTo>
                <a:lnTo>
                  <a:pt x="2301594" y="2609911"/>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bg1"/>
              </a:solidFill>
              <a:latin typeface="Helvetica Regular" pitchFamily="2" charset="0"/>
              <a:cs typeface="+mn-ea"/>
              <a:sym typeface="+mn-lt"/>
            </a:endParaRPr>
          </a:p>
        </p:txBody>
      </p:sp>
      <p:sp>
        <p:nvSpPr>
          <p:cNvPr id="86" name="文本框 85"/>
          <p:cNvSpPr txBox="1"/>
          <p:nvPr userDrawn="1"/>
        </p:nvSpPr>
        <p:spPr>
          <a:xfrm>
            <a:off x="4781377" y="483991"/>
            <a:ext cx="2629246" cy="908262"/>
          </a:xfrm>
          <a:prstGeom prst="rect">
            <a:avLst/>
          </a:prstGeom>
          <a:noFill/>
        </p:spPr>
        <p:txBody>
          <a:bodyPr wrap="none" rtlCol="0">
            <a:spAutoFit/>
          </a:bodyPr>
          <a:lstStyle/>
          <a:p>
            <a:pPr>
              <a:lnSpc>
                <a:spcPct val="130000"/>
              </a:lnSpc>
            </a:pPr>
            <a:r>
              <a:rPr lang="en-US" altLang="zh-CN" sz="4400" b="1" i="0" dirty="0">
                <a:solidFill>
                  <a:schemeClr val="bg1"/>
                </a:solidFill>
                <a:latin typeface="Helvetica" pitchFamily="2" charset="0"/>
                <a:cs typeface="Arial" panose="020B0604020202020204" pitchFamily="34" charset="0"/>
                <a:sym typeface="+mn-lt"/>
              </a:rPr>
              <a:t>Contents</a:t>
            </a:r>
            <a:endParaRPr lang="zh-CN" altLang="en-US" sz="4400" b="1" i="0" dirty="0">
              <a:solidFill>
                <a:schemeClr val="bg1"/>
              </a:solidFill>
              <a:latin typeface="Helvetica" pitchFamily="2" charset="0"/>
              <a:cs typeface="Arial" panose="020B0604020202020204" pitchFamily="34" charset="0"/>
              <a:sym typeface="+mn-lt"/>
            </a:endParaRPr>
          </a:p>
        </p:txBody>
      </p:sp>
      <p:sp>
        <p:nvSpPr>
          <p:cNvPr id="87" name="任意多边形: 形状 86"/>
          <p:cNvSpPr/>
          <p:nvPr userDrawn="1"/>
        </p:nvSpPr>
        <p:spPr bwMode="auto">
          <a:xfrm rot="5400000">
            <a:off x="4384812" y="-485285"/>
            <a:ext cx="3422377" cy="3128773"/>
          </a:xfrm>
          <a:custGeom>
            <a:avLst/>
            <a:gdLst>
              <a:gd name="connsiteX0" fmla="*/ 0 w 3422377"/>
              <a:gd name="connsiteY0" fmla="*/ 3128773 h 3128773"/>
              <a:gd name="connsiteX1" fmla="*/ 0 w 3422377"/>
              <a:gd name="connsiteY1" fmla="*/ 0 h 3128773"/>
              <a:gd name="connsiteX2" fmla="*/ 2449535 w 3422377"/>
              <a:gd name="connsiteY2" fmla="*/ 0 h 3128773"/>
              <a:gd name="connsiteX3" fmla="*/ 3422377 w 3422377"/>
              <a:gd name="connsiteY3" fmla="*/ 1564387 h 3128773"/>
              <a:gd name="connsiteX4" fmla="*/ 2449535 w 3422377"/>
              <a:gd name="connsiteY4" fmla="*/ 3128772 h 3128773"/>
              <a:gd name="connsiteX5" fmla="*/ 2449535 w 3422377"/>
              <a:gd name="connsiteY5" fmla="*/ 3128773 h 3128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2377" h="3128773">
                <a:moveTo>
                  <a:pt x="0" y="3128773"/>
                </a:moveTo>
                <a:lnTo>
                  <a:pt x="0" y="0"/>
                </a:lnTo>
                <a:lnTo>
                  <a:pt x="2449535" y="0"/>
                </a:lnTo>
                <a:lnTo>
                  <a:pt x="3422377" y="1564387"/>
                </a:lnTo>
                <a:lnTo>
                  <a:pt x="2449535" y="3128772"/>
                </a:lnTo>
                <a:lnTo>
                  <a:pt x="2449535" y="3128773"/>
                </a:lnTo>
                <a:close/>
              </a:path>
            </a:pathLst>
          </a:custGeom>
          <a:noFill/>
          <a:ln w="12700">
            <a:solidFill>
              <a:schemeClr val="accent1"/>
            </a:solidFill>
            <a:prstDash val="lgDash"/>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bg1"/>
              </a:solidFill>
              <a:latin typeface="Helvetica Regular" pitchFamily="2" charset="0"/>
              <a:cs typeface="+mn-ea"/>
              <a:sym typeface="+mn-lt"/>
            </a:endParaRPr>
          </a:p>
        </p:txBody>
      </p:sp>
      <p:pic>
        <p:nvPicPr>
          <p:cNvPr id="89" name="图片 88"/>
          <p:cNvPicPr>
            <a:picLocks noChangeAspect="1"/>
          </p:cNvPicPr>
          <p:nvPr userDrawn="1"/>
        </p:nvPicPr>
        <p:blipFill>
          <a:blip r:embed="rId2" cstate="print">
            <a:alphaModFix amt="2000"/>
            <a:extLst>
              <a:ext uri="{28A0092B-C50C-407E-A947-70E740481C1C}">
                <a14:useLocalDpi xmlns:a14="http://schemas.microsoft.com/office/drawing/2010/main" val="0"/>
              </a:ext>
            </a:extLst>
          </a:blip>
          <a:stretch>
            <a:fillRect/>
          </a:stretch>
        </p:blipFill>
        <p:spPr>
          <a:xfrm>
            <a:off x="-3428999" y="0"/>
            <a:ext cx="6858000" cy="6858000"/>
          </a:xfrm>
          <a:prstGeom prst="rect">
            <a:avLst/>
          </a:prstGeom>
        </p:spPr>
      </p:pic>
      <p:pic>
        <p:nvPicPr>
          <p:cNvPr id="90" name="图片 89"/>
          <p:cNvPicPr>
            <a:picLocks noChangeAspect="1"/>
          </p:cNvPicPr>
          <p:nvPr userDrawn="1"/>
        </p:nvPicPr>
        <p:blipFill>
          <a:blip r:embed="rId2" cstate="print">
            <a:alphaModFix amt="2000"/>
            <a:extLst>
              <a:ext uri="{28A0092B-C50C-407E-A947-70E740481C1C}">
                <a14:useLocalDpi xmlns:a14="http://schemas.microsoft.com/office/drawing/2010/main" val="0"/>
              </a:ext>
            </a:extLst>
          </a:blip>
          <a:stretch>
            <a:fillRect/>
          </a:stretch>
        </p:blipFill>
        <p:spPr>
          <a:xfrm>
            <a:off x="8763000" y="0"/>
            <a:ext cx="6858000" cy="68580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转场-短标题1">
    <p:spTree>
      <p:nvGrpSpPr>
        <p:cNvPr id="1" name=""/>
        <p:cNvGrpSpPr/>
        <p:nvPr/>
      </p:nvGrpSpPr>
      <p:grpSpPr>
        <a:xfrm>
          <a:off x="0" y="0"/>
          <a:ext cx="0" cy="0"/>
          <a:chOff x="0" y="0"/>
          <a:chExt cx="0" cy="0"/>
        </a:xfrm>
      </p:grpSpPr>
      <p:sp>
        <p:nvSpPr>
          <p:cNvPr id="6" name="椭圆 5"/>
          <p:cNvSpPr/>
          <p:nvPr userDrawn="1"/>
        </p:nvSpPr>
        <p:spPr>
          <a:xfrm>
            <a:off x="3997387" y="1330387"/>
            <a:ext cx="4197226" cy="419722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elvetica" pitchFamily="2" charset="0"/>
            </a:endParaRPr>
          </a:p>
        </p:txBody>
      </p:sp>
      <p:sp>
        <p:nvSpPr>
          <p:cNvPr id="7" name="文本框 6"/>
          <p:cNvSpPr txBox="1"/>
          <p:nvPr userDrawn="1"/>
        </p:nvSpPr>
        <p:spPr>
          <a:xfrm>
            <a:off x="5093161" y="3044279"/>
            <a:ext cx="2068195" cy="769441"/>
          </a:xfrm>
          <a:prstGeom prst="rect">
            <a:avLst/>
          </a:prstGeom>
          <a:noFill/>
        </p:spPr>
        <p:txBody>
          <a:bodyPr wrap="none" rtlCol="0">
            <a:spAutoFit/>
          </a:bodyPr>
          <a:lstStyle/>
          <a:p>
            <a:pPr algn="ctr"/>
            <a:r>
              <a:rPr lang="en-US" altLang="zh-CN" sz="4400" b="1" i="0" dirty="0">
                <a:solidFill>
                  <a:schemeClr val="bg1"/>
                </a:solidFill>
                <a:latin typeface="Helvetica" pitchFamily="2" charset="0"/>
                <a:cs typeface="Arial" panose="020B0604020202020204" pitchFamily="34" charset="0"/>
              </a:rPr>
              <a:t>Part 01</a:t>
            </a:r>
            <a:endParaRPr lang="zh-CN" altLang="en-US" sz="4400" b="1" i="0" dirty="0">
              <a:solidFill>
                <a:schemeClr val="bg1"/>
              </a:solidFill>
              <a:latin typeface="Helvetica" pitchFamily="2" charset="0"/>
              <a:cs typeface="Arial" panose="020B0604020202020204" pitchFamily="34" charset="0"/>
            </a:endParaRPr>
          </a:p>
        </p:txBody>
      </p:sp>
      <p:cxnSp>
        <p:nvCxnSpPr>
          <p:cNvPr id="8" name="直接连接符 7"/>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椭圆 9"/>
          <p:cNvSpPr/>
          <p:nvPr userDrawn="1"/>
        </p:nvSpPr>
        <p:spPr>
          <a:xfrm>
            <a:off x="3775702" y="1108702"/>
            <a:ext cx="4640596" cy="4640596"/>
          </a:xfrm>
          <a:prstGeom prst="ellipse">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1" name="椭圆 10"/>
          <p:cNvSpPr/>
          <p:nvPr userDrawn="1"/>
        </p:nvSpPr>
        <p:spPr>
          <a:xfrm>
            <a:off x="9613900" y="5273613"/>
            <a:ext cx="764381" cy="76438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2" name="椭圆 11"/>
          <p:cNvSpPr/>
          <p:nvPr userDrawn="1"/>
        </p:nvSpPr>
        <p:spPr>
          <a:xfrm>
            <a:off x="2209800" y="6134100"/>
            <a:ext cx="1130300" cy="1130300"/>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3" name="椭圆 12"/>
          <p:cNvSpPr/>
          <p:nvPr userDrawn="1"/>
        </p:nvSpPr>
        <p:spPr>
          <a:xfrm>
            <a:off x="10818188" y="-911691"/>
            <a:ext cx="2092326" cy="2092326"/>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4" name="椭圆 13"/>
          <p:cNvSpPr/>
          <p:nvPr userDrawn="1"/>
        </p:nvSpPr>
        <p:spPr>
          <a:xfrm>
            <a:off x="-1048048" y="-250249"/>
            <a:ext cx="2861767" cy="2861767"/>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7" name="文本占位符 16"/>
          <p:cNvSpPr>
            <a:spLocks noGrp="1"/>
          </p:cNvSpPr>
          <p:nvPr>
            <p:ph type="body" sz="quarter" idx="10" hasCustomPrompt="1"/>
          </p:nvPr>
        </p:nvSpPr>
        <p:spPr>
          <a:xfrm>
            <a:off x="4098000" y="3951320"/>
            <a:ext cx="3996000" cy="914400"/>
          </a:xfrm>
        </p:spPr>
        <p:txBody>
          <a:bodyPr anchor="ctr" anchorCtr="0">
            <a:normAutofit/>
          </a:bodyPr>
          <a:lstStyle>
            <a:lvl1pPr marL="0" indent="0" algn="ctr">
              <a:buNone/>
              <a:defRPr sz="3200" b="1">
                <a:solidFill>
                  <a:schemeClr val="bg1"/>
                </a:solidFill>
                <a:latin typeface="Helvetica" pitchFamily="2" charset="0"/>
              </a:defRPr>
            </a:lvl1pPr>
          </a:lstStyle>
          <a:p>
            <a:pPr lvl="0"/>
            <a:r>
              <a:rPr lang="en-US" altLang="zh-CN" dirty="0"/>
              <a:t>Edit Here</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转场-短标题2">
    <p:spTree>
      <p:nvGrpSpPr>
        <p:cNvPr id="1" name=""/>
        <p:cNvGrpSpPr/>
        <p:nvPr/>
      </p:nvGrpSpPr>
      <p:grpSpPr>
        <a:xfrm>
          <a:off x="0" y="0"/>
          <a:ext cx="0" cy="0"/>
          <a:chOff x="0" y="0"/>
          <a:chExt cx="0" cy="0"/>
        </a:xfrm>
      </p:grpSpPr>
      <p:sp>
        <p:nvSpPr>
          <p:cNvPr id="6" name="等腰三角形 5"/>
          <p:cNvSpPr/>
          <p:nvPr userDrawn="1"/>
        </p:nvSpPr>
        <p:spPr>
          <a:xfrm>
            <a:off x="4000500" y="1050677"/>
            <a:ext cx="4191000" cy="4097866"/>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7" name="文本框 6"/>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20204" pitchFamily="34" charset="0"/>
              </a:rPr>
              <a:t>Part 02</a:t>
            </a:r>
            <a:endParaRPr lang="zh-CN" altLang="en-US" sz="4400" b="1" i="0" dirty="0">
              <a:solidFill>
                <a:schemeClr val="bg1"/>
              </a:solidFill>
              <a:latin typeface="Helvetica" pitchFamily="2" charset="0"/>
              <a:cs typeface="Arial" panose="020B0604020202020204" pitchFamily="34" charset="0"/>
            </a:endParaRPr>
          </a:p>
        </p:txBody>
      </p:sp>
      <p:cxnSp>
        <p:nvCxnSpPr>
          <p:cNvPr id="8" name="直接连接符 7"/>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等腰三角形 8"/>
          <p:cNvSpPr/>
          <p:nvPr userDrawn="1"/>
        </p:nvSpPr>
        <p:spPr>
          <a:xfrm>
            <a:off x="3564087" y="505131"/>
            <a:ext cx="5063826" cy="4951296"/>
          </a:xfrm>
          <a:prstGeom prst="triangle">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0" name="等腰三角形 9"/>
          <p:cNvSpPr/>
          <p:nvPr userDrawn="1"/>
        </p:nvSpPr>
        <p:spPr>
          <a:xfrm rot="10800000">
            <a:off x="1390650" y="6496115"/>
            <a:ext cx="1493560" cy="1460370"/>
          </a:xfrm>
          <a:prstGeom prst="triangl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等腰三角形 10"/>
          <p:cNvSpPr/>
          <p:nvPr userDrawn="1"/>
        </p:nvSpPr>
        <p:spPr>
          <a:xfrm>
            <a:off x="11153775" y="1013971"/>
            <a:ext cx="2076450" cy="2030307"/>
          </a:xfrm>
          <a:prstGeom prs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等腰三角形 11"/>
          <p:cNvSpPr/>
          <p:nvPr userDrawn="1"/>
        </p:nvSpPr>
        <p:spPr>
          <a:xfrm rot="10800000">
            <a:off x="-414337" y="-187450"/>
            <a:ext cx="2386788" cy="2333749"/>
          </a:xfrm>
          <a:prstGeom prst="triangl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等腰三角形 12"/>
          <p:cNvSpPr/>
          <p:nvPr userDrawn="1"/>
        </p:nvSpPr>
        <p:spPr>
          <a:xfrm rot="5400000">
            <a:off x="9449232" y="5270665"/>
            <a:ext cx="883117" cy="863492"/>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8" name="文本占位符 17"/>
          <p:cNvSpPr>
            <a:spLocks noGrp="1"/>
          </p:cNvSpPr>
          <p:nvPr>
            <p:ph type="body" sz="quarter" idx="11" hasCustomPrompt="1"/>
          </p:nvPr>
        </p:nvSpPr>
        <p:spPr>
          <a:xfrm>
            <a:off x="4098000" y="3959372"/>
            <a:ext cx="3996000" cy="914400"/>
          </a:xfrm>
        </p:spPr>
        <p:txBody>
          <a:bodyPr anchor="ctr" anchorCtr="0"/>
          <a:lstStyle>
            <a:lvl1pPr marL="0" indent="0" algn="ctr">
              <a:buNone/>
              <a:defRPr b="1">
                <a:solidFill>
                  <a:schemeClr val="bg1"/>
                </a:solidFill>
                <a:latin typeface="Helvetica" pitchFamily="2" charset="0"/>
              </a:defRPr>
            </a:lvl1pPr>
            <a:lvl3pPr marL="914400" indent="0">
              <a:buNone/>
              <a:defRPr/>
            </a:lvl3pPr>
          </a:lstStyle>
          <a:p>
            <a:pPr lvl="0"/>
            <a:r>
              <a:rPr lang="en-US" altLang="zh-CN" dirty="0"/>
              <a:t>Edit Here</a:t>
            </a:r>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转场-短标题3">
    <p:spTree>
      <p:nvGrpSpPr>
        <p:cNvPr id="1" name=""/>
        <p:cNvGrpSpPr/>
        <p:nvPr/>
      </p:nvGrpSpPr>
      <p:grpSpPr>
        <a:xfrm>
          <a:off x="0" y="0"/>
          <a:ext cx="0" cy="0"/>
          <a:chOff x="0" y="0"/>
          <a:chExt cx="0" cy="0"/>
        </a:xfrm>
      </p:grpSpPr>
      <p:sp>
        <p:nvSpPr>
          <p:cNvPr id="6" name="矩形 5"/>
          <p:cNvSpPr/>
          <p:nvPr userDrawn="1"/>
        </p:nvSpPr>
        <p:spPr>
          <a:xfrm rot="18893364">
            <a:off x="4380710" y="1706822"/>
            <a:ext cx="3444573" cy="344457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7" name="矩形 6"/>
          <p:cNvSpPr/>
          <p:nvPr userDrawn="1"/>
        </p:nvSpPr>
        <p:spPr>
          <a:xfrm rot="18893364">
            <a:off x="4161891" y="1495013"/>
            <a:ext cx="3868219" cy="3868219"/>
          </a:xfrm>
          <a:prstGeom prst="rect">
            <a:avLst/>
          </a:prstGeom>
          <a:noFill/>
          <a:ln>
            <a:solidFill>
              <a:schemeClr val="accent1">
                <a:shade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8" name="文本框 7"/>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20204" pitchFamily="34" charset="0"/>
              </a:rPr>
              <a:t>Part 03</a:t>
            </a:r>
            <a:endParaRPr lang="zh-CN" altLang="en-US" sz="4400" b="1" i="0" dirty="0">
              <a:solidFill>
                <a:schemeClr val="bg1"/>
              </a:solidFill>
              <a:latin typeface="Helvetica" pitchFamily="2" charset="0"/>
              <a:cs typeface="Arial" panose="020B0604020202020204" pitchFamily="34" charset="0"/>
            </a:endParaRPr>
          </a:p>
        </p:txBody>
      </p:sp>
      <p:cxnSp>
        <p:nvCxnSpPr>
          <p:cNvPr id="9" name="直接连接符 8"/>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矩形 9"/>
          <p:cNvSpPr/>
          <p:nvPr userDrawn="1"/>
        </p:nvSpPr>
        <p:spPr>
          <a:xfrm rot="18893364">
            <a:off x="-897505" y="-513190"/>
            <a:ext cx="2663805" cy="2663805"/>
          </a:xfrm>
          <a:prstGeom prst="rect">
            <a:avLst/>
          </a:prstGeom>
          <a:solidFill>
            <a:srgbClr val="A4A8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矩形 10"/>
          <p:cNvSpPr/>
          <p:nvPr userDrawn="1"/>
        </p:nvSpPr>
        <p:spPr>
          <a:xfrm rot="18893364">
            <a:off x="725976" y="6497388"/>
            <a:ext cx="1300124" cy="1300124"/>
          </a:xfrm>
          <a:prstGeom prst="rect">
            <a:avLst/>
          </a:prstGeom>
          <a:solidFill>
            <a:srgbClr val="C3C7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矩形 11"/>
          <p:cNvSpPr/>
          <p:nvPr userDrawn="1"/>
        </p:nvSpPr>
        <p:spPr>
          <a:xfrm rot="18893364">
            <a:off x="11407699" y="1261300"/>
            <a:ext cx="1568601" cy="1568601"/>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矩形 12"/>
          <p:cNvSpPr/>
          <p:nvPr userDrawn="1"/>
        </p:nvSpPr>
        <p:spPr>
          <a:xfrm rot="18893364">
            <a:off x="9270159" y="5188596"/>
            <a:ext cx="861175" cy="861175"/>
          </a:xfrm>
          <a:prstGeom prst="rect">
            <a:avLst/>
          </a:prstGeom>
          <a:solidFill>
            <a:srgbClr val="8589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p:cNvSpPr>
            <a:spLocks noGrp="1"/>
          </p:cNvSpPr>
          <p:nvPr userDrawn="1">
            <p:ph type="body" sz="quarter" idx="10" hasCustomPrompt="1"/>
          </p:nvPr>
        </p:nvSpPr>
        <p:spPr>
          <a:xfrm>
            <a:off x="4098000" y="3947897"/>
            <a:ext cx="3996000" cy="914400"/>
          </a:xfrm>
        </p:spPr>
        <p:txBody>
          <a:bodyPr anchor="ctr" anchorCtr="0"/>
          <a:lstStyle>
            <a:lvl1pPr marL="0" indent="0" algn="ctr">
              <a:buNone/>
              <a:defRPr b="1">
                <a:solidFill>
                  <a:schemeClr val="bg1"/>
                </a:solidFill>
                <a:latin typeface="Helvetica" pitchFamily="2" charset="0"/>
              </a:defRPr>
            </a:lvl1pPr>
            <a:lvl2pPr marL="457200" indent="0">
              <a:buNone/>
              <a:defRPr/>
            </a:lvl2pPr>
          </a:lstStyle>
          <a:p>
            <a:pPr lvl="0"/>
            <a:r>
              <a:rPr lang="en-US" altLang="zh-CN" dirty="0"/>
              <a:t>Edit Here</a:t>
            </a:r>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转场-短标题4">
    <p:spTree>
      <p:nvGrpSpPr>
        <p:cNvPr id="1" name=""/>
        <p:cNvGrpSpPr/>
        <p:nvPr/>
      </p:nvGrpSpPr>
      <p:grpSpPr>
        <a:xfrm>
          <a:off x="0" y="0"/>
          <a:ext cx="0" cy="0"/>
          <a:chOff x="0" y="0"/>
          <a:chExt cx="0" cy="0"/>
        </a:xfrm>
      </p:grpSpPr>
      <p:sp>
        <p:nvSpPr>
          <p:cNvPr id="6" name="五边形 5"/>
          <p:cNvSpPr>
            <a:spLocks noChangeAspect="1"/>
          </p:cNvSpPr>
          <p:nvPr userDrawn="1"/>
        </p:nvSpPr>
        <p:spPr>
          <a:xfrm>
            <a:off x="3870642" y="1106412"/>
            <a:ext cx="4450715" cy="4238776"/>
          </a:xfrm>
          <a:prstGeom prst="pent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7" name="文本框 6"/>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20204" pitchFamily="34" charset="0"/>
              </a:rPr>
              <a:t>Part 04</a:t>
            </a:r>
            <a:endParaRPr lang="zh-CN" altLang="en-US" sz="4400" b="1" i="0" dirty="0">
              <a:solidFill>
                <a:schemeClr val="bg1"/>
              </a:solidFill>
              <a:latin typeface="Helvetica" pitchFamily="2" charset="0"/>
              <a:cs typeface="Arial" panose="020B0604020202020204" pitchFamily="34" charset="0"/>
            </a:endParaRPr>
          </a:p>
        </p:txBody>
      </p:sp>
      <p:cxnSp>
        <p:nvCxnSpPr>
          <p:cNvPr id="8" name="直接连接符 7"/>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五边形 8"/>
          <p:cNvSpPr>
            <a:spLocks noChangeAspect="1"/>
          </p:cNvSpPr>
          <p:nvPr userDrawn="1"/>
        </p:nvSpPr>
        <p:spPr>
          <a:xfrm>
            <a:off x="3575685" y="806045"/>
            <a:ext cx="5040628" cy="4800598"/>
          </a:xfrm>
          <a:prstGeom prst="pentagon">
            <a:avLst/>
          </a:prstGeom>
          <a:noFill/>
          <a:ln>
            <a:solidFill>
              <a:schemeClr val="accent1">
                <a:shade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0" name="五边形 9"/>
          <p:cNvSpPr>
            <a:spLocks noChangeAspect="1"/>
          </p:cNvSpPr>
          <p:nvPr userDrawn="1"/>
        </p:nvSpPr>
        <p:spPr>
          <a:xfrm rot="18978551">
            <a:off x="1199607" y="5189314"/>
            <a:ext cx="1114961" cy="1061868"/>
          </a:xfrm>
          <a:prstGeom prst="pentagon">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五边形 10"/>
          <p:cNvSpPr>
            <a:spLocks noChangeAspect="1"/>
          </p:cNvSpPr>
          <p:nvPr userDrawn="1"/>
        </p:nvSpPr>
        <p:spPr>
          <a:xfrm>
            <a:off x="-1122630" y="516786"/>
            <a:ext cx="2245259" cy="2138343"/>
          </a:xfrm>
          <a:prstGeom prst="pentagon">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五边形 11"/>
          <p:cNvSpPr>
            <a:spLocks noChangeAspect="1"/>
          </p:cNvSpPr>
          <p:nvPr userDrawn="1"/>
        </p:nvSpPr>
        <p:spPr>
          <a:xfrm rot="6589711">
            <a:off x="10153440" y="4944146"/>
            <a:ext cx="2774574" cy="2642453"/>
          </a:xfrm>
          <a:prstGeom prst="pentagon">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五边形 12"/>
          <p:cNvSpPr>
            <a:spLocks noChangeAspect="1"/>
          </p:cNvSpPr>
          <p:nvPr userDrawn="1"/>
        </p:nvSpPr>
        <p:spPr>
          <a:xfrm rot="10800000">
            <a:off x="9654125" y="-530934"/>
            <a:ext cx="1114961" cy="1061868"/>
          </a:xfrm>
          <a:prstGeom prst="pentagon">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p:cNvSpPr>
            <a:spLocks noGrp="1"/>
          </p:cNvSpPr>
          <p:nvPr>
            <p:ph type="body" sz="quarter" idx="10" hasCustomPrompt="1"/>
          </p:nvPr>
        </p:nvSpPr>
        <p:spPr>
          <a:xfrm>
            <a:off x="4098000" y="3947897"/>
            <a:ext cx="3996000" cy="914400"/>
          </a:xfrm>
        </p:spPr>
        <p:txBody>
          <a:bodyPr anchor="ctr" anchorCtr="0"/>
          <a:lstStyle>
            <a:lvl1pPr marL="0" indent="0" algn="ctr">
              <a:buNone/>
              <a:defRPr b="1">
                <a:solidFill>
                  <a:schemeClr val="bg1"/>
                </a:solidFill>
                <a:latin typeface="Helvetica" pitchFamily="2" charset="0"/>
              </a:defRPr>
            </a:lvl1pPr>
          </a:lstStyle>
          <a:p>
            <a:pPr lvl="0"/>
            <a:r>
              <a:rPr lang="en-US" altLang="zh-CN" dirty="0"/>
              <a:t>Edit Here</a:t>
            </a:r>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转场-短标题5">
    <p:spTree>
      <p:nvGrpSpPr>
        <p:cNvPr id="1" name=""/>
        <p:cNvGrpSpPr/>
        <p:nvPr/>
      </p:nvGrpSpPr>
      <p:grpSpPr>
        <a:xfrm>
          <a:off x="0" y="0"/>
          <a:ext cx="0" cy="0"/>
          <a:chOff x="0" y="0"/>
          <a:chExt cx="0" cy="0"/>
        </a:xfrm>
      </p:grpSpPr>
      <p:sp>
        <p:nvSpPr>
          <p:cNvPr id="6" name="六边形 5"/>
          <p:cNvSpPr>
            <a:spLocks noChangeAspect="1"/>
          </p:cNvSpPr>
          <p:nvPr userDrawn="1"/>
        </p:nvSpPr>
        <p:spPr>
          <a:xfrm rot="16200000">
            <a:off x="3978962" y="1603967"/>
            <a:ext cx="4234076" cy="365006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8" name="文本框 7"/>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20204" pitchFamily="34" charset="0"/>
              </a:rPr>
              <a:t>Part 05</a:t>
            </a:r>
            <a:endParaRPr lang="zh-CN" altLang="en-US" sz="4400" b="1" i="0" dirty="0">
              <a:solidFill>
                <a:schemeClr val="bg1"/>
              </a:solidFill>
              <a:latin typeface="Helvetica" pitchFamily="2" charset="0"/>
              <a:cs typeface="Arial" panose="020B0604020202020204" pitchFamily="34" charset="0"/>
            </a:endParaRPr>
          </a:p>
        </p:txBody>
      </p:sp>
      <p:cxnSp>
        <p:nvCxnSpPr>
          <p:cNvPr id="9" name="直接连接符 8"/>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六边形 9"/>
          <p:cNvSpPr/>
          <p:nvPr userDrawn="1"/>
        </p:nvSpPr>
        <p:spPr>
          <a:xfrm rot="16200000">
            <a:off x="3695701" y="1359776"/>
            <a:ext cx="4800598" cy="4138446"/>
          </a:xfrm>
          <a:prstGeom prst="hexagon">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六边形 10"/>
          <p:cNvSpPr>
            <a:spLocks noChangeAspect="1"/>
          </p:cNvSpPr>
          <p:nvPr userDrawn="1"/>
        </p:nvSpPr>
        <p:spPr>
          <a:xfrm rot="16200000">
            <a:off x="-687663" y="4872077"/>
            <a:ext cx="2798353" cy="2412373"/>
          </a:xfrm>
          <a:prstGeom prst="hexagon">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六边形 11"/>
          <p:cNvSpPr>
            <a:spLocks noChangeAspect="1"/>
          </p:cNvSpPr>
          <p:nvPr userDrawn="1"/>
        </p:nvSpPr>
        <p:spPr>
          <a:xfrm rot="16200000">
            <a:off x="9480973" y="5159003"/>
            <a:ext cx="1015781" cy="875673"/>
          </a:xfrm>
          <a:prstGeom prst="hexagon">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六边形 12"/>
          <p:cNvSpPr>
            <a:spLocks noChangeAspect="1"/>
          </p:cNvSpPr>
          <p:nvPr userDrawn="1"/>
        </p:nvSpPr>
        <p:spPr>
          <a:xfrm rot="16200000">
            <a:off x="11493500" y="210644"/>
            <a:ext cx="1397000" cy="1204310"/>
          </a:xfrm>
          <a:prstGeom prst="hexagon">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4" name="六边形 13"/>
          <p:cNvSpPr>
            <a:spLocks noChangeAspect="1"/>
          </p:cNvSpPr>
          <p:nvPr userDrawn="1"/>
        </p:nvSpPr>
        <p:spPr>
          <a:xfrm rot="16200000">
            <a:off x="641459" y="-437837"/>
            <a:ext cx="1015781" cy="875673"/>
          </a:xfrm>
          <a:prstGeom prst="hexagon">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p:cNvSpPr>
            <a:spLocks noGrp="1"/>
          </p:cNvSpPr>
          <p:nvPr>
            <p:ph type="body" sz="quarter" idx="10" hasCustomPrompt="1"/>
          </p:nvPr>
        </p:nvSpPr>
        <p:spPr>
          <a:xfrm>
            <a:off x="4098000" y="3947897"/>
            <a:ext cx="3996000" cy="914400"/>
          </a:xfrm>
        </p:spPr>
        <p:txBody>
          <a:bodyPr anchor="ctr" anchorCtr="0"/>
          <a:lstStyle>
            <a:lvl1pPr marL="0" indent="0" algn="ctr">
              <a:buNone/>
              <a:defRPr b="1">
                <a:solidFill>
                  <a:schemeClr val="bg1"/>
                </a:solidFill>
                <a:latin typeface="Helvetica" pitchFamily="2" charset="0"/>
              </a:defRPr>
            </a:lvl1pPr>
          </a:lstStyle>
          <a:p>
            <a:pPr lvl="0"/>
            <a:r>
              <a:rPr lang="en-US" altLang="zh-CN" dirty="0"/>
              <a:t>Edit Here</a:t>
            </a:r>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转场-短标题6">
    <p:spTree>
      <p:nvGrpSpPr>
        <p:cNvPr id="1" name=""/>
        <p:cNvGrpSpPr/>
        <p:nvPr/>
      </p:nvGrpSpPr>
      <p:grpSpPr>
        <a:xfrm>
          <a:off x="0" y="0"/>
          <a:ext cx="0" cy="0"/>
          <a:chOff x="0" y="0"/>
          <a:chExt cx="0" cy="0"/>
        </a:xfrm>
      </p:grpSpPr>
      <p:sp>
        <p:nvSpPr>
          <p:cNvPr id="6" name="七边形 5"/>
          <p:cNvSpPr>
            <a:spLocks noChangeAspect="1"/>
          </p:cNvSpPr>
          <p:nvPr userDrawn="1"/>
        </p:nvSpPr>
        <p:spPr>
          <a:xfrm>
            <a:off x="3972000" y="1047224"/>
            <a:ext cx="4248000" cy="4248000"/>
          </a:xfrm>
          <a:prstGeom prst="hept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8" name="文本框 7"/>
          <p:cNvSpPr txBox="1"/>
          <p:nvPr userDrawn="1"/>
        </p:nvSpPr>
        <p:spPr>
          <a:xfrm>
            <a:off x="5093161"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20204" pitchFamily="34" charset="0"/>
              </a:rPr>
              <a:t>Part 06</a:t>
            </a:r>
            <a:endParaRPr lang="zh-CN" altLang="en-US" sz="4400" b="1" i="0" dirty="0">
              <a:solidFill>
                <a:schemeClr val="bg1"/>
              </a:solidFill>
              <a:latin typeface="Helvetica" pitchFamily="2" charset="0"/>
              <a:cs typeface="Arial" panose="020B0604020202020204" pitchFamily="34" charset="0"/>
            </a:endParaRPr>
          </a:p>
        </p:txBody>
      </p:sp>
      <p:cxnSp>
        <p:nvCxnSpPr>
          <p:cNvPr id="9" name="直接连接符 8"/>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七边形 9"/>
          <p:cNvSpPr/>
          <p:nvPr userDrawn="1"/>
        </p:nvSpPr>
        <p:spPr>
          <a:xfrm rot="1563509">
            <a:off x="10682028" y="-776191"/>
            <a:ext cx="3268663" cy="3268663"/>
          </a:xfrm>
          <a:prstGeom prst="heptagon">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七边形 10"/>
          <p:cNvSpPr/>
          <p:nvPr userDrawn="1"/>
        </p:nvSpPr>
        <p:spPr>
          <a:xfrm>
            <a:off x="1384129" y="5078241"/>
            <a:ext cx="1047921" cy="1047921"/>
          </a:xfrm>
          <a:prstGeom prst="heptagon">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七边形 11"/>
          <p:cNvSpPr/>
          <p:nvPr userDrawn="1"/>
        </p:nvSpPr>
        <p:spPr>
          <a:xfrm rot="20151602">
            <a:off x="-1111336" y="360448"/>
            <a:ext cx="2222671" cy="2222671"/>
          </a:xfrm>
          <a:prstGeom prst="heptagon">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七边形 12"/>
          <p:cNvSpPr/>
          <p:nvPr userDrawn="1"/>
        </p:nvSpPr>
        <p:spPr>
          <a:xfrm rot="20592885">
            <a:off x="8879510" y="6235700"/>
            <a:ext cx="2222671" cy="2222671"/>
          </a:xfrm>
          <a:prstGeom prst="heptagon">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4" name="七边形 13"/>
          <p:cNvSpPr>
            <a:spLocks noChangeAspect="1"/>
          </p:cNvSpPr>
          <p:nvPr userDrawn="1"/>
        </p:nvSpPr>
        <p:spPr>
          <a:xfrm>
            <a:off x="3683000" y="774700"/>
            <a:ext cx="4826000" cy="4826000"/>
          </a:xfrm>
          <a:prstGeom prst="heptagon">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p:cNvSpPr>
            <a:spLocks noGrp="1"/>
          </p:cNvSpPr>
          <p:nvPr>
            <p:ph type="body" sz="quarter" idx="10" hasCustomPrompt="1"/>
          </p:nvPr>
        </p:nvSpPr>
        <p:spPr>
          <a:xfrm>
            <a:off x="4098000" y="3966909"/>
            <a:ext cx="3996000" cy="914400"/>
          </a:xfrm>
        </p:spPr>
        <p:txBody>
          <a:bodyPr anchor="ctr" anchorCtr="0"/>
          <a:lstStyle>
            <a:lvl1pPr marL="0" indent="0" algn="ctr">
              <a:buNone/>
              <a:defRPr b="1">
                <a:solidFill>
                  <a:schemeClr val="bg1"/>
                </a:solidFill>
                <a:latin typeface="Helvetica" pitchFamily="2" charset="0"/>
              </a:defRPr>
            </a:lvl1pPr>
          </a:lstStyle>
          <a:p>
            <a:pPr lvl="0"/>
            <a:r>
              <a:rPr lang="en-US" altLang="zh-CN" dirty="0"/>
              <a:t>Edit Here</a:t>
            </a: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目录页-长标题">
    <p:bg>
      <p:bgPr>
        <a:solidFill>
          <a:schemeClr val="bg1"/>
        </a:solidFill>
        <a:effectLst/>
      </p:bgPr>
    </p:bg>
    <p:spTree>
      <p:nvGrpSpPr>
        <p:cNvPr id="1" name=""/>
        <p:cNvGrpSpPr/>
        <p:nvPr/>
      </p:nvGrpSpPr>
      <p:grpSpPr>
        <a:xfrm>
          <a:off x="0" y="0"/>
          <a:ext cx="0" cy="0"/>
          <a:chOff x="0" y="0"/>
          <a:chExt cx="0" cy="0"/>
        </a:xfrm>
      </p:grpSpPr>
      <p:sp>
        <p:nvSpPr>
          <p:cNvPr id="6" name="箭头: 五边形 5"/>
          <p:cNvSpPr/>
          <p:nvPr userDrawn="1"/>
        </p:nvSpPr>
        <p:spPr>
          <a:xfrm>
            <a:off x="2" y="0"/>
            <a:ext cx="2835871" cy="6858000"/>
          </a:xfrm>
          <a:prstGeom prst="homePlate">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elvetica" pitchFamily="2" charset="0"/>
            </a:endParaRPr>
          </a:p>
        </p:txBody>
      </p:sp>
      <p:sp>
        <p:nvSpPr>
          <p:cNvPr id="54" name="矩形 53"/>
          <p:cNvSpPr/>
          <p:nvPr/>
        </p:nvSpPr>
        <p:spPr>
          <a:xfrm>
            <a:off x="140677" y="3106616"/>
            <a:ext cx="2520462" cy="1066800"/>
          </a:xfrm>
          <a:prstGeom prst="rect">
            <a:avLst/>
          </a:prstGeom>
          <a:no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Helvetica" pitchFamily="2" charset="0"/>
            </a:endParaRPr>
          </a:p>
        </p:txBody>
      </p:sp>
      <p:sp>
        <p:nvSpPr>
          <p:cNvPr id="2" name="矩形 1"/>
          <p:cNvSpPr/>
          <p:nvPr userDrawn="1"/>
        </p:nvSpPr>
        <p:spPr>
          <a:xfrm>
            <a:off x="2782511" y="612708"/>
            <a:ext cx="8695230" cy="5632585"/>
          </a:xfrm>
          <a:prstGeom prst="rect">
            <a:avLst/>
          </a:prstGeom>
          <a:no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50" name="文本框 49"/>
          <p:cNvSpPr txBox="1"/>
          <p:nvPr/>
        </p:nvSpPr>
        <p:spPr>
          <a:xfrm>
            <a:off x="23448" y="2848709"/>
            <a:ext cx="2782509" cy="1574934"/>
          </a:xfrm>
          <a:prstGeom prst="rect">
            <a:avLst/>
          </a:prstGeom>
          <a:noFill/>
        </p:spPr>
        <p:txBody>
          <a:bodyPr wrap="square" lIns="0" tIns="0" rIns="0" bIns="0" rtlCol="0" anchor="ctr" anchorCtr="0">
            <a:normAutofit/>
          </a:bodyPr>
          <a:lstStyle/>
          <a:p>
            <a:pPr algn="ctr"/>
            <a:r>
              <a:rPr lang="en-US" altLang="zh-CN" sz="4400" b="1" i="0" dirty="0">
                <a:solidFill>
                  <a:schemeClr val="bg1"/>
                </a:solidFill>
                <a:latin typeface="Helvetica" pitchFamily="2" charset="0"/>
                <a:ea typeface="+mj-ea"/>
                <a:cs typeface="Arial" panose="020B0604020202020204" pitchFamily="34" charset="0"/>
              </a:rPr>
              <a:t>Contents</a:t>
            </a:r>
            <a:endParaRPr lang="zh-CN" altLang="en-US" sz="4000" b="1" i="0" dirty="0">
              <a:solidFill>
                <a:schemeClr val="bg1"/>
              </a:solidFill>
              <a:latin typeface="Helvetica" pitchFamily="2" charset="0"/>
              <a:ea typeface="+mj-ea"/>
              <a:cs typeface="Arial" panose="020B0604020202020204" pitchFamily="34" charset="0"/>
            </a:endParaRPr>
          </a:p>
        </p:txBody>
      </p:sp>
      <p:pic>
        <p:nvPicPr>
          <p:cNvPr id="47" name="图片 46"/>
          <p:cNvPicPr>
            <a:picLocks noChangeAspect="1"/>
          </p:cNvPicPr>
          <p:nvPr userDrawn="1"/>
        </p:nvPicPr>
        <p:blipFill>
          <a:blip r:embed="rId2" cstate="print">
            <a:alphaModFix amt="2000"/>
            <a:extLst>
              <a:ext uri="{28A0092B-C50C-407E-A947-70E740481C1C}">
                <a14:useLocalDpi xmlns:a14="http://schemas.microsoft.com/office/drawing/2010/main" val="0"/>
              </a:ext>
            </a:extLst>
          </a:blip>
          <a:stretch>
            <a:fillRect/>
          </a:stretch>
        </p:blipFill>
        <p:spPr>
          <a:xfrm>
            <a:off x="5334000" y="0"/>
            <a:ext cx="6858000" cy="685800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转场-长标题">
    <p:spTree>
      <p:nvGrpSpPr>
        <p:cNvPr id="1" name=""/>
        <p:cNvGrpSpPr/>
        <p:nvPr/>
      </p:nvGrpSpPr>
      <p:grpSpPr>
        <a:xfrm>
          <a:off x="0" y="0"/>
          <a:ext cx="0" cy="0"/>
          <a:chOff x="0" y="0"/>
          <a:chExt cx="0" cy="0"/>
        </a:xfrm>
      </p:grpSpPr>
      <p:sp>
        <p:nvSpPr>
          <p:cNvPr id="7" name="箭头: 五边形 6"/>
          <p:cNvSpPr/>
          <p:nvPr userDrawn="1"/>
        </p:nvSpPr>
        <p:spPr>
          <a:xfrm rot="19659736">
            <a:off x="-59387" y="6355211"/>
            <a:ext cx="1593667" cy="240022"/>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25" name="箭头: 五边形 24"/>
          <p:cNvSpPr/>
          <p:nvPr userDrawn="1"/>
        </p:nvSpPr>
        <p:spPr>
          <a:xfrm rot="19659736">
            <a:off x="501875" y="5626509"/>
            <a:ext cx="1198809" cy="202681"/>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26" name="箭头: 五边形 25"/>
          <p:cNvSpPr/>
          <p:nvPr userDrawn="1"/>
        </p:nvSpPr>
        <p:spPr>
          <a:xfrm rot="19659736">
            <a:off x="11343042" y="442070"/>
            <a:ext cx="869215" cy="124045"/>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27" name="箭头: 五边形 26"/>
          <p:cNvSpPr/>
          <p:nvPr userDrawn="1"/>
        </p:nvSpPr>
        <p:spPr>
          <a:xfrm rot="19659736">
            <a:off x="10829985" y="427917"/>
            <a:ext cx="542830" cy="99029"/>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12" name="任意多边形: 形状 11"/>
          <p:cNvSpPr/>
          <p:nvPr/>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pic>
        <p:nvPicPr>
          <p:cNvPr id="6" name="图片 5"/>
          <p:cNvPicPr>
            <a:picLocks noChangeAspect="1"/>
          </p:cNvPicPr>
          <p:nvPr userDrawn="1"/>
        </p:nvPicPr>
        <p:blipFill>
          <a:blip r:embed="rId2"/>
          <a:stretch>
            <a:fillRect/>
          </a:stretch>
        </p:blipFill>
        <p:spPr>
          <a:xfrm>
            <a:off x="744128" y="6420492"/>
            <a:ext cx="958362" cy="236837"/>
          </a:xfrm>
          <a:prstGeom prst="rect">
            <a:avLst/>
          </a:prstGeom>
        </p:spPr>
      </p:pic>
      <p:pic>
        <p:nvPicPr>
          <p:cNvPr id="11" name="图片 10"/>
          <p:cNvPicPr>
            <a:picLocks noChangeAspect="1"/>
          </p:cNvPicPr>
          <p:nvPr userDrawn="1"/>
        </p:nvPicPr>
        <p:blipFill>
          <a:blip r:embed="rId3"/>
          <a:stretch>
            <a:fillRect/>
          </a:stretch>
        </p:blipFill>
        <p:spPr>
          <a:xfrm>
            <a:off x="9966201" y="381027"/>
            <a:ext cx="1552699" cy="494974"/>
          </a:xfrm>
          <a:prstGeom prst="rect">
            <a:avLst/>
          </a:prstGeom>
        </p:spPr>
      </p:pic>
      <p:sp>
        <p:nvSpPr>
          <p:cNvPr id="8" name="标题 1"/>
          <p:cNvSpPr>
            <a:spLocks noGrp="1"/>
          </p:cNvSpPr>
          <p:nvPr>
            <p:ph type="title" hasCustomPrompt="1"/>
          </p:nvPr>
        </p:nvSpPr>
        <p:spPr>
          <a:xfrm>
            <a:off x="1091255" y="237834"/>
            <a:ext cx="8168208" cy="790865"/>
          </a:xfrm>
        </p:spPr>
        <p:txBody>
          <a:bodyPr wrap="square" lIns="0" tIns="0" rIns="0" bIns="0">
            <a:normAutofit/>
          </a:bodyPr>
          <a:lstStyle>
            <a:lvl1pPr>
              <a:defRPr sz="3600" b="1" i="0">
                <a:solidFill>
                  <a:schemeClr val="accent1"/>
                </a:solidFill>
                <a:latin typeface="Helvetica" pitchFamily="2" charset="0"/>
                <a:cs typeface="Arial" panose="020B0604020202020204" pitchFamily="34"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sp>
        <p:nvSpPr>
          <p:cNvPr id="13" name="日期占位符 12"/>
          <p:cNvSpPr>
            <a:spLocks noGrp="1"/>
          </p:cNvSpPr>
          <p:nvPr>
            <p:ph type="dt" sz="half" idx="10"/>
          </p:nvPr>
        </p:nvSpPr>
        <p:spPr/>
        <p:txBody>
          <a:bodyPr/>
          <a:lstStyle/>
          <a:p>
            <a:endParaRPr lang="zh-CN" altLang="en-US"/>
          </a:p>
        </p:txBody>
      </p:sp>
      <p:sp>
        <p:nvSpPr>
          <p:cNvPr id="14" name="页脚占位符 13"/>
          <p:cNvSpPr>
            <a:spLocks noGrp="1"/>
          </p:cNvSpPr>
          <p:nvPr>
            <p:ph type="ftr" sz="quarter" idx="11"/>
          </p:nvPr>
        </p:nvSpPr>
        <p:spPr/>
        <p:txBody>
          <a:bodyPr/>
          <a:lstStyle/>
          <a:p>
            <a:endParaRPr lang="zh-CN" altLang="en-US" dirty="0"/>
          </a:p>
        </p:txBody>
      </p:sp>
      <p:sp>
        <p:nvSpPr>
          <p:cNvPr id="15" name="灯片编号占位符 14"/>
          <p:cNvSpPr>
            <a:spLocks noGrp="1"/>
          </p:cNvSpPr>
          <p:nvPr>
            <p:ph type="sldNum" sz="quarter" idx="12"/>
          </p:nvPr>
        </p:nvSpPr>
        <p:spPr/>
        <p:txBody>
          <a:bodyPr/>
          <a:lstStyle>
            <a:lvl1pPr>
              <a:defRPr>
                <a:solidFill>
                  <a:schemeClr val="tx1"/>
                </a:solidFill>
              </a:defRPr>
            </a:lvl1pPr>
          </a:lstStyle>
          <a:p>
            <a:fld id="{2515AB8F-1C56-49E9-90C8-78D22B0C1B97}" type="slidenum">
              <a:rPr lang="zh-CN" altLang="en-US" smtClean="0"/>
              <a:t>‹#›</a:t>
            </a:fld>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横向图片">
    <p:spTree>
      <p:nvGrpSpPr>
        <p:cNvPr id="1" name=""/>
        <p:cNvGrpSpPr/>
        <p:nvPr/>
      </p:nvGrpSpPr>
      <p:grpSpPr>
        <a:xfrm>
          <a:off x="0" y="0"/>
          <a:ext cx="0" cy="0"/>
          <a:chOff x="0" y="0"/>
          <a:chExt cx="0" cy="0"/>
        </a:xfrm>
      </p:grpSpPr>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t>‹#›</a:t>
            </a:fld>
            <a:endParaRPr lang="zh-CN" altLang="en-US" dirty="0"/>
          </a:p>
        </p:txBody>
      </p:sp>
      <p:sp>
        <p:nvSpPr>
          <p:cNvPr id="91" name="图片占位符 90"/>
          <p:cNvSpPr>
            <a:spLocks noGrp="1" noChangeAspect="1"/>
          </p:cNvSpPr>
          <p:nvPr>
            <p:ph type="pic" sz="quarter" idx="13"/>
          </p:nvPr>
        </p:nvSpPr>
        <p:spPr>
          <a:xfrm>
            <a:off x="862171" y="1825888"/>
            <a:ext cx="4826535" cy="2736000"/>
          </a:xfrm>
          <a:custGeom>
            <a:avLst/>
            <a:gdLst>
              <a:gd name="connsiteX0" fmla="*/ 0 w 4241800"/>
              <a:gd name="connsiteY0" fmla="*/ 0 h 2404533"/>
              <a:gd name="connsiteX1" fmla="*/ 4241800 w 4241800"/>
              <a:gd name="connsiteY1" fmla="*/ 0 h 2404533"/>
              <a:gd name="connsiteX2" fmla="*/ 4241800 w 4241800"/>
              <a:gd name="connsiteY2" fmla="*/ 2404533 h 2404533"/>
              <a:gd name="connsiteX3" fmla="*/ 0 w 4241800"/>
              <a:gd name="connsiteY3" fmla="*/ 2404533 h 2404533"/>
            </a:gdLst>
            <a:ahLst/>
            <a:cxnLst>
              <a:cxn ang="0">
                <a:pos x="connsiteX0" y="connsiteY0"/>
              </a:cxn>
              <a:cxn ang="0">
                <a:pos x="connsiteX1" y="connsiteY1"/>
              </a:cxn>
              <a:cxn ang="0">
                <a:pos x="connsiteX2" y="connsiteY2"/>
              </a:cxn>
              <a:cxn ang="0">
                <a:pos x="connsiteX3" y="connsiteY3"/>
              </a:cxn>
            </a:cxnLst>
            <a:rect l="l" t="t" r="r" b="b"/>
            <a:pathLst>
              <a:path w="4241800" h="2404533">
                <a:moveTo>
                  <a:pt x="0" y="0"/>
                </a:moveTo>
                <a:lnTo>
                  <a:pt x="4241800" y="0"/>
                </a:lnTo>
                <a:lnTo>
                  <a:pt x="4241800" y="2404533"/>
                </a:lnTo>
                <a:lnTo>
                  <a:pt x="0" y="2404533"/>
                </a:lnTo>
                <a:close/>
              </a:path>
            </a:pathLst>
          </a:custGeom>
        </p:spPr>
        <p:txBody>
          <a:bodyPr wrap="square">
            <a:noAutofit/>
          </a:bodyPr>
          <a:lstStyle/>
          <a:p>
            <a:endParaRPr lang="zh-CN" altLang="en-US"/>
          </a:p>
        </p:txBody>
      </p:sp>
      <p:sp>
        <p:nvSpPr>
          <p:cNvPr id="90" name="任意多边形: 形状 89"/>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标题 1"/>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3" name="图片 92"/>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p:cNvPicPr>
            <a:picLocks noChangeAspect="1"/>
          </p:cNvPicPr>
          <p:nvPr userDrawn="1"/>
        </p:nvPicPr>
        <p:blipFill>
          <a:blip r:embed="rId3"/>
          <a:stretch>
            <a:fillRect/>
          </a:stretch>
        </p:blipFill>
        <p:spPr>
          <a:xfrm>
            <a:off x="9966201" y="381027"/>
            <a:ext cx="1552699" cy="494974"/>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图片">
    <p:spTree>
      <p:nvGrpSpPr>
        <p:cNvPr id="1" name=""/>
        <p:cNvGrpSpPr/>
        <p:nvPr/>
      </p:nvGrpSpPr>
      <p:grpSpPr>
        <a:xfrm>
          <a:off x="0" y="0"/>
          <a:ext cx="0" cy="0"/>
          <a:chOff x="0" y="0"/>
          <a:chExt cx="0" cy="0"/>
        </a:xfrm>
      </p:grpSpPr>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t>‹#›</a:t>
            </a:fld>
            <a:endParaRPr lang="zh-CN" altLang="en-US" dirty="0"/>
          </a:p>
        </p:txBody>
      </p:sp>
      <p:sp>
        <p:nvSpPr>
          <p:cNvPr id="90" name="图片占位符 6"/>
          <p:cNvSpPr>
            <a:spLocks noGrp="1" noChangeAspect="1"/>
          </p:cNvSpPr>
          <p:nvPr>
            <p:ph type="pic" sz="quarter" idx="10"/>
          </p:nvPr>
        </p:nvSpPr>
        <p:spPr>
          <a:xfrm>
            <a:off x="1692274" y="1541374"/>
            <a:ext cx="3238088" cy="4320000"/>
          </a:xfrm>
        </p:spPr>
        <p:txBody>
          <a:bodyPr/>
          <a:lstStyle/>
          <a:p>
            <a:endParaRPr lang="zh-CN" altLang="en-US" dirty="0"/>
          </a:p>
        </p:txBody>
      </p:sp>
      <p:sp>
        <p:nvSpPr>
          <p:cNvPr id="91" name="任意多边形: 形状 90"/>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标题 1"/>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3" name="图片 92"/>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p:cNvPicPr>
            <a:picLocks noChangeAspect="1"/>
          </p:cNvPicPr>
          <p:nvPr userDrawn="1"/>
        </p:nvPicPr>
        <p:blipFill>
          <a:blip r:embed="rId3"/>
          <a:stretch>
            <a:fillRect/>
          </a:stretch>
        </p:blipFill>
        <p:spPr>
          <a:xfrm>
            <a:off x="9966201" y="381027"/>
            <a:ext cx="1552699" cy="494974"/>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图片-圆形">
    <p:spTree>
      <p:nvGrpSpPr>
        <p:cNvPr id="1" name=""/>
        <p:cNvGrpSpPr/>
        <p:nvPr/>
      </p:nvGrpSpPr>
      <p:grpSpPr>
        <a:xfrm>
          <a:off x="0" y="0"/>
          <a:ext cx="0" cy="0"/>
          <a:chOff x="0" y="0"/>
          <a:chExt cx="0" cy="0"/>
        </a:xfrm>
      </p:grpSpPr>
      <p:sp>
        <p:nvSpPr>
          <p:cNvPr id="93" name="任意多边形: 形状 92"/>
          <p:cNvSpPr/>
          <p:nvPr userDrawn="1"/>
        </p:nvSpPr>
        <p:spPr>
          <a:xfrm>
            <a:off x="660400" y="1531871"/>
            <a:ext cx="10858500" cy="4491875"/>
          </a:xfrm>
          <a:custGeom>
            <a:avLst/>
            <a:gdLst>
              <a:gd name="connsiteX0" fmla="*/ 2682382 w 10858500"/>
              <a:gd name="connsiteY0" fmla="*/ 0 h 4491875"/>
              <a:gd name="connsiteX1" fmla="*/ 4661514 w 10858500"/>
              <a:gd name="connsiteY1" fmla="*/ 1979131 h 4491875"/>
              <a:gd name="connsiteX2" fmla="*/ 4081840 w 10858500"/>
              <a:gd name="connsiteY2" fmla="*/ 3378588 h 4491875"/>
              <a:gd name="connsiteX3" fmla="*/ 3948253 w 10858500"/>
              <a:gd name="connsiteY3" fmla="*/ 3500000 h 4491875"/>
              <a:gd name="connsiteX4" fmla="*/ 10858500 w 10858500"/>
              <a:gd name="connsiteY4" fmla="*/ 3500000 h 4491875"/>
              <a:gd name="connsiteX5" fmla="*/ 10858500 w 10858500"/>
              <a:gd name="connsiteY5" fmla="*/ 4491875 h 4491875"/>
              <a:gd name="connsiteX6" fmla="*/ 0 w 10858500"/>
              <a:gd name="connsiteY6" fmla="*/ 4491875 h 4491875"/>
              <a:gd name="connsiteX7" fmla="*/ 0 w 10858500"/>
              <a:gd name="connsiteY7" fmla="*/ 3500000 h 4491875"/>
              <a:gd name="connsiteX8" fmla="*/ 1416512 w 10858500"/>
              <a:gd name="connsiteY8" fmla="*/ 3500000 h 4491875"/>
              <a:gd name="connsiteX9" fmla="*/ 1282925 w 10858500"/>
              <a:gd name="connsiteY9" fmla="*/ 3378588 h 4491875"/>
              <a:gd name="connsiteX10" fmla="*/ 703250 w 10858500"/>
              <a:gd name="connsiteY10" fmla="*/ 1979131 h 4491875"/>
              <a:gd name="connsiteX11" fmla="*/ 2682382 w 10858500"/>
              <a:gd name="connsiteY11" fmla="*/ 0 h 449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858500" h="4491875">
                <a:moveTo>
                  <a:pt x="2682382" y="0"/>
                </a:moveTo>
                <a:cubicBezTo>
                  <a:pt x="3775426" y="0"/>
                  <a:pt x="4661514" y="886087"/>
                  <a:pt x="4661514" y="1979131"/>
                </a:cubicBezTo>
                <a:cubicBezTo>
                  <a:pt x="4661514" y="2525653"/>
                  <a:pt x="4439992" y="3020436"/>
                  <a:pt x="4081840" y="3378588"/>
                </a:cubicBezTo>
                <a:lnTo>
                  <a:pt x="3948253" y="3500000"/>
                </a:lnTo>
                <a:lnTo>
                  <a:pt x="10858500" y="3500000"/>
                </a:lnTo>
                <a:lnTo>
                  <a:pt x="10858500" y="4491875"/>
                </a:lnTo>
                <a:lnTo>
                  <a:pt x="0" y="4491875"/>
                </a:lnTo>
                <a:lnTo>
                  <a:pt x="0" y="3500000"/>
                </a:lnTo>
                <a:lnTo>
                  <a:pt x="1416512" y="3500000"/>
                </a:lnTo>
                <a:lnTo>
                  <a:pt x="1282925" y="3378588"/>
                </a:lnTo>
                <a:cubicBezTo>
                  <a:pt x="924772" y="3020436"/>
                  <a:pt x="703250" y="2525653"/>
                  <a:pt x="703250" y="1979131"/>
                </a:cubicBezTo>
                <a:cubicBezTo>
                  <a:pt x="703250" y="886087"/>
                  <a:pt x="1589338" y="0"/>
                  <a:pt x="2682382" y="0"/>
                </a:cubicBezTo>
                <a:close/>
              </a:path>
            </a:pathLst>
          </a:custGeom>
          <a:solidFill>
            <a:schemeClr val="accent1"/>
          </a:solidFill>
          <a:ln w="19050">
            <a:noFill/>
          </a:ln>
          <a:effectLst>
            <a:outerShdw blurRad="127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i="0" dirty="0">
              <a:latin typeface="Helvetica Regular" pitchFamily="2" charset="0"/>
              <a:cs typeface="+mn-ea"/>
              <a:sym typeface="+mn-lt"/>
            </a:endParaRPr>
          </a:p>
        </p:txBody>
      </p:sp>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t>‹#›</a:t>
            </a:fld>
            <a:endParaRPr lang="zh-CN" altLang="en-US" dirty="0"/>
          </a:p>
        </p:txBody>
      </p:sp>
      <p:sp>
        <p:nvSpPr>
          <p:cNvPr id="91" name="任意多边形: 形状 90"/>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图片占位符 91"/>
          <p:cNvSpPr>
            <a:spLocks noGrp="1" noChangeAspect="1"/>
          </p:cNvSpPr>
          <p:nvPr>
            <p:ph type="pic" sz="quarter" idx="13"/>
          </p:nvPr>
        </p:nvSpPr>
        <p:spPr>
          <a:xfrm>
            <a:off x="1451524" y="1608975"/>
            <a:ext cx="3780000" cy="3780000"/>
          </a:xfrm>
          <a:custGeom>
            <a:avLst/>
            <a:gdLst>
              <a:gd name="connsiteX0" fmla="*/ 1657350 w 3314700"/>
              <a:gd name="connsiteY0" fmla="*/ 0 h 3314700"/>
              <a:gd name="connsiteX1" fmla="*/ 3314700 w 3314700"/>
              <a:gd name="connsiteY1" fmla="*/ 1657350 h 3314700"/>
              <a:gd name="connsiteX2" fmla="*/ 1657350 w 3314700"/>
              <a:gd name="connsiteY2" fmla="*/ 3314700 h 3314700"/>
              <a:gd name="connsiteX3" fmla="*/ 0 w 3314700"/>
              <a:gd name="connsiteY3" fmla="*/ 1657350 h 3314700"/>
              <a:gd name="connsiteX4" fmla="*/ 1657350 w 3314700"/>
              <a:gd name="connsiteY4" fmla="*/ 0 h 331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700" h="3314700">
                <a:moveTo>
                  <a:pt x="1657350" y="0"/>
                </a:moveTo>
                <a:cubicBezTo>
                  <a:pt x="2572679" y="0"/>
                  <a:pt x="3314700" y="742021"/>
                  <a:pt x="3314700" y="1657350"/>
                </a:cubicBezTo>
                <a:cubicBezTo>
                  <a:pt x="3314700" y="2572679"/>
                  <a:pt x="2572679" y="3314700"/>
                  <a:pt x="1657350" y="3314700"/>
                </a:cubicBezTo>
                <a:cubicBezTo>
                  <a:pt x="742021" y="3314700"/>
                  <a:pt x="0" y="2572679"/>
                  <a:pt x="0" y="1657350"/>
                </a:cubicBezTo>
                <a:cubicBezTo>
                  <a:pt x="0" y="742021"/>
                  <a:pt x="742021" y="0"/>
                  <a:pt x="1657350" y="0"/>
                </a:cubicBezTo>
                <a:close/>
              </a:path>
            </a:pathLst>
          </a:custGeom>
        </p:spPr>
        <p:txBody>
          <a:bodyPr wrap="square" anchor="ctr" anchorCtr="0">
            <a:noAutofit/>
          </a:bodyPr>
          <a:lstStyle/>
          <a:p>
            <a:endParaRPr lang="zh-CN" altLang="en-US" dirty="0"/>
          </a:p>
        </p:txBody>
      </p:sp>
      <p:sp>
        <p:nvSpPr>
          <p:cNvPr id="90" name="标题 1"/>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4" name="图片 93"/>
          <p:cNvPicPr>
            <a:picLocks noChangeAspect="1"/>
          </p:cNvPicPr>
          <p:nvPr userDrawn="1"/>
        </p:nvPicPr>
        <p:blipFill>
          <a:blip r:embed="rId2"/>
          <a:stretch>
            <a:fillRect/>
          </a:stretch>
        </p:blipFill>
        <p:spPr>
          <a:xfrm>
            <a:off x="744128" y="6420492"/>
            <a:ext cx="958362" cy="236837"/>
          </a:xfrm>
          <a:prstGeom prst="rect">
            <a:avLst/>
          </a:prstGeom>
        </p:spPr>
      </p:pic>
      <p:pic>
        <p:nvPicPr>
          <p:cNvPr id="98" name="图片 97"/>
          <p:cNvPicPr>
            <a:picLocks noChangeAspect="1"/>
          </p:cNvPicPr>
          <p:nvPr userDrawn="1"/>
        </p:nvPicPr>
        <p:blipFill>
          <a:blip r:embed="rId3"/>
          <a:stretch>
            <a:fillRect/>
          </a:stretch>
        </p:blipFill>
        <p:spPr>
          <a:xfrm>
            <a:off x="9966201" y="381027"/>
            <a:ext cx="1552699" cy="494974"/>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图片">
    <p:spTree>
      <p:nvGrpSpPr>
        <p:cNvPr id="1" name=""/>
        <p:cNvGrpSpPr/>
        <p:nvPr/>
      </p:nvGrpSpPr>
      <p:grpSpPr>
        <a:xfrm>
          <a:off x="0" y="0"/>
          <a:ext cx="0" cy="0"/>
          <a:chOff x="0" y="0"/>
          <a:chExt cx="0" cy="0"/>
        </a:xfrm>
      </p:grpSpPr>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t>‹#›</a:t>
            </a:fld>
            <a:endParaRPr lang="zh-CN" altLang="en-US" dirty="0"/>
          </a:p>
        </p:txBody>
      </p:sp>
      <p:sp>
        <p:nvSpPr>
          <p:cNvPr id="90" name="图片占位符 6"/>
          <p:cNvSpPr>
            <a:spLocks noGrp="1" noChangeAspect="1"/>
          </p:cNvSpPr>
          <p:nvPr>
            <p:ph type="pic" sz="quarter" idx="10"/>
          </p:nvPr>
        </p:nvSpPr>
        <p:spPr>
          <a:xfrm>
            <a:off x="1114722" y="1132945"/>
            <a:ext cx="1735608" cy="2315510"/>
          </a:xfrm>
        </p:spPr>
        <p:txBody>
          <a:bodyPr/>
          <a:lstStyle/>
          <a:p>
            <a:endParaRPr lang="zh-CN" altLang="en-US" dirty="0"/>
          </a:p>
        </p:txBody>
      </p:sp>
      <p:sp>
        <p:nvSpPr>
          <p:cNvPr id="91" name="图片占位符 6"/>
          <p:cNvSpPr>
            <a:spLocks noGrp="1" noChangeAspect="1"/>
          </p:cNvSpPr>
          <p:nvPr>
            <p:ph type="pic" sz="quarter" idx="13"/>
          </p:nvPr>
        </p:nvSpPr>
        <p:spPr>
          <a:xfrm>
            <a:off x="9351363" y="3674135"/>
            <a:ext cx="1755000" cy="2341381"/>
          </a:xfrm>
        </p:spPr>
        <p:txBody>
          <a:bodyPr/>
          <a:lstStyle/>
          <a:p>
            <a:endParaRPr lang="zh-CN" altLang="en-US" dirty="0"/>
          </a:p>
        </p:txBody>
      </p:sp>
      <p:sp>
        <p:nvSpPr>
          <p:cNvPr id="92" name="任意多边形: 形状 91"/>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3" name="标题 1"/>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4" name="图片 93"/>
          <p:cNvPicPr>
            <a:picLocks noChangeAspect="1"/>
          </p:cNvPicPr>
          <p:nvPr userDrawn="1"/>
        </p:nvPicPr>
        <p:blipFill>
          <a:blip r:embed="rId2"/>
          <a:stretch>
            <a:fillRect/>
          </a:stretch>
        </p:blipFill>
        <p:spPr>
          <a:xfrm>
            <a:off x="744128" y="6420492"/>
            <a:ext cx="958362" cy="236837"/>
          </a:xfrm>
          <a:prstGeom prst="rect">
            <a:avLst/>
          </a:prstGeom>
        </p:spPr>
      </p:pic>
      <p:pic>
        <p:nvPicPr>
          <p:cNvPr id="98" name="图片 97"/>
          <p:cNvPicPr>
            <a:picLocks noChangeAspect="1"/>
          </p:cNvPicPr>
          <p:nvPr userDrawn="1"/>
        </p:nvPicPr>
        <p:blipFill>
          <a:blip r:embed="rId3"/>
          <a:stretch>
            <a:fillRect/>
          </a:stretch>
        </p:blipFill>
        <p:spPr>
          <a:xfrm>
            <a:off x="9966201" y="381027"/>
            <a:ext cx="1552699" cy="494974"/>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图片">
    <p:spTree>
      <p:nvGrpSpPr>
        <p:cNvPr id="1" name=""/>
        <p:cNvGrpSpPr/>
        <p:nvPr/>
      </p:nvGrpSpPr>
      <p:grpSpPr>
        <a:xfrm>
          <a:off x="0" y="0"/>
          <a:ext cx="0" cy="0"/>
          <a:chOff x="0" y="0"/>
          <a:chExt cx="0" cy="0"/>
        </a:xfrm>
      </p:grpSpPr>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t>‹#›</a:t>
            </a:fld>
            <a:endParaRPr lang="zh-CN" altLang="en-US" dirty="0"/>
          </a:p>
        </p:txBody>
      </p:sp>
      <p:sp>
        <p:nvSpPr>
          <p:cNvPr id="91" name="图片占位符 90"/>
          <p:cNvSpPr>
            <a:spLocks noGrp="1"/>
          </p:cNvSpPr>
          <p:nvPr>
            <p:ph type="pic" sz="quarter" idx="13"/>
          </p:nvPr>
        </p:nvSpPr>
        <p:spPr>
          <a:xfrm>
            <a:off x="1219984"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5" name="图片占位符 94"/>
          <p:cNvSpPr>
            <a:spLocks noGrp="1"/>
          </p:cNvSpPr>
          <p:nvPr>
            <p:ph type="pic" sz="quarter" idx="14"/>
          </p:nvPr>
        </p:nvSpPr>
        <p:spPr>
          <a:xfrm>
            <a:off x="9369946"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8" name="图片占位符 97"/>
          <p:cNvSpPr>
            <a:spLocks noGrp="1"/>
          </p:cNvSpPr>
          <p:nvPr>
            <p:ph type="pic" sz="quarter" idx="15"/>
          </p:nvPr>
        </p:nvSpPr>
        <p:spPr>
          <a:xfrm>
            <a:off x="3936638"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9" name="图片占位符 98"/>
          <p:cNvSpPr>
            <a:spLocks noGrp="1"/>
          </p:cNvSpPr>
          <p:nvPr>
            <p:ph type="pic" sz="quarter" idx="16"/>
          </p:nvPr>
        </p:nvSpPr>
        <p:spPr>
          <a:xfrm>
            <a:off x="6653292"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0" name="任意多边形: 形状 89"/>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标题 1"/>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3" name="图片 92"/>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p:cNvPicPr>
            <a:picLocks noChangeAspect="1"/>
          </p:cNvPicPr>
          <p:nvPr userDrawn="1"/>
        </p:nvPicPr>
        <p:blipFill>
          <a:blip r:embed="rId3"/>
          <a:stretch>
            <a:fillRect/>
          </a:stretch>
        </p:blipFill>
        <p:spPr>
          <a:xfrm>
            <a:off x="9966201" y="381027"/>
            <a:ext cx="1552699" cy="494974"/>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空白版式">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结束页 幻灯片">
    <p:bg>
      <p:bgPr>
        <a:solidFill>
          <a:schemeClr val="bg1"/>
        </a:solidFill>
        <a:effectLst/>
      </p:bgPr>
    </p:bg>
    <p:spTree>
      <p:nvGrpSpPr>
        <p:cNvPr id="1" name=""/>
        <p:cNvGrpSpPr/>
        <p:nvPr/>
      </p:nvGrpSpPr>
      <p:grpSpPr>
        <a:xfrm>
          <a:off x="0" y="0"/>
          <a:ext cx="0" cy="0"/>
          <a:chOff x="0" y="0"/>
          <a:chExt cx="0" cy="0"/>
        </a:xfrm>
      </p:grpSpPr>
      <p:sp>
        <p:nvSpPr>
          <p:cNvPr id="7" name="文本占位符 6"/>
          <p:cNvSpPr>
            <a:spLocks noGrp="1"/>
          </p:cNvSpPr>
          <p:nvPr>
            <p:ph type="body" sz="quarter" idx="10" hasCustomPrompt="1"/>
          </p:nvPr>
        </p:nvSpPr>
        <p:spPr>
          <a:xfrm>
            <a:off x="3735420" y="2971800"/>
            <a:ext cx="7783479" cy="914400"/>
          </a:xfrm>
        </p:spPr>
        <p:txBody>
          <a:bodyPr anchor="ctr" anchorCtr="0">
            <a:normAutofit/>
          </a:bodyPr>
          <a:lstStyle>
            <a:lvl1pPr marL="0" indent="0" algn="ctr">
              <a:buNone/>
              <a:defRPr sz="5400" b="1">
                <a:solidFill>
                  <a:schemeClr val="accent1"/>
                </a:solidFill>
                <a:latin typeface="Helvetica" pitchFamily="2" charset="0"/>
              </a:defRPr>
            </a:lvl1pPr>
          </a:lstStyle>
          <a:p>
            <a:pPr lvl="0"/>
            <a:r>
              <a:rPr lang="en-US" altLang="zh-CN" dirty="0"/>
              <a:t>Here</a:t>
            </a:r>
            <a:r>
              <a:rPr lang="zh-CN" altLang="en-US" dirty="0"/>
              <a:t> </a:t>
            </a:r>
            <a:r>
              <a:rPr lang="en-US" altLang="zh-CN" dirty="0"/>
              <a:t>is</a:t>
            </a:r>
            <a:r>
              <a:rPr lang="zh-CN" altLang="en-US" dirty="0"/>
              <a:t> </a:t>
            </a:r>
            <a:r>
              <a:rPr lang="en-US" altLang="zh-CN" dirty="0"/>
              <a:t>text</a:t>
            </a:r>
            <a:r>
              <a:rPr lang="zh-CN" altLang="en-US" dirty="0"/>
              <a:t> </a:t>
            </a:r>
            <a:endParaRPr lang="en-US" altLang="zh-CN" dirty="0"/>
          </a:p>
          <a:p>
            <a:pPr lvl="0"/>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sp>
        <p:nvSpPr>
          <p:cNvPr id="6" name="箭头: 五边形 5"/>
          <p:cNvSpPr/>
          <p:nvPr userDrawn="1"/>
        </p:nvSpPr>
        <p:spPr>
          <a:xfrm rot="16200000">
            <a:off x="10605854" y="5156200"/>
            <a:ext cx="2879387" cy="3403600"/>
          </a:xfrm>
          <a:prstGeom prst="homePlat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8" name="箭头: 五边形 7"/>
          <p:cNvSpPr/>
          <p:nvPr userDrawn="1"/>
        </p:nvSpPr>
        <p:spPr>
          <a:xfrm>
            <a:off x="-2680781" y="0"/>
            <a:ext cx="5753100" cy="9620654"/>
          </a:xfrm>
          <a:prstGeom prst="homePlate">
            <a:avLst>
              <a:gd name="adj" fmla="val 5086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5" name="箭头: 五边形 4"/>
          <p:cNvSpPr/>
          <p:nvPr userDrawn="1"/>
        </p:nvSpPr>
        <p:spPr>
          <a:xfrm rot="5400000">
            <a:off x="7310335" y="-1872573"/>
            <a:ext cx="2616740" cy="4241259"/>
          </a:xfrm>
          <a:prstGeom prst="homePlat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结束页2">
    <p:spTree>
      <p:nvGrpSpPr>
        <p:cNvPr id="1" name=""/>
        <p:cNvGrpSpPr/>
        <p:nvPr/>
      </p:nvGrpSpPr>
      <p:grpSpPr>
        <a:xfrm>
          <a:off x="0" y="0"/>
          <a:ext cx="0" cy="0"/>
          <a:chOff x="0" y="0"/>
          <a:chExt cx="0" cy="0"/>
        </a:xfrm>
      </p:grpSpPr>
      <p:sp>
        <p:nvSpPr>
          <p:cNvPr id="6" name="椭圆 5"/>
          <p:cNvSpPr/>
          <p:nvPr userDrawn="1"/>
        </p:nvSpPr>
        <p:spPr>
          <a:xfrm>
            <a:off x="-2319371" y="4211980"/>
            <a:ext cx="5113371" cy="511337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cs typeface="+mn-ea"/>
              <a:sym typeface="+mn-lt"/>
            </a:endParaRPr>
          </a:p>
        </p:txBody>
      </p:sp>
      <p:sp>
        <p:nvSpPr>
          <p:cNvPr id="7" name="椭圆 6"/>
          <p:cNvSpPr/>
          <p:nvPr userDrawn="1"/>
        </p:nvSpPr>
        <p:spPr>
          <a:xfrm>
            <a:off x="10560051" y="-2647819"/>
            <a:ext cx="4418254" cy="441825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cs typeface="+mn-ea"/>
              <a:sym typeface="+mn-lt"/>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0400" y="217487"/>
            <a:ext cx="10858500" cy="811213"/>
          </a:xfrm>
          <a:prstGeom prst="rect">
            <a:avLst/>
          </a:prstGeom>
        </p:spPr>
        <p:txBody>
          <a:bodyPr vert="horz" lIns="0" tIns="0" rIns="0" bIns="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6604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Helvetica Regular" pitchFamily="2" charset="0"/>
              </a:defRPr>
            </a:lvl1pPr>
          </a:lstStyle>
          <a:p>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Helvetica Regular" pitchFamily="2" charset="0"/>
              </a:defRPr>
            </a:lvl1pPr>
          </a:lstStyle>
          <a:p>
            <a:endParaRPr lang="zh-CN" altLang="en-US" dirty="0"/>
          </a:p>
        </p:txBody>
      </p:sp>
      <p:sp>
        <p:nvSpPr>
          <p:cNvPr id="6" name="灯片编号占位符 5"/>
          <p:cNvSpPr>
            <a:spLocks noGrp="1"/>
          </p:cNvSpPr>
          <p:nvPr>
            <p:ph type="sldNum" sz="quarter" idx="4"/>
          </p:nvPr>
        </p:nvSpPr>
        <p:spPr>
          <a:xfrm>
            <a:off x="8775700" y="6356349"/>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Helvetica Regular" pitchFamily="2" charset="0"/>
              </a:defRPr>
            </a:lvl1pPr>
          </a:lstStyle>
          <a:p>
            <a:fld id="{2515AB8F-1C56-49E9-90C8-78D22B0C1B97}" type="slidenum">
              <a:rPr lang="zh-CN" altLang="en-US" smtClean="0"/>
              <a:t>‹#›</a:t>
            </a:fld>
            <a:endParaRPr lang="zh-CN" altLang="en-US" dirty="0"/>
          </a:p>
        </p:txBody>
      </p:sp>
      <p:sp>
        <p:nvSpPr>
          <p:cNvPr id="7" name="椭圆 6"/>
          <p:cNvSpPr/>
          <p:nvPr userDrawn="1"/>
        </p:nvSpPr>
        <p:spPr>
          <a:xfrm>
            <a:off x="4749800" y="-4572000"/>
            <a:ext cx="1168400" cy="81121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8" name="椭圆 7"/>
          <p:cNvSpPr/>
          <p:nvPr userDrawn="1"/>
        </p:nvSpPr>
        <p:spPr>
          <a:xfrm>
            <a:off x="4572000" y="9093200"/>
            <a:ext cx="1168400" cy="81121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hdr="0" ftr="0" dt="0"/>
  <p:txStyles>
    <p:title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0.png"/><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0.png"/><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1.png"/><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slideLayout" Target="../slideLayouts/slideLayout11.xml"/><Relationship Id="rId1" Type="http://schemas.openxmlformats.org/officeDocument/2006/relationships/tags" Target="../tags/tag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1"/>
          <p:cNvSpPr txBox="1"/>
          <p:nvPr/>
        </p:nvSpPr>
        <p:spPr>
          <a:xfrm>
            <a:off x="3791712" y="1239205"/>
            <a:ext cx="8191129" cy="2189795"/>
          </a:xfrm>
          <a:prstGeom prst="rect">
            <a:avLst/>
          </a:prstGeom>
        </p:spPr>
        <p:txBody>
          <a:bodyPr lIns="0" rIns="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00000"/>
              </a:lnSpc>
              <a:buNone/>
            </a:pPr>
            <a:r>
              <a:rPr lang="en-US" sz="4000" b="1" dirty="0">
                <a:solidFill>
                  <a:schemeClr val="accent1"/>
                </a:solidFill>
                <a:latin typeface="Helvetica" pitchFamily="2" charset="0"/>
                <a:cs typeface="Arial" panose="020B0604020202020204" pitchFamily="34" charset="0"/>
              </a:rPr>
              <a:t>B09S0061 </a:t>
            </a:r>
            <a:r>
              <a:rPr lang="zh-CN" altLang="en-US" sz="4000" b="1" dirty="0">
                <a:solidFill>
                  <a:schemeClr val="accent1"/>
                </a:solidFill>
                <a:latin typeface="Helvetica" pitchFamily="2" charset="0"/>
                <a:cs typeface="Arial" panose="020B0604020202020204" pitchFamily="34" charset="0"/>
                <a:sym typeface="+mn-lt"/>
              </a:rPr>
              <a:t>软件工程</a:t>
            </a:r>
          </a:p>
          <a:p>
            <a:pPr marL="0" indent="0" algn="r">
              <a:lnSpc>
                <a:spcPct val="100000"/>
              </a:lnSpc>
              <a:buNone/>
            </a:pPr>
            <a:r>
              <a:rPr lang="zh-CN" altLang="en-US" sz="4000" b="1" dirty="0">
                <a:solidFill>
                  <a:schemeClr val="accent1"/>
                </a:solidFill>
                <a:latin typeface="Helvetica" pitchFamily="2" charset="0"/>
                <a:cs typeface="Arial" panose="020B0604020202020204" pitchFamily="34" charset="0"/>
                <a:sym typeface="+mn-lt"/>
              </a:rPr>
              <a:t>第</a:t>
            </a:r>
            <a:r>
              <a:rPr lang="en-US" altLang="zh-CN" sz="4000" b="1" dirty="0">
                <a:solidFill>
                  <a:schemeClr val="accent1"/>
                </a:solidFill>
                <a:latin typeface="Helvetica" pitchFamily="2" charset="0"/>
                <a:cs typeface="Arial" panose="020B0604020202020204" pitchFamily="34" charset="0"/>
                <a:sym typeface="+mn-lt"/>
              </a:rPr>
              <a:t> 4 </a:t>
            </a:r>
            <a:r>
              <a:rPr lang="zh-CN" altLang="en-US" sz="4000" b="1" dirty="0">
                <a:solidFill>
                  <a:schemeClr val="accent1"/>
                </a:solidFill>
                <a:latin typeface="Helvetica" pitchFamily="2" charset="0"/>
                <a:cs typeface="Arial" panose="020B0604020202020204" pitchFamily="34" charset="0"/>
                <a:sym typeface="+mn-lt"/>
              </a:rPr>
              <a:t>讲</a:t>
            </a:r>
          </a:p>
        </p:txBody>
      </p:sp>
      <p:sp>
        <p:nvSpPr>
          <p:cNvPr id="64" name="矩形 63"/>
          <p:cNvSpPr/>
          <p:nvPr/>
        </p:nvSpPr>
        <p:spPr>
          <a:xfrm>
            <a:off x="8750859" y="4819809"/>
            <a:ext cx="3003067" cy="611514"/>
          </a:xfrm>
          <a:prstGeom prst="rect">
            <a:avLst/>
          </a:prstGeom>
        </p:spPr>
        <p:txBody>
          <a:bodyPr wrap="square" lIns="0" rIns="0">
            <a:spAutoFit/>
          </a:bodyPr>
          <a:lstStyle/>
          <a:p>
            <a:pPr algn="r">
              <a:lnSpc>
                <a:spcPct val="130000"/>
              </a:lnSpc>
            </a:pPr>
            <a:r>
              <a:rPr lang="en-US" altLang="zh-CN" sz="2800" dirty="0">
                <a:solidFill>
                  <a:schemeClr val="accent1"/>
                </a:solidFill>
                <a:latin typeface="Helvetica" pitchFamily="2" charset="0"/>
                <a:cs typeface="Arial" panose="020B0604020202020204" pitchFamily="34" charset="0"/>
                <a:sym typeface="+mn-lt"/>
              </a:rPr>
              <a:t>2026/03/26</a:t>
            </a:r>
            <a:endParaRPr lang="zh-CN" altLang="en-US" sz="2800" dirty="0">
              <a:solidFill>
                <a:schemeClr val="accent1"/>
              </a:solidFill>
              <a:latin typeface="Helvetica" pitchFamily="2" charset="0"/>
              <a:cs typeface="Arial" panose="020B0604020202020204" pitchFamily="34" charset="0"/>
              <a:sym typeface="+mn-lt"/>
            </a:endParaRPr>
          </a:p>
        </p:txBody>
      </p:sp>
      <p:sp>
        <p:nvSpPr>
          <p:cNvPr id="67" name="矩形 66"/>
          <p:cNvSpPr/>
          <p:nvPr/>
        </p:nvSpPr>
        <p:spPr>
          <a:xfrm>
            <a:off x="5002654" y="4381010"/>
            <a:ext cx="6751272" cy="608500"/>
          </a:xfrm>
          <a:prstGeom prst="rect">
            <a:avLst/>
          </a:prstGeom>
        </p:spPr>
        <p:txBody>
          <a:bodyPr wrap="square">
            <a:spAutoFit/>
          </a:bodyPr>
          <a:lstStyle/>
          <a:p>
            <a:pPr algn="r">
              <a:lnSpc>
                <a:spcPct val="130000"/>
              </a:lnSpc>
            </a:pPr>
            <a:r>
              <a:rPr lang="zh-CN" altLang="en-US" sz="2800" dirty="0">
                <a:solidFill>
                  <a:schemeClr val="accent1"/>
                </a:solidFill>
                <a:latin typeface="Helvetica" pitchFamily="2" charset="0"/>
                <a:cs typeface="Arial" panose="020B0604020202020204" pitchFamily="34" charset="0"/>
                <a:sym typeface="+mn-lt"/>
              </a:rPr>
              <a:t>主讲教师：刘光迟</a:t>
            </a:r>
          </a:p>
        </p:txBody>
      </p:sp>
      <p:cxnSp>
        <p:nvCxnSpPr>
          <p:cNvPr id="3" name="直接连接符 2"/>
          <p:cNvCxnSpPr/>
          <p:nvPr/>
        </p:nvCxnSpPr>
        <p:spPr>
          <a:xfrm>
            <a:off x="11842946" y="4575127"/>
            <a:ext cx="0" cy="752777"/>
          </a:xfrm>
          <a:prstGeom prst="line">
            <a:avLst/>
          </a:prstGeom>
          <a:ln w="50800" cmpd="thickThi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363071" cy="790865"/>
          </a:xfrm>
        </p:spPr>
        <p:txBody>
          <a:bodyPr>
            <a:normAutofit/>
          </a:bodyPr>
          <a:lstStyle/>
          <a:p>
            <a:r>
              <a:rPr lang="zh-CN" altLang="en-US" sz="3000" dirty="0">
                <a:latin typeface="Times New Roman" panose="02020603050405020304" charset="0"/>
              </a:rPr>
              <a:t>提示</a:t>
            </a: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t>2</a:t>
            </a:fld>
            <a:endParaRPr lang="zh-CN" altLang="en-US" dirty="0"/>
          </a:p>
        </p:txBody>
      </p:sp>
      <p:sp>
        <p:nvSpPr>
          <p:cNvPr id="6" name="TextBox 3"/>
          <p:cNvSpPr txBox="1"/>
          <p:nvPr/>
        </p:nvSpPr>
        <p:spPr>
          <a:xfrm>
            <a:off x="1091565" y="1141730"/>
            <a:ext cx="11163935" cy="3509645"/>
          </a:xfrm>
          <a:prstGeom prst="rect">
            <a:avLst/>
          </a:prstGeom>
          <a:noFill/>
        </p:spPr>
        <p:txBody>
          <a:bodyPr wrap="square">
            <a:noAutofit/>
          </a:bodyPr>
          <a:lstStyle/>
          <a:p>
            <a:r>
              <a:rPr lang="en-US" altLang="zh-CN" sz="2000" b="1" dirty="0" err="1">
                <a:solidFill>
                  <a:srgbClr val="515223"/>
                </a:solidFill>
                <a:latin typeface="Helvetica" pitchFamily="2" charset="0"/>
                <a:cs typeface="Arial" panose="020B0604020202020204" pitchFamily="34" charset="0"/>
              </a:rPr>
              <a:t>第一次作业将于下周一在“微助教”平台发布，截止日期为</a:t>
            </a:r>
            <a:r>
              <a:rPr lang="en-US" altLang="zh-CN" sz="2000" b="1" dirty="0">
                <a:solidFill>
                  <a:srgbClr val="515223"/>
                </a:solidFill>
                <a:latin typeface="Helvetica" pitchFamily="2" charset="0"/>
                <a:cs typeface="Arial" panose="020B0604020202020204" pitchFamily="34" charset="0"/>
              </a:rPr>
              <a:t> </a:t>
            </a:r>
            <a:r>
              <a:rPr lang="en-US" altLang="zh-CN" sz="2000" b="1" u="sng" dirty="0">
                <a:solidFill>
                  <a:srgbClr val="C00000"/>
                </a:solidFill>
                <a:latin typeface="Helvetica" pitchFamily="2" charset="0"/>
                <a:cs typeface="Arial" panose="020B0604020202020204" pitchFamily="34" charset="0"/>
              </a:rPr>
              <a:t>4 </a:t>
            </a:r>
            <a:r>
              <a:rPr lang="en-US" altLang="zh-CN" sz="2000" b="1" u="sng" dirty="0" err="1">
                <a:solidFill>
                  <a:srgbClr val="C00000"/>
                </a:solidFill>
                <a:latin typeface="Helvetica" pitchFamily="2" charset="0"/>
                <a:cs typeface="Arial" panose="020B0604020202020204" pitchFamily="34" charset="0"/>
              </a:rPr>
              <a:t>月</a:t>
            </a:r>
            <a:r>
              <a:rPr lang="en-US" altLang="zh-CN" sz="2000" b="1" u="sng" dirty="0">
                <a:solidFill>
                  <a:srgbClr val="C00000"/>
                </a:solidFill>
                <a:latin typeface="Helvetica" pitchFamily="2" charset="0"/>
                <a:cs typeface="Arial" panose="020B0604020202020204" pitchFamily="34" charset="0"/>
              </a:rPr>
              <a:t> 6 日 23:55。</a:t>
            </a:r>
            <a:endParaRPr lang="en-US" altLang="zh-CN" sz="2000" b="1" dirty="0">
              <a:solidFill>
                <a:srgbClr val="515223"/>
              </a:solidFill>
              <a:latin typeface="Helvetica" pitchFamily="2" charset="0"/>
              <a:cs typeface="Arial" panose="020B0604020202020204" pitchFamily="34" charset="0"/>
            </a:endParaRPr>
          </a:p>
          <a:p>
            <a:endParaRPr lang="en-US" altLang="zh-CN" sz="2000" b="1" dirty="0">
              <a:solidFill>
                <a:srgbClr val="515223"/>
              </a:solidFill>
              <a:latin typeface="Helvetica" pitchFamily="2" charset="0"/>
              <a:cs typeface="Arial" panose="020B0604020202020204" pitchFamily="34" charset="0"/>
            </a:endParaRPr>
          </a:p>
          <a:p>
            <a:r>
              <a:rPr lang="en-US" altLang="zh-CN" sz="2000" b="1" dirty="0">
                <a:solidFill>
                  <a:srgbClr val="515223"/>
                </a:solidFill>
                <a:latin typeface="Helvetica" pitchFamily="2" charset="0"/>
                <a:cs typeface="Arial" panose="020B0604020202020204" pitchFamily="34" charset="0"/>
              </a:rPr>
              <a:t>请在“微助教”上注册学生账户。</a:t>
            </a:r>
            <a:endParaRPr lang="en-US" altLang="zh-CN" sz="2000" b="1" u="sng" dirty="0">
              <a:solidFill>
                <a:srgbClr val="C00000"/>
              </a:solidFill>
              <a:latin typeface="Helvetica" pitchFamily="2" charset="0"/>
              <a:cs typeface="Arial" panose="020B0604020202020204" pitchFamily="34" charset="0"/>
            </a:endParaRPr>
          </a:p>
          <a:p>
            <a:endParaRPr lang="en-US" altLang="zh-CN" sz="2000" b="1" dirty="0">
              <a:solidFill>
                <a:srgbClr val="515223"/>
              </a:solidFill>
              <a:latin typeface="Helvetica" pitchFamily="2" charset="0"/>
              <a:cs typeface="Arial" panose="020B0604020202020204" pitchFamily="34" charset="0"/>
            </a:endParaRPr>
          </a:p>
          <a:p>
            <a:r>
              <a:rPr lang="en-US" altLang="zh-CN" sz="2000" b="1" dirty="0">
                <a:solidFill>
                  <a:srgbClr val="515223"/>
                </a:solidFill>
                <a:latin typeface="Helvetica" pitchFamily="2" charset="0"/>
                <a:cs typeface="Arial" panose="020B0604020202020204" pitchFamily="34" charset="0"/>
              </a:rPr>
              <a:t>用户名：本人实名；序号：一卡通号；学号：学号</a:t>
            </a:r>
          </a:p>
          <a:p>
            <a:endParaRPr lang="en-US" altLang="zh-CN" sz="2000" b="1" dirty="0">
              <a:solidFill>
                <a:srgbClr val="515223"/>
              </a:solidFill>
              <a:latin typeface="Helvetica" pitchFamily="2" charset="0"/>
              <a:cs typeface="Arial" panose="020B0604020202020204" pitchFamily="34" charset="0"/>
            </a:endParaRPr>
          </a:p>
          <a:p>
            <a:r>
              <a:rPr lang="en-US" altLang="zh-CN" sz="2000" b="1" dirty="0">
                <a:solidFill>
                  <a:srgbClr val="515223"/>
                </a:solidFill>
                <a:latin typeface="Helvetica" pitchFamily="2" charset="0"/>
                <a:cs typeface="Arial" panose="020B0604020202020204" pitchFamily="34" charset="0"/>
              </a:rPr>
              <a:t>加入课程（</a:t>
            </a:r>
            <a:r>
              <a:rPr lang="en-US" altLang="zh-CN" sz="2000" b="1" u="sng" dirty="0">
                <a:solidFill>
                  <a:srgbClr val="C00000"/>
                </a:solidFill>
                <a:latin typeface="Helvetica" pitchFamily="2" charset="0"/>
                <a:cs typeface="Arial" panose="020B0604020202020204" pitchFamily="34" charset="0"/>
              </a:rPr>
              <a:t>课程码：QY089</a:t>
            </a:r>
            <a:r>
              <a:rPr lang="en-US" altLang="zh-CN" sz="2000" b="1" dirty="0">
                <a:solidFill>
                  <a:srgbClr val="515223"/>
                </a:solidFill>
                <a:latin typeface="Helvetica" pitchFamily="2" charset="0"/>
                <a:cs typeface="Arial" panose="020B0604020202020204" pitchFamily="34" charset="0"/>
              </a:rPr>
              <a:t>）</a:t>
            </a:r>
          </a:p>
          <a:p>
            <a:endParaRPr lang="en-US" altLang="zh-CN" sz="2000" b="1" dirty="0">
              <a:solidFill>
                <a:srgbClr val="515223"/>
              </a:solidFill>
              <a:latin typeface="Helvetica" pitchFamily="2" charset="0"/>
              <a:cs typeface="Arial" panose="020B0604020202020204" pitchFamily="34" charset="0"/>
            </a:endParaRPr>
          </a:p>
          <a:p>
            <a:pPr algn="l">
              <a:buClrTx/>
              <a:buSzTx/>
              <a:buFontTx/>
            </a:pPr>
            <a:r>
              <a:rPr lang="en-US" altLang="zh-CN" sz="2000" b="1" dirty="0">
                <a:solidFill>
                  <a:srgbClr val="515223"/>
                </a:solidFill>
                <a:latin typeface="Helvetica" pitchFamily="2" charset="0"/>
                <a:cs typeface="Arial" panose="020B0604020202020204" pitchFamily="34" charset="0"/>
              </a:rPr>
              <a:t>进入</a:t>
            </a:r>
            <a:r>
              <a:rPr lang="en-US" altLang="zh-CN" sz="2000" b="1" u="sng" dirty="0">
                <a:solidFill>
                  <a:srgbClr val="C00000"/>
                </a:solidFill>
                <a:latin typeface="Helvetica" pitchFamily="2" charset="0"/>
                <a:cs typeface="Arial" panose="020B0604020202020204" pitchFamily="34" charset="0"/>
              </a:rPr>
              <a:t>“作业”/“作业 1”</a:t>
            </a:r>
          </a:p>
          <a:p>
            <a:endParaRPr lang="en-US" altLang="zh-CN" sz="2000" b="1" dirty="0">
              <a:solidFill>
                <a:srgbClr val="515223"/>
              </a:solidFill>
              <a:latin typeface="Helvetica" pitchFamily="2" charset="0"/>
              <a:cs typeface="Arial" panose="020B0604020202020204" pitchFamily="34" charset="0"/>
            </a:endParaRPr>
          </a:p>
          <a:p>
            <a:r>
              <a:rPr lang="en-US" altLang="zh-CN" sz="2000" b="1" dirty="0">
                <a:solidFill>
                  <a:srgbClr val="515223"/>
                </a:solidFill>
                <a:latin typeface="Helvetica" pitchFamily="2" charset="0"/>
                <a:cs typeface="Arial" panose="020B0604020202020204" pitchFamily="34" charset="0"/>
              </a:rPr>
              <a:t>在“</a:t>
            </a:r>
            <a:r>
              <a:rPr lang="en-US" altLang="zh-CN" sz="2000" b="1" u="sng" dirty="0">
                <a:solidFill>
                  <a:srgbClr val="C00000"/>
                </a:solidFill>
                <a:latin typeface="Helvetica" pitchFamily="2" charset="0"/>
                <a:cs typeface="Arial" panose="020B0604020202020204" pitchFamily="34" charset="0"/>
              </a:rPr>
              <a:t>答题纸 1.docx</a:t>
            </a:r>
            <a:r>
              <a:rPr lang="en-US" altLang="zh-CN" sz="2000" b="1" dirty="0">
                <a:solidFill>
                  <a:srgbClr val="515223"/>
                </a:solidFill>
                <a:latin typeface="Helvetica" pitchFamily="2" charset="0"/>
                <a:cs typeface="Arial" panose="020B0604020202020204" pitchFamily="34" charset="0"/>
              </a:rPr>
              <a:t>”上提交你的答案。</a:t>
            </a: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8203" y="4869222"/>
            <a:ext cx="11163995" cy="50519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315937" cy="790865"/>
          </a:xfrm>
        </p:spPr>
        <p:txBody>
          <a:bodyPr>
            <a:normAutofit/>
          </a:bodyPr>
          <a:lstStyle/>
          <a:p>
            <a:r>
              <a:rPr lang="zh-CN" altLang="en-US" sz="2600" dirty="0">
                <a:latin typeface="Times New Roman" panose="02020603050405020304" charset="0"/>
              </a:rPr>
              <a:t>与客户一起开发场景：一个典型的学生</a:t>
            </a: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t>3</a:t>
            </a:fld>
            <a:endParaRPr lang="zh-CN" altLang="en-US" dirty="0"/>
          </a:p>
        </p:txBody>
      </p:sp>
      <p:sp>
        <p:nvSpPr>
          <p:cNvPr id="9" name="TextBox 3"/>
          <p:cNvSpPr txBox="1"/>
          <p:nvPr/>
        </p:nvSpPr>
        <p:spPr>
          <a:xfrm>
            <a:off x="572375" y="1228148"/>
            <a:ext cx="11163995" cy="439991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20204" pitchFamily="34" charset="0"/>
              </a:rPr>
              <a:t>目的：</a:t>
            </a:r>
            <a:r>
              <a:rPr lang="en-US" altLang="zh-CN" sz="2000" b="1" dirty="0">
                <a:solidFill>
                  <a:srgbClr val="FF0000"/>
                </a:solidFill>
              </a:rPr>
              <a:t> </a:t>
            </a:r>
            <a:r>
              <a:rPr lang="en-US" altLang="zh-CN" sz="2000" dirty="0"/>
              <a:t>描述一个代表性学生使用在线考试系统的场景。</a:t>
            </a:r>
            <a:r>
              <a:rPr lang="en-US" altLang="zh-CN" sz="2000" b="1" dirty="0">
                <a:solidFill>
                  <a:srgbClr val="FF0000"/>
                </a:solidFill>
              </a:rPr>
              <a:t>[</a:t>
            </a:r>
            <a:r>
              <a:rPr lang="zh-CN" altLang="en-US" sz="2000" b="1" dirty="0">
                <a:solidFill>
                  <a:srgbClr val="FF0000"/>
                </a:solidFill>
              </a:rPr>
              <a:t>这个场景基于哪个视角？</a:t>
            </a:r>
            <a:r>
              <a:rPr lang="en-US" altLang="zh-CN" sz="2000" b="1" dirty="0">
                <a:solidFill>
                  <a:srgbClr val="FF0000"/>
                </a:solidFill>
              </a:rPr>
              <a:t>]</a:t>
            </a:r>
          </a:p>
          <a:p>
            <a:endParaRPr lang="en-US" altLang="zh-CN" sz="2000" b="1" dirty="0">
              <a:solidFill>
                <a:srgbClr val="FF0000"/>
              </a:solidFill>
            </a:endParaRPr>
          </a:p>
          <a:p>
            <a:r>
              <a:rPr lang="en-US" altLang="zh-CN" sz="2000" b="1" dirty="0">
                <a:solidFill>
                  <a:srgbClr val="515223"/>
                </a:solidFill>
                <a:latin typeface="Helvetica" pitchFamily="2" charset="0"/>
                <a:cs typeface="Arial" panose="020B0604020202020204" pitchFamily="34" charset="0"/>
              </a:rPr>
              <a:t>个体：</a:t>
            </a:r>
            <a:r>
              <a:rPr lang="en-US" altLang="zh-CN" sz="2000" b="1" dirty="0">
                <a:solidFill>
                  <a:srgbClr val="FF0000"/>
                </a:solidFill>
              </a:rPr>
              <a:t>[</a:t>
            </a:r>
            <a:r>
              <a:rPr lang="zh-CN" altLang="en-US" sz="2000" b="1" dirty="0">
                <a:solidFill>
                  <a:srgbClr val="FF0000"/>
                </a:solidFill>
              </a:rPr>
              <a:t>谁是一个典型的学生？</a:t>
            </a:r>
            <a:r>
              <a:rPr lang="en-US" altLang="zh-CN" sz="2000" b="1" dirty="0">
                <a:solidFill>
                  <a:srgbClr val="FF0000"/>
                </a:solidFill>
              </a:rPr>
              <a:t>]</a:t>
            </a:r>
            <a:r>
              <a:rPr lang="en-US" altLang="zh-CN" sz="2000" dirty="0"/>
              <a:t>学生 A，计算机科学专业。</a:t>
            </a:r>
            <a:r>
              <a:rPr lang="en-US" altLang="zh-CN" sz="2000" b="1" dirty="0">
                <a:solidFill>
                  <a:srgbClr val="FF0000"/>
                </a:solidFill>
              </a:rPr>
              <a:t>[</a:t>
            </a:r>
            <a:r>
              <a:rPr lang="zh-CN" altLang="en-US" sz="2000" b="1" dirty="0">
                <a:solidFill>
                  <a:srgbClr val="FF0000"/>
                </a:solidFill>
              </a:rPr>
              <a:t>学生可能位于何处？其他大学是否不同？</a:t>
            </a:r>
            <a:r>
              <a:rPr lang="en-US" altLang="zh-CN" sz="2000" b="1" dirty="0">
                <a:solidFill>
                  <a:srgbClr val="FF0000"/>
                </a:solidFill>
              </a:rPr>
              <a:t>]</a:t>
            </a:r>
          </a:p>
          <a:p>
            <a:endParaRPr lang="en-US" altLang="zh-CN" sz="2000" b="1" dirty="0">
              <a:solidFill>
                <a:srgbClr val="FF0000"/>
              </a:solidFill>
            </a:endParaRPr>
          </a:p>
          <a:p>
            <a:r>
              <a:rPr lang="en-US" altLang="zh-CN" sz="2000" b="1" dirty="0">
                <a:solidFill>
                  <a:srgbClr val="515223"/>
                </a:solidFill>
                <a:latin typeface="Helvetica" pitchFamily="2" charset="0"/>
                <a:cs typeface="Arial" panose="020B0604020202020204" pitchFamily="34" charset="0"/>
              </a:rPr>
              <a:t>设备：</a:t>
            </a:r>
            <a:r>
              <a:rPr lang="en-US" altLang="zh-CN" sz="2000" dirty="0"/>
              <a:t>任何装有受支持浏览器的计算机。</a:t>
            </a:r>
            <a:r>
              <a:rPr lang="en-US" altLang="zh-CN" sz="2000" b="1" dirty="0">
                <a:solidFill>
                  <a:srgbClr val="FF0000"/>
                </a:solidFill>
              </a:rPr>
              <a:t>[</a:t>
            </a:r>
            <a:r>
              <a:rPr lang="zh-CN" altLang="en-US" sz="2000" b="1" dirty="0">
                <a:solidFill>
                  <a:srgbClr val="FF0000"/>
                </a:solidFill>
              </a:rPr>
              <a:t>是否有受支持浏览器的列表？是否有任何网络限制？</a:t>
            </a:r>
            <a:r>
              <a:rPr lang="en-US" altLang="zh-CN" sz="2000" b="1" dirty="0">
                <a:solidFill>
                  <a:srgbClr val="FF0000"/>
                </a:solidFill>
              </a:rPr>
              <a:t>]</a:t>
            </a:r>
          </a:p>
          <a:p>
            <a:endParaRPr lang="en-US" altLang="zh-CN" sz="2000" b="1" dirty="0">
              <a:solidFill>
                <a:srgbClr val="FF0000"/>
              </a:solidFill>
            </a:endParaRPr>
          </a:p>
          <a:p>
            <a:r>
              <a:rPr lang="en-US" altLang="zh-CN" sz="2000" b="1" dirty="0">
                <a:solidFill>
                  <a:srgbClr val="515223"/>
                </a:solidFill>
                <a:latin typeface="Helvetica" pitchFamily="2" charset="0"/>
                <a:cs typeface="Arial" panose="020B0604020202020204" pitchFamily="34" charset="0"/>
              </a:rPr>
              <a:t>场景：</a:t>
            </a:r>
          </a:p>
          <a:p>
            <a:r>
              <a:rPr lang="en-US" altLang="zh-CN" sz="2000" dirty="0"/>
              <a:t>1.学生 A 进行身份验证。</a:t>
            </a:r>
            <a:r>
              <a:rPr lang="en-US" altLang="zh-CN" sz="2000" b="1" dirty="0">
                <a:solidFill>
                  <a:srgbClr val="FF0000"/>
                </a:solidFill>
              </a:rPr>
              <a:t>[</a:t>
            </a:r>
            <a:r>
              <a:rPr lang="zh-CN" altLang="en-US" sz="2000" b="1" dirty="0">
                <a:solidFill>
                  <a:srgbClr val="FF0000"/>
                </a:solidFill>
              </a:rPr>
              <a:t>大学生如何进行身份验证？</a:t>
            </a:r>
            <a:r>
              <a:rPr lang="en-US" altLang="zh-CN" sz="2000" b="1" dirty="0">
                <a:solidFill>
                  <a:srgbClr val="FF0000"/>
                </a:solidFill>
              </a:rPr>
              <a:t>]</a:t>
            </a:r>
          </a:p>
          <a:p>
            <a:endParaRPr lang="en-US" altLang="zh-CN" sz="2000" b="1" dirty="0">
              <a:solidFill>
                <a:srgbClr val="FF0000"/>
              </a:solidFill>
            </a:endParaRPr>
          </a:p>
          <a:p>
            <a:r>
              <a:rPr lang="en-US" altLang="zh-CN" sz="2000" dirty="0"/>
              <a:t>2.学生 A 启动浏览器并输入考试系统的 URL。</a:t>
            </a:r>
            <a:r>
              <a:rPr lang="en-US" altLang="zh-CN" sz="2000" b="1" dirty="0">
                <a:solidFill>
                  <a:srgbClr val="FF0000"/>
                </a:solidFill>
              </a:rPr>
              <a:t>[</a:t>
            </a:r>
            <a:r>
              <a:rPr lang="zh-CN" altLang="en-US" sz="2000" b="1" dirty="0">
                <a:solidFill>
                  <a:srgbClr val="FF0000"/>
                </a:solidFill>
              </a:rPr>
              <a:t>学生如何知道</a:t>
            </a:r>
            <a:r>
              <a:rPr lang="en-US" altLang="zh-CN" sz="2000" b="1" dirty="0">
                <a:solidFill>
                  <a:srgbClr val="FF0000"/>
                </a:solidFill>
              </a:rPr>
              <a:t> URL</a:t>
            </a:r>
            <a:r>
              <a:rPr lang="zh-CN" altLang="en-US" sz="2000" b="1" dirty="0">
                <a:solidFill>
                  <a:srgbClr val="FF0000"/>
                </a:solidFill>
              </a:rPr>
              <a:t>？</a:t>
            </a:r>
            <a:r>
              <a:rPr lang="en-US" altLang="zh-CN" sz="2000" b="1" dirty="0">
                <a:solidFill>
                  <a:srgbClr val="FF0000"/>
                </a:solidFill>
              </a:rPr>
              <a:t>]</a:t>
            </a:r>
          </a:p>
          <a:p>
            <a:endParaRPr lang="en-US" altLang="zh-CN" sz="2000" b="1" dirty="0">
              <a:solidFill>
                <a:srgbClr val="FF0000"/>
              </a:solidFill>
            </a:endParaRPr>
          </a:p>
          <a:p>
            <a:r>
              <a:rPr lang="en-US" altLang="zh-CN" sz="2000" dirty="0"/>
              <a:t>3.考试系统显示选项列表。</a:t>
            </a:r>
            <a:r>
              <a:rPr lang="en-US" altLang="zh-CN" sz="2000" b="1" dirty="0">
                <a:solidFill>
                  <a:srgbClr val="FF0000"/>
                </a:solidFill>
              </a:rPr>
              <a:t>[</a:t>
            </a:r>
            <a:r>
              <a:rPr lang="zh-CN" altLang="en-US" sz="2000" b="1" dirty="0">
                <a:solidFill>
                  <a:srgbClr val="FF0000"/>
                </a:solidFill>
              </a:rPr>
              <a:t>该列表是否为特定用户定制的？</a:t>
            </a:r>
            <a:r>
              <a:rPr lang="en-US" altLang="zh-CN" sz="2000" b="1" dirty="0">
                <a:solidFill>
                  <a:srgbClr val="FF0000"/>
                </a:solidFill>
              </a:rPr>
              <a:t>]</a:t>
            </a:r>
          </a:p>
          <a:p>
            <a:endParaRPr lang="en-US" altLang="zh-CN" sz="2000" b="1" dirty="0">
              <a:solidFill>
                <a:srgbClr val="FF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t>4</a:t>
            </a:fld>
            <a:endParaRPr lang="zh-CN" altLang="en-US" dirty="0"/>
          </a:p>
        </p:txBody>
      </p:sp>
      <p:sp>
        <p:nvSpPr>
          <p:cNvPr id="5" name="TextBox 4"/>
          <p:cNvSpPr txBox="1"/>
          <p:nvPr/>
        </p:nvSpPr>
        <p:spPr>
          <a:xfrm>
            <a:off x="891558" y="1184145"/>
            <a:ext cx="11121766" cy="3476625"/>
          </a:xfrm>
          <a:prstGeom prst="rect">
            <a:avLst/>
          </a:prstGeom>
          <a:noFill/>
        </p:spPr>
        <p:txBody>
          <a:bodyPr wrap="square">
            <a:spAutoFit/>
          </a:bodyPr>
          <a:lstStyle/>
          <a:p>
            <a:r>
              <a:rPr lang="en-US" altLang="zh-CN" sz="2000" dirty="0">
                <a:sym typeface="+mn-ea"/>
              </a:rPr>
              <a:t>4.学生 A 选择考试 1。</a:t>
            </a:r>
          </a:p>
          <a:p>
            <a:endParaRPr lang="zh-CN" altLang="en-US" sz="2000" b="1" dirty="0">
              <a:solidFill>
                <a:srgbClr val="FF0000"/>
              </a:solidFill>
            </a:endParaRPr>
          </a:p>
          <a:p>
            <a:r>
              <a:rPr lang="en-US" altLang="zh-CN" sz="2000" dirty="0">
                <a:sym typeface="+mn-ea"/>
              </a:rPr>
              <a:t>5.显示问题列表，每个问题都标记了是否已完成。</a:t>
            </a:r>
            <a:r>
              <a:rPr lang="en-US" altLang="zh-CN" sz="2000" b="1" dirty="0">
                <a:solidFill>
                  <a:srgbClr val="FF0000"/>
                </a:solidFill>
                <a:sym typeface="+mn-ea"/>
              </a:rPr>
              <a:t>[</a:t>
            </a:r>
            <a:r>
              <a:rPr lang="zh-CN" altLang="en-US" sz="2000" b="1" dirty="0">
                <a:solidFill>
                  <a:srgbClr val="FF0000"/>
                </a:solidFill>
                <a:sym typeface="+mn-ea"/>
              </a:rPr>
              <a:t>问题可以按任意顺序回答吗？</a:t>
            </a:r>
            <a:r>
              <a:rPr lang="en-US" altLang="zh-CN" sz="2000" b="1" dirty="0">
                <a:solidFill>
                  <a:srgbClr val="FF0000"/>
                </a:solidFill>
                <a:sym typeface="+mn-ea"/>
              </a:rPr>
              <a:t>]</a:t>
            </a:r>
          </a:p>
          <a:p>
            <a:endParaRPr lang="en-US" altLang="zh-CN" sz="2000" b="1" dirty="0">
              <a:solidFill>
                <a:srgbClr val="FF0000"/>
              </a:solidFill>
            </a:endParaRPr>
          </a:p>
          <a:p>
            <a:r>
              <a:rPr lang="en-US" altLang="zh-CN" sz="2000" dirty="0">
                <a:sym typeface="+mn-ea"/>
              </a:rPr>
              <a:t>6.学生 A 选择一个问题，并选择是提交新答案还是编辑之前的答案。</a:t>
            </a:r>
            <a:endParaRPr lang="en-US" altLang="zh-CN" sz="2000" dirty="0"/>
          </a:p>
          <a:p>
            <a:r>
              <a:rPr lang="en-US" altLang="zh-CN" sz="2000" b="1" dirty="0">
                <a:solidFill>
                  <a:srgbClr val="FF0000"/>
                </a:solidFill>
                <a:sym typeface="+mn-ea"/>
              </a:rPr>
              <a:t>[</a:t>
            </a:r>
            <a:r>
              <a:rPr lang="zh-CN" altLang="en-US" sz="2000" b="1" dirty="0">
                <a:solidFill>
                  <a:srgbClr val="FF0000"/>
                </a:solidFill>
                <a:sym typeface="+mn-ea"/>
              </a:rPr>
              <a:t>是否始终可以编辑之前的答案？还有其他选项吗？</a:t>
            </a:r>
            <a:r>
              <a:rPr lang="en-US" altLang="zh-CN" sz="2000" b="1" dirty="0">
                <a:solidFill>
                  <a:srgbClr val="FF0000"/>
                </a:solidFill>
                <a:sym typeface="+mn-ea"/>
              </a:rPr>
              <a:t>]</a:t>
            </a:r>
            <a:endParaRPr lang="en-US" altLang="zh-CN" sz="2000" b="1" dirty="0">
              <a:solidFill>
                <a:srgbClr val="FF0000"/>
              </a:solidFill>
            </a:endParaRPr>
          </a:p>
          <a:p>
            <a:r>
              <a:rPr lang="en-US" altLang="zh-CN" sz="2000" b="1" dirty="0">
                <a:solidFill>
                  <a:srgbClr val="FF0000"/>
                </a:solidFill>
                <a:sym typeface="+mn-ea"/>
              </a:rPr>
              <a:t>[</a:t>
            </a:r>
            <a:r>
              <a:rPr lang="zh-CN" altLang="en-US" sz="2000" b="1" dirty="0">
                <a:solidFill>
                  <a:srgbClr val="FF0000"/>
                </a:solidFill>
                <a:sym typeface="+mn-ea"/>
              </a:rPr>
              <a:t>有哪些类型的问题：文本、选择题等？</a:t>
            </a:r>
            <a:r>
              <a:rPr lang="en-US" altLang="zh-CN" sz="2000" b="1" dirty="0">
                <a:solidFill>
                  <a:srgbClr val="FF0000"/>
                </a:solidFill>
                <a:sym typeface="+mn-ea"/>
              </a:rPr>
              <a:t>]</a:t>
            </a:r>
          </a:p>
          <a:p>
            <a:endParaRPr lang="en-US" altLang="zh-CN" sz="2000" b="1" dirty="0">
              <a:solidFill>
                <a:srgbClr val="FF0000"/>
              </a:solidFill>
            </a:endParaRPr>
          </a:p>
          <a:p>
            <a:r>
              <a:rPr lang="en-US" altLang="zh-CN" sz="2000" dirty="0">
                <a:sym typeface="+mn-ea"/>
              </a:rPr>
              <a:t>7.第一个问题需要书面回答。学生 A 正在提交新答案。学生可以选择在浏览器中输入答案或附加单独的文件。学生 A 决定附加一个文件。</a:t>
            </a:r>
            <a:endParaRPr lang="en-US" altLang="zh-CN" sz="2000" dirty="0"/>
          </a:p>
          <a:p>
            <a:r>
              <a:rPr lang="en-US" altLang="zh-CN" sz="2000" b="1" dirty="0">
                <a:solidFill>
                  <a:srgbClr val="FF0000"/>
                </a:solidFill>
                <a:sym typeface="+mn-ea"/>
              </a:rPr>
              <a:t>[</a:t>
            </a:r>
            <a:r>
              <a:rPr lang="zh-CN" altLang="en-US" sz="2000" b="1" dirty="0">
                <a:solidFill>
                  <a:srgbClr val="FF0000"/>
                </a:solidFill>
                <a:sym typeface="+mn-ea"/>
              </a:rPr>
              <a:t>接受哪些类型的文件？</a:t>
            </a:r>
            <a:r>
              <a:rPr lang="en-US" altLang="zh-CN" sz="2000" b="1" dirty="0">
                <a:solidFill>
                  <a:srgbClr val="FF0000"/>
                </a:solidFill>
                <a:sym typeface="+mn-ea"/>
              </a:rPr>
              <a:t>]</a:t>
            </a:r>
            <a:endParaRPr lang="en-US" sz="2000" b="1" dirty="0">
              <a:solidFill>
                <a:srgbClr val="FF0000"/>
              </a:solidFill>
            </a:endParaRPr>
          </a:p>
        </p:txBody>
      </p:sp>
      <p:sp>
        <p:nvSpPr>
          <p:cNvPr id="6" name="Title 1"/>
          <p:cNvSpPr>
            <a:spLocks noGrp="1"/>
          </p:cNvSpPr>
          <p:nvPr>
            <p:ph type="title"/>
          </p:nvPr>
        </p:nvSpPr>
        <p:spPr>
          <a:xfrm>
            <a:off x="1091254" y="237834"/>
            <a:ext cx="9363071" cy="790865"/>
          </a:xfrm>
        </p:spPr>
        <p:txBody>
          <a:bodyPr>
            <a:normAutofit/>
          </a:bodyPr>
          <a:lstStyle/>
          <a:p>
            <a:r>
              <a:rPr lang="zh-CN" altLang="en-US" sz="3000" dirty="0">
                <a:latin typeface="Times New Roman" panose="02020603050405020304" charset="0"/>
              </a:rPr>
              <a:t>与客户一起开发场景（续）</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363071" cy="790865"/>
          </a:xfrm>
        </p:spPr>
        <p:txBody>
          <a:bodyPr>
            <a:normAutofit/>
          </a:bodyPr>
          <a:lstStyle/>
          <a:p>
            <a:r>
              <a:rPr lang="zh-CN" altLang="en-US" sz="3000" dirty="0">
                <a:latin typeface="Times New Roman" panose="02020603050405020304" charset="0"/>
              </a:rPr>
              <a:t>与客户一起开发场景（续）</a:t>
            </a: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t>5</a:t>
            </a:fld>
            <a:endParaRPr lang="zh-CN" altLang="en-US" dirty="0"/>
          </a:p>
        </p:txBody>
      </p:sp>
      <p:sp>
        <p:nvSpPr>
          <p:cNvPr id="9" name="TextBox 3"/>
          <p:cNvSpPr txBox="1"/>
          <p:nvPr/>
        </p:nvSpPr>
        <p:spPr>
          <a:xfrm>
            <a:off x="572375" y="1210132"/>
            <a:ext cx="11163995" cy="4399915"/>
          </a:xfrm>
          <a:prstGeom prst="rect">
            <a:avLst/>
          </a:prstGeom>
          <a:noFill/>
        </p:spPr>
        <p:txBody>
          <a:bodyPr wrap="square">
            <a:spAutoFit/>
          </a:bodyPr>
          <a:lstStyle/>
          <a:p>
            <a:r>
              <a:rPr lang="en-US" altLang="zh-CN" sz="2000" dirty="0"/>
              <a:t>8.对于第二个问题，学生选择编辑之前的答案。学生 A 选择删除之前输入到浏览器中的答案，并将其替换为附加的文件。</a:t>
            </a:r>
          </a:p>
          <a:p>
            <a:r>
              <a:rPr lang="en-US" altLang="zh-CN" sz="2000" b="1" dirty="0">
                <a:solidFill>
                  <a:srgbClr val="FF0000"/>
                </a:solidFill>
              </a:rPr>
              <a:t>[</a:t>
            </a:r>
            <a:r>
              <a:rPr lang="zh-CN" altLang="en-US" sz="2000" b="1" dirty="0">
                <a:solidFill>
                  <a:srgbClr val="FF0000"/>
                </a:solidFill>
              </a:rPr>
              <a:t>学生可以编辑之前的答案，还是必须用新答案替换？</a:t>
            </a:r>
            <a:r>
              <a:rPr lang="en-US" altLang="zh-CN" sz="2000" b="1" dirty="0">
                <a:solidFill>
                  <a:srgbClr val="FF0000"/>
                </a:solidFill>
              </a:rPr>
              <a:t>]</a:t>
            </a:r>
          </a:p>
          <a:p>
            <a:endParaRPr lang="en-US" altLang="zh-CN" sz="2000" b="1" dirty="0">
              <a:solidFill>
                <a:srgbClr val="FF0000"/>
              </a:solidFill>
            </a:endParaRPr>
          </a:p>
          <a:p>
            <a:r>
              <a:rPr lang="en-US" altLang="zh-CN" sz="2000" dirty="0"/>
              <a:t>9.作为在单次会话中完成整个考试的替代方案，学生 A 决定保存已完成的问题以便稍后继续。</a:t>
            </a:r>
          </a:p>
          <a:p>
            <a:r>
              <a:rPr lang="en-US" altLang="zh-CN" sz="2000" b="1" dirty="0">
                <a:solidFill>
                  <a:srgbClr val="FF0000"/>
                </a:solidFill>
              </a:rPr>
              <a:t>[</a:t>
            </a:r>
            <a:r>
              <a:rPr lang="zh-CN" altLang="en-US" sz="2000" b="1" dirty="0">
                <a:solidFill>
                  <a:srgbClr val="FF0000"/>
                </a:solidFill>
              </a:rPr>
              <a:t>是否始终允许这样做？</a:t>
            </a:r>
            <a:r>
              <a:rPr lang="en-US" altLang="zh-CN" sz="2000" b="1" dirty="0">
                <a:solidFill>
                  <a:srgbClr val="FF0000"/>
                </a:solidFill>
              </a:rPr>
              <a:t>]</a:t>
            </a:r>
          </a:p>
          <a:p>
            <a:endParaRPr lang="en-US" altLang="zh-CN" sz="2000" b="1" dirty="0">
              <a:solidFill>
                <a:srgbClr val="FF0000"/>
              </a:solidFill>
            </a:endParaRPr>
          </a:p>
          <a:p>
            <a:r>
              <a:rPr lang="en-US" altLang="zh-CN" sz="2000" dirty="0"/>
              <a:t>10.学生 A 登出。</a:t>
            </a:r>
          </a:p>
          <a:p>
            <a:endParaRPr lang="en-US" altLang="zh-CN" sz="2000" b="1" dirty="0">
              <a:solidFill>
                <a:srgbClr val="FF0000"/>
              </a:solidFill>
            </a:endParaRPr>
          </a:p>
          <a:p>
            <a:r>
              <a:rPr lang="en-US" altLang="zh-CN" sz="2000" dirty="0"/>
              <a:t>11.稍后，学生 A 登录，完成考试，提交答案，然后登出。</a:t>
            </a:r>
          </a:p>
          <a:p>
            <a:r>
              <a:rPr lang="en-US" altLang="zh-CN" sz="2000" b="1" dirty="0">
                <a:solidFill>
                  <a:srgbClr val="FF0000"/>
                </a:solidFill>
              </a:rPr>
              <a:t>[</a:t>
            </a:r>
            <a:r>
              <a:rPr lang="zh-CN" altLang="en-US" sz="2000" b="1" dirty="0">
                <a:solidFill>
                  <a:srgbClr val="FF0000"/>
                </a:solidFill>
              </a:rPr>
              <a:t>这个过程与最初进行此考试的过程有何不同？</a:t>
            </a:r>
            <a:r>
              <a:rPr lang="en-US" altLang="zh-CN" sz="2000" b="1" dirty="0">
                <a:solidFill>
                  <a:srgbClr val="FF0000"/>
                </a:solidFill>
              </a:rPr>
              <a:t>]</a:t>
            </a:r>
          </a:p>
          <a:p>
            <a:endParaRPr lang="en-US" altLang="zh-CN" sz="2000" b="1" dirty="0">
              <a:solidFill>
                <a:srgbClr val="FF0000"/>
              </a:solidFill>
            </a:endParaRPr>
          </a:p>
          <a:p>
            <a:r>
              <a:rPr lang="en-US" altLang="zh-CN" sz="2000" dirty="0"/>
              <a:t>12.学生 A 现已完成考试。学生选择一个选项，将考试提交给评分系统。</a:t>
            </a:r>
          </a:p>
          <a:p>
            <a:r>
              <a:rPr lang="en-US" altLang="zh-CN" sz="2000" b="1" dirty="0">
                <a:solidFill>
                  <a:srgbClr val="FF0000"/>
                </a:solidFill>
              </a:rPr>
              <a:t>[</a:t>
            </a:r>
            <a:r>
              <a:rPr lang="zh-CN" altLang="en-US" sz="2000" b="1" dirty="0">
                <a:solidFill>
                  <a:srgbClr val="FF0000"/>
                </a:solidFill>
              </a:rPr>
              <a:t>如果学生没有尝试回答所有问题怎么办？评分者会收到通知吗？</a:t>
            </a:r>
            <a:r>
              <a:rPr lang="en-US" altLang="zh-CN" sz="2000" b="1" dirty="0">
                <a:solidFill>
                  <a:srgbClr val="FF0000"/>
                </a:solidFill>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363071" cy="790865"/>
          </a:xfrm>
        </p:spPr>
        <p:txBody>
          <a:bodyPr>
            <a:normAutofit/>
          </a:bodyPr>
          <a:lstStyle/>
          <a:p>
            <a:r>
              <a:rPr lang="zh-CN" altLang="en-US" sz="3000" dirty="0">
                <a:latin typeface="Times New Roman" panose="02020603050405020304" charset="0"/>
              </a:rPr>
              <a:t>讨论</a:t>
            </a: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t>6</a:t>
            </a:fld>
            <a:endParaRPr lang="zh-CN" altLang="en-US" dirty="0"/>
          </a:p>
        </p:txBody>
      </p:sp>
      <p:sp>
        <p:nvSpPr>
          <p:cNvPr id="5" name="TextBox 4"/>
          <p:cNvSpPr txBox="1"/>
          <p:nvPr/>
        </p:nvSpPr>
        <p:spPr>
          <a:xfrm>
            <a:off x="1091254" y="1209480"/>
            <a:ext cx="10344001" cy="3476625"/>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20204" pitchFamily="34" charset="0"/>
              </a:rPr>
              <a:t>从</a:t>
            </a:r>
            <a:r>
              <a:rPr lang="zh-CN" altLang="en-US" sz="2000" b="1" dirty="0">
                <a:solidFill>
                  <a:srgbClr val="FF0000"/>
                </a:solidFill>
                <a:latin typeface="Helvetica" pitchFamily="2" charset="0"/>
                <a:cs typeface="Arial" panose="020B0604020202020204" pitchFamily="34" charset="0"/>
              </a:rPr>
              <a:t>教师</a:t>
            </a:r>
            <a:r>
              <a:rPr lang="zh-CN" altLang="en-US" sz="2000" b="1" dirty="0">
                <a:solidFill>
                  <a:srgbClr val="515223"/>
                </a:solidFill>
                <a:latin typeface="Helvetica" pitchFamily="2" charset="0"/>
                <a:cs typeface="Arial" panose="020B0604020202020204" pitchFamily="34" charset="0"/>
              </a:rPr>
              <a:t>视角描述在线考试系统使用的场景</a:t>
            </a:r>
          </a:p>
          <a:p>
            <a:endParaRPr lang="en-US" altLang="zh-CN" sz="2000" b="1" dirty="0">
              <a:solidFill>
                <a:srgbClr val="515223"/>
              </a:solidFill>
              <a:latin typeface="Helvetica" pitchFamily="2" charset="0"/>
              <a:cs typeface="Arial" panose="020B0604020202020204" pitchFamily="34" charset="0"/>
            </a:endParaRPr>
          </a:p>
          <a:p>
            <a:r>
              <a:rPr lang="zh-CN" altLang="en-US" sz="2000" b="1" dirty="0">
                <a:solidFill>
                  <a:srgbClr val="515223"/>
                </a:solidFill>
                <a:latin typeface="Helvetica" pitchFamily="2" charset="0"/>
                <a:cs typeface="Arial" panose="020B0604020202020204" pitchFamily="34" charset="0"/>
              </a:rPr>
              <a:t>目的：</a:t>
            </a:r>
          </a:p>
          <a:p>
            <a:endParaRPr lang="en-US" altLang="zh-CN" sz="2000" b="1" dirty="0">
              <a:solidFill>
                <a:srgbClr val="515223"/>
              </a:solidFill>
              <a:latin typeface="Helvetica" pitchFamily="2" charset="0"/>
              <a:cs typeface="Arial" panose="020B0604020202020204" pitchFamily="34" charset="0"/>
            </a:endParaRPr>
          </a:p>
          <a:p>
            <a:r>
              <a:rPr lang="zh-CN" altLang="en-US" sz="2000" b="1" dirty="0">
                <a:solidFill>
                  <a:srgbClr val="515223"/>
                </a:solidFill>
                <a:latin typeface="Helvetica" pitchFamily="2" charset="0"/>
                <a:cs typeface="Arial" panose="020B0604020202020204" pitchFamily="34" charset="0"/>
              </a:rPr>
              <a:t>个体：</a:t>
            </a:r>
          </a:p>
          <a:p>
            <a:endParaRPr lang="en-US" altLang="zh-CN" sz="2000" b="1" dirty="0">
              <a:solidFill>
                <a:srgbClr val="515223"/>
              </a:solidFill>
              <a:latin typeface="Helvetica" pitchFamily="2" charset="0"/>
              <a:cs typeface="Arial" panose="020B0604020202020204" pitchFamily="34" charset="0"/>
            </a:endParaRPr>
          </a:p>
          <a:p>
            <a:r>
              <a:rPr lang="zh-CN" altLang="en-US" sz="2000" b="1" dirty="0">
                <a:solidFill>
                  <a:srgbClr val="515223"/>
                </a:solidFill>
                <a:latin typeface="Helvetica" pitchFamily="2" charset="0"/>
                <a:cs typeface="Arial" panose="020B0604020202020204" pitchFamily="34" charset="0"/>
              </a:rPr>
              <a:t>设备：</a:t>
            </a:r>
          </a:p>
          <a:p>
            <a:endParaRPr lang="en-US" altLang="zh-CN" sz="2000" b="1" dirty="0">
              <a:solidFill>
                <a:srgbClr val="515223"/>
              </a:solidFill>
              <a:latin typeface="Helvetica" pitchFamily="2" charset="0"/>
              <a:cs typeface="Arial" panose="020B0604020202020204" pitchFamily="34" charset="0"/>
            </a:endParaRPr>
          </a:p>
          <a:p>
            <a:r>
              <a:rPr lang="zh-CN" altLang="en-US" sz="2000" b="1" dirty="0">
                <a:solidFill>
                  <a:srgbClr val="515223"/>
                </a:solidFill>
                <a:latin typeface="Helvetica" pitchFamily="2" charset="0"/>
                <a:cs typeface="Arial" panose="020B0604020202020204" pitchFamily="34" charset="0"/>
              </a:rPr>
              <a:t>场景步骤：</a:t>
            </a:r>
          </a:p>
          <a:p>
            <a:endParaRPr lang="en-US" altLang="zh-CN" sz="2000" b="1" dirty="0">
              <a:solidFill>
                <a:srgbClr val="515223"/>
              </a:solidFill>
              <a:latin typeface="Helvetica" pitchFamily="2" charset="0"/>
              <a:cs typeface="Arial" panose="020B0604020202020204" pitchFamily="34" charset="0"/>
            </a:endParaRPr>
          </a:p>
          <a:p>
            <a:r>
              <a:rPr lang="zh-CN" altLang="en-US" sz="2000" b="1" dirty="0">
                <a:solidFill>
                  <a:srgbClr val="FF0000"/>
                </a:solidFill>
                <a:latin typeface="Helvetica" pitchFamily="2" charset="0"/>
                <a:cs typeface="Arial" panose="020B0604020202020204" pitchFamily="34" charset="0"/>
              </a:rPr>
              <a:t>将在下节课展示！</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5" y="237834"/>
            <a:ext cx="8703194" cy="790865"/>
          </a:xfrm>
        </p:spPr>
        <p:txBody>
          <a:bodyPr>
            <a:normAutofit/>
          </a:bodyPr>
          <a:lstStyle/>
          <a:p>
            <a:r>
              <a:rPr lang="zh-CN" altLang="en-US" sz="3000" dirty="0">
                <a:latin typeface="Times New Roman" panose="02020603050405020304" charset="0"/>
              </a:rPr>
              <a:t>与客户一起开发场景（续）</a:t>
            </a: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t>7</a:t>
            </a:fld>
            <a:endParaRPr lang="zh-CN" altLang="en-US" dirty="0"/>
          </a:p>
        </p:txBody>
      </p:sp>
      <p:sp>
        <p:nvSpPr>
          <p:cNvPr id="9" name="TextBox 3"/>
          <p:cNvSpPr txBox="1"/>
          <p:nvPr/>
        </p:nvSpPr>
        <p:spPr>
          <a:xfrm>
            <a:off x="572375" y="1954013"/>
            <a:ext cx="11163995" cy="2245360"/>
          </a:xfrm>
          <a:prstGeom prst="rect">
            <a:avLst/>
          </a:prstGeom>
          <a:noFill/>
        </p:spPr>
        <p:txBody>
          <a:bodyPr wrap="square">
            <a:spAutoFit/>
          </a:bodyPr>
          <a:lstStyle/>
          <a:p>
            <a:pPr marL="342900" indent="-342900">
              <a:buFont typeface="Arial" panose="020B0604020202020204" pitchFamily="34" charset="0"/>
              <a:buChar char="•"/>
            </a:pPr>
            <a:r>
              <a:rPr lang="en-US" altLang="zh-CN" sz="2000" dirty="0"/>
              <a:t>与客户一起开发场景澄清了许多在系统构建前必须达成一致的功能需求，例如策略、程序等。</a:t>
            </a:r>
          </a:p>
          <a:p>
            <a:pPr marL="342900" indent="-342900">
              <a:buFont typeface="Arial" panose="020B0604020202020204" pitchFamily="34" charset="0"/>
              <a:buChar char="•"/>
            </a:pPr>
            <a:endParaRPr lang="en-US" altLang="zh-CN" sz="2000" dirty="0"/>
          </a:p>
          <a:p>
            <a:pPr marL="342900" indent="-342900">
              <a:buFont typeface="Arial" panose="020B0604020202020204" pitchFamily="34" charset="0"/>
              <a:buChar char="•"/>
            </a:pPr>
            <a:r>
              <a:rPr lang="en-US" altLang="zh-CN" sz="2000" dirty="0"/>
              <a:t>场景通常会阐明用户界面的需求，但用户界面的设计不应成为场景的一部分。</a:t>
            </a:r>
          </a:p>
          <a:p>
            <a:pPr marL="342900" indent="-342900">
              <a:buFont typeface="Arial" panose="020B0604020202020204" pitchFamily="34" charset="0"/>
              <a:buChar char="•"/>
            </a:pPr>
            <a:endParaRPr lang="en-US" altLang="zh-CN" sz="2000" b="1" dirty="0">
              <a:solidFill>
                <a:srgbClr val="515223"/>
              </a:solidFill>
              <a:latin typeface="Helvetica" pitchFamily="2" charset="0"/>
              <a:cs typeface="Arial" panose="020B0604020202020204" pitchFamily="34" charset="0"/>
            </a:endParaRPr>
          </a:p>
          <a:p>
            <a:pPr indent="0">
              <a:buNone/>
            </a:pPr>
            <a:r>
              <a:rPr lang="zh-CN" altLang="en-US" sz="2000" b="1" dirty="0">
                <a:solidFill>
                  <a:srgbClr val="515223"/>
                </a:solidFill>
                <a:latin typeface="Helvetica" pitchFamily="2" charset="0"/>
                <a:cs typeface="Arial" panose="020B0604020202020204" pitchFamily="34" charset="0"/>
              </a:rPr>
              <a:t>尽管这个场景相当简单，但仍有许多细节被遗漏了。</a:t>
            </a:r>
          </a:p>
          <a:p>
            <a:pPr indent="0">
              <a:buNone/>
            </a:pPr>
            <a:endParaRPr lang="en-US" altLang="zh-CN" sz="2000" b="1" dirty="0">
              <a:solidFill>
                <a:srgbClr val="515223"/>
              </a:solidFill>
              <a:latin typeface="Helvetica" pitchFamily="2" charset="0"/>
              <a:cs typeface="Arial" panose="020B0604020202020204" pitchFamily="34" charset="0"/>
            </a:endParaRPr>
          </a:p>
          <a:p>
            <a:pPr indent="0">
              <a:buNone/>
            </a:pPr>
            <a:r>
              <a:rPr lang="zh-CN" altLang="en-US" sz="2000" b="1" dirty="0">
                <a:solidFill>
                  <a:srgbClr val="515223"/>
                </a:solidFill>
                <a:latin typeface="Helvetica" pitchFamily="2" charset="0"/>
                <a:cs typeface="Arial" panose="020B0604020202020204" pitchFamily="34" charset="0"/>
              </a:rPr>
              <a:t>一个复杂的系统可能需要许多场景。</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t>8</a:t>
            </a:fld>
            <a:endParaRPr lang="zh-CN" alt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1409" y="1237835"/>
            <a:ext cx="10529181" cy="456584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zh-CN" altLang="en-US" sz="3000" dirty="0">
                <a:latin typeface="Times New Roman" panose="02020603050405020304" charset="0"/>
              </a:rPr>
              <a:t>用于分析特殊需求的场景</a:t>
            </a: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t>9</a:t>
            </a:fld>
            <a:endParaRPr lang="zh-CN" altLang="en-US" dirty="0"/>
          </a:p>
        </p:txBody>
      </p:sp>
      <p:sp>
        <p:nvSpPr>
          <p:cNvPr id="9" name="TextBox 3"/>
          <p:cNvSpPr txBox="1"/>
          <p:nvPr/>
        </p:nvSpPr>
        <p:spPr>
          <a:xfrm>
            <a:off x="632011" y="1462547"/>
            <a:ext cx="11163995" cy="3784600"/>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20204" pitchFamily="34" charset="0"/>
              </a:rPr>
              <a:t>场景对于分析特殊需求非常有用。</a:t>
            </a:r>
          </a:p>
          <a:p>
            <a:endParaRPr lang="zh-CN" altLang="en-US" sz="2000" b="1" dirty="0">
              <a:solidFill>
                <a:srgbClr val="515223"/>
              </a:solidFill>
              <a:latin typeface="Helvetica" pitchFamily="2" charset="0"/>
              <a:cs typeface="Arial" panose="020B0604020202020204" pitchFamily="34" charset="0"/>
            </a:endParaRPr>
          </a:p>
          <a:p>
            <a:r>
              <a:rPr lang="zh-CN" altLang="en-US" sz="2000" b="1" dirty="0">
                <a:solidFill>
                  <a:srgbClr val="515223"/>
                </a:solidFill>
                <a:latin typeface="Helvetica" pitchFamily="2" charset="0"/>
                <a:cs typeface="Arial" panose="020B0604020202020204" pitchFamily="34" charset="0"/>
              </a:rPr>
              <a:t>示例</a:t>
            </a:r>
          </a:p>
          <a:p>
            <a:endParaRPr lang="en-US" altLang="zh-CN" sz="2000" dirty="0"/>
          </a:p>
          <a:p>
            <a:pPr marL="342900" indent="-342900">
              <a:buFont typeface="Arial" panose="020B0604020202020204" pitchFamily="34" charset="0"/>
              <a:buChar char="•"/>
            </a:pPr>
            <a:r>
              <a:rPr lang="zh-CN" altLang="en-US" sz="2000" b="1" dirty="0">
                <a:solidFill>
                  <a:srgbClr val="FF0000"/>
                </a:solidFill>
              </a:rPr>
              <a:t>逆转：</a:t>
            </a:r>
            <a:r>
              <a:rPr lang="en-US" altLang="zh-CN" sz="2000" b="1" dirty="0">
                <a:solidFill>
                  <a:srgbClr val="FF0000"/>
                </a:solidFill>
              </a:rPr>
              <a:t> </a:t>
            </a:r>
            <a:r>
              <a:rPr lang="zh-CN" altLang="en-US" sz="2000" dirty="0"/>
              <a:t>在金融系统中，一笔交易被记入了错误的账户。使用什么步骤序列来逆转该交易？</a:t>
            </a:r>
            <a:endParaRPr lang="en-US" altLang="zh-CN" sz="2000" dirty="0"/>
          </a:p>
          <a:p>
            <a:pPr marL="342900" indent="-342900">
              <a:buFont typeface="Arial" panose="020B0604020202020204" pitchFamily="34" charset="0"/>
              <a:buChar char="•"/>
            </a:pPr>
            <a:r>
              <a:rPr lang="zh-CN" altLang="en-US" sz="2000" b="1" dirty="0">
                <a:solidFill>
                  <a:srgbClr val="FF0000"/>
                </a:solidFill>
              </a:rPr>
              <a:t>错误：</a:t>
            </a:r>
            <a:r>
              <a:rPr lang="en-US" altLang="zh-CN" sz="2000" dirty="0"/>
              <a:t> </a:t>
            </a:r>
            <a:r>
              <a:rPr lang="zh-CN" altLang="en-US" sz="2000" dirty="0"/>
              <a:t>一家邮购公司拥有其库存数据库的多个副本。如果这些副本变得不一致，会发生什么？</a:t>
            </a:r>
          </a:p>
          <a:p>
            <a:endParaRPr lang="en-US" altLang="zh-CN" sz="2000" dirty="0"/>
          </a:p>
          <a:p>
            <a:r>
              <a:rPr lang="zh-CN" altLang="en-US" sz="2000" b="1" dirty="0">
                <a:solidFill>
                  <a:srgbClr val="515223"/>
                </a:solidFill>
                <a:latin typeface="Helvetica" pitchFamily="2" charset="0"/>
                <a:cs typeface="Arial" panose="020B0604020202020204" pitchFamily="34" charset="0"/>
              </a:rPr>
              <a:t>错误恢复的场景</a:t>
            </a:r>
          </a:p>
          <a:p>
            <a:pPr marL="342900" indent="-342900">
              <a:buFont typeface="Arial" panose="020B0604020202020204" pitchFamily="34" charset="0"/>
              <a:buChar char="•"/>
            </a:pPr>
            <a:r>
              <a:rPr lang="zh-CN" altLang="en-US" sz="2000" dirty="0"/>
              <a:t>墨菲定律：“</a:t>
            </a:r>
            <a:r>
              <a:rPr lang="zh-CN" altLang="en-US" sz="2000" b="1" dirty="0">
                <a:solidFill>
                  <a:srgbClr val="FF0000"/>
                </a:solidFill>
              </a:rPr>
              <a:t>凡是可能出错的事，就一定会出错</a:t>
            </a:r>
            <a:r>
              <a:rPr lang="zh-CN" altLang="en-US" sz="2000" dirty="0"/>
              <a:t>”。为所有可能出错的情况以及系统预期如何处理它创建一个场景。</a:t>
            </a:r>
          </a:p>
          <a:p>
            <a:endParaRPr lang="en-US" altLang="zh-CN" sz="2000" b="1" dirty="0">
              <a:solidFill>
                <a:srgbClr val="515223"/>
              </a:solidFill>
              <a:latin typeface="Helvetica" pitchFamily="2" charset="0"/>
              <a:cs typeface="Arial" panose="020B0604020202020204" pitchFamily="34" charset="0"/>
            </a:endParaRPr>
          </a:p>
          <a:p>
            <a:r>
              <a:rPr lang="zh-CN" altLang="en-US" sz="2000" b="1" dirty="0">
                <a:solidFill>
                  <a:srgbClr val="515223"/>
                </a:solidFill>
                <a:latin typeface="Helvetica" pitchFamily="2" charset="0"/>
                <a:cs typeface="Arial" panose="020B0604020202020204" pitchFamily="34" charset="0"/>
              </a:rPr>
              <a:t>在质量保证中也很有用。</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zh-CN" altLang="en-US" sz="3200" dirty="0">
                <a:latin typeface="Times New Roman" panose="02020603050405020304" charset="0"/>
              </a:rPr>
              <a:t>将场景建模为用例</a:t>
            </a: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t>10</a:t>
            </a:fld>
            <a:endParaRPr lang="zh-CN" altLang="en-US" dirty="0"/>
          </a:p>
        </p:txBody>
      </p:sp>
      <p:sp>
        <p:nvSpPr>
          <p:cNvPr id="9" name="TextBox 3"/>
          <p:cNvSpPr txBox="1"/>
          <p:nvPr/>
        </p:nvSpPr>
        <p:spPr>
          <a:xfrm>
            <a:off x="572375" y="1689853"/>
            <a:ext cx="11163995" cy="2554545"/>
          </a:xfrm>
          <a:prstGeom prst="rect">
            <a:avLst/>
          </a:prstGeom>
          <a:noFill/>
        </p:spPr>
        <p:txBody>
          <a:bodyPr wrap="square">
            <a:spAutoFit/>
          </a:bodyPr>
          <a:lstStyle/>
          <a:p>
            <a:r>
              <a:rPr lang="zh-CN" altLang="en-US" sz="2000" b="1" dirty="0">
                <a:solidFill>
                  <a:srgbClr val="FF0000"/>
                </a:solidFill>
              </a:rPr>
              <a:t>模型 （</a:t>
            </a:r>
            <a:r>
              <a:rPr lang="en-US" altLang="zh-CN" sz="2000" b="1" dirty="0">
                <a:solidFill>
                  <a:srgbClr val="FF0000"/>
                </a:solidFill>
              </a:rPr>
              <a:t>Model</a:t>
            </a:r>
            <a:r>
              <a:rPr lang="zh-CN" altLang="en-US" sz="2000" b="1" dirty="0">
                <a:solidFill>
                  <a:srgbClr val="FF0000"/>
                </a:solidFill>
              </a:rPr>
              <a:t>）</a:t>
            </a:r>
          </a:p>
          <a:p>
            <a:endParaRPr lang="en-US" altLang="zh-CN" sz="2000" dirty="0"/>
          </a:p>
          <a:p>
            <a:r>
              <a:rPr lang="zh-CN" altLang="en-US" sz="2000" dirty="0"/>
              <a:t>在与客户讨论拟议系统时，</a:t>
            </a:r>
            <a:r>
              <a:rPr lang="zh-CN" altLang="en-US" sz="2000" b="1" dirty="0">
                <a:solidFill>
                  <a:srgbClr val="FF0000"/>
                </a:solidFill>
              </a:rPr>
              <a:t>场景</a:t>
            </a:r>
            <a:r>
              <a:rPr lang="en-US" altLang="zh-CN" sz="2000" b="1" dirty="0">
                <a:solidFill>
                  <a:srgbClr val="FF0000"/>
                </a:solidFill>
              </a:rPr>
              <a:t> (Scenario)</a:t>
            </a:r>
            <a:r>
              <a:rPr lang="zh-CN" altLang="en-US" sz="2000" b="1" dirty="0">
                <a:solidFill>
                  <a:srgbClr val="FF0000"/>
                </a:solidFill>
              </a:rPr>
              <a:t> </a:t>
            </a:r>
            <a:r>
              <a:rPr lang="zh-CN" altLang="en-US" sz="2000" dirty="0"/>
              <a:t>非常有用，但在完全理解系统之前，需求需要变得更加精确。</a:t>
            </a:r>
          </a:p>
          <a:p>
            <a:endParaRPr lang="en-US" altLang="zh-CN" sz="2000" dirty="0"/>
          </a:p>
          <a:p>
            <a:r>
              <a:rPr lang="zh-CN" altLang="en-US" sz="2000" dirty="0"/>
              <a:t>这就是需求</a:t>
            </a:r>
            <a:r>
              <a:rPr lang="zh-CN" altLang="en-US" sz="2000" b="1" dirty="0">
                <a:solidFill>
                  <a:srgbClr val="FF0000"/>
                </a:solidFill>
              </a:rPr>
              <a:t>建模</a:t>
            </a:r>
            <a:r>
              <a:rPr lang="en-US" altLang="zh-CN" sz="2000" b="1" dirty="0">
                <a:solidFill>
                  <a:srgbClr val="FF0000"/>
                </a:solidFill>
              </a:rPr>
              <a:t>(Modeling)</a:t>
            </a:r>
            <a:r>
              <a:rPr lang="zh-CN" altLang="en-US" sz="2000" dirty="0"/>
              <a:t>的目的。</a:t>
            </a:r>
            <a:endParaRPr lang="zh-CN" altLang="en-US" sz="2000" b="1" dirty="0">
              <a:solidFill>
                <a:srgbClr val="FF0000"/>
              </a:solidFill>
            </a:endParaRPr>
          </a:p>
          <a:p>
            <a:endParaRPr lang="zh-CN" altLang="en-US" sz="2000" b="1" dirty="0">
              <a:solidFill>
                <a:srgbClr val="FF0000"/>
              </a:solidFill>
            </a:endParaRPr>
          </a:p>
          <a:p>
            <a:r>
              <a:rPr lang="zh-CN" altLang="en-US" sz="2000" b="1" dirty="0">
                <a:solidFill>
                  <a:srgbClr val="FF0000"/>
                </a:solidFill>
              </a:rPr>
              <a:t>用例</a:t>
            </a:r>
            <a:r>
              <a:rPr lang="en-US" altLang="zh-CN" sz="2000" b="1" dirty="0">
                <a:solidFill>
                  <a:srgbClr val="FF0000"/>
                </a:solidFill>
              </a:rPr>
              <a:t> (Use Case)</a:t>
            </a:r>
            <a:r>
              <a:rPr lang="en-US" altLang="zh-CN" sz="2000" dirty="0"/>
              <a:t> </a:t>
            </a:r>
            <a:r>
              <a:rPr lang="zh-CN" altLang="en-US" sz="2000" dirty="0"/>
              <a:t>提供了这样一种模型。</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zh-CN" altLang="en-US" sz="3200" dirty="0">
                <a:latin typeface="Times New Roman" panose="02020603050405020304" charset="0"/>
              </a:rPr>
              <a:t>两个简单的用例</a:t>
            </a: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t>11</a:t>
            </a:fld>
            <a:endParaRPr lang="zh-CN" altLang="en-US" dirty="0"/>
          </a:p>
        </p:txBody>
      </p:sp>
      <p:pic>
        <p:nvPicPr>
          <p:cNvPr id="4" name="图片 3"/>
          <p:cNvPicPr>
            <a:picLocks noChangeAspect="1"/>
          </p:cNvPicPr>
          <p:nvPr/>
        </p:nvPicPr>
        <p:blipFill>
          <a:blip r:embed="rId2"/>
          <a:stretch>
            <a:fillRect/>
          </a:stretch>
        </p:blipFill>
        <p:spPr>
          <a:xfrm>
            <a:off x="2711032" y="1471467"/>
            <a:ext cx="6769935" cy="3457180"/>
          </a:xfrm>
          <a:prstGeom prst="rect">
            <a:avLst/>
          </a:prstGeom>
        </p:spPr>
      </p:pic>
      <p:sp>
        <p:nvSpPr>
          <p:cNvPr id="5" name="TextBox 3"/>
          <p:cNvSpPr txBox="1"/>
          <p:nvPr/>
        </p:nvSpPr>
        <p:spPr>
          <a:xfrm>
            <a:off x="5149463" y="1726463"/>
            <a:ext cx="1760993" cy="398780"/>
          </a:xfrm>
          <a:prstGeom prst="rect">
            <a:avLst/>
          </a:prstGeom>
          <a:noFill/>
        </p:spPr>
        <p:txBody>
          <a:bodyPr wrap="square">
            <a:spAutoFit/>
          </a:bodyPr>
          <a:lstStyle/>
          <a:p>
            <a:pPr algn="l"/>
            <a:r>
              <a:rPr lang="zh-CN" altLang="en-US" sz="2000" b="1" dirty="0">
                <a:solidFill>
                  <a:srgbClr val="FF0000"/>
                </a:solidFill>
              </a:rPr>
              <a:t>关联</a:t>
            </a:r>
          </a:p>
        </p:txBody>
      </p:sp>
      <p:sp>
        <p:nvSpPr>
          <p:cNvPr id="7" name="TextBox 3"/>
          <p:cNvSpPr txBox="1"/>
          <p:nvPr/>
        </p:nvSpPr>
        <p:spPr>
          <a:xfrm>
            <a:off x="2711032" y="1271412"/>
            <a:ext cx="1760993" cy="400110"/>
          </a:xfrm>
          <a:prstGeom prst="rect">
            <a:avLst/>
          </a:prstGeom>
          <a:noFill/>
        </p:spPr>
        <p:txBody>
          <a:bodyPr wrap="square">
            <a:spAutoFit/>
          </a:bodyPr>
          <a:lstStyle/>
          <a:p>
            <a:pPr algn="ctr"/>
            <a:r>
              <a:rPr lang="en-US" altLang="zh-CN" sz="2000" b="1" dirty="0">
                <a:solidFill>
                  <a:srgbClr val="FF0000"/>
                </a:solidFill>
              </a:rPr>
              <a:t>Actor</a:t>
            </a:r>
            <a:endParaRPr lang="en-US" altLang="zh-CN" sz="2000" dirty="0"/>
          </a:p>
        </p:txBody>
      </p:sp>
      <p:sp>
        <p:nvSpPr>
          <p:cNvPr id="9" name="TextBox 3"/>
          <p:cNvSpPr txBox="1"/>
          <p:nvPr/>
        </p:nvSpPr>
        <p:spPr>
          <a:xfrm>
            <a:off x="7014707" y="1171385"/>
            <a:ext cx="1760993" cy="400110"/>
          </a:xfrm>
          <a:prstGeom prst="rect">
            <a:avLst/>
          </a:prstGeom>
          <a:noFill/>
        </p:spPr>
        <p:txBody>
          <a:bodyPr wrap="square">
            <a:spAutoFit/>
          </a:bodyPr>
          <a:lstStyle/>
          <a:p>
            <a:pPr algn="ctr"/>
            <a:r>
              <a:rPr lang="en-US" altLang="zh-CN" sz="2000" b="1" dirty="0">
                <a:solidFill>
                  <a:srgbClr val="FF0000"/>
                </a:solidFill>
              </a:rPr>
              <a:t>Use Case</a:t>
            </a:r>
            <a:endParaRPr lang="en-US" altLang="zh-CN" sz="2000" dirty="0"/>
          </a:p>
        </p:txBody>
      </p:sp>
      <p:sp>
        <p:nvSpPr>
          <p:cNvPr id="6" name="矩形 5"/>
          <p:cNvSpPr/>
          <p:nvPr/>
        </p:nvSpPr>
        <p:spPr>
          <a:xfrm>
            <a:off x="3129280" y="1234440"/>
            <a:ext cx="889635" cy="419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rgbClr val="FF0000"/>
                </a:solidFill>
              </a:rPr>
              <a:t>角色</a:t>
            </a:r>
          </a:p>
        </p:txBody>
      </p:sp>
      <p:sp>
        <p:nvSpPr>
          <p:cNvPr id="8" name="矩形 7"/>
          <p:cNvSpPr/>
          <p:nvPr/>
        </p:nvSpPr>
        <p:spPr>
          <a:xfrm>
            <a:off x="7014845" y="1171575"/>
            <a:ext cx="1835785" cy="419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rgbClr val="FF0000"/>
                </a:solidFill>
              </a:rPr>
              <a:t>用例</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zh-CN" altLang="en-US" sz="3200" dirty="0">
                <a:latin typeface="Times New Roman" panose="02020603050405020304" charset="0"/>
              </a:rPr>
              <a:t>参与者和用例图</a:t>
            </a: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t>12</a:t>
            </a:fld>
            <a:endParaRPr lang="zh-CN" altLang="en-US" dirty="0"/>
          </a:p>
        </p:txBody>
      </p:sp>
      <p:pic>
        <p:nvPicPr>
          <p:cNvPr id="4" name="图片 3"/>
          <p:cNvPicPr>
            <a:picLocks noChangeAspect="1"/>
          </p:cNvPicPr>
          <p:nvPr/>
        </p:nvPicPr>
        <p:blipFill>
          <a:blip r:embed="rId2"/>
          <a:stretch>
            <a:fillRect/>
          </a:stretch>
        </p:blipFill>
        <p:spPr>
          <a:xfrm>
            <a:off x="2256689" y="1204921"/>
            <a:ext cx="2293819" cy="2540724"/>
          </a:xfrm>
          <a:prstGeom prst="rect">
            <a:avLst/>
          </a:prstGeom>
        </p:spPr>
      </p:pic>
      <p:pic>
        <p:nvPicPr>
          <p:cNvPr id="5" name="图片 4"/>
          <p:cNvPicPr>
            <a:picLocks noChangeAspect="1"/>
          </p:cNvPicPr>
          <p:nvPr/>
        </p:nvPicPr>
        <p:blipFill>
          <a:blip r:embed="rId3"/>
          <a:stretch>
            <a:fillRect/>
          </a:stretch>
        </p:blipFill>
        <p:spPr>
          <a:xfrm>
            <a:off x="2190002" y="3656232"/>
            <a:ext cx="2427191" cy="2378808"/>
          </a:xfrm>
          <a:prstGeom prst="rect">
            <a:avLst/>
          </a:prstGeom>
        </p:spPr>
      </p:pic>
      <p:sp>
        <p:nvSpPr>
          <p:cNvPr id="6" name="TextBox 3"/>
          <p:cNvSpPr txBox="1"/>
          <p:nvPr/>
        </p:nvSpPr>
        <p:spPr>
          <a:xfrm>
            <a:off x="4947920" y="1834634"/>
            <a:ext cx="4744720" cy="1014730"/>
          </a:xfrm>
          <a:prstGeom prst="rect">
            <a:avLst/>
          </a:prstGeom>
          <a:noFill/>
        </p:spPr>
        <p:txBody>
          <a:bodyPr wrap="square">
            <a:spAutoFit/>
          </a:bodyPr>
          <a:lstStyle/>
          <a:p>
            <a:r>
              <a:rPr lang="zh-CN" altLang="en-US" sz="2000" b="1" dirty="0">
                <a:solidFill>
                  <a:srgbClr val="FF0000"/>
                </a:solidFill>
              </a:rPr>
              <a:t>参与者</a:t>
            </a:r>
            <a:r>
              <a:rPr lang="en-US" altLang="zh-CN" sz="2000" dirty="0"/>
              <a:t> </a:t>
            </a:r>
            <a:r>
              <a:rPr lang="zh-CN" altLang="en-US" sz="2000" dirty="0"/>
              <a:t>是以特定</a:t>
            </a:r>
            <a:r>
              <a:rPr lang="zh-CN" altLang="en-US" sz="2000" b="1" dirty="0">
                <a:solidFill>
                  <a:srgbClr val="FF0000"/>
                </a:solidFill>
              </a:rPr>
              <a:t>角色</a:t>
            </a:r>
            <a:r>
              <a:rPr lang="zh-CN" altLang="en-US" sz="2000" dirty="0"/>
              <a:t>使用系统的用户。</a:t>
            </a:r>
          </a:p>
          <a:p>
            <a:endParaRPr lang="en-US" altLang="zh-CN" sz="2000" dirty="0"/>
          </a:p>
          <a:p>
            <a:r>
              <a:rPr lang="zh-CN" altLang="en-US" sz="2000" dirty="0"/>
              <a:t>参与者可以是人类或外部系统。</a:t>
            </a:r>
          </a:p>
        </p:txBody>
      </p:sp>
      <p:sp>
        <p:nvSpPr>
          <p:cNvPr id="7" name="TextBox 3"/>
          <p:cNvSpPr txBox="1"/>
          <p:nvPr/>
        </p:nvSpPr>
        <p:spPr>
          <a:xfrm>
            <a:off x="4947920" y="4459724"/>
            <a:ext cx="4744720" cy="706755"/>
          </a:xfrm>
          <a:prstGeom prst="rect">
            <a:avLst/>
          </a:prstGeom>
          <a:noFill/>
        </p:spPr>
        <p:txBody>
          <a:bodyPr wrap="square">
            <a:spAutoFit/>
          </a:bodyPr>
          <a:lstStyle/>
          <a:p>
            <a:r>
              <a:rPr lang="zh-CN" altLang="en-US" sz="2000" b="1" dirty="0">
                <a:solidFill>
                  <a:srgbClr val="FF0000"/>
                </a:solidFill>
              </a:rPr>
              <a:t>用例</a:t>
            </a:r>
            <a:r>
              <a:rPr lang="en-US" altLang="zh-CN" sz="2000" dirty="0"/>
              <a:t> </a:t>
            </a:r>
            <a:r>
              <a:rPr lang="zh-CN" altLang="en-US" sz="2000" dirty="0"/>
              <a:t>是参与者需要在系统帮助下执行的任务。</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zh-CN" altLang="en-US" sz="3200" dirty="0">
                <a:latin typeface="Times New Roman" panose="02020603050405020304" charset="0"/>
              </a:rPr>
              <a:t>用例与参与者</a:t>
            </a: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t>13</a:t>
            </a:fld>
            <a:endParaRPr lang="zh-CN" altLang="en-US" dirty="0"/>
          </a:p>
        </p:txBody>
      </p:sp>
      <p:sp>
        <p:nvSpPr>
          <p:cNvPr id="9" name="TextBox 3"/>
          <p:cNvSpPr txBox="1"/>
          <p:nvPr/>
        </p:nvSpPr>
        <p:spPr>
          <a:xfrm>
            <a:off x="572375" y="1913373"/>
            <a:ext cx="11163995" cy="1630045"/>
          </a:xfrm>
          <a:prstGeom prst="rect">
            <a:avLst/>
          </a:prstGeom>
          <a:noFill/>
        </p:spPr>
        <p:txBody>
          <a:bodyPr wrap="square">
            <a:spAutoFit/>
          </a:bodyPr>
          <a:lstStyle/>
          <a:p>
            <a:pPr marL="342900" indent="-342900">
              <a:buFont typeface="Arial" panose="020B0604020202020204" pitchFamily="34" charset="0"/>
              <a:buChar char="•"/>
            </a:pPr>
            <a:r>
              <a:rPr lang="zh-CN" altLang="en-US" sz="2000" dirty="0"/>
              <a:t>参与者是</a:t>
            </a:r>
            <a:r>
              <a:rPr lang="zh-CN" altLang="en-US" sz="2000" b="1" dirty="0">
                <a:solidFill>
                  <a:srgbClr val="FF0000"/>
                </a:solidFill>
              </a:rPr>
              <a:t>角色</a:t>
            </a:r>
            <a:r>
              <a:rPr lang="zh-CN" altLang="en-US" sz="2000" dirty="0"/>
              <a:t>，而非个人（例如，图书管理员可以拥有多个角色）。</a:t>
            </a:r>
          </a:p>
          <a:p>
            <a:pPr marL="342900" indent="-342900">
              <a:buFont typeface="Arial" panose="020B0604020202020204" pitchFamily="34" charset="0"/>
              <a:buChar char="•"/>
            </a:pPr>
            <a:endParaRPr lang="en-US" altLang="zh-CN" sz="2000" dirty="0"/>
          </a:p>
          <a:p>
            <a:pPr marL="342900" indent="-342900">
              <a:buFont typeface="Arial" panose="020B0604020202020204" pitchFamily="34" charset="0"/>
              <a:buChar char="•"/>
            </a:pPr>
            <a:r>
              <a:rPr lang="zh-CN" altLang="en-US" sz="2000" dirty="0"/>
              <a:t>参与者必须是用例的</a:t>
            </a:r>
            <a:r>
              <a:rPr lang="zh-CN" altLang="en-US" sz="2000" b="1" dirty="0">
                <a:solidFill>
                  <a:srgbClr val="FF0000"/>
                </a:solidFill>
              </a:rPr>
              <a:t>受益者</a:t>
            </a:r>
            <a:r>
              <a:rPr lang="zh-CN" altLang="en-US" sz="2000" dirty="0"/>
              <a:t>（例如，不是处理借书事宜的图书管理员）。</a:t>
            </a:r>
          </a:p>
          <a:p>
            <a:pPr marL="342900" indent="-342900">
              <a:buFont typeface="Arial" panose="020B0604020202020204" pitchFamily="34" charset="0"/>
              <a:buChar char="•"/>
            </a:pPr>
            <a:endParaRPr lang="en-US" altLang="zh-CN" sz="2000" dirty="0"/>
          </a:p>
          <a:p>
            <a:pPr indent="0">
              <a:buNone/>
            </a:pPr>
            <a:r>
              <a:rPr lang="zh-CN" altLang="en-US" sz="2000" dirty="0"/>
              <a:t>在命名参与者时，选择描述角色的名称，而不是通用名称，如</a:t>
            </a:r>
            <a:r>
              <a:rPr lang="en-US" altLang="zh-CN" sz="2000" dirty="0"/>
              <a:t>“</a:t>
            </a:r>
            <a:r>
              <a:rPr lang="zh-CN" altLang="en-US" sz="2000" dirty="0"/>
              <a:t>用户</a:t>
            </a:r>
            <a:r>
              <a:rPr lang="en-US" altLang="zh-CN" sz="2000" dirty="0"/>
              <a:t>”</a:t>
            </a:r>
            <a:r>
              <a:rPr lang="zh-CN" altLang="en-US" sz="2000" dirty="0"/>
              <a:t>或</a:t>
            </a:r>
            <a:r>
              <a:rPr lang="en-US" altLang="zh-CN" sz="2000" dirty="0"/>
              <a:t>“</a:t>
            </a:r>
            <a:r>
              <a:rPr lang="zh-CN" altLang="en-US" sz="2000" dirty="0"/>
              <a:t>客户</a:t>
            </a:r>
            <a:r>
              <a:rPr lang="en-US" altLang="zh-CN" sz="2000" dirty="0"/>
              <a:t>”</a:t>
            </a:r>
            <a:r>
              <a:rPr lang="zh-CN" altLang="en-US" sz="2000" dirty="0"/>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zh-CN" altLang="en-US" sz="3200" dirty="0">
                <a:latin typeface="Times New Roman" panose="02020603050405020304" charset="0"/>
              </a:rPr>
              <a:t>考试系统的用例</a:t>
            </a: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t>14</a:t>
            </a:fld>
            <a:endParaRPr lang="zh-CN" altLang="en-US" dirty="0"/>
          </a:p>
        </p:txBody>
      </p:sp>
      <p:pic>
        <p:nvPicPr>
          <p:cNvPr id="4" name="图片 3"/>
          <p:cNvPicPr>
            <a:picLocks noChangeAspect="1"/>
          </p:cNvPicPr>
          <p:nvPr/>
        </p:nvPicPr>
        <p:blipFill>
          <a:blip r:embed="rId2"/>
          <a:stretch>
            <a:fillRect/>
          </a:stretch>
        </p:blipFill>
        <p:spPr>
          <a:xfrm>
            <a:off x="2900300" y="1364531"/>
            <a:ext cx="6391400" cy="4655986"/>
          </a:xfrm>
          <a:prstGeom prst="rect">
            <a:avLst/>
          </a:prstGeom>
        </p:spPr>
      </p:pic>
      <p:sp>
        <p:nvSpPr>
          <p:cNvPr id="6" name="矩形 5"/>
          <p:cNvSpPr/>
          <p:nvPr/>
        </p:nvSpPr>
        <p:spPr>
          <a:xfrm>
            <a:off x="3335655" y="4979670"/>
            <a:ext cx="1772920" cy="6959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accent3">
                    <a:lumMod val="75000"/>
                  </a:schemeClr>
                </a:solidFill>
              </a:rPr>
              <a:t>三个独立用例</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zh-CN" altLang="en-US" sz="3200" dirty="0">
                <a:latin typeface="Times New Roman" panose="02020603050405020304" charset="0"/>
              </a:rPr>
              <a:t>考试系统的用例（续）</a:t>
            </a: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t>15</a:t>
            </a:fld>
            <a:endParaRPr lang="zh-CN" altLang="en-US" dirty="0"/>
          </a:p>
        </p:txBody>
      </p:sp>
      <p:grpSp>
        <p:nvGrpSpPr>
          <p:cNvPr id="6" name="组合 5"/>
          <p:cNvGrpSpPr/>
          <p:nvPr/>
        </p:nvGrpSpPr>
        <p:grpSpPr>
          <a:xfrm>
            <a:off x="5978201" y="1386625"/>
            <a:ext cx="6158508" cy="3497883"/>
            <a:chOff x="2425637" y="1680058"/>
            <a:chExt cx="6158508" cy="3497883"/>
          </a:xfrm>
        </p:grpSpPr>
        <p:pic>
          <p:nvPicPr>
            <p:cNvPr id="4" name="图片 3"/>
            <p:cNvPicPr>
              <a:picLocks noChangeAspect="1"/>
            </p:cNvPicPr>
            <p:nvPr/>
          </p:nvPicPr>
          <p:blipFill>
            <a:blip r:embed="rId2"/>
            <a:stretch>
              <a:fillRect/>
            </a:stretch>
          </p:blipFill>
          <p:spPr>
            <a:xfrm>
              <a:off x="3607854" y="1680058"/>
              <a:ext cx="4976291" cy="3497883"/>
            </a:xfrm>
            <a:prstGeom prst="rect">
              <a:avLst/>
            </a:prstGeom>
          </p:spPr>
        </p:pic>
        <p:pic>
          <p:nvPicPr>
            <p:cNvPr id="5" name="图片 4"/>
            <p:cNvPicPr>
              <a:picLocks noChangeAspect="1"/>
            </p:cNvPicPr>
            <p:nvPr/>
          </p:nvPicPr>
          <p:blipFill>
            <a:blip r:embed="rId3"/>
            <a:stretch>
              <a:fillRect/>
            </a:stretch>
          </p:blipFill>
          <p:spPr>
            <a:xfrm>
              <a:off x="2425637" y="2099806"/>
              <a:ext cx="1447925" cy="1592718"/>
            </a:xfrm>
            <a:prstGeom prst="rect">
              <a:avLst/>
            </a:prstGeom>
          </p:spPr>
        </p:pic>
      </p:grpSp>
      <p:sp>
        <p:nvSpPr>
          <p:cNvPr id="7" name="TextBox 3"/>
          <p:cNvSpPr txBox="1"/>
          <p:nvPr/>
        </p:nvSpPr>
        <p:spPr>
          <a:xfrm>
            <a:off x="389587" y="4818064"/>
            <a:ext cx="8455709" cy="707886"/>
          </a:xfrm>
          <a:prstGeom prst="rect">
            <a:avLst/>
          </a:prstGeom>
          <a:noFill/>
        </p:spPr>
        <p:txBody>
          <a:bodyPr wrap="square">
            <a:spAutoFit/>
          </a:bodyPr>
          <a:lstStyle/>
          <a:p>
            <a:r>
              <a:rPr lang="zh-CN" altLang="en-US" sz="2000" dirty="0"/>
              <a:t>请注意，参与者扮演的是一个角色。一个人在一个关联关系中可以是</a:t>
            </a:r>
            <a:r>
              <a:rPr lang="en-US" altLang="zh-CN" sz="2000" dirty="0"/>
              <a:t>“</a:t>
            </a:r>
            <a:r>
              <a:rPr lang="zh-CN" altLang="en-US" sz="2000" dirty="0"/>
              <a:t>考生</a:t>
            </a:r>
            <a:r>
              <a:rPr lang="en-US" altLang="zh-CN" sz="2000" dirty="0"/>
              <a:t>”</a:t>
            </a:r>
            <a:r>
              <a:rPr lang="zh-CN" altLang="en-US" sz="2000" dirty="0"/>
              <a:t>的角色，而在另一段时间又可以是</a:t>
            </a:r>
            <a:r>
              <a:rPr lang="en-US" altLang="zh-CN" sz="2000" dirty="0"/>
              <a:t>“</a:t>
            </a:r>
            <a:r>
              <a:rPr lang="zh-CN" altLang="en-US" sz="2000" dirty="0"/>
              <a:t>教师</a:t>
            </a:r>
            <a:r>
              <a:rPr lang="en-US" altLang="zh-CN" sz="2000" dirty="0"/>
              <a:t>”</a:t>
            </a:r>
            <a:r>
              <a:rPr lang="zh-CN" altLang="en-US" sz="2000" dirty="0"/>
              <a:t>的角色。</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zh-CN" altLang="en-US" sz="3200" dirty="0">
                <a:latin typeface="Times New Roman" panose="02020603050405020304" charset="0"/>
              </a:rPr>
              <a:t>描述用例</a:t>
            </a: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t>16</a:t>
            </a:fld>
            <a:endParaRPr lang="zh-CN" altLang="en-US" dirty="0"/>
          </a:p>
        </p:txBody>
      </p:sp>
      <p:sp>
        <p:nvSpPr>
          <p:cNvPr id="9" name="TextBox 3"/>
          <p:cNvSpPr txBox="1"/>
          <p:nvPr/>
        </p:nvSpPr>
        <p:spPr>
          <a:xfrm>
            <a:off x="572375" y="1527293"/>
            <a:ext cx="11163995" cy="439991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20204" pitchFamily="34" charset="0"/>
              </a:rPr>
              <a:t>一些组织有复杂的文档标准。</a:t>
            </a:r>
          </a:p>
          <a:p>
            <a:endParaRPr lang="en-US" altLang="zh-CN" sz="2000" b="1" dirty="0">
              <a:solidFill>
                <a:srgbClr val="515223"/>
              </a:solidFill>
              <a:latin typeface="Helvetica" pitchFamily="2" charset="0"/>
              <a:cs typeface="Arial" panose="020B0604020202020204" pitchFamily="34" charset="0"/>
            </a:endParaRPr>
          </a:p>
          <a:p>
            <a:r>
              <a:rPr lang="en-US" altLang="zh-CN" sz="2000" b="1" dirty="0">
                <a:solidFill>
                  <a:srgbClr val="515223"/>
                </a:solidFill>
                <a:latin typeface="Helvetica" pitchFamily="2" charset="0"/>
                <a:cs typeface="Arial" panose="020B0604020202020204" pitchFamily="34" charset="0"/>
              </a:rPr>
              <a:t>元数据</a:t>
            </a:r>
          </a:p>
          <a:p>
            <a:r>
              <a:rPr lang="zh-CN" altLang="en-US" sz="2000" b="1" dirty="0">
                <a:solidFill>
                  <a:srgbClr val="FF0000"/>
                </a:solidFill>
              </a:rPr>
              <a:t>名称</a:t>
            </a:r>
            <a:r>
              <a:rPr lang="en-US" altLang="zh-CN" sz="2000" dirty="0"/>
              <a:t>：用例的名称</a:t>
            </a:r>
          </a:p>
          <a:p>
            <a:r>
              <a:rPr lang="zh-CN" altLang="en-US" sz="2000" b="1" dirty="0">
                <a:solidFill>
                  <a:srgbClr val="FF0000"/>
                </a:solidFill>
              </a:rPr>
              <a:t>目标</a:t>
            </a:r>
            <a:r>
              <a:rPr lang="en-US" altLang="zh-CN" sz="2000" dirty="0"/>
              <a:t>：用例的目标</a:t>
            </a:r>
          </a:p>
          <a:p>
            <a:r>
              <a:rPr lang="zh-CN" altLang="en-US" sz="2000" b="1" dirty="0">
                <a:solidFill>
                  <a:srgbClr val="FF0000"/>
                </a:solidFill>
              </a:rPr>
              <a:t>参与者：</a:t>
            </a:r>
            <a:r>
              <a:rPr lang="en-US" altLang="zh-CN" sz="2000" dirty="0"/>
              <a:t>一个或多个参与者</a:t>
            </a:r>
          </a:p>
          <a:p>
            <a:r>
              <a:rPr lang="zh-CN" altLang="en-US" sz="2000" b="1" dirty="0">
                <a:solidFill>
                  <a:srgbClr val="FF0000"/>
                </a:solidFill>
              </a:rPr>
              <a:t>触发器：</a:t>
            </a:r>
            <a:r>
              <a:rPr lang="en-US" altLang="zh-CN" sz="2000" dirty="0"/>
              <a:t>触发用例的事件</a:t>
            </a:r>
          </a:p>
          <a:p>
            <a:r>
              <a:rPr lang="zh-CN" altLang="en-US" sz="2000" b="1" dirty="0">
                <a:solidFill>
                  <a:srgbClr val="FF0000"/>
                </a:solidFill>
              </a:rPr>
              <a:t>入口条件：</a:t>
            </a:r>
            <a:r>
              <a:rPr lang="en-US" altLang="zh-CN" sz="2000" dirty="0"/>
              <a:t>开始时的条件</a:t>
            </a:r>
          </a:p>
          <a:p>
            <a:r>
              <a:rPr lang="zh-CN" altLang="en-US" sz="2000" b="1" dirty="0">
                <a:solidFill>
                  <a:srgbClr val="FF0000"/>
                </a:solidFill>
              </a:rPr>
              <a:t>后置条件：</a:t>
            </a:r>
            <a:r>
              <a:rPr lang="en-US" altLang="zh-CN" sz="2000" dirty="0"/>
              <a:t>结束时的条件</a:t>
            </a:r>
          </a:p>
          <a:p>
            <a:endParaRPr lang="en-US" altLang="zh-CN" sz="2000" b="1" dirty="0">
              <a:solidFill>
                <a:srgbClr val="FF0000"/>
              </a:solidFill>
            </a:endParaRPr>
          </a:p>
          <a:p>
            <a:r>
              <a:rPr lang="en-US" altLang="zh-CN" sz="2000" b="1" dirty="0">
                <a:solidFill>
                  <a:srgbClr val="515223"/>
                </a:solidFill>
                <a:latin typeface="Helvetica" pitchFamily="2" charset="0"/>
                <a:cs typeface="Arial" panose="020B0604020202020204" pitchFamily="34" charset="0"/>
              </a:rPr>
              <a:t>事件流</a:t>
            </a:r>
          </a:p>
          <a:p>
            <a:r>
              <a:rPr lang="zh-CN" altLang="en-US" sz="2000" b="1" dirty="0">
                <a:solidFill>
                  <a:srgbClr val="FF0000"/>
                </a:solidFill>
              </a:rPr>
              <a:t>基本流：</a:t>
            </a:r>
            <a:r>
              <a:rPr lang="en-US" altLang="zh-CN" sz="2000" dirty="0"/>
              <a:t>主要成功场景的事件流</a:t>
            </a:r>
            <a:endParaRPr lang="en-US" altLang="zh-CN" sz="2000" b="1" dirty="0">
              <a:solidFill>
                <a:srgbClr val="FF0000"/>
              </a:solidFill>
            </a:endParaRPr>
          </a:p>
          <a:p>
            <a:r>
              <a:rPr lang="zh-CN" altLang="en-US" sz="2000" b="1" dirty="0">
                <a:solidFill>
                  <a:srgbClr val="FF0000"/>
                </a:solidFill>
              </a:rPr>
              <a:t>备选流：</a:t>
            </a:r>
            <a:r>
              <a:rPr lang="en-US" altLang="zh-CN" sz="2000" dirty="0"/>
              <a:t>其他成功或可选路径的事件流</a:t>
            </a:r>
            <a:endParaRPr lang="en-US" altLang="zh-CN" sz="2000" b="1" dirty="0">
              <a:solidFill>
                <a:srgbClr val="FF0000"/>
              </a:solidFill>
            </a:endParaRPr>
          </a:p>
          <a:p>
            <a:r>
              <a:rPr lang="zh-CN" altLang="en-US" sz="2000" b="1" dirty="0">
                <a:solidFill>
                  <a:srgbClr val="FF0000"/>
                </a:solidFill>
              </a:rPr>
              <a:t>异常流：</a:t>
            </a:r>
            <a:r>
              <a:rPr lang="en-US" altLang="zh-CN" sz="2000" dirty="0"/>
              <a:t>导致用例失败的事件流</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zh-CN" altLang="en-US" sz="3200" dirty="0">
                <a:latin typeface="Times New Roman" panose="02020603050405020304" charset="0"/>
              </a:rPr>
              <a:t>参加考试用例：基本流</a:t>
            </a: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t>17</a:t>
            </a:fld>
            <a:endParaRPr lang="zh-CN" altLang="en-US" dirty="0"/>
          </a:p>
        </p:txBody>
      </p:sp>
      <p:sp>
        <p:nvSpPr>
          <p:cNvPr id="9" name="TextBox 3"/>
          <p:cNvSpPr txBox="1"/>
          <p:nvPr/>
        </p:nvSpPr>
        <p:spPr>
          <a:xfrm>
            <a:off x="572375" y="1029453"/>
            <a:ext cx="11163995" cy="4707890"/>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20204" pitchFamily="34" charset="0"/>
              </a:rPr>
              <a:t>基本事件流：</a:t>
            </a:r>
          </a:p>
          <a:p>
            <a:endParaRPr lang="en-US" altLang="zh-CN" sz="2000" dirty="0"/>
          </a:p>
          <a:p>
            <a:pPr marL="457200" indent="-457200">
              <a:buAutoNum type="arabicPeriod"/>
            </a:pPr>
            <a:r>
              <a:rPr lang="en-US" altLang="zh-CN" sz="2000" dirty="0"/>
              <a:t>ExamTaker </a:t>
            </a:r>
            <a:r>
              <a:rPr lang="zh-CN" altLang="en-US" sz="2000" dirty="0"/>
              <a:t>连接到服务器。</a:t>
            </a:r>
          </a:p>
          <a:p>
            <a:pPr marL="457200" indent="-457200">
              <a:buAutoNum type="arabicPeriod"/>
            </a:pPr>
            <a:endParaRPr lang="zh-CN" altLang="en-US" sz="2000" dirty="0"/>
          </a:p>
          <a:p>
            <a:pPr marL="457200" indent="-457200">
              <a:buAutoNum type="arabicPeriod"/>
            </a:pPr>
            <a:r>
              <a:rPr lang="zh-CN" altLang="en-US" sz="2000" dirty="0"/>
              <a:t>服务器检查</a:t>
            </a:r>
            <a:r>
              <a:rPr lang="en-US" altLang="zh-CN" sz="2000" dirty="0"/>
              <a:t> ExamTaker </a:t>
            </a:r>
            <a:r>
              <a:rPr lang="zh-CN" altLang="en-US" sz="2000" dirty="0"/>
              <a:t>是否已通过身份验证，并在必要时运行身份验证过程。</a:t>
            </a:r>
          </a:p>
          <a:p>
            <a:pPr marL="457200" indent="-457200">
              <a:buAutoNum type="arabicPeriod"/>
            </a:pPr>
            <a:endParaRPr lang="zh-CN" altLang="en-US" sz="2000" dirty="0"/>
          </a:p>
          <a:p>
            <a:pPr marL="457200" indent="-457200">
              <a:buAutoNum type="arabicPeriod"/>
            </a:pPr>
            <a:r>
              <a:rPr lang="en-US" altLang="zh-CN" sz="2000" dirty="0"/>
              <a:t>ExamTaker </a:t>
            </a:r>
            <a:r>
              <a:rPr lang="zh-CN" altLang="en-US" sz="2000" dirty="0"/>
              <a:t>从选项列表中选择一个考试。</a:t>
            </a:r>
          </a:p>
          <a:p>
            <a:pPr marL="457200" indent="-457200">
              <a:buAutoNum type="arabicPeriod"/>
            </a:pPr>
            <a:endParaRPr lang="zh-CN" altLang="en-US" sz="2000" dirty="0"/>
          </a:p>
          <a:p>
            <a:pPr marL="457200" indent="-457200">
              <a:buAutoNum type="arabicPeriod"/>
            </a:pPr>
            <a:r>
              <a:rPr lang="en-US" altLang="zh-CN" sz="2000" dirty="0"/>
              <a:t>ExamTaker </a:t>
            </a:r>
            <a:r>
              <a:rPr lang="zh-CN" altLang="en-US" sz="2000" dirty="0"/>
              <a:t>重复选择一个问题，并要么输入答案，要么附加包含答案的文件，要么编辑答案。</a:t>
            </a:r>
          </a:p>
          <a:p>
            <a:pPr marL="457200" indent="-457200">
              <a:buAutoNum type="arabicPeriod"/>
            </a:pPr>
            <a:endParaRPr lang="zh-CN" altLang="en-US" sz="2000" dirty="0"/>
          </a:p>
          <a:p>
            <a:pPr marL="457200" indent="-457200">
              <a:buAutoNum type="arabicPeriod"/>
            </a:pPr>
            <a:r>
              <a:rPr lang="en-US" altLang="zh-CN" sz="2000" dirty="0"/>
              <a:t>ExamTaker </a:t>
            </a:r>
            <a:r>
              <a:rPr lang="zh-CN" altLang="en-US" sz="2000" dirty="0"/>
              <a:t>要么提交完成的考试，要么保存当前状态。</a:t>
            </a:r>
          </a:p>
          <a:p>
            <a:pPr marL="457200" indent="-457200">
              <a:buAutoNum type="arabicPeriod"/>
            </a:pPr>
            <a:endParaRPr lang="zh-CN" altLang="en-US" sz="2000" dirty="0"/>
          </a:p>
          <a:p>
            <a:pPr marL="457200" indent="-457200">
              <a:buAutoNum type="arabicPeriod"/>
            </a:pPr>
            <a:r>
              <a:rPr lang="zh-CN" altLang="en-US" sz="2000" dirty="0"/>
              <a:t>当提交完成的考试时，服务器检查所有问题是否都已尝试，并向</a:t>
            </a:r>
            <a:r>
              <a:rPr lang="en-US" altLang="zh-CN" sz="2000" dirty="0"/>
              <a:t> ExamTaker </a:t>
            </a:r>
            <a:r>
              <a:rPr lang="zh-CN" altLang="en-US" sz="2000" dirty="0"/>
              <a:t>发送确认信息。</a:t>
            </a:r>
          </a:p>
          <a:p>
            <a:pPr marL="457200" indent="-457200">
              <a:buAutoNum type="arabicPeriod"/>
            </a:pPr>
            <a:endParaRPr lang="zh-CN" altLang="en-US" sz="2000" dirty="0"/>
          </a:p>
          <a:p>
            <a:pPr marL="457200" indent="-457200">
              <a:buAutoNum type="arabicPeriod"/>
            </a:pPr>
            <a:r>
              <a:rPr lang="en-US" altLang="zh-CN" sz="2000" dirty="0"/>
              <a:t>ExamTaker </a:t>
            </a:r>
            <a:r>
              <a:rPr lang="zh-CN" altLang="en-US" sz="2000" dirty="0"/>
              <a:t>登出。</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zh-CN" altLang="en-US" sz="3200" dirty="0">
                <a:latin typeface="Times New Roman" panose="02020603050405020304" charset="0"/>
              </a:rPr>
              <a:t>参加考试用例：备选流</a:t>
            </a: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t>18</a:t>
            </a:fld>
            <a:endParaRPr lang="zh-CN" altLang="en-US" dirty="0"/>
          </a:p>
        </p:txBody>
      </p:sp>
      <p:sp>
        <p:nvSpPr>
          <p:cNvPr id="9" name="TextBox 3"/>
          <p:cNvSpPr txBox="1"/>
          <p:nvPr/>
        </p:nvSpPr>
        <p:spPr>
          <a:xfrm>
            <a:off x="572375" y="1689853"/>
            <a:ext cx="11163995" cy="3476625"/>
          </a:xfrm>
          <a:prstGeom prst="rect">
            <a:avLst/>
          </a:prstGeom>
          <a:noFill/>
        </p:spPr>
        <p:txBody>
          <a:bodyPr wrap="square">
            <a:spAutoFit/>
          </a:bodyPr>
          <a:lstStyle/>
          <a:p>
            <a:r>
              <a:rPr lang="en-US" altLang="zh-CN" sz="2000" b="1" dirty="0">
                <a:solidFill>
                  <a:srgbClr val="FF0000"/>
                </a:solidFill>
              </a:rPr>
              <a:t>备选流 </a:t>
            </a:r>
            <a:r>
              <a:rPr lang="zh-CN" altLang="en-US" sz="2000" dirty="0"/>
              <a:t>和</a:t>
            </a:r>
            <a:r>
              <a:rPr lang="en-US" altLang="zh-CN" sz="2000" b="1" dirty="0">
                <a:solidFill>
                  <a:srgbClr val="FF0000"/>
                </a:solidFill>
              </a:rPr>
              <a:t> 异常流</a:t>
            </a:r>
            <a:r>
              <a:rPr lang="en-US" altLang="zh-CN" sz="2000" dirty="0"/>
              <a:t> </a:t>
            </a:r>
            <a:r>
              <a:rPr lang="zh-CN" altLang="en-US" sz="2000" dirty="0"/>
              <a:t>对除了基本流之外的通过用例的路径进行建模。</a:t>
            </a:r>
          </a:p>
          <a:p>
            <a:endParaRPr lang="en-US" altLang="zh-CN" sz="2000" dirty="0"/>
          </a:p>
          <a:p>
            <a:r>
              <a:rPr lang="zh-CN" altLang="en-US" sz="2000" dirty="0"/>
              <a:t>在以下列表中，每个流都链接到基本流的一个步骤。</a:t>
            </a:r>
          </a:p>
          <a:p>
            <a:endParaRPr lang="en-US" altLang="zh-CN" sz="2000" dirty="0"/>
          </a:p>
          <a:p>
            <a:r>
              <a:rPr lang="en-US" altLang="zh-CN" sz="2000" b="1" dirty="0">
                <a:solidFill>
                  <a:srgbClr val="FF0000"/>
                </a:solidFill>
              </a:rPr>
              <a:t>备选流是成功完成用例的替代路径。</a:t>
            </a:r>
          </a:p>
          <a:p>
            <a:pPr indent="0">
              <a:buNone/>
            </a:pPr>
            <a:r>
              <a:rPr lang="en-US" altLang="zh-CN" sz="2000" dirty="0"/>
              <a:t>        3.ExamTaker </a:t>
            </a:r>
            <a:r>
              <a:rPr lang="zh-CN" altLang="en-US" sz="2000" dirty="0"/>
              <a:t>之前已输入部分考试内容，但尚未提交。</a:t>
            </a:r>
            <a:endParaRPr lang="en-US" altLang="zh-CN" sz="2000" dirty="0"/>
          </a:p>
          <a:p>
            <a:pPr indent="0">
              <a:buNone/>
            </a:pPr>
            <a:r>
              <a:rPr lang="en-US" altLang="zh-CN" sz="2000" dirty="0"/>
              <a:t>        4.</a:t>
            </a:r>
            <a:r>
              <a:rPr lang="zh-CN" altLang="en-US" sz="2000" dirty="0"/>
              <a:t>系统不接受答案文件。</a:t>
            </a:r>
          </a:p>
          <a:p>
            <a:pPr indent="0">
              <a:buNone/>
            </a:pPr>
            <a:r>
              <a:rPr lang="en-US" altLang="zh-CN" sz="2000" dirty="0"/>
              <a:t>        5.</a:t>
            </a:r>
            <a:r>
              <a:rPr lang="zh-CN" altLang="en-US" sz="2000" dirty="0"/>
              <a:t>提交不完整。</a:t>
            </a:r>
          </a:p>
          <a:p>
            <a:endParaRPr lang="zh-CN" altLang="en-US" sz="2000" dirty="0"/>
          </a:p>
          <a:p>
            <a:r>
              <a:rPr lang="en-US" altLang="zh-CN" sz="2000" b="1" dirty="0">
                <a:solidFill>
                  <a:srgbClr val="FF0000"/>
                </a:solidFill>
              </a:rPr>
              <a:t>异常流导致用例失败。</a:t>
            </a:r>
          </a:p>
          <a:p>
            <a:r>
              <a:rPr lang="en-US" altLang="zh-CN" sz="2000" dirty="0"/>
              <a:t>        2. </a:t>
            </a:r>
            <a:r>
              <a:rPr lang="zh-CN" altLang="en-US" sz="2000" dirty="0"/>
              <a:t>身份验证失败。</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en-US" sz="3200" dirty="0">
                <a:latin typeface="Times New Roman" panose="02020603050405020304" charset="0"/>
              </a:rPr>
              <a:t>«</a:t>
            </a:r>
            <a:r>
              <a:rPr lang="en-US" altLang="zh-CN" sz="3200" dirty="0">
                <a:latin typeface="Times New Roman" panose="02020603050405020304" charset="0"/>
              </a:rPr>
              <a:t>extend</a:t>
            </a:r>
            <a:r>
              <a:rPr lang="en-US" altLang="en-US" sz="3200" dirty="0">
                <a:latin typeface="Times New Roman" panose="02020603050405020304" charset="0"/>
              </a:rPr>
              <a:t>»</a:t>
            </a:r>
            <a:r>
              <a:rPr lang="en-US" altLang="zh-CN" sz="3200" dirty="0">
                <a:latin typeface="Times New Roman" panose="02020603050405020304" charset="0"/>
              </a:rPr>
              <a:t> </a:t>
            </a:r>
            <a:r>
              <a:rPr lang="zh-CN" altLang="en-US" sz="3200" dirty="0">
                <a:latin typeface="Times New Roman" panose="02020603050405020304" charset="0"/>
              </a:rPr>
              <a:t>关系</a:t>
            </a: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t>19</a:t>
            </a:fld>
            <a:endParaRPr lang="zh-CN" altLang="en-US" dirty="0"/>
          </a:p>
        </p:txBody>
      </p:sp>
      <p:sp>
        <p:nvSpPr>
          <p:cNvPr id="9" name="TextBox 3"/>
          <p:cNvSpPr txBox="1"/>
          <p:nvPr/>
        </p:nvSpPr>
        <p:spPr>
          <a:xfrm>
            <a:off x="572375" y="1689853"/>
            <a:ext cx="11163995" cy="1322070"/>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20204" pitchFamily="34" charset="0"/>
              </a:rPr>
              <a:t>«extend» 关系</a:t>
            </a:r>
          </a:p>
          <a:p>
            <a:endParaRPr lang="en-US" altLang="zh-CN" sz="2000" dirty="0"/>
          </a:p>
          <a:p>
            <a:pPr marL="342900" indent="-342900">
              <a:buFont typeface="Arial" panose="020B0604020202020204" pitchFamily="34" charset="0"/>
              <a:buChar char="•"/>
            </a:pPr>
            <a:r>
              <a:rPr lang="zh-CN" altLang="en-US" sz="2000" dirty="0"/>
              <a:t>用例可以使用其他用例。</a:t>
            </a:r>
            <a:endParaRPr lang="en-US" altLang="zh-CN" sz="2000" dirty="0"/>
          </a:p>
          <a:p>
            <a:pPr marL="342900" indent="-342900">
              <a:buFont typeface="Arial" panose="020B0604020202020204" pitchFamily="34" charset="0"/>
              <a:buChar char="•"/>
            </a:pPr>
            <a:r>
              <a:rPr lang="zh-CN" altLang="en-US" sz="2000" dirty="0"/>
              <a:t>如果备选流或异常流需要额外细节，可以使用</a:t>
            </a:r>
            <a:r>
              <a:rPr lang="en-US" altLang="zh-CN" sz="2000" b="1" dirty="0">
                <a:solidFill>
                  <a:srgbClr val="FF0000"/>
                </a:solidFill>
              </a:rPr>
              <a:t> </a:t>
            </a:r>
            <a:r>
              <a:rPr lang="en-US" altLang="en-US" sz="2000" b="1" dirty="0">
                <a:solidFill>
                  <a:srgbClr val="FF0000"/>
                </a:solidFill>
              </a:rPr>
              <a:t>«</a:t>
            </a:r>
            <a:r>
              <a:rPr lang="en-US" altLang="zh-CN" sz="2000" b="1" dirty="0">
                <a:solidFill>
                  <a:srgbClr val="FF0000"/>
                </a:solidFill>
              </a:rPr>
              <a:t>extend</a:t>
            </a:r>
            <a:r>
              <a:rPr lang="en-US" altLang="en-US" sz="2000" b="1" dirty="0">
                <a:solidFill>
                  <a:srgbClr val="FF0000"/>
                </a:solidFill>
              </a:rPr>
              <a:t>»</a:t>
            </a:r>
            <a:r>
              <a:rPr lang="en-US" altLang="zh-CN" sz="2000" b="1" dirty="0">
                <a:solidFill>
                  <a:srgbClr val="FF0000"/>
                </a:solidFill>
              </a:rPr>
              <a:t> </a:t>
            </a:r>
            <a:r>
              <a:rPr lang="zh-CN" altLang="en-US" sz="2000" dirty="0"/>
              <a:t>关系将其建模为一个单独的用例。</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353226" cy="790865"/>
          </a:xfrm>
        </p:spPr>
        <p:txBody>
          <a:bodyPr>
            <a:noAutofit/>
          </a:bodyPr>
          <a:lstStyle/>
          <a:p>
            <a:r>
              <a:rPr lang="zh-CN" altLang="en-US" sz="3000" dirty="0">
                <a:latin typeface="Times New Roman" panose="02020603050405020304" charset="0"/>
              </a:rPr>
              <a:t>用例之间的关系：</a:t>
            </a:r>
            <a:r>
              <a:rPr lang="en-US" altLang="en-US" sz="3000" dirty="0">
                <a:latin typeface="Times New Roman" panose="02020603050405020304" charset="0"/>
              </a:rPr>
              <a:t>«</a:t>
            </a:r>
            <a:r>
              <a:rPr lang="en-US" altLang="zh-CN" sz="3000" dirty="0">
                <a:latin typeface="Times New Roman" panose="02020603050405020304" charset="0"/>
              </a:rPr>
              <a:t>extend</a:t>
            </a:r>
            <a:r>
              <a:rPr lang="en-US" altLang="en-US" sz="3000" dirty="0">
                <a:latin typeface="Times New Roman" panose="02020603050405020304" charset="0"/>
              </a:rPr>
              <a:t>»</a:t>
            </a: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t>20</a:t>
            </a:fld>
            <a:endParaRPr lang="zh-CN" altLang="en-US" dirty="0"/>
          </a:p>
        </p:txBody>
      </p:sp>
      <p:pic>
        <p:nvPicPr>
          <p:cNvPr id="4" name="图片 3"/>
          <p:cNvPicPr>
            <a:picLocks noChangeAspect="1"/>
          </p:cNvPicPr>
          <p:nvPr/>
        </p:nvPicPr>
        <p:blipFill>
          <a:blip r:embed="rId2"/>
          <a:stretch>
            <a:fillRect/>
          </a:stretch>
        </p:blipFill>
        <p:spPr>
          <a:xfrm>
            <a:off x="1506701" y="1589967"/>
            <a:ext cx="9178598" cy="367806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en-US" sz="3200" dirty="0">
                <a:latin typeface="Times New Roman" panose="02020603050405020304" charset="0"/>
              </a:rPr>
              <a:t>«</a:t>
            </a:r>
            <a:r>
              <a:rPr lang="en-US" altLang="zh-CN" sz="3200" dirty="0">
                <a:latin typeface="Times New Roman" panose="02020603050405020304" charset="0"/>
              </a:rPr>
              <a:t>includes</a:t>
            </a:r>
            <a:r>
              <a:rPr lang="en-US" altLang="en-US" sz="3200" dirty="0">
                <a:latin typeface="Times New Roman" panose="02020603050405020304" charset="0"/>
              </a:rPr>
              <a:t>»</a:t>
            </a:r>
            <a:r>
              <a:rPr lang="en-US" altLang="zh-CN" sz="3200" dirty="0">
                <a:latin typeface="Times New Roman" panose="02020603050405020304" charset="0"/>
              </a:rPr>
              <a:t> </a:t>
            </a:r>
            <a:r>
              <a:rPr lang="zh-CN" altLang="en-US" sz="3200" dirty="0">
                <a:latin typeface="Times New Roman" panose="02020603050405020304" charset="0"/>
              </a:rPr>
              <a:t>关系</a:t>
            </a: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t>21</a:t>
            </a:fld>
            <a:endParaRPr lang="zh-CN" altLang="en-US" dirty="0"/>
          </a:p>
        </p:txBody>
      </p:sp>
      <p:sp>
        <p:nvSpPr>
          <p:cNvPr id="7" name="TextBox 3"/>
          <p:cNvSpPr txBox="1"/>
          <p:nvPr/>
        </p:nvSpPr>
        <p:spPr>
          <a:xfrm>
            <a:off x="572375" y="1689853"/>
            <a:ext cx="11163995" cy="163004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20204" pitchFamily="34" charset="0"/>
              </a:rPr>
              <a:t>«includes» 关系</a:t>
            </a:r>
          </a:p>
          <a:p>
            <a:endParaRPr lang="en-US" altLang="zh-CN" sz="2000" dirty="0"/>
          </a:p>
          <a:p>
            <a:pPr marL="342900" indent="-342900">
              <a:buFont typeface="Arial" panose="020B0604020202020204" pitchFamily="34" charset="0"/>
              <a:buChar char="•"/>
            </a:pPr>
            <a:r>
              <a:rPr lang="en-US" altLang="en-US" sz="2000" b="1" dirty="0">
                <a:solidFill>
                  <a:srgbClr val="FF0000"/>
                </a:solidFill>
              </a:rPr>
              <a:t>«</a:t>
            </a:r>
            <a:r>
              <a:rPr lang="en-US" altLang="zh-CN" sz="2000" b="1" dirty="0">
                <a:solidFill>
                  <a:srgbClr val="FF0000"/>
                </a:solidFill>
              </a:rPr>
              <a:t>includes</a:t>
            </a:r>
            <a:r>
              <a:rPr lang="en-US" altLang="en-US" sz="2000" b="1" dirty="0">
                <a:solidFill>
                  <a:srgbClr val="FF0000"/>
                </a:solidFill>
              </a:rPr>
              <a:t>»</a:t>
            </a:r>
            <a:r>
              <a:rPr lang="en-US" altLang="zh-CN" sz="2000" b="1" dirty="0">
                <a:solidFill>
                  <a:srgbClr val="FF0000"/>
                </a:solidFill>
              </a:rPr>
              <a:t> </a:t>
            </a:r>
            <a:r>
              <a:rPr lang="zh-CN" altLang="en-US" sz="2000" dirty="0"/>
              <a:t>关系允许一个用例包含另一个用例的步骤。</a:t>
            </a:r>
          </a:p>
          <a:p>
            <a:pPr marL="342900" indent="-342900">
              <a:buFont typeface="Arial" panose="020B0604020202020204" pitchFamily="34" charset="0"/>
              <a:buChar char="•"/>
            </a:pPr>
            <a:endParaRPr lang="en-US" altLang="zh-CN" sz="2000" dirty="0"/>
          </a:p>
          <a:p>
            <a:pPr marL="342900" indent="-342900">
              <a:buFont typeface="Arial" panose="020B0604020202020204" pitchFamily="34" charset="0"/>
              <a:buChar char="•"/>
            </a:pPr>
            <a:r>
              <a:rPr lang="zh-CN" altLang="en-US" sz="2000" dirty="0"/>
              <a:t>当被包含的用例出现在其他上下文中时，这非常有价值。它通常可以独立开发。</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zh-CN" altLang="en-US" sz="3000" dirty="0">
                <a:latin typeface="Times New Roman" panose="02020603050405020304" charset="0"/>
              </a:rPr>
              <a:t>用例之间的关系：</a:t>
            </a:r>
            <a:r>
              <a:rPr lang="en-US" altLang="en-US" sz="3000" dirty="0">
                <a:latin typeface="Times New Roman" panose="02020603050405020304" charset="0"/>
              </a:rPr>
              <a:t>«</a:t>
            </a:r>
            <a:r>
              <a:rPr lang="en-US" altLang="zh-CN" sz="3000" dirty="0">
                <a:latin typeface="Times New Roman" panose="02020603050405020304" charset="0"/>
              </a:rPr>
              <a:t>includes</a:t>
            </a:r>
            <a:r>
              <a:rPr lang="en-US" altLang="en-US" sz="3000" dirty="0">
                <a:latin typeface="Times New Roman" panose="02020603050405020304" charset="0"/>
              </a:rPr>
              <a:t>»</a:t>
            </a: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t>22</a:t>
            </a:fld>
            <a:endParaRPr lang="zh-CN" altLang="en-US" dirty="0"/>
          </a:p>
        </p:txBody>
      </p:sp>
      <p:pic>
        <p:nvPicPr>
          <p:cNvPr id="4" name="图片 3"/>
          <p:cNvPicPr>
            <a:picLocks noChangeAspect="1"/>
          </p:cNvPicPr>
          <p:nvPr/>
        </p:nvPicPr>
        <p:blipFill>
          <a:blip r:embed="rId2"/>
          <a:stretch>
            <a:fillRect/>
          </a:stretch>
        </p:blipFill>
        <p:spPr>
          <a:xfrm>
            <a:off x="1157066" y="1453516"/>
            <a:ext cx="9877868" cy="2841096"/>
          </a:xfrm>
          <a:prstGeom prst="rect">
            <a:avLst/>
          </a:prstGeom>
        </p:spPr>
      </p:pic>
      <p:sp>
        <p:nvSpPr>
          <p:cNvPr id="5" name="TextBox 3"/>
          <p:cNvSpPr txBox="1"/>
          <p:nvPr/>
        </p:nvSpPr>
        <p:spPr>
          <a:xfrm>
            <a:off x="6496374" y="4617594"/>
            <a:ext cx="5409114" cy="400110"/>
          </a:xfrm>
          <a:prstGeom prst="rect">
            <a:avLst/>
          </a:prstGeom>
          <a:noFill/>
        </p:spPr>
        <p:txBody>
          <a:bodyPr wrap="square">
            <a:spAutoFit/>
          </a:bodyPr>
          <a:lstStyle/>
          <a:p>
            <a:r>
              <a:rPr lang="en-US" altLang="zh-CN" sz="2000" dirty="0"/>
              <a:t>Authenticate </a:t>
            </a:r>
            <a:r>
              <a:rPr lang="zh-CN" altLang="en-US" sz="2000" dirty="0"/>
              <a:t>用例可能在其他场景中使用。</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zh-CN" altLang="en-US" sz="2800" dirty="0">
                <a:latin typeface="Times New Roman" panose="02020603050405020304" charset="0"/>
              </a:rPr>
              <a:t>场景和用例在开发周期中的应用</a:t>
            </a: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t>23</a:t>
            </a:fld>
            <a:endParaRPr lang="zh-CN" altLang="en-US" dirty="0"/>
          </a:p>
        </p:txBody>
      </p:sp>
      <p:sp>
        <p:nvSpPr>
          <p:cNvPr id="7" name="TextBox 3"/>
          <p:cNvSpPr txBox="1"/>
          <p:nvPr/>
        </p:nvSpPr>
        <p:spPr>
          <a:xfrm>
            <a:off x="572375" y="1689853"/>
            <a:ext cx="11163995" cy="316928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20204" pitchFamily="34" charset="0"/>
              </a:rPr>
              <a:t>场景和用例都很直观 —— 易于与客户讨论。</a:t>
            </a:r>
          </a:p>
          <a:p>
            <a:endParaRPr lang="en-US" altLang="zh-CN" sz="2000" dirty="0"/>
          </a:p>
          <a:p>
            <a:r>
              <a:rPr lang="en-US" altLang="zh-CN" sz="2000" b="1" dirty="0">
                <a:solidFill>
                  <a:srgbClr val="FF0000"/>
                </a:solidFill>
                <a:latin typeface="Helvetica" pitchFamily="2" charset="0"/>
                <a:cs typeface="Arial" panose="020B0604020202020204" pitchFamily="34" charset="0"/>
              </a:rPr>
              <a:t>场景 </a:t>
            </a:r>
            <a:r>
              <a:rPr lang="en-US" altLang="zh-CN" sz="2000" b="1" dirty="0">
                <a:solidFill>
                  <a:srgbClr val="515223"/>
                </a:solidFill>
                <a:latin typeface="Helvetica" pitchFamily="2" charset="0"/>
                <a:cs typeface="Arial" panose="020B0604020202020204" pitchFamily="34" charset="0"/>
              </a:rPr>
              <a:t>是需求分析的工具。</a:t>
            </a:r>
            <a:endParaRPr lang="en-US" altLang="zh-CN" sz="2000" dirty="0"/>
          </a:p>
          <a:p>
            <a:pPr marL="342900" indent="-342900">
              <a:buFont typeface="Arial" panose="020B0604020202020204" pitchFamily="34" charset="0"/>
              <a:buChar char="•"/>
            </a:pPr>
            <a:r>
              <a:rPr lang="zh-CN" altLang="en-US" sz="2000" dirty="0"/>
              <a:t>它们对于验证用例和检查系统设计非常有用。</a:t>
            </a:r>
            <a:endParaRPr lang="en-US" altLang="zh-CN" sz="2000" dirty="0"/>
          </a:p>
          <a:p>
            <a:pPr marL="342900" indent="-342900">
              <a:buFont typeface="Arial" panose="020B0604020202020204" pitchFamily="34" charset="0"/>
              <a:buChar char="•"/>
            </a:pPr>
            <a:r>
              <a:rPr lang="zh-CN" altLang="en-US" sz="2000" dirty="0"/>
              <a:t>它们可以作为</a:t>
            </a:r>
            <a:r>
              <a:rPr lang="zh-CN" altLang="en-US" sz="2000" b="1" dirty="0">
                <a:solidFill>
                  <a:srgbClr val="FF0000"/>
                </a:solidFill>
              </a:rPr>
              <a:t>验收测试</a:t>
            </a:r>
            <a:r>
              <a:rPr lang="zh-CN" altLang="en-US" sz="2000" dirty="0"/>
              <a:t>的测试用例。</a:t>
            </a:r>
          </a:p>
          <a:p>
            <a:endParaRPr lang="en-US" altLang="zh-CN" sz="2000" dirty="0"/>
          </a:p>
          <a:p>
            <a:r>
              <a:rPr lang="en-US" altLang="zh-CN" sz="2000" b="1" dirty="0">
                <a:solidFill>
                  <a:srgbClr val="FF0000"/>
                </a:solidFill>
                <a:latin typeface="Helvetica" pitchFamily="2" charset="0"/>
                <a:cs typeface="Arial" panose="020B0604020202020204" pitchFamily="34" charset="0"/>
              </a:rPr>
              <a:t>用例</a:t>
            </a:r>
            <a:r>
              <a:rPr lang="en-US" altLang="zh-CN" sz="2000" b="1" dirty="0">
                <a:solidFill>
                  <a:srgbClr val="515223"/>
                </a:solidFill>
                <a:latin typeface="Helvetica" pitchFamily="2" charset="0"/>
                <a:cs typeface="Arial" panose="020B0604020202020204" pitchFamily="34" charset="0"/>
              </a:rPr>
              <a:t> 是需求建模的工具。</a:t>
            </a:r>
          </a:p>
          <a:p>
            <a:endParaRPr lang="en-US" altLang="zh-CN" sz="2000" dirty="0"/>
          </a:p>
          <a:p>
            <a:pPr marL="342900" indent="-342900">
              <a:buFont typeface="Arial" panose="020B0604020202020204" pitchFamily="34" charset="0"/>
              <a:buChar char="•"/>
            </a:pPr>
            <a:r>
              <a:rPr lang="zh-CN" altLang="en-US" sz="2000" dirty="0"/>
              <a:t>一组用例可以为</a:t>
            </a:r>
            <a:r>
              <a:rPr lang="zh-CN" altLang="en-US" sz="2000" b="1" dirty="0">
                <a:solidFill>
                  <a:srgbClr val="FF0000"/>
                </a:solidFill>
              </a:rPr>
              <a:t>需求规格说明</a:t>
            </a:r>
            <a:r>
              <a:rPr lang="zh-CN" altLang="en-US" sz="2000" dirty="0"/>
              <a:t>提供一个框架。</a:t>
            </a:r>
            <a:endParaRPr lang="en-US" altLang="zh-CN" sz="2000" dirty="0"/>
          </a:p>
          <a:p>
            <a:pPr marL="342900" indent="-342900">
              <a:buFont typeface="Arial" panose="020B0604020202020204" pitchFamily="34" charset="0"/>
              <a:buChar char="•"/>
            </a:pPr>
            <a:r>
              <a:rPr lang="zh-CN" altLang="en-US" sz="2000" dirty="0"/>
              <a:t>用例是系统和程序设计的基础，但通常难以转化为类模型。</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zh-CN" altLang="en-US" sz="3200" dirty="0">
                <a:latin typeface="Times New Roman" panose="02020603050405020304" charset="0"/>
              </a:rPr>
              <a:t>具有多个参与者的用例</a:t>
            </a: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t>24</a:t>
            </a:fld>
            <a:endParaRPr lang="zh-CN" altLang="en-US" dirty="0"/>
          </a:p>
        </p:txBody>
      </p:sp>
      <p:pic>
        <p:nvPicPr>
          <p:cNvPr id="4" name="图片 3"/>
          <p:cNvPicPr>
            <a:picLocks noChangeAspect="1"/>
          </p:cNvPicPr>
          <p:nvPr/>
        </p:nvPicPr>
        <p:blipFill>
          <a:blip r:embed="rId2"/>
          <a:stretch>
            <a:fillRect/>
          </a:stretch>
        </p:blipFill>
        <p:spPr>
          <a:xfrm>
            <a:off x="2530950" y="1178130"/>
            <a:ext cx="7130100" cy="4314813"/>
          </a:xfrm>
          <a:prstGeom prst="rect">
            <a:avLst/>
          </a:prstGeom>
        </p:spPr>
      </p:pic>
      <p:sp>
        <p:nvSpPr>
          <p:cNvPr id="5" name="TextBox 3"/>
          <p:cNvSpPr txBox="1"/>
          <p:nvPr/>
        </p:nvSpPr>
        <p:spPr>
          <a:xfrm>
            <a:off x="3760470" y="5642610"/>
            <a:ext cx="4053205" cy="398780"/>
          </a:xfrm>
          <a:prstGeom prst="rect">
            <a:avLst/>
          </a:prstGeom>
          <a:noFill/>
        </p:spPr>
        <p:txBody>
          <a:bodyPr wrap="square">
            <a:spAutoFit/>
          </a:bodyPr>
          <a:lstStyle/>
          <a:p>
            <a:r>
              <a:rPr lang="zh-CN" altLang="en-US" sz="2000" dirty="0">
                <a:solidFill>
                  <a:srgbClr val="C00000"/>
                </a:solidFill>
              </a:rPr>
              <a:t>这就是你学习面向对象编程的原因！</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zh-CN" altLang="en-US" sz="3200" dirty="0">
                <a:latin typeface="Times New Roman" panose="02020603050405020304" charset="0"/>
              </a:rPr>
              <a:t>用例图</a:t>
            </a: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t>25</a:t>
            </a:fld>
            <a:endParaRPr lang="zh-CN" altLang="en-US" dirty="0"/>
          </a:p>
        </p:txBody>
      </p:sp>
      <p:sp>
        <p:nvSpPr>
          <p:cNvPr id="7" name="TextBox 3"/>
          <p:cNvSpPr txBox="1"/>
          <p:nvPr/>
        </p:nvSpPr>
        <p:spPr>
          <a:xfrm>
            <a:off x="572375" y="1689853"/>
            <a:ext cx="11163995" cy="163004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20204" pitchFamily="34" charset="0"/>
              </a:rPr>
              <a:t>用例图</a:t>
            </a:r>
          </a:p>
          <a:p>
            <a:endParaRPr lang="en-US" altLang="zh-CN" sz="2000" dirty="0"/>
          </a:p>
          <a:p>
            <a:pPr marL="342900" indent="-342900">
              <a:buFont typeface="Arial" panose="020B0604020202020204" pitchFamily="34" charset="0"/>
              <a:buChar char="•"/>
            </a:pPr>
            <a:r>
              <a:rPr lang="zh-CN" altLang="en-US" sz="2000" dirty="0"/>
              <a:t>用例图显示了参与者与其与系统的交互之间的</a:t>
            </a:r>
            <a:r>
              <a:rPr lang="zh-CN" altLang="en-US" sz="2000" b="1" dirty="0">
                <a:solidFill>
                  <a:srgbClr val="FF0000"/>
                </a:solidFill>
              </a:rPr>
              <a:t>关系</a:t>
            </a:r>
            <a:r>
              <a:rPr lang="zh-CN" altLang="en-US" sz="2000" dirty="0"/>
              <a:t>。</a:t>
            </a:r>
          </a:p>
          <a:p>
            <a:pPr marL="342900" indent="-342900">
              <a:buFont typeface="Arial" panose="020B0604020202020204" pitchFamily="34" charset="0"/>
              <a:buChar char="•"/>
            </a:pPr>
            <a:endParaRPr lang="en-US" altLang="zh-CN" sz="2000" dirty="0"/>
          </a:p>
          <a:p>
            <a:pPr marL="342900" indent="-342900">
              <a:buFont typeface="Arial" panose="020B0604020202020204" pitchFamily="34" charset="0"/>
              <a:buChar char="•"/>
            </a:pPr>
            <a:r>
              <a:rPr lang="zh-CN" altLang="en-US" sz="2000" dirty="0"/>
              <a:t>它不显示这些交互的</a:t>
            </a:r>
            <a:r>
              <a:rPr lang="zh-CN" altLang="en-US" sz="2000" b="1" dirty="0">
                <a:solidFill>
                  <a:srgbClr val="FF0000"/>
                </a:solidFill>
              </a:rPr>
              <a:t>逻辑</a:t>
            </a:r>
            <a:r>
              <a:rPr lang="zh-CN" altLang="en-US" sz="2000" dirty="0"/>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zh-CN" altLang="en-US" sz="3200" dirty="0">
                <a:latin typeface="Times New Roman" panose="02020603050405020304" charset="0"/>
              </a:rPr>
              <a:t>一个旧考题</a:t>
            </a: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t>26</a:t>
            </a:fld>
            <a:endParaRPr lang="zh-CN" altLang="en-US" dirty="0"/>
          </a:p>
        </p:txBody>
      </p:sp>
      <p:sp>
        <p:nvSpPr>
          <p:cNvPr id="7" name="TextBox 3"/>
          <p:cNvSpPr txBox="1"/>
          <p:nvPr/>
        </p:nvSpPr>
        <p:spPr>
          <a:xfrm>
            <a:off x="572375" y="1476493"/>
            <a:ext cx="11163995" cy="409257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20204" pitchFamily="34" charset="0"/>
              </a:rPr>
              <a:t>披萨订购系统</a:t>
            </a:r>
          </a:p>
          <a:p>
            <a:pPr marL="342900" indent="-342900">
              <a:buFont typeface="Arial" panose="020B0604020202020204" pitchFamily="34" charset="0"/>
              <a:buChar char="•"/>
            </a:pPr>
            <a:endParaRPr lang="en-US" altLang="zh-CN" sz="2000" dirty="0"/>
          </a:p>
          <a:p>
            <a:pPr marL="342900" indent="-342900">
              <a:buFont typeface="Arial" panose="020B0604020202020204" pitchFamily="34" charset="0"/>
              <a:buChar char="•"/>
            </a:pPr>
            <a:r>
              <a:rPr lang="zh-CN" altLang="en-US" sz="2000" dirty="0"/>
              <a:t>披萨订购系统允许</a:t>
            </a:r>
            <a:r>
              <a:rPr lang="en-US" altLang="zh-CN" sz="2000" dirty="0"/>
              <a:t> Web </a:t>
            </a:r>
            <a:r>
              <a:rPr lang="zh-CN" altLang="en-US" sz="2000" dirty="0"/>
              <a:t>浏览器用户订购披萨以便送货上门。为了下订单，购物者搜索查找要购买的物品，一次将一个物品添加到购物车，并可能再次搜索更多物品。</a:t>
            </a:r>
          </a:p>
          <a:p>
            <a:pPr marL="342900" indent="-342900">
              <a:buFont typeface="Arial" panose="020B0604020202020204" pitchFamily="34" charset="0"/>
              <a:buChar char="•"/>
            </a:pPr>
            <a:endParaRPr lang="en-US" altLang="zh-CN" sz="2000" dirty="0"/>
          </a:p>
          <a:p>
            <a:pPr marL="342900" indent="-342900">
              <a:buFont typeface="Arial" panose="020B0604020202020204" pitchFamily="34" charset="0"/>
              <a:buChar char="•"/>
            </a:pPr>
            <a:r>
              <a:rPr lang="zh-CN" altLang="en-US" sz="2000" dirty="0"/>
              <a:t>当所有物品都选好后，购物者提供送货地址。如果不使用现金支付，购物者还需提供信用卡信息。</a:t>
            </a:r>
          </a:p>
          <a:p>
            <a:pPr marL="342900" indent="-342900">
              <a:buFont typeface="Arial" panose="020B0604020202020204" pitchFamily="34" charset="0"/>
              <a:buChar char="•"/>
            </a:pPr>
            <a:endParaRPr lang="en-US" altLang="zh-CN" sz="2000" dirty="0"/>
          </a:p>
          <a:p>
            <a:pPr marL="342900" indent="-342900">
              <a:buFont typeface="Arial" panose="020B0604020202020204" pitchFamily="34" charset="0"/>
              <a:buChar char="•"/>
            </a:pPr>
            <a:r>
              <a:rPr lang="zh-CN" altLang="en-US" sz="2000" dirty="0"/>
              <a:t>该系统为购物者提供了注册选项。这样他们可以保存姓名和地址信息，从而不必每次下订单时都输入这些信息。</a:t>
            </a:r>
          </a:p>
          <a:p>
            <a:endParaRPr lang="en-US" altLang="zh-CN" sz="2000" dirty="0"/>
          </a:p>
          <a:p>
            <a:r>
              <a:rPr lang="zh-CN" altLang="en-US" sz="2000" dirty="0"/>
              <a:t>为下订单用例</a:t>
            </a:r>
            <a:r>
              <a:rPr lang="en-US" altLang="zh-CN" sz="2000" dirty="0"/>
              <a:t> PlaceOrder </a:t>
            </a:r>
            <a:r>
              <a:rPr lang="zh-CN" altLang="en-US" sz="2000" dirty="0"/>
              <a:t>开发一个用例图。该用例应显示与两个先前指定的用例的关系，即</a:t>
            </a:r>
            <a:r>
              <a:rPr lang="en-US" altLang="zh-CN" sz="2000" dirty="0"/>
              <a:t> IdentifyCustomer</a:t>
            </a:r>
            <a:r>
              <a:rPr lang="zh-CN" altLang="en-US" sz="2000" dirty="0"/>
              <a:t>（允许用户注册和登录）和</a:t>
            </a:r>
            <a:r>
              <a:rPr lang="en-US" altLang="zh-CN" sz="2000" dirty="0"/>
              <a:t> PaybyCredit</a:t>
            </a:r>
            <a:r>
              <a:rPr lang="zh-CN" altLang="en-US" sz="2000" dirty="0"/>
              <a:t>（对信用卡支付进行建模）。</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t>27</a:t>
            </a:fld>
            <a:endParaRPr lang="zh-CN" altLang="en-US" dirty="0"/>
          </a:p>
        </p:txBody>
      </p:sp>
      <p:sp>
        <p:nvSpPr>
          <p:cNvPr id="7" name="TextBox 3"/>
          <p:cNvSpPr txBox="1"/>
          <p:nvPr/>
        </p:nvSpPr>
        <p:spPr>
          <a:xfrm>
            <a:off x="1276001" y="1259174"/>
            <a:ext cx="5439759" cy="398780"/>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20204" pitchFamily="34" charset="0"/>
              </a:rPr>
              <a:t>正确答案</a:t>
            </a:r>
          </a:p>
        </p:txBody>
      </p:sp>
      <p:sp>
        <p:nvSpPr>
          <p:cNvPr id="9" name="Title 1"/>
          <p:cNvSpPr>
            <a:spLocks noGrp="1"/>
          </p:cNvSpPr>
          <p:nvPr>
            <p:ph type="title"/>
          </p:nvPr>
        </p:nvSpPr>
        <p:spPr>
          <a:xfrm>
            <a:off x="1091254" y="237834"/>
            <a:ext cx="9099225" cy="790865"/>
          </a:xfrm>
        </p:spPr>
        <p:txBody>
          <a:bodyPr>
            <a:normAutofit/>
          </a:bodyPr>
          <a:lstStyle/>
          <a:p>
            <a:r>
              <a:rPr lang="zh-CN" altLang="en-US" sz="3200" dirty="0">
                <a:latin typeface="Times New Roman" panose="02020603050405020304" charset="0"/>
                <a:sym typeface="+mn-ea"/>
              </a:rPr>
              <a:t>一个旧考题</a:t>
            </a:r>
          </a:p>
        </p:txBody>
      </p:sp>
      <p:pic>
        <p:nvPicPr>
          <p:cNvPr id="10" name="图片 9"/>
          <p:cNvPicPr>
            <a:picLocks noChangeAspect="1"/>
          </p:cNvPicPr>
          <p:nvPr/>
        </p:nvPicPr>
        <p:blipFill>
          <a:blip r:embed="rId2"/>
          <a:stretch>
            <a:fillRect/>
          </a:stretch>
        </p:blipFill>
        <p:spPr>
          <a:xfrm>
            <a:off x="2049730" y="1889760"/>
            <a:ext cx="8092539" cy="4181009"/>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dirty="0">
                <a:latin typeface="Times New Roman" panose="02020603050405020304" charset="0"/>
              </a:rPr>
              <a:t>讨论</a:t>
            </a: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t>28</a:t>
            </a:fld>
            <a:endParaRPr lang="zh-CN" altLang="en-US" dirty="0"/>
          </a:p>
        </p:txBody>
      </p:sp>
      <p:sp>
        <p:nvSpPr>
          <p:cNvPr id="9" name="TextBox 3"/>
          <p:cNvSpPr txBox="1"/>
          <p:nvPr/>
        </p:nvSpPr>
        <p:spPr>
          <a:xfrm>
            <a:off x="810914" y="1839149"/>
            <a:ext cx="11163995" cy="398780"/>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20204" pitchFamily="34" charset="0"/>
              </a:rPr>
              <a:t>创建包含购物者、收银员和配送员的订购系统用例。</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dirty="0">
                <a:latin typeface="Times New Roman" panose="02020603050405020304" charset="0"/>
              </a:rPr>
              <a:t>期末项目要求</a:t>
            </a: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t>29</a:t>
            </a:fld>
            <a:endParaRPr lang="zh-CN" altLang="en-US" dirty="0"/>
          </a:p>
        </p:txBody>
      </p:sp>
      <p:sp>
        <p:nvSpPr>
          <p:cNvPr id="9" name="TextBox 3"/>
          <p:cNvSpPr txBox="1"/>
          <p:nvPr/>
        </p:nvSpPr>
        <p:spPr>
          <a:xfrm>
            <a:off x="572375" y="1690062"/>
            <a:ext cx="11163995" cy="1014730"/>
          </a:xfrm>
          <a:prstGeom prst="rect">
            <a:avLst/>
          </a:prstGeom>
          <a:noFill/>
        </p:spPr>
        <p:txBody>
          <a:bodyPr wrap="square">
            <a:spAutoFit/>
          </a:bodyPr>
          <a:lstStyle/>
          <a:p>
            <a:r>
              <a:rPr lang="en-US" altLang="zh-CN" sz="2000" b="1" dirty="0">
                <a:solidFill>
                  <a:srgbClr val="FF0000"/>
                </a:solidFill>
              </a:rPr>
              <a:t>5.</a:t>
            </a:r>
            <a:r>
              <a:rPr lang="zh-CN" altLang="en-US" sz="2000" b="1" dirty="0">
                <a:solidFill>
                  <a:srgbClr val="FF0000"/>
                </a:solidFill>
              </a:rPr>
              <a:t>在你的最终报告中展示你的场景和用例图。</a:t>
            </a:r>
          </a:p>
          <a:p>
            <a:endParaRPr lang="en-US" altLang="zh-CN" sz="2000" b="1" dirty="0">
              <a:solidFill>
                <a:srgbClr val="FF0000"/>
              </a:solidFill>
            </a:endParaRPr>
          </a:p>
          <a:p>
            <a:r>
              <a:rPr lang="en-US" altLang="zh-CN" sz="2000" b="1" dirty="0">
                <a:solidFill>
                  <a:srgbClr val="FF0000"/>
                </a:solidFill>
              </a:rPr>
              <a:t>6.</a:t>
            </a:r>
            <a:r>
              <a:rPr lang="zh-CN" altLang="en-US" sz="2000" b="1" dirty="0">
                <a:solidFill>
                  <a:srgbClr val="FF0000"/>
                </a:solidFill>
              </a:rPr>
              <a:t>以面向对象编程风格组织你的代码。</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335087" y="3977885"/>
            <a:ext cx="9521825" cy="644144"/>
          </a:xfrm>
          <a:prstGeom prst="rect">
            <a:avLst/>
          </a:prstGeom>
        </p:spPr>
        <p:txBody>
          <a:bodyPr wrap="square">
            <a:normAutofit lnSpcReduction="20000"/>
          </a:bodyPr>
          <a:lstStyle/>
          <a:p>
            <a:pPr algn="ctr"/>
            <a:r>
              <a:rPr lang="zh-CN" altLang="en-US" sz="4000" b="1" dirty="0">
                <a:solidFill>
                  <a:schemeClr val="accent1"/>
                </a:solidFill>
                <a:latin typeface="Helvetica" pitchFamily="2" charset="0"/>
                <a:cs typeface="+mn-ea"/>
                <a:sym typeface="+mn-lt"/>
              </a:rPr>
              <a:t>需求模型</a:t>
            </a:r>
          </a:p>
        </p:txBody>
      </p:sp>
      <p:grpSp>
        <p:nvGrpSpPr>
          <p:cNvPr id="4" name="组合 3"/>
          <p:cNvGrpSpPr/>
          <p:nvPr/>
        </p:nvGrpSpPr>
        <p:grpSpPr>
          <a:xfrm>
            <a:off x="4819048" y="1319889"/>
            <a:ext cx="2553904" cy="2646878"/>
            <a:chOff x="5865211" y="1319889"/>
            <a:chExt cx="2553904" cy="2646878"/>
          </a:xfrm>
        </p:grpSpPr>
        <p:sp>
          <p:nvSpPr>
            <p:cNvPr id="2" name="文本框 1"/>
            <p:cNvSpPr txBox="1"/>
            <p:nvPr/>
          </p:nvSpPr>
          <p:spPr>
            <a:xfrm>
              <a:off x="5865211" y="1319889"/>
              <a:ext cx="2553904" cy="2646878"/>
            </a:xfrm>
            <a:prstGeom prst="rect">
              <a:avLst/>
            </a:prstGeom>
            <a:noFill/>
          </p:spPr>
          <p:txBody>
            <a:bodyPr wrap="none" rtlCol="0">
              <a:spAutoFit/>
            </a:bodyPr>
            <a:lstStyle/>
            <a:p>
              <a:r>
                <a:rPr lang="en-US" altLang="zh-CN" sz="16600" dirty="0">
                  <a:solidFill>
                    <a:schemeClr val="accent1"/>
                  </a:solidFill>
                  <a:latin typeface="Helvetica" pitchFamily="2" charset="0"/>
                  <a:cs typeface="+mn-ea"/>
                  <a:sym typeface="+mn-lt"/>
                </a:rPr>
                <a:t>03</a:t>
              </a:r>
              <a:endParaRPr lang="zh-CN" altLang="en-US" sz="16600" dirty="0">
                <a:solidFill>
                  <a:schemeClr val="accent1"/>
                </a:solidFill>
                <a:latin typeface="Helvetica" pitchFamily="2" charset="0"/>
                <a:cs typeface="+mn-ea"/>
                <a:sym typeface="+mn-lt"/>
              </a:endParaRPr>
            </a:p>
          </p:txBody>
        </p:sp>
        <p:sp>
          <p:nvSpPr>
            <p:cNvPr id="3" name="文本框 2"/>
            <p:cNvSpPr txBox="1"/>
            <p:nvPr/>
          </p:nvSpPr>
          <p:spPr>
            <a:xfrm>
              <a:off x="5865211" y="2574748"/>
              <a:ext cx="2553904" cy="461665"/>
            </a:xfrm>
            <a:prstGeom prst="rect">
              <a:avLst/>
            </a:prstGeom>
            <a:solidFill>
              <a:schemeClr val="bg1"/>
            </a:solidFill>
          </p:spPr>
          <p:txBody>
            <a:bodyPr wrap="square" rtlCol="0">
              <a:spAutoFit/>
            </a:bodyPr>
            <a:lstStyle/>
            <a:p>
              <a:pPr algn="dist"/>
              <a:r>
                <a:rPr lang="en-US" altLang="zh-CN" sz="2400" dirty="0">
                  <a:solidFill>
                    <a:schemeClr val="accent1"/>
                  </a:solidFill>
                  <a:latin typeface="Helvetica" pitchFamily="2" charset="0"/>
                  <a:cs typeface="Arial" panose="020B0604020202020204" pitchFamily="34" charset="0"/>
                  <a:sym typeface="+mn-lt"/>
                </a:rPr>
                <a:t>PART</a:t>
              </a:r>
              <a:r>
                <a:rPr lang="zh-CN" altLang="en-US" sz="2400" dirty="0">
                  <a:solidFill>
                    <a:schemeClr val="accent1"/>
                  </a:solidFill>
                  <a:latin typeface="Helvetica" pitchFamily="2" charset="0"/>
                  <a:cs typeface="Arial" panose="020B0604020202020204" pitchFamily="34" charset="0"/>
                  <a:sym typeface="+mn-lt"/>
                </a:rPr>
                <a:t> </a:t>
              </a:r>
              <a:r>
                <a:rPr lang="en-US" altLang="zh-CN" sz="2400" dirty="0">
                  <a:solidFill>
                    <a:schemeClr val="accent1"/>
                  </a:solidFill>
                  <a:latin typeface="Helvetica" pitchFamily="2" charset="0"/>
                  <a:cs typeface="Arial" panose="020B0604020202020204" pitchFamily="34" charset="0"/>
                  <a:sym typeface="+mn-lt"/>
                </a:rPr>
                <a:t>THREE </a:t>
              </a:r>
              <a:endParaRPr lang="zh-CN" altLang="en-US" sz="2400" dirty="0">
                <a:solidFill>
                  <a:schemeClr val="accent1"/>
                </a:solidFill>
                <a:latin typeface="Helvetica" pitchFamily="2" charset="0"/>
                <a:cs typeface="Arial" panose="020B0604020202020204" pitchFamily="34" charset="0"/>
                <a:sym typeface="+mn-lt"/>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zh-CN" altLang="en-US" sz="3200" dirty="0">
                <a:latin typeface="Times New Roman" panose="02020603050405020304" charset="0"/>
              </a:rPr>
              <a:t>需求模型</a:t>
            </a: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t>31</a:t>
            </a:fld>
            <a:endParaRPr lang="zh-CN" altLang="en-US" dirty="0"/>
          </a:p>
        </p:txBody>
      </p:sp>
      <p:sp>
        <p:nvSpPr>
          <p:cNvPr id="7" name="TextBox 3"/>
          <p:cNvSpPr txBox="1"/>
          <p:nvPr/>
        </p:nvSpPr>
        <p:spPr>
          <a:xfrm>
            <a:off x="572375" y="1689853"/>
            <a:ext cx="11163995" cy="2553335"/>
          </a:xfrm>
          <a:prstGeom prst="rect">
            <a:avLst/>
          </a:prstGeom>
          <a:noFill/>
        </p:spPr>
        <p:txBody>
          <a:bodyPr wrap="square">
            <a:spAutoFit/>
          </a:bodyPr>
          <a:lstStyle/>
          <a:p>
            <a:r>
              <a:rPr lang="zh-CN" altLang="en-US" sz="2000" dirty="0"/>
              <a:t>当你通过</a:t>
            </a:r>
            <a:r>
              <a:rPr lang="zh-CN" altLang="en-US" sz="2000" b="1" dirty="0">
                <a:solidFill>
                  <a:srgbClr val="FF0000"/>
                </a:solidFill>
              </a:rPr>
              <a:t>视角分析、场景、用例</a:t>
            </a:r>
            <a:r>
              <a:rPr lang="zh-CN" altLang="en-US" sz="2000" dirty="0"/>
              <a:t>等建立对需求的理解时，使用模型来分析和明确需求。模型在客户的理解和开发人员的理解之间架起了一座桥梁。</a:t>
            </a:r>
          </a:p>
          <a:p>
            <a:endParaRPr lang="en-US" altLang="zh-CN" sz="2000" b="1" dirty="0">
              <a:solidFill>
                <a:srgbClr val="515223"/>
              </a:solidFill>
              <a:latin typeface="Helvetica" pitchFamily="2" charset="0"/>
              <a:cs typeface="Arial" panose="020B0604020202020204" pitchFamily="34" charset="0"/>
            </a:endParaRPr>
          </a:p>
          <a:p>
            <a:r>
              <a:rPr lang="en-US" altLang="zh-CN" sz="2000" b="1" dirty="0">
                <a:solidFill>
                  <a:srgbClr val="515223"/>
                </a:solidFill>
                <a:latin typeface="Helvetica" pitchFamily="2" charset="0"/>
                <a:cs typeface="Arial" panose="020B0604020202020204" pitchFamily="34" charset="0"/>
              </a:rPr>
              <a:t>需求分析和说明的技艺包括为特定任务选择合适的工具。</a:t>
            </a:r>
          </a:p>
          <a:p>
            <a:endParaRPr lang="en-US" altLang="zh-CN" sz="2000" dirty="0"/>
          </a:p>
          <a:p>
            <a:pPr marL="342900" indent="-342900">
              <a:buFont typeface="Arial" panose="020B0604020202020204" pitchFamily="34" charset="0"/>
              <a:buChar char="•"/>
            </a:pPr>
            <a:r>
              <a:rPr lang="zh-CN" altLang="en-US" sz="2000" dirty="0"/>
              <a:t>有多种工具和技术。</a:t>
            </a:r>
            <a:endParaRPr lang="en-US" altLang="zh-CN" sz="2000" dirty="0"/>
          </a:p>
          <a:p>
            <a:pPr marL="342900" indent="-342900">
              <a:buFont typeface="Arial" panose="020B0604020202020204" pitchFamily="34" charset="0"/>
              <a:buChar char="•"/>
            </a:pPr>
            <a:r>
              <a:rPr lang="zh-CN" altLang="en-US" sz="2000" dirty="0"/>
              <a:t>许多来自其他课程，大家都很熟悉。</a:t>
            </a:r>
            <a:endParaRPr lang="en-US" altLang="zh-CN" sz="2000" dirty="0"/>
          </a:p>
          <a:p>
            <a:pPr marL="342900" indent="-342900">
              <a:buFont typeface="Arial" panose="020B0604020202020204" pitchFamily="34" charset="0"/>
              <a:buChar char="•"/>
            </a:pPr>
            <a:r>
              <a:rPr lang="zh-CN" altLang="en-US" sz="2000" dirty="0"/>
              <a:t>没有一种适用于所有情况的正确技术。</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zh-CN" altLang="en-US" sz="3200" dirty="0">
                <a:latin typeface="Times New Roman" panose="02020603050405020304" charset="0"/>
              </a:rPr>
              <a:t>模型：有用的参考文献</a:t>
            </a: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t>32</a:t>
            </a:fld>
            <a:endParaRPr lang="zh-CN" altLang="en-US" dirty="0"/>
          </a:p>
        </p:txBody>
      </p:sp>
      <p:sp>
        <p:nvSpPr>
          <p:cNvPr id="7" name="TextBox 3"/>
          <p:cNvSpPr txBox="1"/>
          <p:nvPr/>
        </p:nvSpPr>
        <p:spPr>
          <a:xfrm>
            <a:off x="572375" y="1689853"/>
            <a:ext cx="11163995" cy="2553335"/>
          </a:xfrm>
          <a:prstGeom prst="rect">
            <a:avLst/>
          </a:prstGeom>
          <a:noFill/>
        </p:spPr>
        <p:txBody>
          <a:bodyPr wrap="square">
            <a:spAutoFit/>
          </a:bodyPr>
          <a:lstStyle/>
          <a:p>
            <a:r>
              <a:rPr lang="en-US" altLang="zh-CN" sz="2000" dirty="0"/>
              <a:t>Grady Booch, James Rumbaugh, Ivar Jacobson, </a:t>
            </a:r>
            <a:r>
              <a:rPr lang="zh-CN" altLang="en-US" sz="2000" dirty="0"/>
              <a:t>《统一建模语言》。</a:t>
            </a:r>
            <a:r>
              <a:rPr lang="en-US" altLang="zh-CN" sz="2000" dirty="0"/>
              <a:t>Addison-Wesley 1999</a:t>
            </a:r>
            <a:r>
              <a:rPr lang="zh-CN" altLang="en-US" sz="2000" dirty="0"/>
              <a:t>。</a:t>
            </a:r>
          </a:p>
          <a:p>
            <a:endParaRPr lang="en-US" altLang="zh-CN" sz="2000" dirty="0"/>
          </a:p>
          <a:p>
            <a:r>
              <a:rPr lang="en-US" altLang="zh-CN" sz="2000" dirty="0"/>
              <a:t>Grady Booch </a:t>
            </a:r>
            <a:r>
              <a:rPr lang="zh-CN" altLang="en-US" sz="2000" dirty="0"/>
              <a:t>等，《面向对象分析与设计及其应用》，第三版。</a:t>
            </a:r>
            <a:r>
              <a:rPr lang="en-US" altLang="zh-CN" sz="2000" dirty="0"/>
              <a:t>Benjamin/Cummings 2007</a:t>
            </a:r>
            <a:r>
              <a:rPr lang="zh-CN" altLang="en-US" sz="2000" dirty="0"/>
              <a:t>。</a:t>
            </a:r>
          </a:p>
          <a:p>
            <a:endParaRPr lang="en-US" altLang="zh-CN" sz="2000" dirty="0"/>
          </a:p>
          <a:p>
            <a:r>
              <a:rPr lang="en-US" altLang="zh-CN" sz="2000" dirty="0"/>
              <a:t>Rob Pooley, Perdita Stevens</a:t>
            </a:r>
            <a:r>
              <a:rPr lang="zh-CN" altLang="en-US" sz="2000" dirty="0"/>
              <a:t>，《使用</a:t>
            </a:r>
            <a:r>
              <a:rPr lang="en-US" altLang="zh-CN" sz="2000" dirty="0"/>
              <a:t> UML </a:t>
            </a:r>
            <a:r>
              <a:rPr lang="zh-CN" altLang="en-US" sz="2000" dirty="0"/>
              <a:t>软件工程与对象及组件》，第二版。</a:t>
            </a:r>
            <a:r>
              <a:rPr lang="en-US" altLang="zh-CN" sz="2000" dirty="0"/>
              <a:t>Addison-Wesley 2005</a:t>
            </a:r>
            <a:r>
              <a:rPr lang="zh-CN" altLang="en-US" sz="2000" dirty="0"/>
              <a:t>。</a:t>
            </a:r>
          </a:p>
          <a:p>
            <a:endParaRPr lang="en-US" altLang="zh-CN" sz="2000" dirty="0"/>
          </a:p>
          <a:p>
            <a:endParaRPr lang="en-US" altLang="zh-CN" sz="2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zh-CN" altLang="en-US" sz="3200" dirty="0">
                <a:solidFill>
                  <a:srgbClr val="515223"/>
                </a:solidFill>
                <a:latin typeface="Times New Roman" panose="02020603050405020304" charset="0"/>
                <a:sym typeface="+mn-ea"/>
              </a:rPr>
              <a:t>模型</a:t>
            </a: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t>33</a:t>
            </a:fld>
            <a:endParaRPr lang="zh-CN" altLang="en-US" dirty="0"/>
          </a:p>
        </p:txBody>
      </p:sp>
      <p:sp>
        <p:nvSpPr>
          <p:cNvPr id="7" name="TextBox 3"/>
          <p:cNvSpPr txBox="1"/>
          <p:nvPr/>
        </p:nvSpPr>
        <p:spPr>
          <a:xfrm>
            <a:off x="572375" y="1689853"/>
            <a:ext cx="11163995" cy="2245360"/>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20204" pitchFamily="34" charset="0"/>
              </a:rPr>
              <a:t>模型是对现实的简化。</a:t>
            </a:r>
          </a:p>
          <a:p>
            <a:endParaRPr lang="en-US" altLang="zh-CN" sz="2000" b="1" dirty="0">
              <a:solidFill>
                <a:srgbClr val="515223"/>
              </a:solidFill>
              <a:latin typeface="Helvetica" pitchFamily="2" charset="0"/>
              <a:cs typeface="Arial" panose="020B0604020202020204" pitchFamily="34" charset="0"/>
            </a:endParaRPr>
          </a:p>
          <a:p>
            <a:pPr marL="342900" indent="-342900">
              <a:buFont typeface="Arial" panose="020B0604020202020204" pitchFamily="34" charset="0"/>
              <a:buChar char="•"/>
            </a:pPr>
            <a:r>
              <a:rPr lang="en-US" altLang="zh-CN" sz="2000" dirty="0"/>
              <a:t>我们构建模型以便更好地理解正在开发的系统。</a:t>
            </a:r>
          </a:p>
          <a:p>
            <a:pPr marL="342900" indent="-342900">
              <a:buFont typeface="Arial" panose="020B0604020202020204" pitchFamily="34" charset="0"/>
              <a:buChar char="•"/>
            </a:pPr>
            <a:endParaRPr lang="en-US" altLang="zh-CN" sz="2000" dirty="0"/>
          </a:p>
          <a:p>
            <a:pPr marL="342900" indent="-342900">
              <a:buFont typeface="Arial" panose="020B0604020202020204" pitchFamily="34" charset="0"/>
              <a:buChar char="•"/>
            </a:pPr>
            <a:r>
              <a:rPr lang="en-US" altLang="zh-CN" sz="2000" dirty="0"/>
              <a:t>我们为复杂系统构建模型，因为我们无法完全理解这样一个系统的整体。</a:t>
            </a:r>
          </a:p>
          <a:p>
            <a:pPr marL="342900" indent="-342900">
              <a:buFont typeface="Arial" panose="020B0604020202020204" pitchFamily="34" charset="0"/>
              <a:buChar char="•"/>
            </a:pPr>
            <a:endParaRPr lang="en-US" altLang="zh-CN" sz="2000" dirty="0"/>
          </a:p>
          <a:p>
            <a:r>
              <a:rPr lang="zh-CN" altLang="en-US" sz="2000" b="1" dirty="0">
                <a:solidFill>
                  <a:srgbClr val="515223"/>
                </a:solidFill>
                <a:latin typeface="Helvetica" pitchFamily="2" charset="0"/>
                <a:cs typeface="Arial" panose="020B0604020202020204" pitchFamily="34" charset="0"/>
              </a:rPr>
              <a:t>模型可以是非正式的，也可以是正式的。项目越复杂，正式模型就越有价值。</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zh-CN" altLang="en-US" sz="3200" dirty="0">
                <a:latin typeface="Times New Roman" panose="02020603050405020304" charset="0"/>
              </a:rPr>
              <a:t>建模原则</a:t>
            </a: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t>34</a:t>
            </a:fld>
            <a:endParaRPr lang="zh-CN" altLang="en-US" dirty="0"/>
          </a:p>
        </p:txBody>
      </p:sp>
      <p:sp>
        <p:nvSpPr>
          <p:cNvPr id="7" name="TextBox 3"/>
          <p:cNvSpPr txBox="1"/>
          <p:nvPr/>
        </p:nvSpPr>
        <p:spPr>
          <a:xfrm>
            <a:off x="572375" y="1689853"/>
            <a:ext cx="11163995" cy="2245360"/>
          </a:xfrm>
          <a:prstGeom prst="rect">
            <a:avLst/>
          </a:prstGeom>
          <a:noFill/>
        </p:spPr>
        <p:txBody>
          <a:bodyPr wrap="square">
            <a:spAutoFit/>
          </a:bodyPr>
          <a:lstStyle/>
          <a:p>
            <a:r>
              <a:rPr lang="zh-CN" altLang="en-US" sz="2000" dirty="0"/>
              <a:t>选择创建哪些模型对如何解决问题以及如何形成解决方案有着深远的影响。</a:t>
            </a:r>
          </a:p>
          <a:p>
            <a:endParaRPr lang="en-US" altLang="zh-CN" sz="2000" b="1" dirty="0">
              <a:solidFill>
                <a:srgbClr val="FF0000"/>
              </a:solidFill>
            </a:endParaRPr>
          </a:p>
          <a:p>
            <a:r>
              <a:rPr lang="zh-CN" altLang="en-US" sz="2000" b="1" dirty="0">
                <a:solidFill>
                  <a:srgbClr val="FF0000"/>
                </a:solidFill>
              </a:rPr>
              <a:t>没有单一的模型是足够的。</a:t>
            </a:r>
            <a:r>
              <a:rPr lang="en-US" altLang="zh-CN" sz="2000" b="1" dirty="0">
                <a:solidFill>
                  <a:srgbClr val="FF0000"/>
                </a:solidFill>
              </a:rPr>
              <a:t> </a:t>
            </a:r>
            <a:r>
              <a:rPr lang="zh-CN" altLang="en-US" sz="2000" dirty="0"/>
              <a:t>稍微复杂一些的系统最好通过一组几乎相互独立的小型模型来研究。</a:t>
            </a:r>
          </a:p>
          <a:p>
            <a:endParaRPr lang="en-US" altLang="zh-CN" sz="2000" dirty="0"/>
          </a:p>
          <a:p>
            <a:r>
              <a:rPr lang="zh-CN" altLang="en-US" sz="2000" dirty="0"/>
              <a:t>每个模型都可以在不同的精度级别上表达。</a:t>
            </a:r>
          </a:p>
          <a:p>
            <a:endParaRPr lang="en-US" altLang="zh-CN" sz="2000" dirty="0"/>
          </a:p>
          <a:p>
            <a:r>
              <a:rPr lang="zh-CN" altLang="en-US" sz="2000" dirty="0"/>
              <a:t>好的模型与现实相联系。</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zh-CN" altLang="en-US" sz="3200" dirty="0">
                <a:latin typeface="Times New Roman" panose="02020603050405020304" charset="0"/>
              </a:rPr>
              <a:t>统一建模语言</a:t>
            </a: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t>35</a:t>
            </a:fld>
            <a:endParaRPr lang="zh-CN" altLang="en-US" dirty="0"/>
          </a:p>
        </p:txBody>
      </p:sp>
      <p:sp>
        <p:nvSpPr>
          <p:cNvPr id="7" name="TextBox 3"/>
          <p:cNvSpPr txBox="1"/>
          <p:nvPr/>
        </p:nvSpPr>
        <p:spPr>
          <a:xfrm>
            <a:off x="572375" y="1689853"/>
            <a:ext cx="11163995" cy="2245360"/>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20204" pitchFamily="34" charset="0"/>
              </a:rPr>
              <a:t>UML 是用于软件系统建模的标准语言。</a:t>
            </a:r>
          </a:p>
          <a:p>
            <a:endParaRPr lang="en-US" altLang="zh-CN" sz="2000" dirty="0"/>
          </a:p>
          <a:p>
            <a:pPr marL="342900" indent="-342900">
              <a:buFont typeface="Arial" panose="020B0604020202020204" pitchFamily="34" charset="0"/>
              <a:buChar char="•"/>
            </a:pPr>
            <a:r>
              <a:rPr lang="zh-CN" altLang="en-US" sz="2000" dirty="0"/>
              <a:t>充当需求与实现之间的桥梁。</a:t>
            </a:r>
          </a:p>
          <a:p>
            <a:pPr marL="342900" indent="-342900">
              <a:buFont typeface="Arial" panose="020B0604020202020204" pitchFamily="34" charset="0"/>
              <a:buChar char="•"/>
            </a:pPr>
            <a:endParaRPr lang="en-US" altLang="zh-CN" sz="2000" dirty="0"/>
          </a:p>
          <a:p>
            <a:pPr marL="342900" indent="-342900">
              <a:buFont typeface="Arial" panose="020B0604020202020204" pitchFamily="34" charset="0"/>
              <a:buChar char="•"/>
            </a:pPr>
            <a:r>
              <a:rPr lang="zh-CN" altLang="en-US" sz="2000" dirty="0"/>
              <a:t>提供了一种指定和记录软件系统设计的方法。</a:t>
            </a:r>
          </a:p>
          <a:p>
            <a:pPr marL="342900" indent="-342900">
              <a:buFont typeface="Arial" panose="020B0604020202020204" pitchFamily="34" charset="0"/>
              <a:buChar char="•"/>
            </a:pPr>
            <a:endParaRPr lang="en-US" altLang="zh-CN" sz="2000" dirty="0"/>
          </a:p>
          <a:p>
            <a:pPr marL="342900" indent="-342900">
              <a:buFont typeface="Arial" panose="020B0604020202020204" pitchFamily="34" charset="0"/>
              <a:buChar char="•"/>
            </a:pPr>
            <a:r>
              <a:rPr lang="zh-CN" altLang="en-US" sz="2000" dirty="0"/>
              <a:t>它旨在独立于过程和编程语言，但特别适用于面向对象的程序开发。</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sz="3200" dirty="0">
                <a:latin typeface="Times New Roman" panose="02020603050405020304" charset="0"/>
              </a:rPr>
              <a:t>UML </a:t>
            </a:r>
            <a:r>
              <a:rPr lang="zh-CN" altLang="en-US" sz="3200" dirty="0">
                <a:latin typeface="Times New Roman" panose="02020603050405020304" charset="0"/>
              </a:rPr>
              <a:t>中的模型：图与规格说明</a:t>
            </a: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t>36</a:t>
            </a:fld>
            <a:endParaRPr lang="zh-CN" altLang="en-US" dirty="0"/>
          </a:p>
        </p:txBody>
      </p:sp>
      <p:sp>
        <p:nvSpPr>
          <p:cNvPr id="7" name="TextBox 3"/>
          <p:cNvSpPr txBox="1"/>
          <p:nvPr/>
        </p:nvSpPr>
        <p:spPr>
          <a:xfrm>
            <a:off x="572375" y="1689853"/>
            <a:ext cx="11163995" cy="2245360"/>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20204" pitchFamily="34" charset="0"/>
              </a:rPr>
              <a:t>在</a:t>
            </a:r>
            <a:r>
              <a:rPr lang="en-US" altLang="zh-CN" sz="2000" b="1" dirty="0">
                <a:solidFill>
                  <a:srgbClr val="515223"/>
                </a:solidFill>
                <a:latin typeface="Helvetica" pitchFamily="2" charset="0"/>
                <a:cs typeface="Arial" panose="020B0604020202020204" pitchFamily="34" charset="0"/>
              </a:rPr>
              <a:t> UML </a:t>
            </a:r>
            <a:r>
              <a:rPr lang="zh-CN" altLang="en-US" sz="2000" b="1" dirty="0">
                <a:solidFill>
                  <a:srgbClr val="515223"/>
                </a:solidFill>
                <a:latin typeface="Helvetica" pitchFamily="2" charset="0"/>
                <a:cs typeface="Arial" panose="020B0604020202020204" pitchFamily="34" charset="0"/>
              </a:rPr>
              <a:t>中，一个</a:t>
            </a:r>
            <a:r>
              <a:rPr lang="zh-CN" altLang="en-US" sz="2000" b="1" dirty="0">
                <a:solidFill>
                  <a:srgbClr val="FF0000"/>
                </a:solidFill>
                <a:latin typeface="Helvetica" pitchFamily="2" charset="0"/>
                <a:cs typeface="Arial" panose="020B0604020202020204" pitchFamily="34" charset="0"/>
              </a:rPr>
              <a:t>模型</a:t>
            </a:r>
            <a:r>
              <a:rPr lang="zh-CN" altLang="en-US" sz="2000" b="1" dirty="0">
                <a:solidFill>
                  <a:srgbClr val="515223"/>
                </a:solidFill>
                <a:latin typeface="Helvetica" pitchFamily="2" charset="0"/>
                <a:cs typeface="Arial" panose="020B0604020202020204" pitchFamily="34" charset="0"/>
              </a:rPr>
              <a:t>由一个</a:t>
            </a:r>
            <a:r>
              <a:rPr lang="zh-CN" altLang="en-US" sz="2000" b="1" dirty="0">
                <a:solidFill>
                  <a:srgbClr val="FF0000"/>
                </a:solidFill>
                <a:latin typeface="Helvetica" pitchFamily="2" charset="0"/>
                <a:cs typeface="Arial" panose="020B0604020202020204" pitchFamily="34" charset="0"/>
              </a:rPr>
              <a:t>图</a:t>
            </a:r>
            <a:r>
              <a:rPr lang="zh-CN" altLang="en-US" sz="2000" b="1" dirty="0">
                <a:solidFill>
                  <a:srgbClr val="515223"/>
                </a:solidFill>
                <a:latin typeface="Helvetica" pitchFamily="2" charset="0"/>
                <a:cs typeface="Arial" panose="020B0604020202020204" pitchFamily="34" charset="0"/>
              </a:rPr>
              <a:t>和一个</a:t>
            </a:r>
            <a:r>
              <a:rPr lang="zh-CN" altLang="en-US" sz="2000" b="1" dirty="0">
                <a:solidFill>
                  <a:srgbClr val="FF0000"/>
                </a:solidFill>
                <a:latin typeface="Helvetica" pitchFamily="2" charset="0"/>
                <a:cs typeface="Arial" panose="020B0604020202020204" pitchFamily="34" charset="0"/>
              </a:rPr>
              <a:t>规格说明</a:t>
            </a:r>
            <a:r>
              <a:rPr lang="zh-CN" altLang="en-US" sz="2000" b="1" dirty="0">
                <a:solidFill>
                  <a:srgbClr val="515223"/>
                </a:solidFill>
                <a:latin typeface="Helvetica" pitchFamily="2" charset="0"/>
                <a:cs typeface="Arial" panose="020B0604020202020204" pitchFamily="34" charset="0"/>
              </a:rPr>
              <a:t>组成。</a:t>
            </a:r>
          </a:p>
          <a:p>
            <a:endParaRPr lang="en-US" altLang="zh-CN" sz="2000" b="1" dirty="0">
              <a:solidFill>
                <a:srgbClr val="515223"/>
              </a:solidFill>
              <a:latin typeface="Helvetica" pitchFamily="2" charset="0"/>
              <a:cs typeface="Arial" panose="020B0604020202020204" pitchFamily="34" charset="0"/>
            </a:endParaRPr>
          </a:p>
          <a:p>
            <a:pPr marL="342900" indent="-342900">
              <a:buFont typeface="Arial" panose="020B0604020202020204" pitchFamily="34" charset="0"/>
              <a:buChar char="•"/>
            </a:pPr>
            <a:r>
              <a:rPr lang="en-US" altLang="zh-CN" sz="2000" b="1" dirty="0">
                <a:solidFill>
                  <a:srgbClr val="FF0000"/>
                </a:solidFill>
              </a:rPr>
              <a:t>图</a:t>
            </a:r>
            <a:r>
              <a:rPr lang="en-US" altLang="zh-CN" sz="2000" dirty="0"/>
              <a:t> 是一组元素的图形表示，通常呈现为顶点（事物）和弧（关系）的连接图。</a:t>
            </a:r>
          </a:p>
          <a:p>
            <a:pPr marL="342900" indent="-342900">
              <a:buFont typeface="Arial" panose="020B0604020202020204" pitchFamily="34" charset="0"/>
              <a:buChar char="•"/>
            </a:pPr>
            <a:endParaRPr lang="en-US" altLang="zh-CN" sz="2000" dirty="0"/>
          </a:p>
          <a:p>
            <a:pPr marL="342900" indent="-342900">
              <a:buFont typeface="Arial" panose="020B0604020202020204" pitchFamily="34" charset="0"/>
              <a:buChar char="•"/>
            </a:pPr>
            <a:r>
              <a:rPr lang="en-US" altLang="zh-CN" sz="2000" dirty="0"/>
              <a:t>每个图都附有技术</a:t>
            </a:r>
            <a:r>
              <a:rPr lang="en-US" altLang="zh-CN" sz="2000" b="1" dirty="0">
                <a:solidFill>
                  <a:srgbClr val="FF0000"/>
                </a:solidFill>
              </a:rPr>
              <a:t>文档</a:t>
            </a:r>
            <a:r>
              <a:rPr lang="en-US" altLang="zh-CN" sz="2000" dirty="0"/>
              <a:t>，该文档详细说明了图所代表的模型。</a:t>
            </a:r>
          </a:p>
          <a:p>
            <a:endParaRPr lang="en-US" altLang="zh-CN" sz="2000" b="1" dirty="0">
              <a:solidFill>
                <a:srgbClr val="515223"/>
              </a:solidFill>
              <a:latin typeface="Helvetica" pitchFamily="2" charset="0"/>
              <a:cs typeface="Arial" panose="020B0604020202020204" pitchFamily="34" charset="0"/>
            </a:endParaRPr>
          </a:p>
          <a:p>
            <a:r>
              <a:rPr lang="zh-CN" altLang="en-US" sz="2000" b="1" dirty="0">
                <a:solidFill>
                  <a:srgbClr val="515223"/>
                </a:solidFill>
                <a:latin typeface="Helvetica" pitchFamily="2" charset="0"/>
                <a:cs typeface="Arial" panose="020B0604020202020204" pitchFamily="34" charset="0"/>
              </a:rPr>
              <a:t>没有规格说明的图用处不大。</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zh-CN" altLang="en-US" sz="3200" dirty="0">
                <a:latin typeface="Times New Roman" panose="02020603050405020304" charset="0"/>
              </a:rPr>
              <a:t>数据流模型 </a:t>
            </a:r>
            <a:r>
              <a:rPr lang="en-US" altLang="zh-CN" sz="3200" dirty="0">
                <a:latin typeface="Times New Roman" panose="02020603050405020304" charset="0"/>
              </a:rPr>
              <a:t>Data-Flow Models</a:t>
            </a: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t>37</a:t>
            </a:fld>
            <a:endParaRPr lang="zh-CN" altLang="en-US" dirty="0"/>
          </a:p>
        </p:txBody>
      </p:sp>
      <p:sp>
        <p:nvSpPr>
          <p:cNvPr id="7" name="TextBox 3"/>
          <p:cNvSpPr txBox="1"/>
          <p:nvPr/>
        </p:nvSpPr>
        <p:spPr>
          <a:xfrm>
            <a:off x="514002" y="1435853"/>
            <a:ext cx="11163995" cy="398780"/>
          </a:xfrm>
          <a:prstGeom prst="rect">
            <a:avLst/>
          </a:prstGeom>
          <a:noFill/>
        </p:spPr>
        <p:txBody>
          <a:bodyPr wrap="square">
            <a:spAutoFit/>
          </a:bodyPr>
          <a:lstStyle/>
          <a:p>
            <a:r>
              <a:rPr lang="zh-CN" altLang="en-US" sz="2000" dirty="0"/>
              <a:t>一种非正式建模技术，用于展示数据在系统中的流动。</a:t>
            </a:r>
          </a:p>
        </p:txBody>
      </p:sp>
      <p:pic>
        <p:nvPicPr>
          <p:cNvPr id="4" name="图片 3"/>
          <p:cNvPicPr>
            <a:picLocks noChangeAspect="1"/>
          </p:cNvPicPr>
          <p:nvPr/>
        </p:nvPicPr>
        <p:blipFill>
          <a:blip r:embed="rId2"/>
          <a:stretch>
            <a:fillRect/>
          </a:stretch>
        </p:blipFill>
        <p:spPr>
          <a:xfrm>
            <a:off x="3784599" y="2112393"/>
            <a:ext cx="4622800" cy="3728439"/>
          </a:xfrm>
          <a:prstGeom prst="rect">
            <a:avLst/>
          </a:prstGeom>
        </p:spPr>
      </p:pic>
      <p:sp>
        <p:nvSpPr>
          <p:cNvPr id="6" name="矩形 5"/>
          <p:cNvSpPr/>
          <p:nvPr/>
        </p:nvSpPr>
        <p:spPr>
          <a:xfrm>
            <a:off x="5559425" y="2355215"/>
            <a:ext cx="1957705" cy="419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外部实体</a:t>
            </a:r>
          </a:p>
        </p:txBody>
      </p:sp>
      <p:sp>
        <p:nvSpPr>
          <p:cNvPr id="5" name="矩形 4"/>
          <p:cNvSpPr/>
          <p:nvPr/>
        </p:nvSpPr>
        <p:spPr>
          <a:xfrm>
            <a:off x="5602605" y="3390900"/>
            <a:ext cx="1957705" cy="419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处理步骤</a:t>
            </a:r>
          </a:p>
        </p:txBody>
      </p:sp>
      <p:sp>
        <p:nvSpPr>
          <p:cNvPr id="8" name="矩形 7"/>
          <p:cNvSpPr/>
          <p:nvPr/>
        </p:nvSpPr>
        <p:spPr>
          <a:xfrm>
            <a:off x="5400040" y="4337685"/>
            <a:ext cx="2683510" cy="419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数据存储或数据来源</a:t>
            </a:r>
          </a:p>
        </p:txBody>
      </p:sp>
      <p:sp>
        <p:nvSpPr>
          <p:cNvPr id="9" name="矩形 8"/>
          <p:cNvSpPr/>
          <p:nvPr/>
        </p:nvSpPr>
        <p:spPr>
          <a:xfrm>
            <a:off x="5381625" y="5315585"/>
            <a:ext cx="1957705" cy="419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数据流</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3200" dirty="0">
                <a:latin typeface="Times New Roman" panose="02020603050405020304" charset="0"/>
              </a:rPr>
              <a:t>数据流模型示例：大学招生</a:t>
            </a: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t>38</a:t>
            </a:fld>
            <a:endParaRPr lang="zh-CN" altLang="en-US" dirty="0"/>
          </a:p>
        </p:txBody>
      </p:sp>
      <p:pic>
        <p:nvPicPr>
          <p:cNvPr id="6" name="图片 5"/>
          <p:cNvPicPr>
            <a:picLocks noChangeAspect="1"/>
          </p:cNvPicPr>
          <p:nvPr/>
        </p:nvPicPr>
        <p:blipFill>
          <a:blip r:embed="rId2"/>
          <a:stretch>
            <a:fillRect/>
          </a:stretch>
        </p:blipFill>
        <p:spPr>
          <a:xfrm>
            <a:off x="1424809" y="1349168"/>
            <a:ext cx="9342381" cy="4159664"/>
          </a:xfrm>
          <a:prstGeom prst="rect">
            <a:avLst/>
          </a:prstGeom>
        </p:spPr>
      </p:pic>
      <p:sp>
        <p:nvSpPr>
          <p:cNvPr id="4" name="Rectangle 3"/>
          <p:cNvSpPr/>
          <p:nvPr/>
        </p:nvSpPr>
        <p:spPr>
          <a:xfrm>
            <a:off x="1719470" y="3985591"/>
            <a:ext cx="4502426" cy="15232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C00000"/>
                </a:solidFill>
              </a:rPr>
              <a:t>有问题吗</a:t>
            </a:r>
            <a:r>
              <a:rPr lang="en-US" dirty="0">
                <a:solidFill>
                  <a:srgbClr val="C00000"/>
                </a:solidFill>
              </a:rPr>
              <a:t>?</a:t>
            </a:r>
          </a:p>
        </p:txBody>
      </p:sp>
      <p:pic>
        <p:nvPicPr>
          <p:cNvPr id="7" name="图片 6"/>
          <p:cNvPicPr>
            <a:picLocks noChangeAspect="1"/>
          </p:cNvPicPr>
          <p:nvPr/>
        </p:nvPicPr>
        <p:blipFill>
          <a:blip r:embed="rId3"/>
          <a:stretch>
            <a:fillRect/>
          </a:stretch>
        </p:blipFill>
        <p:spPr>
          <a:xfrm>
            <a:off x="121920" y="3498850"/>
            <a:ext cx="3133725" cy="2857500"/>
          </a:xfrm>
          <a:prstGeom prst="rect">
            <a:avLst/>
          </a:prstGeom>
        </p:spPr>
      </p:pic>
      <p:sp>
        <p:nvSpPr>
          <p:cNvPr id="8" name="矩形 7"/>
          <p:cNvSpPr/>
          <p:nvPr/>
        </p:nvSpPr>
        <p:spPr>
          <a:xfrm>
            <a:off x="1424940" y="2835910"/>
            <a:ext cx="1242695" cy="419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申请人</a:t>
            </a:r>
          </a:p>
        </p:txBody>
      </p:sp>
      <p:sp>
        <p:nvSpPr>
          <p:cNvPr id="9" name="矩形 8"/>
          <p:cNvSpPr/>
          <p:nvPr/>
        </p:nvSpPr>
        <p:spPr>
          <a:xfrm>
            <a:off x="3255645" y="2158365"/>
            <a:ext cx="1242695" cy="7099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申请表</a:t>
            </a:r>
          </a:p>
        </p:txBody>
      </p:sp>
      <p:sp>
        <p:nvSpPr>
          <p:cNvPr id="10" name="矩形 9"/>
          <p:cNvSpPr/>
          <p:nvPr/>
        </p:nvSpPr>
        <p:spPr>
          <a:xfrm>
            <a:off x="4747895" y="2698750"/>
            <a:ext cx="1348105" cy="6432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组装申请</a:t>
            </a:r>
          </a:p>
        </p:txBody>
      </p:sp>
      <p:sp>
        <p:nvSpPr>
          <p:cNvPr id="11" name="矩形 10"/>
          <p:cNvSpPr/>
          <p:nvPr/>
        </p:nvSpPr>
        <p:spPr>
          <a:xfrm>
            <a:off x="6285230" y="2250440"/>
            <a:ext cx="1348105" cy="6432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已完成申请</a:t>
            </a:r>
          </a:p>
        </p:txBody>
      </p:sp>
      <p:sp>
        <p:nvSpPr>
          <p:cNvPr id="12" name="矩形 11"/>
          <p:cNvSpPr/>
          <p:nvPr/>
        </p:nvSpPr>
        <p:spPr>
          <a:xfrm>
            <a:off x="7822565" y="2835910"/>
            <a:ext cx="1053465" cy="419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评估</a:t>
            </a:r>
          </a:p>
        </p:txBody>
      </p:sp>
      <p:sp>
        <p:nvSpPr>
          <p:cNvPr id="13" name="矩形 12"/>
          <p:cNvSpPr/>
          <p:nvPr/>
        </p:nvSpPr>
        <p:spPr>
          <a:xfrm>
            <a:off x="8775700" y="1831340"/>
            <a:ext cx="1308735" cy="419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接受</a:t>
            </a:r>
          </a:p>
        </p:txBody>
      </p:sp>
      <p:sp>
        <p:nvSpPr>
          <p:cNvPr id="14" name="矩形 13"/>
          <p:cNvSpPr/>
          <p:nvPr/>
        </p:nvSpPr>
        <p:spPr>
          <a:xfrm>
            <a:off x="8751570" y="3909695"/>
            <a:ext cx="1242695" cy="419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拒绝</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3200" dirty="0">
                <a:latin typeface="Times New Roman" panose="02020603050405020304" charset="0"/>
              </a:rPr>
              <a:t>数据流模型示例：大学招生</a:t>
            </a: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t>39</a:t>
            </a:fld>
            <a:endParaRPr lang="zh-CN" altLang="en-US" dirty="0"/>
          </a:p>
        </p:txBody>
      </p:sp>
      <p:pic>
        <p:nvPicPr>
          <p:cNvPr id="6" name="图片 5"/>
          <p:cNvPicPr>
            <a:picLocks noChangeAspect="1"/>
          </p:cNvPicPr>
          <p:nvPr/>
        </p:nvPicPr>
        <p:blipFill>
          <a:blip r:embed="rId2"/>
          <a:stretch>
            <a:fillRect/>
          </a:stretch>
        </p:blipFill>
        <p:spPr>
          <a:xfrm>
            <a:off x="1424809" y="1349168"/>
            <a:ext cx="9342381" cy="4159664"/>
          </a:xfrm>
          <a:prstGeom prst="rect">
            <a:avLst/>
          </a:prstGeom>
        </p:spPr>
      </p:pic>
      <p:sp>
        <p:nvSpPr>
          <p:cNvPr id="4" name="矩形 3"/>
          <p:cNvSpPr/>
          <p:nvPr/>
        </p:nvSpPr>
        <p:spPr>
          <a:xfrm>
            <a:off x="2260600" y="4347845"/>
            <a:ext cx="3488055" cy="894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accent4">
                    <a:lumMod val="60000"/>
                    <a:lumOff val="40000"/>
                  </a:schemeClr>
                </a:solidFill>
              </a:rPr>
              <a:t>展示了流程，但数据究竟存储在哪里呢？还有相关的辅助信息吗？</a:t>
            </a:r>
          </a:p>
        </p:txBody>
      </p:sp>
      <p:sp>
        <p:nvSpPr>
          <p:cNvPr id="8" name="矩形 7"/>
          <p:cNvSpPr/>
          <p:nvPr/>
        </p:nvSpPr>
        <p:spPr>
          <a:xfrm>
            <a:off x="1424940" y="2846070"/>
            <a:ext cx="1242695" cy="419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申请人</a:t>
            </a:r>
          </a:p>
        </p:txBody>
      </p:sp>
      <p:sp>
        <p:nvSpPr>
          <p:cNvPr id="9" name="矩形 8"/>
          <p:cNvSpPr/>
          <p:nvPr/>
        </p:nvSpPr>
        <p:spPr>
          <a:xfrm>
            <a:off x="3255645" y="2168525"/>
            <a:ext cx="1242695" cy="7099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申请表</a:t>
            </a:r>
          </a:p>
        </p:txBody>
      </p:sp>
      <p:sp>
        <p:nvSpPr>
          <p:cNvPr id="10" name="矩形 9"/>
          <p:cNvSpPr/>
          <p:nvPr/>
        </p:nvSpPr>
        <p:spPr>
          <a:xfrm>
            <a:off x="4747895" y="2708910"/>
            <a:ext cx="1348105" cy="6432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组装申请</a:t>
            </a:r>
          </a:p>
        </p:txBody>
      </p:sp>
      <p:sp>
        <p:nvSpPr>
          <p:cNvPr id="11" name="矩形 10"/>
          <p:cNvSpPr/>
          <p:nvPr/>
        </p:nvSpPr>
        <p:spPr>
          <a:xfrm>
            <a:off x="6285230" y="2260600"/>
            <a:ext cx="1348105" cy="6432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已完成申请</a:t>
            </a:r>
          </a:p>
        </p:txBody>
      </p:sp>
      <p:sp>
        <p:nvSpPr>
          <p:cNvPr id="12" name="矩形 11"/>
          <p:cNvSpPr/>
          <p:nvPr/>
        </p:nvSpPr>
        <p:spPr>
          <a:xfrm>
            <a:off x="7822565" y="2846070"/>
            <a:ext cx="1053465" cy="419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评估</a:t>
            </a:r>
          </a:p>
        </p:txBody>
      </p:sp>
      <p:sp>
        <p:nvSpPr>
          <p:cNvPr id="13" name="矩形 12"/>
          <p:cNvSpPr/>
          <p:nvPr/>
        </p:nvSpPr>
        <p:spPr>
          <a:xfrm>
            <a:off x="8775700" y="1841500"/>
            <a:ext cx="1308735" cy="419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接受</a:t>
            </a:r>
          </a:p>
        </p:txBody>
      </p:sp>
      <p:sp>
        <p:nvSpPr>
          <p:cNvPr id="14" name="矩形 13"/>
          <p:cNvSpPr/>
          <p:nvPr/>
        </p:nvSpPr>
        <p:spPr>
          <a:xfrm>
            <a:off x="8751570" y="3919855"/>
            <a:ext cx="1242695" cy="419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拒绝</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3200" dirty="0">
                <a:latin typeface="Times New Roman" panose="02020603050405020304" charset="0"/>
              </a:rPr>
              <a:t>数据流模型示例：组装申请</a:t>
            </a: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t>40</a:t>
            </a:fld>
            <a:endParaRPr lang="zh-CN" altLang="en-US" dirty="0"/>
          </a:p>
        </p:txBody>
      </p:sp>
      <p:pic>
        <p:nvPicPr>
          <p:cNvPr id="4" name="图片 3"/>
          <p:cNvPicPr>
            <a:picLocks noChangeAspect="1"/>
          </p:cNvPicPr>
          <p:nvPr/>
        </p:nvPicPr>
        <p:blipFill>
          <a:blip r:embed="rId2"/>
          <a:stretch>
            <a:fillRect/>
          </a:stretch>
        </p:blipFill>
        <p:spPr>
          <a:xfrm>
            <a:off x="1404356" y="1306410"/>
            <a:ext cx="9383288" cy="4474630"/>
          </a:xfrm>
          <a:prstGeom prst="rect">
            <a:avLst/>
          </a:prstGeom>
        </p:spPr>
      </p:pic>
      <p:sp>
        <p:nvSpPr>
          <p:cNvPr id="6" name="Rectangle 5"/>
          <p:cNvSpPr/>
          <p:nvPr/>
        </p:nvSpPr>
        <p:spPr>
          <a:xfrm>
            <a:off x="5504743" y="4299640"/>
            <a:ext cx="2716039" cy="10954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C00000"/>
                </a:solidFill>
              </a:rPr>
              <a:t>有问题吗</a:t>
            </a:r>
            <a:r>
              <a:rPr lang="en-US" dirty="0">
                <a:solidFill>
                  <a:srgbClr val="C00000"/>
                </a:solidFill>
              </a:rPr>
              <a:t>?</a:t>
            </a:r>
          </a:p>
        </p:txBody>
      </p:sp>
      <p:pic>
        <p:nvPicPr>
          <p:cNvPr id="7" name="图片 6"/>
          <p:cNvPicPr>
            <a:picLocks noChangeAspect="1"/>
          </p:cNvPicPr>
          <p:nvPr/>
        </p:nvPicPr>
        <p:blipFill>
          <a:blip r:embed="rId3"/>
          <a:stretch>
            <a:fillRect/>
          </a:stretch>
        </p:blipFill>
        <p:spPr>
          <a:xfrm>
            <a:off x="0" y="4250689"/>
            <a:ext cx="2176272" cy="1984741"/>
          </a:xfrm>
          <a:prstGeom prst="rect">
            <a:avLst/>
          </a:prstGeom>
        </p:spPr>
      </p:pic>
      <p:sp>
        <p:nvSpPr>
          <p:cNvPr id="8" name="矩形 7"/>
          <p:cNvSpPr/>
          <p:nvPr/>
        </p:nvSpPr>
        <p:spPr>
          <a:xfrm>
            <a:off x="1804035" y="3081020"/>
            <a:ext cx="1242695" cy="419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申请人</a:t>
            </a:r>
          </a:p>
        </p:txBody>
      </p:sp>
      <p:sp>
        <p:nvSpPr>
          <p:cNvPr id="9" name="圆角矩形 8"/>
          <p:cNvSpPr/>
          <p:nvPr/>
        </p:nvSpPr>
        <p:spPr>
          <a:xfrm>
            <a:off x="2785745" y="2004695"/>
            <a:ext cx="1170940" cy="75057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申请表</a:t>
            </a:r>
          </a:p>
        </p:txBody>
      </p:sp>
      <p:sp>
        <p:nvSpPr>
          <p:cNvPr id="11" name="矩形 10"/>
          <p:cNvSpPr/>
          <p:nvPr/>
        </p:nvSpPr>
        <p:spPr>
          <a:xfrm>
            <a:off x="5371465" y="2366010"/>
            <a:ext cx="1317625" cy="6432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已完成</a:t>
            </a:r>
          </a:p>
          <a:p>
            <a:pPr algn="ctr"/>
            <a:r>
              <a:rPr lang="zh-CN" altLang="en-US" b="1">
                <a:solidFill>
                  <a:schemeClr val="tx1"/>
                </a:solidFill>
              </a:rPr>
              <a:t>申请</a:t>
            </a:r>
          </a:p>
        </p:txBody>
      </p:sp>
      <p:sp>
        <p:nvSpPr>
          <p:cNvPr id="12" name="圆角矩形 11"/>
          <p:cNvSpPr/>
          <p:nvPr/>
        </p:nvSpPr>
        <p:spPr>
          <a:xfrm>
            <a:off x="4641850" y="1725295"/>
            <a:ext cx="1732915" cy="48006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回执</a:t>
            </a:r>
          </a:p>
        </p:txBody>
      </p:sp>
      <p:sp>
        <p:nvSpPr>
          <p:cNvPr id="13" name="圆角矩形 12"/>
          <p:cNvSpPr/>
          <p:nvPr/>
        </p:nvSpPr>
        <p:spPr>
          <a:xfrm>
            <a:off x="7479030" y="1725295"/>
            <a:ext cx="1732915" cy="48006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回执</a:t>
            </a:r>
          </a:p>
        </p:txBody>
      </p:sp>
      <p:sp>
        <p:nvSpPr>
          <p:cNvPr id="14" name="矩形 13"/>
          <p:cNvSpPr/>
          <p:nvPr/>
        </p:nvSpPr>
        <p:spPr>
          <a:xfrm>
            <a:off x="3956685" y="2755265"/>
            <a:ext cx="1317625" cy="6432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接收申请</a:t>
            </a:r>
          </a:p>
        </p:txBody>
      </p:sp>
      <p:sp>
        <p:nvSpPr>
          <p:cNvPr id="15" name="矩形 14"/>
          <p:cNvSpPr/>
          <p:nvPr/>
        </p:nvSpPr>
        <p:spPr>
          <a:xfrm>
            <a:off x="8433435" y="2366010"/>
            <a:ext cx="1317625" cy="6432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评估请求</a:t>
            </a:r>
          </a:p>
        </p:txBody>
      </p:sp>
      <p:sp>
        <p:nvSpPr>
          <p:cNvPr id="16" name="矩形 15"/>
          <p:cNvSpPr/>
          <p:nvPr/>
        </p:nvSpPr>
        <p:spPr>
          <a:xfrm>
            <a:off x="6786245" y="2755265"/>
            <a:ext cx="1317625" cy="6432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开始评估</a:t>
            </a:r>
          </a:p>
        </p:txBody>
      </p:sp>
      <p:sp>
        <p:nvSpPr>
          <p:cNvPr id="17" name="矩形 16"/>
          <p:cNvSpPr/>
          <p:nvPr/>
        </p:nvSpPr>
        <p:spPr>
          <a:xfrm>
            <a:off x="3956685" y="5002530"/>
            <a:ext cx="1317625" cy="6432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待处理</a:t>
            </a:r>
          </a:p>
          <a:p>
            <a:pPr algn="ctr"/>
            <a:r>
              <a:rPr lang="zh-CN" altLang="en-US" b="1">
                <a:solidFill>
                  <a:schemeClr val="tx1"/>
                </a:solidFill>
              </a:rPr>
              <a:t>数据库</a:t>
            </a:r>
          </a:p>
        </p:txBody>
      </p:sp>
      <p:sp>
        <p:nvSpPr>
          <p:cNvPr id="18" name="矩形 17"/>
          <p:cNvSpPr/>
          <p:nvPr/>
        </p:nvSpPr>
        <p:spPr>
          <a:xfrm>
            <a:off x="8451215" y="4897755"/>
            <a:ext cx="1317625" cy="6432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申请人</a:t>
            </a:r>
          </a:p>
          <a:p>
            <a:pPr algn="ctr"/>
            <a:r>
              <a:rPr lang="zh-CN" altLang="en-US" b="1">
                <a:solidFill>
                  <a:schemeClr val="tx1"/>
                </a:solidFill>
              </a:rPr>
              <a:t>数据库</a:t>
            </a:r>
          </a:p>
        </p:txBody>
      </p:sp>
      <p:sp>
        <p:nvSpPr>
          <p:cNvPr id="19" name="六边形 18"/>
          <p:cNvSpPr/>
          <p:nvPr/>
        </p:nvSpPr>
        <p:spPr>
          <a:xfrm>
            <a:off x="1708785" y="3710305"/>
            <a:ext cx="1399540" cy="643255"/>
          </a:xfrm>
          <a:prstGeom prst="hexag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支持性</a:t>
            </a:r>
          </a:p>
          <a:p>
            <a:pPr algn="ctr"/>
            <a:r>
              <a:rPr lang="zh-CN" altLang="en-US" b="1">
                <a:solidFill>
                  <a:schemeClr val="tx1"/>
                </a:solidFill>
              </a:rPr>
              <a:t>文件</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3200" dirty="0">
                <a:latin typeface="Times New Roman" panose="02020603050405020304" charset="0"/>
              </a:rPr>
              <a:t>数据流模型示例：组装申请</a:t>
            </a: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t>41</a:t>
            </a:fld>
            <a:endParaRPr lang="zh-CN" altLang="en-US" dirty="0"/>
          </a:p>
        </p:txBody>
      </p:sp>
      <p:pic>
        <p:nvPicPr>
          <p:cNvPr id="4" name="图片 3"/>
          <p:cNvPicPr>
            <a:picLocks noChangeAspect="1"/>
          </p:cNvPicPr>
          <p:nvPr/>
        </p:nvPicPr>
        <p:blipFill>
          <a:blip r:embed="rId2"/>
          <a:stretch>
            <a:fillRect/>
          </a:stretch>
        </p:blipFill>
        <p:spPr>
          <a:xfrm>
            <a:off x="1404356" y="1306410"/>
            <a:ext cx="9383288" cy="4474630"/>
          </a:xfrm>
          <a:prstGeom prst="rect">
            <a:avLst/>
          </a:prstGeom>
        </p:spPr>
      </p:pic>
      <p:pic>
        <p:nvPicPr>
          <p:cNvPr id="6" name="图片 5"/>
          <p:cNvPicPr>
            <a:picLocks noChangeAspect="1"/>
          </p:cNvPicPr>
          <p:nvPr/>
        </p:nvPicPr>
        <p:blipFill>
          <a:blip r:embed="rId3"/>
          <a:stretch>
            <a:fillRect/>
          </a:stretch>
        </p:blipFill>
        <p:spPr>
          <a:xfrm>
            <a:off x="8637" y="4292600"/>
            <a:ext cx="2223940" cy="2028190"/>
          </a:xfrm>
          <a:prstGeom prst="rect">
            <a:avLst/>
          </a:prstGeom>
        </p:spPr>
      </p:pic>
      <p:sp>
        <p:nvSpPr>
          <p:cNvPr id="7" name="Rectangle 5"/>
          <p:cNvSpPr/>
          <p:nvPr/>
        </p:nvSpPr>
        <p:spPr>
          <a:xfrm>
            <a:off x="5725160" y="4445635"/>
            <a:ext cx="2440305" cy="8401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C00000"/>
                </a:solidFill>
              </a:rPr>
              <a:t>这个模型能覆盖所有情况吗</a:t>
            </a:r>
            <a:r>
              <a:rPr lang="en-US" dirty="0">
                <a:solidFill>
                  <a:srgbClr val="C00000"/>
                </a:solidFill>
              </a:rPr>
              <a:t>?</a:t>
            </a:r>
            <a:r>
              <a:rPr lang="zh-CN" altLang="en-US" dirty="0">
                <a:solidFill>
                  <a:srgbClr val="C00000"/>
                </a:solidFill>
              </a:rPr>
              <a:t>有没有特殊情况？</a:t>
            </a:r>
          </a:p>
        </p:txBody>
      </p:sp>
      <p:sp>
        <p:nvSpPr>
          <p:cNvPr id="8" name="矩形 7"/>
          <p:cNvSpPr/>
          <p:nvPr/>
        </p:nvSpPr>
        <p:spPr>
          <a:xfrm>
            <a:off x="1804035" y="3081020"/>
            <a:ext cx="1242695" cy="419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申请人</a:t>
            </a:r>
          </a:p>
        </p:txBody>
      </p:sp>
      <p:sp>
        <p:nvSpPr>
          <p:cNvPr id="9" name="圆角矩形 8"/>
          <p:cNvSpPr/>
          <p:nvPr/>
        </p:nvSpPr>
        <p:spPr>
          <a:xfrm>
            <a:off x="2785745" y="2004695"/>
            <a:ext cx="1170940" cy="75057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申请表</a:t>
            </a:r>
          </a:p>
        </p:txBody>
      </p:sp>
      <p:sp>
        <p:nvSpPr>
          <p:cNvPr id="11" name="矩形 10"/>
          <p:cNvSpPr/>
          <p:nvPr/>
        </p:nvSpPr>
        <p:spPr>
          <a:xfrm>
            <a:off x="5371465" y="2366010"/>
            <a:ext cx="1317625" cy="6432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已完成</a:t>
            </a:r>
          </a:p>
          <a:p>
            <a:pPr algn="ctr"/>
            <a:r>
              <a:rPr lang="zh-CN" altLang="en-US" b="1">
                <a:solidFill>
                  <a:schemeClr val="tx1"/>
                </a:solidFill>
              </a:rPr>
              <a:t>申请</a:t>
            </a:r>
          </a:p>
        </p:txBody>
      </p:sp>
      <p:sp>
        <p:nvSpPr>
          <p:cNvPr id="12" name="圆角矩形 11"/>
          <p:cNvSpPr/>
          <p:nvPr/>
        </p:nvSpPr>
        <p:spPr>
          <a:xfrm>
            <a:off x="4641850" y="1725295"/>
            <a:ext cx="1732915" cy="48006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回执</a:t>
            </a:r>
          </a:p>
        </p:txBody>
      </p:sp>
      <p:sp>
        <p:nvSpPr>
          <p:cNvPr id="13" name="圆角矩形 12"/>
          <p:cNvSpPr/>
          <p:nvPr/>
        </p:nvSpPr>
        <p:spPr>
          <a:xfrm>
            <a:off x="7479030" y="1725295"/>
            <a:ext cx="1732915" cy="48006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回执</a:t>
            </a:r>
          </a:p>
        </p:txBody>
      </p:sp>
      <p:sp>
        <p:nvSpPr>
          <p:cNvPr id="14" name="矩形 13"/>
          <p:cNvSpPr/>
          <p:nvPr/>
        </p:nvSpPr>
        <p:spPr>
          <a:xfrm>
            <a:off x="3956685" y="2755265"/>
            <a:ext cx="1317625" cy="6432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接收申请</a:t>
            </a:r>
          </a:p>
        </p:txBody>
      </p:sp>
      <p:sp>
        <p:nvSpPr>
          <p:cNvPr id="15" name="矩形 14"/>
          <p:cNvSpPr/>
          <p:nvPr/>
        </p:nvSpPr>
        <p:spPr>
          <a:xfrm>
            <a:off x="8433435" y="2366010"/>
            <a:ext cx="1317625" cy="6432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评估请求</a:t>
            </a:r>
          </a:p>
        </p:txBody>
      </p:sp>
      <p:sp>
        <p:nvSpPr>
          <p:cNvPr id="16" name="矩形 15"/>
          <p:cNvSpPr/>
          <p:nvPr/>
        </p:nvSpPr>
        <p:spPr>
          <a:xfrm>
            <a:off x="6786245" y="2755265"/>
            <a:ext cx="1317625" cy="6432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开始评估</a:t>
            </a:r>
          </a:p>
        </p:txBody>
      </p:sp>
      <p:sp>
        <p:nvSpPr>
          <p:cNvPr id="17" name="矩形 16"/>
          <p:cNvSpPr/>
          <p:nvPr/>
        </p:nvSpPr>
        <p:spPr>
          <a:xfrm>
            <a:off x="3956685" y="5002530"/>
            <a:ext cx="1317625" cy="6432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待处理</a:t>
            </a:r>
          </a:p>
          <a:p>
            <a:pPr algn="ctr"/>
            <a:r>
              <a:rPr lang="zh-CN" altLang="en-US" b="1">
                <a:solidFill>
                  <a:schemeClr val="tx1"/>
                </a:solidFill>
              </a:rPr>
              <a:t>数据库</a:t>
            </a:r>
          </a:p>
        </p:txBody>
      </p:sp>
      <p:sp>
        <p:nvSpPr>
          <p:cNvPr id="18" name="矩形 17"/>
          <p:cNvSpPr/>
          <p:nvPr/>
        </p:nvSpPr>
        <p:spPr>
          <a:xfrm>
            <a:off x="8451215" y="4897755"/>
            <a:ext cx="1317625" cy="6432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申请人</a:t>
            </a:r>
          </a:p>
          <a:p>
            <a:pPr algn="ctr"/>
            <a:r>
              <a:rPr lang="zh-CN" altLang="en-US" b="1">
                <a:solidFill>
                  <a:schemeClr val="tx1"/>
                </a:solidFill>
              </a:rPr>
              <a:t>数据库</a:t>
            </a:r>
          </a:p>
        </p:txBody>
      </p:sp>
      <p:sp>
        <p:nvSpPr>
          <p:cNvPr id="19" name="六边形 18"/>
          <p:cNvSpPr/>
          <p:nvPr/>
        </p:nvSpPr>
        <p:spPr>
          <a:xfrm>
            <a:off x="1708785" y="3710305"/>
            <a:ext cx="1399540" cy="643255"/>
          </a:xfrm>
          <a:prstGeom prst="hexag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支持性</a:t>
            </a:r>
          </a:p>
          <a:p>
            <a:pPr algn="ctr"/>
            <a:r>
              <a:rPr lang="zh-CN" altLang="en-US" b="1">
                <a:solidFill>
                  <a:schemeClr val="tx1"/>
                </a:solidFill>
              </a:rPr>
              <a:t>文件</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3200" dirty="0">
                <a:latin typeface="Times New Roman" panose="02020603050405020304" charset="0"/>
              </a:rPr>
              <a:t>数据流模型示例：处理完成的申请</a:t>
            </a: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t>42</a:t>
            </a:fld>
            <a:endParaRPr lang="zh-CN" altLang="en-US" dirty="0"/>
          </a:p>
        </p:txBody>
      </p:sp>
      <p:pic>
        <p:nvPicPr>
          <p:cNvPr id="4" name="图片 3"/>
          <p:cNvPicPr>
            <a:picLocks noChangeAspect="1"/>
          </p:cNvPicPr>
          <p:nvPr/>
        </p:nvPicPr>
        <p:blipFill>
          <a:blip r:embed="rId2"/>
          <a:stretch>
            <a:fillRect/>
          </a:stretch>
        </p:blipFill>
        <p:spPr>
          <a:xfrm>
            <a:off x="1811611" y="1128068"/>
            <a:ext cx="8568778" cy="4774892"/>
          </a:xfrm>
          <a:prstGeom prst="rect">
            <a:avLst/>
          </a:prstGeom>
        </p:spPr>
      </p:pic>
      <p:sp>
        <p:nvSpPr>
          <p:cNvPr id="7" name="Rectangle 6"/>
          <p:cNvSpPr/>
          <p:nvPr/>
        </p:nvSpPr>
        <p:spPr>
          <a:xfrm>
            <a:off x="8202439" y="5268205"/>
            <a:ext cx="3639493" cy="4527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C00000"/>
                </a:solidFill>
              </a:rPr>
              <a:t>何时使用数据流模型</a:t>
            </a:r>
            <a:r>
              <a:rPr lang="en-US" dirty="0">
                <a:solidFill>
                  <a:srgbClr val="C00000"/>
                </a:solidFill>
              </a:rPr>
              <a:t>?</a:t>
            </a:r>
          </a:p>
        </p:txBody>
      </p:sp>
      <p:pic>
        <p:nvPicPr>
          <p:cNvPr id="6" name="图片 5"/>
          <p:cNvPicPr>
            <a:picLocks noChangeAspect="1"/>
          </p:cNvPicPr>
          <p:nvPr/>
        </p:nvPicPr>
        <p:blipFill>
          <a:blip r:embed="rId3"/>
          <a:stretch>
            <a:fillRect/>
          </a:stretch>
        </p:blipFill>
        <p:spPr>
          <a:xfrm>
            <a:off x="0" y="3992245"/>
            <a:ext cx="2424430" cy="2211070"/>
          </a:xfrm>
          <a:prstGeom prst="rect">
            <a:avLst/>
          </a:prstGeom>
        </p:spPr>
      </p:pic>
      <p:sp>
        <p:nvSpPr>
          <p:cNvPr id="8" name="Rectangle 5"/>
          <p:cNvSpPr/>
          <p:nvPr/>
        </p:nvSpPr>
        <p:spPr>
          <a:xfrm>
            <a:off x="2247900" y="1285875"/>
            <a:ext cx="3422650" cy="8401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C00000"/>
                </a:solidFill>
              </a:rPr>
              <a:t>这些要求需要包含对决策过程的描述</a:t>
            </a:r>
          </a:p>
        </p:txBody>
      </p:sp>
      <p:sp>
        <p:nvSpPr>
          <p:cNvPr id="15" name="矩形 14"/>
          <p:cNvSpPr/>
          <p:nvPr/>
        </p:nvSpPr>
        <p:spPr>
          <a:xfrm>
            <a:off x="2247900" y="2540000"/>
            <a:ext cx="1317625" cy="6432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评估请求</a:t>
            </a:r>
          </a:p>
        </p:txBody>
      </p:sp>
      <p:sp>
        <p:nvSpPr>
          <p:cNvPr id="9" name="矩形 8"/>
          <p:cNvSpPr/>
          <p:nvPr/>
        </p:nvSpPr>
        <p:spPr>
          <a:xfrm>
            <a:off x="4322445" y="3087370"/>
            <a:ext cx="1317625" cy="6432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评估</a:t>
            </a:r>
          </a:p>
        </p:txBody>
      </p:sp>
      <p:sp>
        <p:nvSpPr>
          <p:cNvPr id="13" name="矩形 12"/>
          <p:cNvSpPr/>
          <p:nvPr/>
        </p:nvSpPr>
        <p:spPr>
          <a:xfrm>
            <a:off x="5901690" y="2945130"/>
            <a:ext cx="1308735" cy="419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接受</a:t>
            </a:r>
          </a:p>
        </p:txBody>
      </p:sp>
      <p:sp>
        <p:nvSpPr>
          <p:cNvPr id="14" name="矩形 13"/>
          <p:cNvSpPr/>
          <p:nvPr/>
        </p:nvSpPr>
        <p:spPr>
          <a:xfrm>
            <a:off x="6573520" y="2282190"/>
            <a:ext cx="1242695" cy="419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拒绝</a:t>
            </a:r>
          </a:p>
        </p:txBody>
      </p:sp>
      <p:sp>
        <p:nvSpPr>
          <p:cNvPr id="18" name="矩形 17"/>
          <p:cNvSpPr/>
          <p:nvPr/>
        </p:nvSpPr>
        <p:spPr>
          <a:xfrm>
            <a:off x="5901690" y="5046980"/>
            <a:ext cx="1317625" cy="6432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申请人</a:t>
            </a:r>
          </a:p>
          <a:p>
            <a:pPr algn="ctr"/>
            <a:r>
              <a:rPr lang="zh-CN" altLang="en-US" b="1">
                <a:solidFill>
                  <a:schemeClr val="tx1"/>
                </a:solidFill>
              </a:rPr>
              <a:t>数据库</a:t>
            </a:r>
          </a:p>
        </p:txBody>
      </p:sp>
      <p:sp>
        <p:nvSpPr>
          <p:cNvPr id="11" name="矩形 10"/>
          <p:cNvSpPr/>
          <p:nvPr/>
        </p:nvSpPr>
        <p:spPr>
          <a:xfrm>
            <a:off x="2493010" y="4077970"/>
            <a:ext cx="1031875" cy="6432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特殊</a:t>
            </a:r>
          </a:p>
          <a:p>
            <a:pPr algn="ctr"/>
            <a:r>
              <a:rPr lang="zh-CN" altLang="en-US" b="1">
                <a:solidFill>
                  <a:schemeClr val="tx1"/>
                </a:solidFill>
              </a:rPr>
              <a:t>请求</a:t>
            </a:r>
          </a:p>
        </p:txBody>
      </p:sp>
      <p:sp>
        <p:nvSpPr>
          <p:cNvPr id="12" name="矩形 11"/>
          <p:cNvSpPr/>
          <p:nvPr/>
        </p:nvSpPr>
        <p:spPr>
          <a:xfrm>
            <a:off x="8963660" y="2928620"/>
            <a:ext cx="827405" cy="4356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提供</a:t>
            </a:r>
          </a:p>
        </p:txBody>
      </p:sp>
      <p:sp>
        <p:nvSpPr>
          <p:cNvPr id="16" name="矩形 15"/>
          <p:cNvSpPr/>
          <p:nvPr/>
        </p:nvSpPr>
        <p:spPr>
          <a:xfrm>
            <a:off x="7578725" y="3087370"/>
            <a:ext cx="1317625" cy="6432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财政援助</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zh-CN" altLang="en-US" sz="3200" dirty="0">
                <a:latin typeface="Times New Roman" panose="02020603050405020304" charset="0"/>
              </a:rPr>
              <a:t>决策表模型</a:t>
            </a: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t>43</a:t>
            </a:fld>
            <a:endParaRPr lang="zh-CN" altLang="en-US" dirty="0"/>
          </a:p>
        </p:txBody>
      </p:sp>
      <p:sp>
        <p:nvSpPr>
          <p:cNvPr id="7" name="TextBox 3"/>
          <p:cNvSpPr txBox="1"/>
          <p:nvPr/>
        </p:nvSpPr>
        <p:spPr>
          <a:xfrm>
            <a:off x="514002" y="988788"/>
            <a:ext cx="11163995" cy="398780"/>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20204" pitchFamily="34" charset="0"/>
              </a:rPr>
              <a:t>大学录取决策</a:t>
            </a:r>
          </a:p>
        </p:txBody>
      </p:sp>
      <p:pic>
        <p:nvPicPr>
          <p:cNvPr id="4" name="图片 3"/>
          <p:cNvPicPr>
            <a:picLocks noChangeAspect="1"/>
          </p:cNvPicPr>
          <p:nvPr/>
        </p:nvPicPr>
        <p:blipFill>
          <a:blip r:embed="rId2"/>
          <a:stretch>
            <a:fillRect/>
          </a:stretch>
        </p:blipFill>
        <p:spPr>
          <a:xfrm>
            <a:off x="1949212" y="1431788"/>
            <a:ext cx="8293574" cy="3434146"/>
          </a:xfrm>
          <a:prstGeom prst="rect">
            <a:avLst/>
          </a:prstGeom>
        </p:spPr>
      </p:pic>
      <p:sp>
        <p:nvSpPr>
          <p:cNvPr id="6" name="文本框 5"/>
          <p:cNvSpPr txBox="1"/>
          <p:nvPr/>
        </p:nvSpPr>
        <p:spPr>
          <a:xfrm>
            <a:off x="514002" y="4949422"/>
            <a:ext cx="9550399" cy="1014730"/>
          </a:xfrm>
          <a:prstGeom prst="rect">
            <a:avLst/>
          </a:prstGeom>
          <a:noFill/>
        </p:spPr>
        <p:txBody>
          <a:bodyPr wrap="square">
            <a:spAutoFit/>
          </a:bodyPr>
          <a:lstStyle/>
          <a:p>
            <a:r>
              <a:rPr lang="zh-CN" altLang="en-US" sz="2000" dirty="0">
                <a:solidFill>
                  <a:srgbClr val="C00000"/>
                </a:solidFill>
              </a:rPr>
              <a:t>每一列是一个单独的决策案例。列从左到右处理。请注意，规则是具体且可测试的。</a:t>
            </a:r>
          </a:p>
          <a:p>
            <a:endParaRPr lang="en-US" altLang="zh-CN" sz="2000" dirty="0">
              <a:solidFill>
                <a:srgbClr val="C00000"/>
              </a:solidFill>
            </a:endParaRPr>
          </a:p>
          <a:p>
            <a:r>
              <a:rPr lang="zh-CN" altLang="en-US" sz="2000" dirty="0">
                <a:solidFill>
                  <a:srgbClr val="C00000"/>
                </a:solidFill>
              </a:rPr>
              <a:t>回想一下你之前学过的任何模型？</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zh-CN" altLang="en-US" sz="3200" dirty="0">
                <a:latin typeface="Times New Roman" panose="02020603050405020304" charset="0"/>
              </a:rPr>
              <a:t>流程图模型</a:t>
            </a: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t>44</a:t>
            </a:fld>
            <a:endParaRPr lang="zh-CN" altLang="en-US" dirty="0"/>
          </a:p>
        </p:txBody>
      </p:sp>
      <p:sp>
        <p:nvSpPr>
          <p:cNvPr id="7" name="TextBox 3"/>
          <p:cNvSpPr txBox="1"/>
          <p:nvPr/>
        </p:nvSpPr>
        <p:spPr>
          <a:xfrm>
            <a:off x="572375" y="1364733"/>
            <a:ext cx="11163995" cy="398780"/>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20204" pitchFamily="34" charset="0"/>
              </a:rPr>
              <a:t>一种非正式建模技术，用于展示系统部分逻辑以及数据在系统中经过的路径。</a:t>
            </a:r>
          </a:p>
        </p:txBody>
      </p:sp>
      <p:pic>
        <p:nvPicPr>
          <p:cNvPr id="5" name="图片 4"/>
          <p:cNvPicPr>
            <a:picLocks noChangeAspect="1"/>
          </p:cNvPicPr>
          <p:nvPr/>
        </p:nvPicPr>
        <p:blipFill>
          <a:blip r:embed="rId2"/>
          <a:stretch>
            <a:fillRect/>
          </a:stretch>
        </p:blipFill>
        <p:spPr>
          <a:xfrm>
            <a:off x="3955120" y="2072619"/>
            <a:ext cx="4281759" cy="3862189"/>
          </a:xfrm>
          <a:prstGeom prst="rect">
            <a:avLst/>
          </a:prstGeom>
        </p:spPr>
      </p:pic>
      <p:sp>
        <p:nvSpPr>
          <p:cNvPr id="6" name="矩形 5"/>
          <p:cNvSpPr/>
          <p:nvPr/>
        </p:nvSpPr>
        <p:spPr>
          <a:xfrm>
            <a:off x="5559425" y="2355215"/>
            <a:ext cx="1957705" cy="419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操作</a:t>
            </a:r>
          </a:p>
        </p:txBody>
      </p:sp>
      <p:sp>
        <p:nvSpPr>
          <p:cNvPr id="4" name="矩形 3"/>
          <p:cNvSpPr/>
          <p:nvPr/>
        </p:nvSpPr>
        <p:spPr>
          <a:xfrm>
            <a:off x="5602605" y="3390900"/>
            <a:ext cx="1957705" cy="419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选择</a:t>
            </a:r>
          </a:p>
        </p:txBody>
      </p:sp>
      <p:sp>
        <p:nvSpPr>
          <p:cNvPr id="8" name="矩形 7"/>
          <p:cNvSpPr/>
          <p:nvPr/>
        </p:nvSpPr>
        <p:spPr>
          <a:xfrm>
            <a:off x="5400040" y="4337685"/>
            <a:ext cx="2683510" cy="419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手动操作</a:t>
            </a:r>
          </a:p>
        </p:txBody>
      </p:sp>
      <p:sp>
        <p:nvSpPr>
          <p:cNvPr id="9" name="矩形 8"/>
          <p:cNvSpPr/>
          <p:nvPr/>
        </p:nvSpPr>
        <p:spPr>
          <a:xfrm>
            <a:off x="5602605" y="5284470"/>
            <a:ext cx="1957705" cy="419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报告</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10318867" cy="790865"/>
          </a:xfrm>
        </p:spPr>
        <p:txBody>
          <a:bodyPr>
            <a:normAutofit/>
          </a:bodyPr>
          <a:lstStyle/>
          <a:p>
            <a:r>
              <a:rPr lang="zh-CN" altLang="en-US" dirty="0">
                <a:latin typeface="Times New Roman" panose="02020603050405020304" charset="0"/>
                <a:sym typeface="+mn-ea"/>
              </a:rPr>
              <a:t>示例：大学招生</a:t>
            </a:r>
            <a:r>
              <a:rPr lang="en-US" altLang="zh-CN" dirty="0">
                <a:latin typeface="Times New Roman" panose="02020603050405020304" charset="0"/>
                <a:sym typeface="+mn-ea"/>
              </a:rPr>
              <a:t> - </a:t>
            </a:r>
            <a:r>
              <a:rPr lang="zh-CN" altLang="en-US" dirty="0">
                <a:latin typeface="Times New Roman" panose="02020603050405020304" charset="0"/>
                <a:sym typeface="+mn-ea"/>
              </a:rPr>
              <a:t>组装申请</a:t>
            </a:r>
            <a:endParaRPr 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t>45</a:t>
            </a:fld>
            <a:endParaRPr lang="zh-CN" altLang="en-US" dirty="0"/>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82756" y="1480931"/>
            <a:ext cx="9569711" cy="4747710"/>
          </a:xfrm>
          <a:prstGeom prst="rect">
            <a:avLst/>
          </a:prstGeom>
        </p:spPr>
      </p:pic>
      <p:sp>
        <p:nvSpPr>
          <p:cNvPr id="6" name="Rectangle 5"/>
          <p:cNvSpPr/>
          <p:nvPr/>
        </p:nvSpPr>
        <p:spPr>
          <a:xfrm>
            <a:off x="6096000" y="4373217"/>
            <a:ext cx="3041926" cy="18554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C00000"/>
                </a:solidFill>
                <a:sym typeface="+mn-ea"/>
              </a:rPr>
              <a:t>何时使用流程图？</a:t>
            </a:r>
            <a:endParaRPr lang="en-US" dirty="0">
              <a:solidFill>
                <a:srgbClr val="C00000"/>
              </a:solidFill>
            </a:endParaRPr>
          </a:p>
        </p:txBody>
      </p:sp>
      <p:pic>
        <p:nvPicPr>
          <p:cNvPr id="7" name="图片 6"/>
          <p:cNvPicPr>
            <a:picLocks noChangeAspect="1"/>
          </p:cNvPicPr>
          <p:nvPr/>
        </p:nvPicPr>
        <p:blipFill>
          <a:blip r:embed="rId3"/>
          <a:stretch>
            <a:fillRect/>
          </a:stretch>
        </p:blipFill>
        <p:spPr>
          <a:xfrm>
            <a:off x="208280" y="3429000"/>
            <a:ext cx="2321560" cy="2578100"/>
          </a:xfrm>
          <a:prstGeom prst="rect">
            <a:avLst/>
          </a:prstGeom>
        </p:spPr>
      </p:pic>
      <p:sp>
        <p:nvSpPr>
          <p:cNvPr id="9" name="流程图: 手动操作 8"/>
          <p:cNvSpPr/>
          <p:nvPr/>
        </p:nvSpPr>
        <p:spPr>
          <a:xfrm>
            <a:off x="2052320" y="2182495"/>
            <a:ext cx="1317625" cy="602615"/>
          </a:xfrm>
          <a:prstGeom prst="flowChartManualOperati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表格接收</a:t>
            </a:r>
          </a:p>
        </p:txBody>
      </p:sp>
      <p:sp>
        <p:nvSpPr>
          <p:cNvPr id="10" name="矩形 9"/>
          <p:cNvSpPr/>
          <p:nvPr/>
        </p:nvSpPr>
        <p:spPr>
          <a:xfrm>
            <a:off x="3596640" y="1574165"/>
            <a:ext cx="1317625" cy="6432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新申请？</a:t>
            </a:r>
          </a:p>
        </p:txBody>
      </p:sp>
      <p:sp>
        <p:nvSpPr>
          <p:cNvPr id="11" name="矩形 10"/>
          <p:cNvSpPr/>
          <p:nvPr/>
        </p:nvSpPr>
        <p:spPr>
          <a:xfrm>
            <a:off x="6957695" y="1574165"/>
            <a:ext cx="1317625" cy="6432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申请完成？</a:t>
            </a:r>
          </a:p>
        </p:txBody>
      </p:sp>
      <p:sp>
        <p:nvSpPr>
          <p:cNvPr id="12" name="矩形 11"/>
          <p:cNvSpPr/>
          <p:nvPr/>
        </p:nvSpPr>
        <p:spPr>
          <a:xfrm>
            <a:off x="5441950" y="2217420"/>
            <a:ext cx="978535" cy="6432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更新</a:t>
            </a:r>
          </a:p>
          <a:p>
            <a:pPr algn="ctr"/>
            <a:r>
              <a:rPr lang="zh-CN" altLang="en-US" b="1">
                <a:solidFill>
                  <a:schemeClr val="tx1"/>
                </a:solidFill>
              </a:rPr>
              <a:t>数据库</a:t>
            </a:r>
          </a:p>
        </p:txBody>
      </p:sp>
      <p:sp>
        <p:nvSpPr>
          <p:cNvPr id="13" name="矩形 12"/>
          <p:cNvSpPr/>
          <p:nvPr/>
        </p:nvSpPr>
        <p:spPr>
          <a:xfrm>
            <a:off x="3586480" y="3429000"/>
            <a:ext cx="1409065" cy="6432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tx1"/>
              </a:solidFill>
            </a:endParaRPr>
          </a:p>
        </p:txBody>
      </p:sp>
      <p:sp>
        <p:nvSpPr>
          <p:cNvPr id="14" name="矩形 13"/>
          <p:cNvSpPr/>
          <p:nvPr/>
        </p:nvSpPr>
        <p:spPr>
          <a:xfrm>
            <a:off x="3596640" y="3398520"/>
            <a:ext cx="1317625" cy="704215"/>
          </a:xfrm>
          <a:prstGeom prst="rect">
            <a:avLst/>
          </a:prstGeom>
          <a:solidFill>
            <a:schemeClr val="bg1"/>
          </a:solidFill>
          <a:ln w="28575">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新的数据库记录</a:t>
            </a:r>
          </a:p>
        </p:txBody>
      </p:sp>
      <p:sp>
        <p:nvSpPr>
          <p:cNvPr id="15" name="矩形 14"/>
          <p:cNvSpPr/>
          <p:nvPr/>
        </p:nvSpPr>
        <p:spPr>
          <a:xfrm>
            <a:off x="3743960" y="4514215"/>
            <a:ext cx="1181735" cy="5822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通知学生</a:t>
            </a:r>
          </a:p>
        </p:txBody>
      </p:sp>
      <p:sp>
        <p:nvSpPr>
          <p:cNvPr id="16" name="矩形 15"/>
          <p:cNvSpPr/>
          <p:nvPr/>
        </p:nvSpPr>
        <p:spPr>
          <a:xfrm>
            <a:off x="7093585" y="3219450"/>
            <a:ext cx="1181735" cy="5822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通知学生</a:t>
            </a:r>
          </a:p>
        </p:txBody>
      </p:sp>
      <p:sp>
        <p:nvSpPr>
          <p:cNvPr id="17" name="矩形 16"/>
          <p:cNvSpPr/>
          <p:nvPr/>
        </p:nvSpPr>
        <p:spPr>
          <a:xfrm>
            <a:off x="8782050" y="2821305"/>
            <a:ext cx="1181735" cy="5822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评估</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3200" dirty="0">
                <a:latin typeface="Times New Roman" panose="02020603050405020304" charset="0"/>
                <a:sym typeface="+mn-ea"/>
              </a:rPr>
              <a:t>建模工具：伪代码</a:t>
            </a: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t>46</a:t>
            </a:fld>
            <a:endParaRPr lang="zh-CN" altLang="en-US" dirty="0"/>
          </a:p>
        </p:txBody>
      </p:sp>
      <p:sp>
        <p:nvSpPr>
          <p:cNvPr id="8" name="TextBox 3"/>
          <p:cNvSpPr txBox="1"/>
          <p:nvPr/>
        </p:nvSpPr>
        <p:spPr>
          <a:xfrm>
            <a:off x="572375" y="1689853"/>
            <a:ext cx="11163995" cy="4092575"/>
          </a:xfrm>
          <a:prstGeom prst="rect">
            <a:avLst/>
          </a:prstGeom>
          <a:noFill/>
        </p:spPr>
        <p:txBody>
          <a:bodyPr wrap="square">
            <a:spAutoFit/>
          </a:bodyPr>
          <a:lstStyle/>
          <a:p>
            <a:r>
              <a:rPr lang="zh-CN" altLang="en-US" sz="2000" dirty="0">
                <a:sym typeface="+mn-ea"/>
              </a:rPr>
              <a:t>一种非正式建模技术，用于展示系统部分背后的逻辑。</a:t>
            </a:r>
            <a:endParaRPr lang="zh-CN" altLang="en-US" sz="2000" dirty="0"/>
          </a:p>
          <a:p>
            <a:endParaRPr lang="en-US" altLang="zh-CN" sz="2000" dirty="0"/>
          </a:p>
          <a:p>
            <a:r>
              <a:rPr lang="zh-CN" altLang="en-US" sz="2000" dirty="0">
                <a:sym typeface="+mn-ea"/>
              </a:rPr>
              <a:t>示例：大学录取决策</a:t>
            </a:r>
            <a:endParaRPr lang="zh-CN" altLang="en-US" sz="2000" dirty="0"/>
          </a:p>
          <a:p>
            <a:r>
              <a:rPr lang="en-US" altLang="zh-CN" sz="2000" dirty="0">
                <a:sym typeface="+mn-ea"/>
              </a:rPr>
              <a:t>	</a:t>
            </a:r>
            <a:r>
              <a:rPr lang="en-US" altLang="zh-CN" sz="2000" b="1" dirty="0" err="1">
                <a:sym typeface="+mn-ea"/>
              </a:rPr>
              <a:t>admin_decision</a:t>
            </a:r>
            <a:r>
              <a:rPr lang="en-US" altLang="zh-CN" sz="2000" b="1" dirty="0">
                <a:sym typeface="+mn-ea"/>
              </a:rPr>
              <a:t> </a:t>
            </a:r>
            <a:r>
              <a:rPr lang="en-US" altLang="zh-CN" sz="2000" dirty="0">
                <a:sym typeface="+mn-ea"/>
              </a:rPr>
              <a:t>(application) </a:t>
            </a:r>
            <a:endParaRPr lang="en-US" altLang="zh-CN" sz="2000" dirty="0"/>
          </a:p>
          <a:p>
            <a:pPr lvl="2"/>
            <a:r>
              <a:rPr lang="en-US" altLang="zh-CN" sz="2000" b="1" dirty="0">
                <a:sym typeface="+mn-ea"/>
              </a:rPr>
              <a:t>if</a:t>
            </a:r>
            <a:r>
              <a:rPr lang="en-US" altLang="zh-CN" sz="2000" dirty="0">
                <a:sym typeface="+mn-ea"/>
              </a:rPr>
              <a:t> </a:t>
            </a:r>
            <a:r>
              <a:rPr lang="en-US" altLang="zh-CN" sz="2000" dirty="0" err="1">
                <a:sym typeface="+mn-ea"/>
              </a:rPr>
              <a:t>application.SAT</a:t>
            </a:r>
            <a:r>
              <a:rPr lang="en-US" altLang="zh-CN" sz="2000" dirty="0">
                <a:sym typeface="+mn-ea"/>
              </a:rPr>
              <a:t> == null </a:t>
            </a:r>
            <a:r>
              <a:rPr lang="en-US" altLang="zh-CN" sz="2000" b="1" dirty="0">
                <a:sym typeface="+mn-ea"/>
              </a:rPr>
              <a:t>then</a:t>
            </a:r>
            <a:r>
              <a:rPr lang="en-US" altLang="zh-CN" sz="2000" dirty="0">
                <a:sym typeface="+mn-ea"/>
              </a:rPr>
              <a:t> error (incomplete) </a:t>
            </a:r>
            <a:endParaRPr lang="en-US" altLang="zh-CN" sz="2000" dirty="0"/>
          </a:p>
          <a:p>
            <a:pPr lvl="2"/>
            <a:r>
              <a:rPr lang="en-US" altLang="zh-CN" sz="2000" b="1" dirty="0">
                <a:sym typeface="+mn-ea"/>
              </a:rPr>
              <a:t>if</a:t>
            </a:r>
            <a:r>
              <a:rPr lang="en-US" altLang="zh-CN" sz="2000" dirty="0">
                <a:sym typeface="+mn-ea"/>
              </a:rPr>
              <a:t> </a:t>
            </a:r>
            <a:r>
              <a:rPr lang="en-US" altLang="zh-CN" sz="2000" dirty="0" err="1">
                <a:sym typeface="+mn-ea"/>
              </a:rPr>
              <a:t>application.SAT</a:t>
            </a:r>
            <a:r>
              <a:rPr lang="en-US" altLang="zh-CN" sz="2000" dirty="0">
                <a:sym typeface="+mn-ea"/>
              </a:rPr>
              <a:t> &gt; S1 </a:t>
            </a:r>
            <a:r>
              <a:rPr lang="en-US" altLang="zh-CN" sz="2000" b="1" dirty="0">
                <a:sym typeface="+mn-ea"/>
              </a:rPr>
              <a:t>then</a:t>
            </a:r>
            <a:r>
              <a:rPr lang="en-US" altLang="zh-CN" sz="2000" dirty="0">
                <a:sym typeface="+mn-ea"/>
              </a:rPr>
              <a:t> accept(application) </a:t>
            </a:r>
            <a:endParaRPr lang="en-US" altLang="zh-CN" sz="2000" dirty="0"/>
          </a:p>
          <a:p>
            <a:pPr lvl="2"/>
            <a:r>
              <a:rPr lang="en-US" altLang="zh-CN" sz="2000" b="1" dirty="0">
                <a:sym typeface="+mn-ea"/>
              </a:rPr>
              <a:t>else if</a:t>
            </a:r>
            <a:r>
              <a:rPr lang="en-US" altLang="zh-CN" sz="2000" dirty="0">
                <a:sym typeface="+mn-ea"/>
              </a:rPr>
              <a:t> </a:t>
            </a:r>
            <a:r>
              <a:rPr lang="en-US" altLang="zh-CN" sz="2000" dirty="0" err="1">
                <a:sym typeface="+mn-ea"/>
              </a:rPr>
              <a:t>application.GPA</a:t>
            </a:r>
            <a:r>
              <a:rPr lang="en-US" altLang="zh-CN" sz="2000" dirty="0">
                <a:sym typeface="+mn-ea"/>
              </a:rPr>
              <a:t> &gt; G1 </a:t>
            </a:r>
            <a:r>
              <a:rPr lang="en-US" altLang="zh-CN" sz="2000" b="1" dirty="0">
                <a:sym typeface="+mn-ea"/>
              </a:rPr>
              <a:t>then</a:t>
            </a:r>
            <a:r>
              <a:rPr lang="en-US" altLang="zh-CN" sz="2000" dirty="0">
                <a:sym typeface="+mn-ea"/>
              </a:rPr>
              <a:t> accept(application) </a:t>
            </a:r>
            <a:endParaRPr lang="en-US" altLang="zh-CN" sz="2000" dirty="0"/>
          </a:p>
          <a:p>
            <a:pPr lvl="2"/>
            <a:r>
              <a:rPr lang="en-US" altLang="zh-CN" sz="2000" b="1" dirty="0">
                <a:sym typeface="+mn-ea"/>
              </a:rPr>
              <a:t>else if </a:t>
            </a:r>
            <a:r>
              <a:rPr lang="en-US" altLang="zh-CN" sz="2000" dirty="0" err="1">
                <a:sym typeface="+mn-ea"/>
              </a:rPr>
              <a:t>application.SAT</a:t>
            </a:r>
            <a:r>
              <a:rPr lang="en-US" altLang="zh-CN" sz="2000" dirty="0">
                <a:sym typeface="+mn-ea"/>
              </a:rPr>
              <a:t> &gt; S2 </a:t>
            </a:r>
            <a:r>
              <a:rPr lang="en-US" altLang="zh-CN" sz="2000" b="1" dirty="0">
                <a:sym typeface="+mn-ea"/>
              </a:rPr>
              <a:t>and</a:t>
            </a:r>
            <a:r>
              <a:rPr lang="en-US" altLang="zh-CN" sz="2000" dirty="0">
                <a:sym typeface="+mn-ea"/>
              </a:rPr>
              <a:t> </a:t>
            </a:r>
            <a:r>
              <a:rPr lang="en-US" altLang="zh-CN" sz="2000" dirty="0" err="1">
                <a:sym typeface="+mn-ea"/>
              </a:rPr>
              <a:t>application.GPA</a:t>
            </a:r>
            <a:r>
              <a:rPr lang="en-US" altLang="zh-CN" sz="2000" dirty="0">
                <a:sym typeface="+mn-ea"/>
              </a:rPr>
              <a:t> &gt; G2 </a:t>
            </a:r>
            <a:endParaRPr lang="en-US" altLang="zh-CN" sz="2000" dirty="0"/>
          </a:p>
          <a:p>
            <a:pPr lvl="2"/>
            <a:r>
              <a:rPr lang="en-US" altLang="zh-CN" sz="2000" dirty="0">
                <a:sym typeface="+mn-ea"/>
              </a:rPr>
              <a:t>	</a:t>
            </a:r>
            <a:r>
              <a:rPr lang="en-US" altLang="zh-CN" sz="2000" b="1" dirty="0">
                <a:sym typeface="+mn-ea"/>
              </a:rPr>
              <a:t>then</a:t>
            </a:r>
            <a:r>
              <a:rPr lang="en-US" altLang="zh-CN" sz="2000" dirty="0">
                <a:sym typeface="+mn-ea"/>
              </a:rPr>
              <a:t> accept(application) </a:t>
            </a:r>
            <a:endParaRPr lang="en-US" altLang="zh-CN" sz="2000" dirty="0"/>
          </a:p>
          <a:p>
            <a:pPr lvl="2"/>
            <a:r>
              <a:rPr lang="en-US" altLang="zh-CN" sz="2000" b="1" dirty="0">
                <a:sym typeface="+mn-ea"/>
              </a:rPr>
              <a:t>else</a:t>
            </a:r>
            <a:r>
              <a:rPr lang="en-US" altLang="zh-CN" sz="2000" dirty="0">
                <a:sym typeface="+mn-ea"/>
              </a:rPr>
              <a:t> reject(application) </a:t>
            </a:r>
            <a:endParaRPr lang="en-US" altLang="zh-CN" sz="2000" dirty="0"/>
          </a:p>
          <a:p>
            <a:endParaRPr lang="en-US" altLang="zh-CN" sz="2000" dirty="0"/>
          </a:p>
          <a:p>
            <a:r>
              <a:rPr lang="zh-CN" altLang="en-US" sz="2000" dirty="0">
                <a:sym typeface="+mn-ea"/>
              </a:rPr>
              <a:t>用于伪代码的表示法可以是非正式的，或者是软件开发组织使用的标准，或者是基于常规编程语言的。重要的是，每个人都理解其解释。</a:t>
            </a:r>
            <a:r>
              <a:rPr lang="en-US" altLang="zh-CN" sz="2000" dirty="0">
                <a:sym typeface="+mn-ea"/>
              </a:rPr>
              <a:t>	</a:t>
            </a:r>
            <a:endParaRPr lang="en-US" altLang="zh-CN" sz="2000" b="1" dirty="0">
              <a:solidFill>
                <a:srgbClr val="515223"/>
              </a:solidFill>
              <a:latin typeface="Helvetica" pitchFamily="2" charset="0"/>
              <a:cs typeface="Arial" panose="020B0604020202020204" pitchFamily="3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8075" y="136526"/>
            <a:ext cx="9099225" cy="790865"/>
          </a:xfrm>
        </p:spPr>
        <p:txBody>
          <a:bodyPr>
            <a:normAutofit/>
          </a:bodyPr>
          <a:lstStyle/>
          <a:p>
            <a:r>
              <a:rPr lang="zh-CN" altLang="en-US" sz="3200" dirty="0">
                <a:latin typeface="Times New Roman" panose="02020603050405020304" charset="0"/>
              </a:rPr>
              <a:t>建模工具：转换图</a:t>
            </a:r>
            <a:endParaRPr lang="en-US" altLang="zh-CN" sz="32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t>47</a:t>
            </a:fld>
            <a:endParaRPr lang="zh-CN" altLang="en-US" dirty="0"/>
          </a:p>
        </p:txBody>
      </p:sp>
      <mc:AlternateContent xmlns:mc="http://schemas.openxmlformats.org/markup-compatibility/2006">
        <mc:Choice xmlns:a14="http://schemas.microsoft.com/office/drawing/2010/main" Requires="a14">
          <p:sp>
            <p:nvSpPr>
              <p:cNvPr id="7" name="TextBox 3"/>
              <p:cNvSpPr txBox="1"/>
              <p:nvPr/>
            </p:nvSpPr>
            <p:spPr>
              <a:xfrm>
                <a:off x="623175" y="1374893"/>
                <a:ext cx="11163995" cy="3169285"/>
              </a:xfrm>
              <a:prstGeom prst="rect">
                <a:avLst/>
              </a:prstGeom>
              <a:noFill/>
            </p:spPr>
            <p:txBody>
              <a:bodyPr wrap="square">
                <a:spAutoFit/>
              </a:bodyPr>
              <a:lstStyle/>
              <a:p>
                <a:r>
                  <a:rPr lang="zh-CN" altLang="en-US" sz="2000" dirty="0"/>
                  <a:t>一个系统被建模为一组</a:t>
                </a:r>
                <a:r>
                  <a:rPr lang="zh-CN" altLang="en-US" sz="2000" b="1" dirty="0">
                    <a:solidFill>
                      <a:srgbClr val="FF0000"/>
                    </a:solidFill>
                  </a:rPr>
                  <a:t>状态</a:t>
                </a:r>
                <a:r>
                  <a:rPr lang="zh-CN" altLang="en-US" sz="2000" dirty="0"/>
                  <a:t>，即</a:t>
                </a:r>
                <a:r>
                  <a:rPr lang="en-US" altLang="zh-CN" sz="2000" dirty="0"/>
                  <a:t> </a:t>
                </a:r>
                <a14:m>
                  <m:oMath xmlns:m="http://schemas.openxmlformats.org/officeDocument/2006/math">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𝑆</m:t>
                        </m:r>
                      </m:e>
                      <m:sub>
                        <m:r>
                          <a:rPr lang="en-US" altLang="zh-CN" sz="2000" b="0" i="1" smtClean="0">
                            <a:latin typeface="Cambria Math" panose="02040503050406030204" pitchFamily="18" charset="0"/>
                          </a:rPr>
                          <m:t>𝑖</m:t>
                        </m:r>
                      </m:sub>
                    </m:sSub>
                  </m:oMath>
                </a14:m>
                <a:endParaRPr lang="en-US" altLang="zh-CN" sz="2000" b="0" i="1" dirty="0">
                  <a:latin typeface="Cambria Math" panose="02040503050406030204" pitchFamily="18" charset="0"/>
                </a:endParaRPr>
              </a:p>
              <a:p>
                <a:endParaRPr lang="en-US" altLang="zh-CN" sz="2000" dirty="0"/>
              </a:p>
              <a:p>
                <a:r>
                  <a:rPr lang="en-US" altLang="zh-CN" sz="2000" dirty="0"/>
                  <a:t>“</a:t>
                </a:r>
                <a:r>
                  <a:rPr lang="zh-CN" altLang="en-US" sz="2000" b="1" dirty="0">
                    <a:solidFill>
                      <a:srgbClr val="FF0000"/>
                    </a:solidFill>
                  </a:rPr>
                  <a:t>转换</a:t>
                </a:r>
                <a:r>
                  <a:rPr lang="en-US" altLang="zh-CN" sz="2000" dirty="0"/>
                  <a:t>”</a:t>
                </a:r>
                <a:r>
                  <a:rPr lang="zh-CN" altLang="en-US" sz="2000" dirty="0"/>
                  <a:t>指的是从一种状态转变为另一种状态的过程。</a:t>
                </a:r>
              </a:p>
              <a:p>
                <a:endParaRPr lang="zh-CN" altLang="en-US" sz="2000" dirty="0"/>
              </a:p>
              <a:p>
                <a:r>
                  <a:rPr lang="zh-CN" altLang="en-US" sz="2000" dirty="0"/>
                  <a:t>当</a:t>
                </a:r>
                <a:r>
                  <a:rPr lang="zh-CN" altLang="en-US" sz="2000" b="1" dirty="0">
                    <a:solidFill>
                      <a:srgbClr val="FF0000"/>
                    </a:solidFill>
                  </a:rPr>
                  <a:t>条件</a:t>
                </a:r>
                <a14:m>
                  <m:oMath xmlns:m="http://schemas.openxmlformats.org/officeDocument/2006/math">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𝐶</m:t>
                        </m:r>
                      </m:e>
                      <m:sub>
                        <m:r>
                          <a:rPr lang="en-US" altLang="zh-CN" sz="2000" b="0" i="1" smtClean="0">
                            <a:latin typeface="Cambria Math" panose="02040503050406030204" pitchFamily="18" charset="0"/>
                          </a:rPr>
                          <m:t>𝑖</m:t>
                        </m:r>
                      </m:sub>
                    </m:sSub>
                  </m:oMath>
                </a14:m>
                <a:r>
                  <a:rPr lang="en-US" altLang="zh-CN" sz="2000" dirty="0">
                    <a:sym typeface="+mn-ea"/>
                  </a:rPr>
                  <a:t> </a:t>
                </a:r>
                <a:r>
                  <a:rPr lang="zh-CN" altLang="en-US" sz="2000" dirty="0"/>
                  <a:t>发生时，会导致从一个状态转变为另一个状态。</a:t>
                </a:r>
              </a:p>
              <a:p>
                <a:endParaRPr lang="zh-CN" altLang="en-US" sz="2000" dirty="0"/>
              </a:p>
              <a:p>
                <a:r>
                  <a:rPr lang="zh-CN" altLang="en-US" sz="2000" b="1" dirty="0">
                    <a:solidFill>
                      <a:srgbClr val="FF0000"/>
                    </a:solidFill>
                  </a:rPr>
                  <a:t>转移函数</a:t>
                </a:r>
                <a:r>
                  <a:rPr lang="zh-CN" altLang="en-US" sz="2000" dirty="0"/>
                  <a:t>：</a:t>
                </a:r>
              </a:p>
              <a:p>
                <a:r>
                  <a:rPr lang="en-US" altLang="zh-CN" sz="2000" dirty="0"/>
                  <a:t>	</a:t>
                </a:r>
                <a14:m>
                  <m:oMath xmlns:m="http://schemas.openxmlformats.org/officeDocument/2006/math">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𝑓</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𝑆</m:t>
                        </m:r>
                      </m:e>
                      <m:sub>
                        <m:r>
                          <a:rPr lang="en-US" altLang="zh-CN" sz="2000" b="0" i="1" smtClean="0">
                            <a:latin typeface="Cambria Math" panose="02040503050406030204" pitchFamily="18" charset="0"/>
                          </a:rPr>
                          <m:t>𝑖</m:t>
                        </m:r>
                      </m:sub>
                    </m:sSub>
                  </m:oMath>
                </a14:m>
                <a:r>
                  <a:rPr lang="en-US" altLang="zh-CN" sz="2000" dirty="0"/>
                  <a:t>, </a:t>
                </a:r>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𝐶</m:t>
                        </m:r>
                      </m:e>
                      <m:sub>
                        <m:r>
                          <a:rPr lang="en-US" altLang="zh-CN" sz="2000" i="1">
                            <a:latin typeface="Cambria Math" panose="02040503050406030204" pitchFamily="18" charset="0"/>
                          </a:rPr>
                          <m:t>𝑖</m:t>
                        </m:r>
                      </m:sub>
                    </m:sSub>
                    <m:r>
                      <a:rPr lang="en-US" altLang="zh-CN" sz="2000" b="0" i="1" smtClean="0">
                        <a:latin typeface="Cambria Math" panose="02040503050406030204" pitchFamily="18" charset="0"/>
                      </a:rPr>
                      <m:t>)=</m:t>
                    </m:r>
                  </m:oMath>
                </a14:m>
                <a:r>
                  <a:rPr lang="en-US" altLang="zh-CN" sz="2000" dirty="0"/>
                  <a:t> </a:t>
                </a:r>
                <a14:m>
                  <m:oMath xmlns:m="http://schemas.openxmlformats.org/officeDocument/2006/math">
                    <m:sSub>
                      <m:sSubPr>
                        <m:ctrlPr>
                          <a:rPr lang="en-US" altLang="zh-CN" sz="2000" i="1">
                            <a:latin typeface="Cambria Math" panose="02040503050406030204" pitchFamily="18" charset="0"/>
                          </a:rPr>
                        </m:ctrlPr>
                      </m:sSubPr>
                      <m:e>
                        <m:r>
                          <a:rPr lang="en-US" altLang="zh-CN" sz="2000" b="0" i="1" smtClean="0">
                            <a:latin typeface="Cambria Math" panose="02040503050406030204" pitchFamily="18" charset="0"/>
                          </a:rPr>
                          <m:t>𝑆</m:t>
                        </m:r>
                      </m:e>
                      <m:sub>
                        <m:r>
                          <a:rPr lang="en-US" altLang="zh-CN" sz="2000" b="0" i="1" smtClean="0">
                            <a:latin typeface="Cambria Math" panose="02040503050406030204" pitchFamily="18" charset="0"/>
                          </a:rPr>
                          <m:t>𝑘</m:t>
                        </m:r>
                      </m:sub>
                    </m:sSub>
                  </m:oMath>
                </a14:m>
                <a:r>
                  <a:rPr lang="en-US" altLang="zh-CN" sz="2000" dirty="0"/>
                  <a:t> </a:t>
                </a:r>
              </a:p>
              <a:p>
                <a:endParaRPr lang="en-US" altLang="zh-CN" sz="2000" dirty="0"/>
              </a:p>
              <a:p>
                <a:r>
                  <a:rPr lang="zh-CN" altLang="en-US" sz="2000" b="1" dirty="0">
                    <a:solidFill>
                      <a:srgbClr val="FF0000"/>
                    </a:solidFill>
                    <a:latin typeface="Helvetica" pitchFamily="2" charset="0"/>
                    <a:cs typeface="Arial" panose="020B0604020202020204" pitchFamily="34" charset="0"/>
                  </a:rPr>
                  <a:t>示例</a:t>
                </a:r>
              </a:p>
            </p:txBody>
          </p:sp>
        </mc:Choice>
        <mc:Fallback>
          <p:sp>
            <p:nvSpPr>
              <p:cNvPr id="7" name="TextBox 3"/>
              <p:cNvSpPr txBox="1">
                <a:spLocks noRot="1" noChangeAspect="1" noMove="1" noResize="1" noEditPoints="1" noAdjustHandles="1" noChangeArrowheads="1" noChangeShapeType="1" noTextEdit="1"/>
              </p:cNvSpPr>
              <p:nvPr/>
            </p:nvSpPr>
            <p:spPr>
              <a:xfrm>
                <a:off x="623175" y="1374893"/>
                <a:ext cx="11163995" cy="3169285"/>
              </a:xfrm>
              <a:prstGeom prst="rect">
                <a:avLst/>
              </a:prstGeom>
              <a:blipFill>
                <a:blip r:embed="rId2"/>
                <a:stretch>
                  <a:fillRect l="-454" t="-1200" b="-2800"/>
                </a:stretch>
              </a:blipFill>
            </p:spPr>
            <p:txBody>
              <a:bodyPr/>
              <a:lstStyle/>
              <a:p>
                <a:r>
                  <a:rPr lang="en-CN">
                    <a:noFill/>
                  </a:rPr>
                  <a:t> </a:t>
                </a:r>
              </a:p>
            </p:txBody>
          </p:sp>
        </mc:Fallback>
      </mc:AlternateContent>
      <p:pic>
        <p:nvPicPr>
          <p:cNvPr id="4" name="图片 3"/>
          <p:cNvPicPr>
            <a:picLocks noChangeAspect="1"/>
          </p:cNvPicPr>
          <p:nvPr/>
        </p:nvPicPr>
        <p:blipFill>
          <a:blip r:embed="rId3"/>
          <a:stretch>
            <a:fillRect/>
          </a:stretch>
        </p:blipFill>
        <p:spPr>
          <a:xfrm>
            <a:off x="3936383" y="4698934"/>
            <a:ext cx="3322608" cy="1524132"/>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9542" y="136526"/>
            <a:ext cx="9099225" cy="790865"/>
          </a:xfrm>
        </p:spPr>
        <p:txBody>
          <a:bodyPr>
            <a:noAutofit/>
          </a:bodyPr>
          <a:lstStyle/>
          <a:p>
            <a:r>
              <a:rPr lang="zh-CN" altLang="en-US" sz="3200" dirty="0">
                <a:latin typeface="Times New Roman" panose="02020603050405020304" charset="0"/>
              </a:rPr>
              <a:t>有限状态机模型</a:t>
            </a:r>
            <a:r>
              <a:rPr lang="zh-CN" altLang="en-US" sz="3200" dirty="0">
                <a:solidFill>
                  <a:srgbClr val="515223"/>
                </a:solidFill>
                <a:latin typeface="Times New Roman" panose="02020603050405020304" charset="0"/>
                <a:sym typeface="+mn-ea"/>
              </a:rPr>
              <a:t>治疗控制台示例</a:t>
            </a:r>
            <a:endParaRPr lang="zh-CN" altLang="en-US" sz="32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t>48</a:t>
            </a:fld>
            <a:endParaRPr lang="zh-CN" altLang="en-US" dirty="0"/>
          </a:p>
        </p:txBody>
      </p:sp>
      <p:sp>
        <p:nvSpPr>
          <p:cNvPr id="8" name="TextBox 3"/>
          <p:cNvSpPr txBox="1"/>
          <p:nvPr/>
        </p:nvSpPr>
        <p:spPr>
          <a:xfrm>
            <a:off x="572375" y="1689853"/>
            <a:ext cx="11163995" cy="3169285"/>
          </a:xfrm>
          <a:prstGeom prst="rect">
            <a:avLst/>
          </a:prstGeom>
          <a:noFill/>
        </p:spPr>
        <p:txBody>
          <a:bodyPr wrap="square">
            <a:spAutoFit/>
          </a:bodyPr>
          <a:lstStyle/>
          <a:p>
            <a:endParaRPr lang="en-US" altLang="zh-CN" sz="2000" b="1" dirty="0">
              <a:solidFill>
                <a:srgbClr val="515223"/>
              </a:solidFill>
              <a:latin typeface="Helvetica" pitchFamily="2" charset="0"/>
              <a:cs typeface="Arial" panose="020B0604020202020204" pitchFamily="34" charset="0"/>
            </a:endParaRPr>
          </a:p>
          <a:p>
            <a:r>
              <a:rPr lang="zh-CN" altLang="en-US" sz="2000" b="1" dirty="0">
                <a:solidFill>
                  <a:srgbClr val="515223"/>
                </a:solidFill>
                <a:latin typeface="Helvetica" pitchFamily="2" charset="0"/>
                <a:cs typeface="Arial" panose="020B0604020202020204" pitchFamily="34" charset="0"/>
              </a:rPr>
              <a:t>示例：放射治疗控制台。</a:t>
            </a:r>
          </a:p>
          <a:p>
            <a:endParaRPr lang="en-US" altLang="zh-CN" sz="2000" b="1" dirty="0">
              <a:solidFill>
                <a:srgbClr val="515223"/>
              </a:solidFill>
              <a:latin typeface="Helvetica" pitchFamily="2" charset="0"/>
              <a:cs typeface="Arial" panose="020B0604020202020204" pitchFamily="34" charset="0"/>
            </a:endParaRPr>
          </a:p>
          <a:p>
            <a:pPr marL="342900" indent="-342900">
              <a:buFont typeface="Arial" panose="020B0604020202020204" pitchFamily="34" charset="0"/>
              <a:buChar char="•"/>
            </a:pPr>
            <a:r>
              <a:rPr lang="en-US" altLang="zh-CN" sz="2000" dirty="0"/>
              <a:t>你正在为操作员控制台开发需求。</a:t>
            </a:r>
          </a:p>
          <a:p>
            <a:pPr marL="342900" indent="-342900">
              <a:buFont typeface="Arial" panose="020B0604020202020204" pitchFamily="34" charset="0"/>
              <a:buChar char="•"/>
            </a:pPr>
            <a:endParaRPr lang="en-US" altLang="zh-CN" sz="2000" dirty="0"/>
          </a:p>
          <a:p>
            <a:pPr marL="342900" indent="-342900">
              <a:buFont typeface="Arial" panose="020B0604020202020204" pitchFamily="34" charset="0"/>
              <a:buChar char="•"/>
            </a:pPr>
            <a:r>
              <a:rPr lang="en-US" altLang="zh-CN" sz="2000" dirty="0"/>
              <a:t>在访谈中，客户描述了操作员操作机器时必须遵循的程序。</a:t>
            </a:r>
          </a:p>
          <a:p>
            <a:pPr marL="342900" indent="-342900">
              <a:buFont typeface="Arial" panose="020B0604020202020204" pitchFamily="34" charset="0"/>
              <a:buChar char="•"/>
            </a:pPr>
            <a:endParaRPr lang="en-US" altLang="zh-CN" sz="2000" dirty="0"/>
          </a:p>
          <a:p>
            <a:pPr marL="342900" indent="-342900">
              <a:buFont typeface="Arial" panose="020B0604020202020204" pitchFamily="34" charset="0"/>
              <a:buChar char="•"/>
            </a:pPr>
            <a:r>
              <a:rPr lang="en-US" altLang="zh-CN" sz="2000" dirty="0"/>
              <a:t>你使用有限状态机模型来指定这些程序。</a:t>
            </a:r>
          </a:p>
          <a:p>
            <a:pPr marL="342900" indent="-342900">
              <a:buFont typeface="Arial" panose="020B0604020202020204" pitchFamily="34" charset="0"/>
              <a:buChar char="•"/>
            </a:pPr>
            <a:endParaRPr lang="en-US" altLang="zh-CN" sz="2000" dirty="0"/>
          </a:p>
          <a:p>
            <a:pPr marL="342900" indent="-342900">
              <a:buFont typeface="Arial" panose="020B0604020202020204" pitchFamily="34" charset="0"/>
              <a:buChar char="•"/>
            </a:pPr>
            <a:r>
              <a:rPr lang="en-US" altLang="zh-CN" sz="2000" dirty="0"/>
              <a:t>这向客户表明你理解了需求，并为开发人员指定了程序。</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3200" dirty="0">
                <a:latin typeface="Times New Roman" panose="02020603050405020304" charset="0"/>
              </a:rPr>
              <a:t>有限状态机模型</a:t>
            </a:r>
            <a:r>
              <a:rPr lang="en-US" altLang="zh-CN" sz="3200" dirty="0">
                <a:latin typeface="Times New Roman" panose="02020603050405020304" charset="0"/>
              </a:rPr>
              <a:t> - </a:t>
            </a:r>
            <a:r>
              <a:rPr lang="zh-CN" altLang="en-US" sz="3200" dirty="0">
                <a:latin typeface="Times New Roman" panose="02020603050405020304" charset="0"/>
              </a:rPr>
              <a:t>治疗控制台：场景</a:t>
            </a: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t>49</a:t>
            </a:fld>
            <a:endParaRPr lang="zh-CN" altLang="en-US" dirty="0"/>
          </a:p>
        </p:txBody>
      </p:sp>
      <p:sp>
        <p:nvSpPr>
          <p:cNvPr id="8" name="TextBox 3"/>
          <p:cNvSpPr txBox="1"/>
          <p:nvPr/>
        </p:nvSpPr>
        <p:spPr>
          <a:xfrm>
            <a:off x="572375" y="1774696"/>
            <a:ext cx="11163995" cy="2861310"/>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20204" pitchFamily="34" charset="0"/>
              </a:rPr>
              <a:t>场景</a:t>
            </a:r>
          </a:p>
          <a:p>
            <a:endParaRPr lang="en-US" altLang="zh-CN" sz="2000" b="1" dirty="0">
              <a:solidFill>
                <a:srgbClr val="515223"/>
              </a:solidFill>
              <a:latin typeface="Helvetica" pitchFamily="2" charset="0"/>
              <a:cs typeface="Arial" panose="020B0604020202020204" pitchFamily="34" charset="0"/>
            </a:endParaRPr>
          </a:p>
          <a:p>
            <a:pPr marL="342900" indent="-342900">
              <a:buFont typeface="Arial" panose="020B0604020202020204" pitchFamily="34" charset="0"/>
              <a:buChar char="•"/>
            </a:pPr>
            <a:r>
              <a:rPr lang="en-US" altLang="zh-CN" sz="2000" dirty="0"/>
              <a:t>客户提供以下粗略场景。</a:t>
            </a:r>
          </a:p>
          <a:p>
            <a:pPr marL="342900" indent="-342900">
              <a:buFont typeface="Arial" panose="020B0604020202020204" pitchFamily="34" charset="0"/>
              <a:buChar char="•"/>
            </a:pPr>
            <a:endParaRPr lang="en-US" altLang="zh-CN" sz="2000" dirty="0"/>
          </a:p>
          <a:p>
            <a:pPr marL="342900" indent="-342900">
              <a:buFont typeface="Arial" panose="020B0604020202020204" pitchFamily="34" charset="0"/>
              <a:buChar char="•"/>
            </a:pPr>
            <a:r>
              <a:rPr lang="en-US" altLang="zh-CN" sz="2000" dirty="0"/>
              <a:t>“</a:t>
            </a:r>
            <a:r>
              <a:rPr lang="en-US" altLang="zh-CN" sz="2000" dirty="0" err="1"/>
              <a:t>设置工作在患者准备就绪前完成</a:t>
            </a:r>
            <a:r>
              <a:rPr lang="zh-CN" altLang="en-US" sz="2000" dirty="0"/>
              <a:t>：</a:t>
            </a:r>
            <a:r>
              <a:rPr lang="en-US" altLang="zh-CN" sz="2000" dirty="0" err="1"/>
              <a:t>操作员从数据库中选择患者信息</a:t>
            </a:r>
            <a:r>
              <a:rPr lang="zh-CN" altLang="en-US" sz="2000" dirty="0"/>
              <a:t>，界面</a:t>
            </a:r>
            <a:r>
              <a:rPr lang="en-US" altLang="zh-CN" sz="2000" dirty="0" err="1"/>
              <a:t>提供该患者获批的放射</a:t>
            </a:r>
            <a:r>
              <a:rPr lang="zh-CN" altLang="en-US" sz="2000" dirty="0"/>
              <a:t>区域</a:t>
            </a:r>
            <a:r>
              <a:rPr lang="en-US" altLang="zh-CN" sz="2000" dirty="0" err="1"/>
              <a:t>列表</a:t>
            </a:r>
            <a:r>
              <a:rPr lang="zh-CN" altLang="en-US" sz="2000" dirty="0"/>
              <a:t>，</a:t>
            </a:r>
            <a:r>
              <a:rPr lang="en-US" altLang="zh-CN" sz="2000" dirty="0" err="1"/>
              <a:t>操作员选择第一个</a:t>
            </a:r>
            <a:r>
              <a:rPr lang="zh-CN" altLang="en-US" sz="2000" dirty="0"/>
              <a:t>放射区域，到此</a:t>
            </a:r>
            <a:r>
              <a:rPr lang="en-US" altLang="zh-CN" sz="2000" dirty="0" err="1"/>
              <a:t>完成设置</a:t>
            </a:r>
            <a:r>
              <a:rPr lang="en-US" altLang="zh-CN" sz="2000" dirty="0"/>
              <a:t>。</a:t>
            </a:r>
          </a:p>
          <a:p>
            <a:pPr marL="342900" indent="-342900">
              <a:buFont typeface="Arial" panose="020B0604020202020204" pitchFamily="34" charset="0"/>
              <a:buChar char="•"/>
            </a:pPr>
            <a:endParaRPr lang="en-US" altLang="zh-CN" sz="2000" dirty="0"/>
          </a:p>
          <a:p>
            <a:pPr marL="342900" indent="-342900">
              <a:buFont typeface="Arial" panose="020B0604020202020204" pitchFamily="34" charset="0"/>
              <a:buChar char="•"/>
            </a:pPr>
            <a:r>
              <a:rPr lang="en-US" altLang="zh-CN" sz="2000" dirty="0"/>
              <a:t>“</a:t>
            </a:r>
            <a:r>
              <a:rPr lang="en-US" altLang="zh-CN" sz="2000" dirty="0" err="1"/>
              <a:t>现在患者准备就绪。解除机器的锁定，应用该</a:t>
            </a:r>
            <a:r>
              <a:rPr lang="zh-CN" altLang="en-US" sz="2000" dirty="0"/>
              <a:t>区域对应</a:t>
            </a:r>
            <a:r>
              <a:rPr lang="en-US" altLang="zh-CN" sz="2000" dirty="0" err="1"/>
              <a:t>的剂量。然后操作员返回</a:t>
            </a:r>
            <a:r>
              <a:rPr lang="zh-CN" altLang="en-US" sz="2000" dirty="0"/>
              <a:t>区域</a:t>
            </a:r>
            <a:r>
              <a:rPr lang="en-US" altLang="zh-CN" sz="2000" dirty="0" err="1"/>
              <a:t>选择界面，选择另一个</a:t>
            </a:r>
            <a:r>
              <a:rPr lang="zh-CN" altLang="en-US" sz="2000" dirty="0"/>
              <a:t>区域</a:t>
            </a:r>
            <a:r>
              <a:rPr lang="en-US" altLang="zh-CN" sz="2000" dirty="0"/>
              <a: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3200" dirty="0">
                <a:latin typeface="Times New Roman" panose="02020603050405020304" charset="0"/>
              </a:rPr>
              <a:t>有限状态机模型</a:t>
            </a:r>
            <a:r>
              <a:rPr lang="en-US" altLang="zh-CN" sz="3200" dirty="0">
                <a:latin typeface="Times New Roman" panose="02020603050405020304" charset="0"/>
              </a:rPr>
              <a:t> - </a:t>
            </a:r>
            <a:r>
              <a:rPr lang="zh-CN" altLang="en-US" sz="3200" dirty="0">
                <a:latin typeface="Times New Roman" panose="02020603050405020304" charset="0"/>
              </a:rPr>
              <a:t>状态转换图</a:t>
            </a: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t>50</a:t>
            </a:fld>
            <a:endParaRPr lang="zh-CN" altLang="en-US" dirty="0"/>
          </a:p>
        </p:txBody>
      </p:sp>
      <p:pic>
        <p:nvPicPr>
          <p:cNvPr id="4" name="图片 3"/>
          <p:cNvPicPr>
            <a:picLocks noChangeAspect="1"/>
          </p:cNvPicPr>
          <p:nvPr/>
        </p:nvPicPr>
        <p:blipFill>
          <a:blip r:embed="rId2"/>
          <a:stretch>
            <a:fillRect/>
          </a:stretch>
        </p:blipFill>
        <p:spPr>
          <a:xfrm>
            <a:off x="2895338" y="1503877"/>
            <a:ext cx="8333295" cy="4516441"/>
          </a:xfrm>
          <a:prstGeom prst="rect">
            <a:avLst/>
          </a:prstGeom>
        </p:spPr>
      </p:pic>
      <mc:AlternateContent xmlns:mc="http://schemas.openxmlformats.org/markup-compatibility/2006" xmlns:a14="http://schemas.microsoft.com/office/drawing/2010/main">
        <mc:Choice Requires="a14">
          <p:sp>
            <p:nvSpPr>
              <p:cNvPr id="6" name="TextBox 5"/>
              <p:cNvSpPr txBox="1"/>
              <p:nvPr/>
            </p:nvSpPr>
            <p:spPr>
              <a:xfrm>
                <a:off x="462431" y="5416032"/>
                <a:ext cx="2413581" cy="461665"/>
              </a:xfrm>
              <a:prstGeom prst="rect">
                <a:avLst/>
              </a:prstGeom>
              <a:noFill/>
            </p:spPr>
            <p:txBody>
              <a:bodyPr wrap="square">
                <a:spAutoFit/>
              </a:bodyPr>
              <a:lstStyle/>
              <a:p>
                <a14:m>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𝑓</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𝑆</m:t>
                        </m:r>
                      </m:e>
                      <m:sub>
                        <m:r>
                          <a:rPr lang="en-US" altLang="zh-CN" sz="2400" b="0" i="1" smtClean="0">
                            <a:latin typeface="Cambria Math" panose="02040503050406030204" pitchFamily="18" charset="0"/>
                          </a:rPr>
                          <m:t>𝑖</m:t>
                        </m:r>
                      </m:sub>
                    </m:sSub>
                  </m:oMath>
                </a14:m>
                <a:r>
                  <a:rPr lang="en-US" altLang="zh-CN" sz="2400" dirty="0"/>
                  <a:t>, </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𝐶</m:t>
                        </m:r>
                      </m:e>
                      <m:sub>
                        <m:r>
                          <a:rPr lang="en-US" altLang="zh-CN" sz="2400" i="1">
                            <a:latin typeface="Cambria Math" panose="02040503050406030204" pitchFamily="18" charset="0"/>
                          </a:rPr>
                          <m:t>𝑖</m:t>
                        </m:r>
                      </m:sub>
                    </m:sSub>
                    <m:r>
                      <a:rPr lang="en-US" altLang="zh-CN" sz="2400" b="0" i="1" smtClean="0">
                        <a:latin typeface="Cambria Math" panose="02040503050406030204" pitchFamily="18" charset="0"/>
                      </a:rPr>
                      <m:t>)=</m:t>
                    </m:r>
                  </m:oMath>
                </a14:m>
                <a:r>
                  <a:rPr lang="en-US" altLang="zh-CN" sz="2400" dirty="0"/>
                  <a:t> </a:t>
                </a:r>
                <a14:m>
                  <m:oMath xmlns:m="http://schemas.openxmlformats.org/officeDocument/2006/math">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𝑆</m:t>
                        </m:r>
                      </m:e>
                      <m:sub>
                        <m:r>
                          <a:rPr lang="en-US" altLang="zh-CN" sz="2400" b="0" i="1" smtClean="0">
                            <a:latin typeface="Cambria Math" panose="02040503050406030204" pitchFamily="18" charset="0"/>
                          </a:rPr>
                          <m:t>𝑘</m:t>
                        </m:r>
                      </m:sub>
                    </m:sSub>
                  </m:oMath>
                </a14:m>
                <a:r>
                  <a:rPr lang="en-US" altLang="zh-CN" sz="2400" dirty="0"/>
                  <a:t> </a:t>
                </a:r>
                <a:endParaRPr lang="en-US" sz="2400" dirty="0"/>
              </a:p>
            </p:txBody>
          </p:sp>
        </mc:Choice>
        <mc:Fallback xmlns="">
          <p:sp>
            <p:nvSpPr>
              <p:cNvPr id="6" name="TextBox 5"/>
              <p:cNvSpPr txBox="1">
                <a:spLocks noRot="1" noChangeAspect="1" noMove="1" noResize="1" noEditPoints="1" noAdjustHandles="1" noChangeArrowheads="1" noChangeShapeType="1" noTextEdit="1"/>
              </p:cNvSpPr>
              <p:nvPr/>
            </p:nvSpPr>
            <p:spPr>
              <a:xfrm>
                <a:off x="462431" y="5416032"/>
                <a:ext cx="2413581" cy="461665"/>
              </a:xfrm>
              <a:prstGeom prst="rect">
                <a:avLst/>
              </a:prstGeom>
              <a:blipFill rotWithShape="1">
                <a:blip r:embed="rId3"/>
                <a:stretch>
                  <a:fillRect l="-6" t="-25" r="4" b="30"/>
                </a:stretch>
              </a:blipFill>
            </p:spPr>
            <p:txBody>
              <a:bodyPr/>
              <a:lstStyle/>
              <a:p>
                <a:r>
                  <a:rPr lang="zh-CN" altLang="en-US">
                    <a:noFill/>
                  </a:rPr>
                  <a:t> </a:t>
                </a:r>
              </a:p>
            </p:txBody>
          </p:sp>
        </mc:Fallback>
      </mc:AlternateContent>
      <p:sp>
        <p:nvSpPr>
          <p:cNvPr id="8" name="Rectangle 5"/>
          <p:cNvSpPr/>
          <p:nvPr/>
        </p:nvSpPr>
        <p:spPr>
          <a:xfrm>
            <a:off x="3004185" y="1644015"/>
            <a:ext cx="2470150" cy="533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C00000"/>
                </a:solidFill>
              </a:rPr>
              <a:t>与客户讨论</a:t>
            </a:r>
            <a:endParaRPr lang="en-US" altLang="zh-CN" dirty="0">
              <a:solidFill>
                <a:srgbClr val="C00000"/>
              </a:solidFill>
            </a:endParaRPr>
          </a:p>
          <a:p>
            <a:pPr algn="ctr"/>
            <a:r>
              <a:rPr lang="zh-CN" altLang="en-US" dirty="0">
                <a:solidFill>
                  <a:srgbClr val="C00000"/>
                </a:solidFill>
              </a:rPr>
              <a:t>每个状态与转换</a:t>
            </a:r>
          </a:p>
        </p:txBody>
      </p:sp>
      <p:sp>
        <p:nvSpPr>
          <p:cNvPr id="5" name="矩形 4"/>
          <p:cNvSpPr/>
          <p:nvPr/>
        </p:nvSpPr>
        <p:spPr>
          <a:xfrm>
            <a:off x="3773170" y="3778885"/>
            <a:ext cx="782320" cy="3892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病人</a:t>
            </a:r>
          </a:p>
        </p:txBody>
      </p:sp>
      <p:sp>
        <p:nvSpPr>
          <p:cNvPr id="7" name="矩形 6"/>
          <p:cNvSpPr/>
          <p:nvPr/>
        </p:nvSpPr>
        <p:spPr>
          <a:xfrm>
            <a:off x="5321300" y="3778885"/>
            <a:ext cx="782320" cy="3892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区域</a:t>
            </a:r>
          </a:p>
        </p:txBody>
      </p:sp>
      <p:sp>
        <p:nvSpPr>
          <p:cNvPr id="9" name="矩形 8"/>
          <p:cNvSpPr/>
          <p:nvPr/>
        </p:nvSpPr>
        <p:spPr>
          <a:xfrm>
            <a:off x="6978650" y="3778885"/>
            <a:ext cx="782320" cy="3892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设置</a:t>
            </a:r>
          </a:p>
        </p:txBody>
      </p:sp>
      <p:sp>
        <p:nvSpPr>
          <p:cNvPr id="11" name="矩形 10"/>
          <p:cNvSpPr/>
          <p:nvPr/>
        </p:nvSpPr>
        <p:spPr>
          <a:xfrm>
            <a:off x="8547735" y="3782695"/>
            <a:ext cx="782320" cy="3892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就绪</a:t>
            </a:r>
          </a:p>
        </p:txBody>
      </p:sp>
      <p:sp>
        <p:nvSpPr>
          <p:cNvPr id="12" name="矩形 11"/>
          <p:cNvSpPr/>
          <p:nvPr/>
        </p:nvSpPr>
        <p:spPr>
          <a:xfrm>
            <a:off x="10116820" y="3701415"/>
            <a:ext cx="894080" cy="5835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放射中</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3200" dirty="0">
                <a:latin typeface="Times New Roman" panose="02020603050405020304" charset="0"/>
              </a:rPr>
              <a:t>有限状态机模型</a:t>
            </a:r>
            <a:r>
              <a:rPr lang="en-US" altLang="zh-CN" sz="3200" dirty="0">
                <a:latin typeface="Times New Roman" panose="02020603050405020304" charset="0"/>
              </a:rPr>
              <a:t> - </a:t>
            </a:r>
            <a:r>
              <a:rPr lang="zh-CN" altLang="en-US" sz="3200" dirty="0">
                <a:latin typeface="Times New Roman" panose="02020603050405020304" charset="0"/>
              </a:rPr>
              <a:t>状态转换表</a:t>
            </a: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t>51</a:t>
            </a:fld>
            <a:endParaRPr lang="zh-CN" altLang="en-US" dirty="0"/>
          </a:p>
        </p:txBody>
      </p:sp>
      <p:pic>
        <p:nvPicPr>
          <p:cNvPr id="4" name="图片 3"/>
          <p:cNvPicPr>
            <a:picLocks noChangeAspect="1"/>
          </p:cNvPicPr>
          <p:nvPr/>
        </p:nvPicPr>
        <p:blipFill>
          <a:blip r:embed="rId3"/>
          <a:stretch>
            <a:fillRect/>
          </a:stretch>
        </p:blipFill>
        <p:spPr>
          <a:xfrm>
            <a:off x="3498850" y="1261110"/>
            <a:ext cx="8693150" cy="5095240"/>
          </a:xfrm>
          <a:prstGeom prst="rect">
            <a:avLst/>
          </a:prstGeom>
        </p:spPr>
      </p:pic>
      <p:sp>
        <p:nvSpPr>
          <p:cNvPr id="5" name="Rectangle 4"/>
          <p:cNvSpPr/>
          <p:nvPr/>
        </p:nvSpPr>
        <p:spPr>
          <a:xfrm>
            <a:off x="161858" y="1133475"/>
            <a:ext cx="3741069" cy="18554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C00000"/>
                </a:solidFill>
              </a:rPr>
              <a:t>何时使用状态转换图？</a:t>
            </a:r>
          </a:p>
        </p:txBody>
      </p:sp>
      <p:sp>
        <p:nvSpPr>
          <p:cNvPr id="8" name="Rectangle 5"/>
          <p:cNvSpPr/>
          <p:nvPr/>
        </p:nvSpPr>
        <p:spPr>
          <a:xfrm>
            <a:off x="4467225" y="5648960"/>
            <a:ext cx="6356985" cy="7073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C00000"/>
                </a:solidFill>
              </a:rPr>
              <a:t>此表可用于需求定义、程序设计和验收测试。</a:t>
            </a:r>
          </a:p>
        </p:txBody>
      </p:sp>
      <p:sp>
        <p:nvSpPr>
          <p:cNvPr id="7" name="矩形 6"/>
          <p:cNvSpPr/>
          <p:nvPr/>
        </p:nvSpPr>
        <p:spPr>
          <a:xfrm>
            <a:off x="3794125" y="1081405"/>
            <a:ext cx="8202930" cy="46742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9" name="表格 8"/>
          <p:cNvGraphicFramePr/>
          <p:nvPr>
            <p:custDataLst>
              <p:tags r:id="rId1"/>
            </p:custDataLst>
          </p:nvPr>
        </p:nvGraphicFramePr>
        <p:xfrm>
          <a:off x="3662680" y="1304290"/>
          <a:ext cx="7772400" cy="4216400"/>
        </p:xfrm>
        <a:graphic>
          <a:graphicData uri="http://schemas.openxmlformats.org/drawingml/2006/table">
            <a:tbl>
              <a:tblPr/>
              <a:tblGrid>
                <a:gridCol w="971550">
                  <a:extLst>
                    <a:ext uri="{9D8B030D-6E8A-4147-A177-3AD203B41FA5}">
                      <a16:colId xmlns:a16="http://schemas.microsoft.com/office/drawing/2014/main" val="20000"/>
                    </a:ext>
                  </a:extLst>
                </a:gridCol>
                <a:gridCol w="971550">
                  <a:extLst>
                    <a:ext uri="{9D8B030D-6E8A-4147-A177-3AD203B41FA5}">
                      <a16:colId xmlns:a16="http://schemas.microsoft.com/office/drawing/2014/main" val="20001"/>
                    </a:ext>
                  </a:extLst>
                </a:gridCol>
                <a:gridCol w="971550">
                  <a:extLst>
                    <a:ext uri="{9D8B030D-6E8A-4147-A177-3AD203B41FA5}">
                      <a16:colId xmlns:a16="http://schemas.microsoft.com/office/drawing/2014/main" val="20002"/>
                    </a:ext>
                  </a:extLst>
                </a:gridCol>
                <a:gridCol w="971550">
                  <a:extLst>
                    <a:ext uri="{9D8B030D-6E8A-4147-A177-3AD203B41FA5}">
                      <a16:colId xmlns:a16="http://schemas.microsoft.com/office/drawing/2014/main" val="20003"/>
                    </a:ext>
                  </a:extLst>
                </a:gridCol>
                <a:gridCol w="971550">
                  <a:extLst>
                    <a:ext uri="{9D8B030D-6E8A-4147-A177-3AD203B41FA5}">
                      <a16:colId xmlns:a16="http://schemas.microsoft.com/office/drawing/2014/main" val="20004"/>
                    </a:ext>
                  </a:extLst>
                </a:gridCol>
                <a:gridCol w="971550">
                  <a:extLst>
                    <a:ext uri="{9D8B030D-6E8A-4147-A177-3AD203B41FA5}">
                      <a16:colId xmlns:a16="http://schemas.microsoft.com/office/drawing/2014/main" val="20005"/>
                    </a:ext>
                  </a:extLst>
                </a:gridCol>
                <a:gridCol w="971550">
                  <a:extLst>
                    <a:ext uri="{9D8B030D-6E8A-4147-A177-3AD203B41FA5}">
                      <a16:colId xmlns:a16="http://schemas.microsoft.com/office/drawing/2014/main" val="20006"/>
                    </a:ext>
                  </a:extLst>
                </a:gridCol>
                <a:gridCol w="971550">
                  <a:extLst>
                    <a:ext uri="{9D8B030D-6E8A-4147-A177-3AD203B41FA5}">
                      <a16:colId xmlns:a16="http://schemas.microsoft.com/office/drawing/2014/main" val="20007"/>
                    </a:ext>
                  </a:extLst>
                </a:gridCol>
              </a:tblGrid>
              <a:tr h="608965">
                <a:tc>
                  <a:txBody>
                    <a:bodyPr/>
                    <a:lstStyle/>
                    <a:p>
                      <a:pPr marL="8255" indent="0" algn="ctr">
                        <a:spcBef>
                          <a:spcPct val="0"/>
                        </a:spcBef>
                        <a:spcAft>
                          <a:spcPct val="0"/>
                        </a:spcAft>
                      </a:pPr>
                      <a:r>
                        <a:rPr lang="zh-CN" altLang="en-US" sz="1800" b="1">
                          <a:latin typeface="Times New Roman" panose="02020603050405020304" charset="0"/>
                          <a:ea typeface="微软雅黑" panose="020B0503020204020204" pitchFamily="34" charset="-122"/>
                        </a:rPr>
                        <a:t>当前状态</a:t>
                      </a:r>
                    </a:p>
                  </a:txBody>
                  <a:tcPr marL="9525" marR="9525" marT="9525" marB="9525" anchor="ctr">
                    <a:lnL w="9525"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255" indent="0" algn="ctr">
                        <a:spcBef>
                          <a:spcPct val="0"/>
                        </a:spcBef>
                        <a:spcAft>
                          <a:spcPct val="0"/>
                        </a:spcAft>
                      </a:pPr>
                      <a:r>
                        <a:rPr lang="zh-CN" altLang="en-US" sz="1800" b="1">
                          <a:latin typeface="Times New Roman" panose="02020603050405020304" charset="0"/>
                          <a:ea typeface="微软雅黑" panose="020B0503020204020204" pitchFamily="34" charset="-122"/>
                        </a:rPr>
                        <a:t>选择病人</a:t>
                      </a:r>
                    </a:p>
                  </a:txBody>
                  <a:tcPr marL="9525" marR="9525" marT="9525" marB="9525"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255" indent="0" algn="ctr">
                        <a:spcBef>
                          <a:spcPct val="0"/>
                        </a:spcBef>
                        <a:spcAft>
                          <a:spcPct val="0"/>
                        </a:spcAft>
                      </a:pPr>
                      <a:r>
                        <a:rPr lang="zh-CN" altLang="en-US" sz="1800" b="1">
                          <a:latin typeface="Times New Roman" panose="02020603050405020304" charset="0"/>
                          <a:ea typeface="微软雅黑" panose="020B0503020204020204" pitchFamily="34" charset="-122"/>
                        </a:rPr>
                        <a:t>选择治疗区域</a:t>
                      </a:r>
                    </a:p>
                  </a:txBody>
                  <a:tcPr marL="9525" marR="9525" marT="9525" marB="9525"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255" indent="0" algn="ctr">
                        <a:spcBef>
                          <a:spcPct val="0"/>
                        </a:spcBef>
                        <a:spcAft>
                          <a:spcPct val="0"/>
                        </a:spcAft>
                      </a:pPr>
                      <a:r>
                        <a:rPr lang="zh-CN" altLang="en-US" sz="1800" b="1">
                          <a:latin typeface="Times New Roman" panose="02020603050405020304" charset="0"/>
                          <a:ea typeface="微软雅黑" panose="020B0503020204020204" pitchFamily="34" charset="-122"/>
                        </a:rPr>
                        <a:t>进入</a:t>
                      </a:r>
                    </a:p>
                  </a:txBody>
                  <a:tcPr marL="9525" marR="9525" marT="9525" marB="9525"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255" indent="0" algn="ctr">
                        <a:spcBef>
                          <a:spcPct val="0"/>
                        </a:spcBef>
                        <a:spcAft>
                          <a:spcPct val="0"/>
                        </a:spcAft>
                      </a:pPr>
                      <a:r>
                        <a:rPr lang="zh-CN" altLang="en-US" sz="1800" b="1">
                          <a:latin typeface="Times New Roman" panose="02020603050405020304" charset="0"/>
                          <a:ea typeface="微软雅黑" panose="020B0503020204020204" pitchFamily="34" charset="-122"/>
                        </a:rPr>
                        <a:t>解锁</a:t>
                      </a:r>
                    </a:p>
                  </a:txBody>
                  <a:tcPr marL="9525" marR="9525" marT="9525" marB="9525"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255" indent="0" algn="ctr">
                        <a:spcBef>
                          <a:spcPct val="0"/>
                        </a:spcBef>
                        <a:spcAft>
                          <a:spcPct val="0"/>
                        </a:spcAft>
                      </a:pPr>
                      <a:r>
                        <a:rPr lang="zh-CN" altLang="en-US" sz="1800" b="1">
                          <a:latin typeface="Times New Roman" panose="02020603050405020304" charset="0"/>
                          <a:ea typeface="微软雅黑" panose="020B0503020204020204" pitchFamily="34" charset="-122"/>
                        </a:rPr>
                        <a:t>开始</a:t>
                      </a:r>
                    </a:p>
                  </a:txBody>
                  <a:tcPr marL="9525" marR="9525" marT="9525" marB="9525"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255" indent="0" algn="ctr">
                        <a:spcBef>
                          <a:spcPct val="0"/>
                        </a:spcBef>
                        <a:spcAft>
                          <a:spcPct val="0"/>
                        </a:spcAft>
                      </a:pPr>
                      <a:r>
                        <a:rPr lang="zh-CN" altLang="en-US" sz="1800" b="1">
                          <a:latin typeface="Times New Roman" panose="02020603050405020304" charset="0"/>
                          <a:ea typeface="微软雅黑" panose="020B0503020204020204" pitchFamily="34" charset="-122"/>
                        </a:rPr>
                        <a:t>停止</a:t>
                      </a:r>
                    </a:p>
                  </a:txBody>
                  <a:tcPr marL="9525" marR="9525" marT="9525" marB="9525"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255" indent="0" algn="ctr">
                        <a:spcBef>
                          <a:spcPct val="0"/>
                        </a:spcBef>
                        <a:spcAft>
                          <a:spcPct val="0"/>
                        </a:spcAft>
                      </a:pPr>
                      <a:r>
                        <a:rPr lang="zh-CN" altLang="en-US" sz="1800" b="1">
                          <a:latin typeface="Times New Roman" panose="02020603050405020304" charset="0"/>
                          <a:ea typeface="微软雅黑" panose="020B0503020204020204" pitchFamily="34" charset="-122"/>
                        </a:rPr>
                        <a:t>上锁</a:t>
                      </a:r>
                    </a:p>
                  </a:txBody>
                  <a:tcPr marL="9525" marR="9525" marT="9525" marB="9525"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0"/>
                  </a:ext>
                </a:extLst>
              </a:tr>
              <a:tr h="991235">
                <a:tc>
                  <a:txBody>
                    <a:bodyPr/>
                    <a:lstStyle/>
                    <a:p>
                      <a:pPr marL="8255" indent="0" algn="ctr">
                        <a:spcBef>
                          <a:spcPct val="0"/>
                        </a:spcBef>
                        <a:spcAft>
                          <a:spcPct val="0"/>
                        </a:spcAft>
                      </a:pPr>
                      <a:r>
                        <a:rPr lang="zh-CN" altLang="en-US" sz="1800">
                          <a:latin typeface="Times New Roman" panose="02020603050405020304" charset="0"/>
                          <a:ea typeface="微软雅黑" panose="020B0503020204020204" pitchFamily="34" charset="-122"/>
                        </a:rPr>
                        <a:t>病人</a:t>
                      </a:r>
                    </a:p>
                  </a:txBody>
                  <a:tcPr marL="9525" marR="9525" marT="9525" marB="9525"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255" indent="0" algn="ctr">
                        <a:spcBef>
                          <a:spcPct val="0"/>
                        </a:spcBef>
                        <a:spcAft>
                          <a:spcPct val="0"/>
                        </a:spcAft>
                      </a:pPr>
                      <a:r>
                        <a:rPr lang="en-US" altLang="zh-CN" sz="1800">
                          <a:latin typeface="Times New Roman" panose="02020603050405020304" charset="0"/>
                          <a:ea typeface="微软雅黑" panose="020B0503020204020204" pitchFamily="34" charset="-122"/>
                        </a:rPr>
                        <a:t>—</a:t>
                      </a:r>
                    </a:p>
                  </a:txBody>
                  <a:tcPr marL="9525" marR="9525" marT="9525" marB="9525"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255" indent="0" algn="ctr">
                        <a:spcBef>
                          <a:spcPct val="0"/>
                        </a:spcBef>
                        <a:spcAft>
                          <a:spcPct val="0"/>
                        </a:spcAft>
                      </a:pPr>
                      <a:r>
                        <a:rPr lang="en-US" altLang="zh-CN" sz="1800">
                          <a:latin typeface="Times New Roman" panose="02020603050405020304" charset="0"/>
                          <a:ea typeface="微软雅黑" panose="020B0503020204020204" pitchFamily="34" charset="-122"/>
                        </a:rPr>
                        <a:t>—</a:t>
                      </a:r>
                    </a:p>
                  </a:txBody>
                  <a:tcPr marL="9525" marR="9525" marT="9525" marB="9525"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255" indent="0" algn="ctr">
                        <a:spcBef>
                          <a:spcPct val="0"/>
                        </a:spcBef>
                        <a:spcAft>
                          <a:spcPct val="0"/>
                        </a:spcAft>
                      </a:pPr>
                      <a:r>
                        <a:rPr lang="zh-CN" altLang="en-US" sz="1800">
                          <a:latin typeface="Times New Roman" panose="02020603050405020304" charset="0"/>
                          <a:ea typeface="微软雅黑" panose="020B0503020204020204" pitchFamily="34" charset="-122"/>
                        </a:rPr>
                        <a:t>治疗区域</a:t>
                      </a:r>
                    </a:p>
                  </a:txBody>
                  <a:tcPr marL="9525" marR="9525" marT="9525" marB="9525"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255" indent="0" algn="ctr">
                        <a:spcBef>
                          <a:spcPct val="0"/>
                        </a:spcBef>
                        <a:spcAft>
                          <a:spcPct val="0"/>
                        </a:spcAft>
                      </a:pPr>
                      <a:r>
                        <a:rPr lang="en-US" altLang="zh-CN" sz="1800">
                          <a:latin typeface="Times New Roman" panose="02020603050405020304" charset="0"/>
                          <a:ea typeface="微软雅黑" panose="020B0503020204020204" pitchFamily="34" charset="-122"/>
                        </a:rPr>
                        <a:t>—</a:t>
                      </a:r>
                    </a:p>
                  </a:txBody>
                  <a:tcPr marL="9525" marR="9525" marT="9525" marB="9525"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255" indent="0" algn="ctr">
                        <a:spcBef>
                          <a:spcPct val="0"/>
                        </a:spcBef>
                        <a:spcAft>
                          <a:spcPct val="0"/>
                        </a:spcAft>
                      </a:pPr>
                      <a:r>
                        <a:rPr lang="en-US" altLang="zh-CN" sz="1800">
                          <a:latin typeface="Times New Roman" panose="02020603050405020304" charset="0"/>
                          <a:ea typeface="微软雅黑" panose="020B0503020204020204" pitchFamily="34" charset="-122"/>
                        </a:rPr>
                        <a:t>—</a:t>
                      </a:r>
                    </a:p>
                  </a:txBody>
                  <a:tcPr marL="9525" marR="9525" marT="9525" marB="9525"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255" indent="0" algn="ctr">
                        <a:spcBef>
                          <a:spcPct val="0"/>
                        </a:spcBef>
                        <a:spcAft>
                          <a:spcPct val="0"/>
                        </a:spcAft>
                      </a:pPr>
                      <a:r>
                        <a:rPr lang="en-US" altLang="zh-CN" sz="1800">
                          <a:latin typeface="Times New Roman" panose="02020603050405020304" charset="0"/>
                          <a:ea typeface="微软雅黑" panose="020B0503020204020204" pitchFamily="34" charset="-122"/>
                        </a:rPr>
                        <a:t>—</a:t>
                      </a:r>
                    </a:p>
                  </a:txBody>
                  <a:tcPr marL="9525" marR="9525" marT="9525" marB="9525"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255" indent="0" algn="ctr">
                        <a:spcBef>
                          <a:spcPct val="0"/>
                        </a:spcBef>
                        <a:spcAft>
                          <a:spcPct val="0"/>
                        </a:spcAft>
                      </a:pPr>
                      <a:r>
                        <a:rPr lang="en-US" altLang="zh-CN" sz="1800">
                          <a:latin typeface="Times New Roman" panose="02020603050405020304" charset="0"/>
                          <a:ea typeface="微软雅黑" panose="020B0503020204020204" pitchFamily="34" charset="-122"/>
                        </a:rPr>
                        <a:t>—</a:t>
                      </a:r>
                    </a:p>
                  </a:txBody>
                  <a:tcPr marL="9525" marR="9525" marT="9525" marB="9525"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1"/>
                  </a:ext>
                </a:extLst>
              </a:tr>
              <a:tr h="770255">
                <a:tc>
                  <a:txBody>
                    <a:bodyPr/>
                    <a:lstStyle/>
                    <a:p>
                      <a:pPr marL="8255" indent="0" algn="ctr">
                        <a:spcBef>
                          <a:spcPct val="0"/>
                        </a:spcBef>
                        <a:spcAft>
                          <a:spcPct val="0"/>
                        </a:spcAft>
                      </a:pPr>
                      <a:r>
                        <a:rPr lang="zh-CN" altLang="en-US" sz="1800">
                          <a:latin typeface="Times New Roman" panose="02020603050405020304" charset="0"/>
                          <a:ea typeface="微软雅黑" panose="020B0503020204020204" pitchFamily="34" charset="-122"/>
                        </a:rPr>
                        <a:t>治疗区域</a:t>
                      </a:r>
                    </a:p>
                  </a:txBody>
                  <a:tcPr marL="9525" marR="9525" marT="9525" marB="9525"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255" indent="0" algn="ctr">
                        <a:spcBef>
                          <a:spcPct val="0"/>
                        </a:spcBef>
                        <a:spcAft>
                          <a:spcPct val="0"/>
                        </a:spcAft>
                      </a:pPr>
                      <a:r>
                        <a:rPr lang="zh-CN" altLang="en-US" sz="1800">
                          <a:latin typeface="Times New Roman" panose="02020603050405020304" charset="0"/>
                          <a:ea typeface="微软雅黑" panose="020B0503020204020204" pitchFamily="34" charset="-122"/>
                        </a:rPr>
                        <a:t>病人</a:t>
                      </a:r>
                    </a:p>
                  </a:txBody>
                  <a:tcPr marL="9525" marR="9525" marT="9525" marB="9525"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255" indent="0" algn="ctr">
                        <a:spcBef>
                          <a:spcPct val="0"/>
                        </a:spcBef>
                        <a:spcAft>
                          <a:spcPct val="0"/>
                        </a:spcAft>
                      </a:pPr>
                      <a:r>
                        <a:rPr lang="en-US" altLang="zh-CN" sz="1800">
                          <a:latin typeface="Times New Roman" panose="02020603050405020304" charset="0"/>
                          <a:ea typeface="微软雅黑" panose="020B0503020204020204" pitchFamily="34" charset="-122"/>
                        </a:rPr>
                        <a:t>—</a:t>
                      </a:r>
                    </a:p>
                  </a:txBody>
                  <a:tcPr marL="9525" marR="9525" marT="9525" marB="9525"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255" indent="0" algn="ctr">
                        <a:spcBef>
                          <a:spcPct val="0"/>
                        </a:spcBef>
                        <a:spcAft>
                          <a:spcPct val="0"/>
                        </a:spcAft>
                      </a:pPr>
                      <a:r>
                        <a:rPr lang="zh-CN" altLang="en-US" sz="1800">
                          <a:latin typeface="Times New Roman" panose="02020603050405020304" charset="0"/>
                          <a:ea typeface="微软雅黑" panose="020B0503020204020204" pitchFamily="34" charset="-122"/>
                        </a:rPr>
                        <a:t>设置</a:t>
                      </a:r>
                    </a:p>
                  </a:txBody>
                  <a:tcPr marL="9525" marR="9525" marT="9525" marB="9525"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255" indent="0" algn="ctr">
                        <a:spcBef>
                          <a:spcPct val="0"/>
                        </a:spcBef>
                        <a:spcAft>
                          <a:spcPct val="0"/>
                        </a:spcAft>
                      </a:pPr>
                      <a:r>
                        <a:rPr lang="en-US" altLang="zh-CN" sz="1800">
                          <a:latin typeface="Times New Roman" panose="02020603050405020304" charset="0"/>
                          <a:ea typeface="微软雅黑" panose="020B0503020204020204" pitchFamily="34" charset="-122"/>
                        </a:rPr>
                        <a:t>—</a:t>
                      </a:r>
                    </a:p>
                  </a:txBody>
                  <a:tcPr marL="9525" marR="9525" marT="9525" marB="9525"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255" indent="0" algn="ctr">
                        <a:spcBef>
                          <a:spcPct val="0"/>
                        </a:spcBef>
                        <a:spcAft>
                          <a:spcPct val="0"/>
                        </a:spcAft>
                      </a:pPr>
                      <a:r>
                        <a:rPr lang="en-US" altLang="zh-CN" sz="1800">
                          <a:latin typeface="Times New Roman" panose="02020603050405020304" charset="0"/>
                          <a:ea typeface="微软雅黑" panose="020B0503020204020204" pitchFamily="34" charset="-122"/>
                        </a:rPr>
                        <a:t>—</a:t>
                      </a:r>
                    </a:p>
                  </a:txBody>
                  <a:tcPr marL="9525" marR="9525" marT="9525" marB="9525"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255" indent="0" algn="ctr">
                        <a:spcBef>
                          <a:spcPct val="0"/>
                        </a:spcBef>
                        <a:spcAft>
                          <a:spcPct val="0"/>
                        </a:spcAft>
                      </a:pPr>
                      <a:r>
                        <a:rPr lang="en-US" altLang="zh-CN" sz="1800">
                          <a:latin typeface="Times New Roman" panose="02020603050405020304" charset="0"/>
                          <a:ea typeface="微软雅黑" panose="020B0503020204020204" pitchFamily="34" charset="-122"/>
                        </a:rPr>
                        <a:t>—</a:t>
                      </a:r>
                    </a:p>
                  </a:txBody>
                  <a:tcPr marL="9525" marR="9525" marT="9525" marB="9525"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255" indent="0" algn="ctr">
                        <a:spcBef>
                          <a:spcPct val="0"/>
                        </a:spcBef>
                        <a:spcAft>
                          <a:spcPct val="0"/>
                        </a:spcAft>
                      </a:pPr>
                      <a:r>
                        <a:rPr lang="en-US" altLang="zh-CN" sz="1800">
                          <a:latin typeface="Times New Roman" panose="02020603050405020304" charset="0"/>
                          <a:ea typeface="微软雅黑" panose="020B0503020204020204" pitchFamily="34" charset="-122"/>
                        </a:rPr>
                        <a:t>—</a:t>
                      </a:r>
                    </a:p>
                  </a:txBody>
                  <a:tcPr marL="9525" marR="9525" marT="9525" marB="9525"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2"/>
                  </a:ext>
                </a:extLst>
              </a:tr>
              <a:tr h="615950">
                <a:tc>
                  <a:txBody>
                    <a:bodyPr/>
                    <a:lstStyle/>
                    <a:p>
                      <a:pPr marL="8255" indent="0" algn="ctr">
                        <a:spcBef>
                          <a:spcPct val="0"/>
                        </a:spcBef>
                        <a:spcAft>
                          <a:spcPct val="0"/>
                        </a:spcAft>
                      </a:pPr>
                      <a:r>
                        <a:rPr lang="zh-CN" altLang="en-US" sz="1800">
                          <a:latin typeface="Times New Roman" panose="02020603050405020304" charset="0"/>
                          <a:ea typeface="微软雅黑" panose="020B0503020204020204" pitchFamily="34" charset="-122"/>
                        </a:rPr>
                        <a:t>设置</a:t>
                      </a:r>
                    </a:p>
                  </a:txBody>
                  <a:tcPr marL="9525" marR="9525" marT="9525" marB="9525"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255" indent="0" algn="ctr">
                        <a:spcBef>
                          <a:spcPct val="0"/>
                        </a:spcBef>
                        <a:spcAft>
                          <a:spcPct val="0"/>
                        </a:spcAft>
                      </a:pPr>
                      <a:r>
                        <a:rPr lang="zh-CN" altLang="en-US" sz="1800">
                          <a:latin typeface="Times New Roman" panose="02020603050405020304" charset="0"/>
                          <a:ea typeface="微软雅黑" panose="020B0503020204020204" pitchFamily="34" charset="-122"/>
                        </a:rPr>
                        <a:t>病人</a:t>
                      </a:r>
                    </a:p>
                  </a:txBody>
                  <a:tcPr marL="9525" marR="9525" marT="9525" marB="9525"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255" indent="0" algn="ctr">
                        <a:spcBef>
                          <a:spcPct val="0"/>
                        </a:spcBef>
                        <a:spcAft>
                          <a:spcPct val="0"/>
                        </a:spcAft>
                      </a:pPr>
                      <a:r>
                        <a:rPr lang="zh-CN" altLang="en-US" sz="1800">
                          <a:latin typeface="Times New Roman" panose="02020603050405020304" charset="0"/>
                          <a:ea typeface="微软雅黑" panose="020B0503020204020204" pitchFamily="34" charset="-122"/>
                        </a:rPr>
                        <a:t>治疗区域</a:t>
                      </a:r>
                    </a:p>
                  </a:txBody>
                  <a:tcPr marL="9525" marR="9525" marT="9525" marB="9525"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255" indent="0" algn="ctr">
                        <a:spcBef>
                          <a:spcPct val="0"/>
                        </a:spcBef>
                        <a:spcAft>
                          <a:spcPct val="0"/>
                        </a:spcAft>
                      </a:pPr>
                      <a:r>
                        <a:rPr lang="en-US" altLang="zh-CN" sz="1800">
                          <a:latin typeface="Times New Roman" panose="02020603050405020304" charset="0"/>
                          <a:ea typeface="微软雅黑" panose="020B0503020204020204" pitchFamily="34" charset="-122"/>
                        </a:rPr>
                        <a:t>—</a:t>
                      </a:r>
                    </a:p>
                  </a:txBody>
                  <a:tcPr marL="9525" marR="9525" marT="9525" marB="9525"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255" indent="0" algn="ctr">
                        <a:spcBef>
                          <a:spcPct val="0"/>
                        </a:spcBef>
                        <a:spcAft>
                          <a:spcPct val="0"/>
                        </a:spcAft>
                      </a:pPr>
                      <a:r>
                        <a:rPr lang="zh-CN" altLang="en-US" sz="1800">
                          <a:latin typeface="Times New Roman" panose="02020603050405020304" charset="0"/>
                          <a:ea typeface="微软雅黑" panose="020B0503020204020204" pitchFamily="34" charset="-122"/>
                        </a:rPr>
                        <a:t>就绪</a:t>
                      </a:r>
                    </a:p>
                  </a:txBody>
                  <a:tcPr marL="9525" marR="9525" marT="9525" marB="9525"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255" indent="0" algn="ctr">
                        <a:spcBef>
                          <a:spcPct val="0"/>
                        </a:spcBef>
                        <a:spcAft>
                          <a:spcPct val="0"/>
                        </a:spcAft>
                      </a:pPr>
                      <a:r>
                        <a:rPr lang="en-US" altLang="zh-CN" sz="1800">
                          <a:latin typeface="Times New Roman" panose="02020603050405020304" charset="0"/>
                          <a:ea typeface="微软雅黑" panose="020B0503020204020204" pitchFamily="34" charset="-122"/>
                        </a:rPr>
                        <a:t>—</a:t>
                      </a:r>
                    </a:p>
                  </a:txBody>
                  <a:tcPr marL="9525" marR="9525" marT="9525" marB="9525"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255" indent="0" algn="ctr">
                        <a:spcBef>
                          <a:spcPct val="0"/>
                        </a:spcBef>
                        <a:spcAft>
                          <a:spcPct val="0"/>
                        </a:spcAft>
                      </a:pPr>
                      <a:r>
                        <a:rPr lang="en-US" altLang="zh-CN" sz="1800">
                          <a:latin typeface="Times New Roman" panose="02020603050405020304" charset="0"/>
                          <a:ea typeface="微软雅黑" panose="020B0503020204020204" pitchFamily="34" charset="-122"/>
                        </a:rPr>
                        <a:t>—</a:t>
                      </a:r>
                    </a:p>
                  </a:txBody>
                  <a:tcPr marL="9525" marR="9525" marT="9525" marB="9525"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255" indent="0" algn="ctr">
                        <a:spcBef>
                          <a:spcPct val="0"/>
                        </a:spcBef>
                        <a:spcAft>
                          <a:spcPct val="0"/>
                        </a:spcAft>
                      </a:pPr>
                      <a:r>
                        <a:rPr lang="en-US" altLang="zh-CN" sz="1800">
                          <a:latin typeface="Times New Roman" panose="02020603050405020304" charset="0"/>
                          <a:ea typeface="微软雅黑" panose="020B0503020204020204" pitchFamily="34" charset="-122"/>
                        </a:rPr>
                        <a:t>—</a:t>
                      </a:r>
                    </a:p>
                  </a:txBody>
                  <a:tcPr marL="9525" marR="9525" marT="9525" marB="9525"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3"/>
                  </a:ext>
                </a:extLst>
              </a:tr>
              <a:tr h="614680">
                <a:tc>
                  <a:txBody>
                    <a:bodyPr/>
                    <a:lstStyle/>
                    <a:p>
                      <a:pPr marL="8255" indent="0" algn="ctr">
                        <a:spcBef>
                          <a:spcPct val="0"/>
                        </a:spcBef>
                        <a:spcAft>
                          <a:spcPct val="0"/>
                        </a:spcAft>
                      </a:pPr>
                      <a:r>
                        <a:rPr lang="zh-CN" altLang="en-US" sz="1800">
                          <a:latin typeface="Times New Roman" panose="02020603050405020304" charset="0"/>
                          <a:ea typeface="微软雅黑" panose="020B0503020204020204" pitchFamily="34" charset="-122"/>
                        </a:rPr>
                        <a:t>就绪</a:t>
                      </a:r>
                    </a:p>
                  </a:txBody>
                  <a:tcPr marL="9525" marR="9525" marT="9525" marB="9525"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255" indent="0" algn="ctr">
                        <a:spcBef>
                          <a:spcPct val="0"/>
                        </a:spcBef>
                        <a:spcAft>
                          <a:spcPct val="0"/>
                        </a:spcAft>
                      </a:pPr>
                      <a:r>
                        <a:rPr lang="zh-CN" altLang="en-US" sz="1800">
                          <a:latin typeface="Times New Roman" panose="02020603050405020304" charset="0"/>
                          <a:ea typeface="微软雅黑" panose="020B0503020204020204" pitchFamily="34" charset="-122"/>
                        </a:rPr>
                        <a:t>病人</a:t>
                      </a:r>
                    </a:p>
                  </a:txBody>
                  <a:tcPr marL="9525" marR="9525" marT="9525" marB="9525"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255" indent="0" algn="ctr">
                        <a:spcBef>
                          <a:spcPct val="0"/>
                        </a:spcBef>
                        <a:spcAft>
                          <a:spcPct val="0"/>
                        </a:spcAft>
                      </a:pPr>
                      <a:r>
                        <a:rPr lang="zh-CN" altLang="en-US" sz="1800">
                          <a:latin typeface="Times New Roman" panose="02020603050405020304" charset="0"/>
                          <a:ea typeface="微软雅黑" panose="020B0503020204020204" pitchFamily="34" charset="-122"/>
                        </a:rPr>
                        <a:t>治疗区域</a:t>
                      </a:r>
                    </a:p>
                  </a:txBody>
                  <a:tcPr marL="9525" marR="9525" marT="9525" marB="9525"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255" indent="0" algn="ctr">
                        <a:spcBef>
                          <a:spcPct val="0"/>
                        </a:spcBef>
                        <a:spcAft>
                          <a:spcPct val="0"/>
                        </a:spcAft>
                      </a:pPr>
                      <a:r>
                        <a:rPr lang="en-US" altLang="zh-CN" sz="1800">
                          <a:latin typeface="Times New Roman" panose="02020603050405020304" charset="0"/>
                          <a:ea typeface="微软雅黑" panose="020B0503020204020204" pitchFamily="34" charset="-122"/>
                        </a:rPr>
                        <a:t>—</a:t>
                      </a:r>
                    </a:p>
                  </a:txBody>
                  <a:tcPr marL="9525" marR="9525" marT="9525" marB="9525"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255" indent="0" algn="ctr">
                        <a:spcBef>
                          <a:spcPct val="0"/>
                        </a:spcBef>
                        <a:spcAft>
                          <a:spcPct val="0"/>
                        </a:spcAft>
                      </a:pPr>
                      <a:r>
                        <a:rPr lang="en-US" altLang="zh-CN" sz="1800">
                          <a:latin typeface="Times New Roman" panose="02020603050405020304" charset="0"/>
                          <a:ea typeface="微软雅黑" panose="020B0503020204020204" pitchFamily="34" charset="-122"/>
                        </a:rPr>
                        <a:t>—</a:t>
                      </a:r>
                    </a:p>
                  </a:txBody>
                  <a:tcPr marL="9525" marR="9525" marT="9525" marB="9525"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255" indent="0" algn="ctr">
                        <a:spcBef>
                          <a:spcPct val="0"/>
                        </a:spcBef>
                        <a:spcAft>
                          <a:spcPct val="0"/>
                        </a:spcAft>
                      </a:pPr>
                      <a:r>
                        <a:rPr lang="zh-CN" altLang="en-US" sz="1800">
                          <a:latin typeface="Times New Roman" panose="02020603050405020304" charset="0"/>
                          <a:ea typeface="微软雅黑" panose="020B0503020204020204" pitchFamily="34" charset="-122"/>
                        </a:rPr>
                        <a:t>放射中</a:t>
                      </a:r>
                    </a:p>
                  </a:txBody>
                  <a:tcPr marL="9525" marR="9525" marT="9525" marB="9525"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255" indent="0" algn="ctr">
                        <a:spcBef>
                          <a:spcPct val="0"/>
                        </a:spcBef>
                        <a:spcAft>
                          <a:spcPct val="0"/>
                        </a:spcAft>
                      </a:pPr>
                      <a:r>
                        <a:rPr lang="en-US" altLang="zh-CN" sz="1800">
                          <a:latin typeface="Times New Roman" panose="02020603050405020304" charset="0"/>
                          <a:ea typeface="微软雅黑" panose="020B0503020204020204" pitchFamily="34" charset="-122"/>
                        </a:rPr>
                        <a:t>—</a:t>
                      </a:r>
                    </a:p>
                  </a:txBody>
                  <a:tcPr marL="9525" marR="9525" marT="9525" marB="9525"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255" indent="0" algn="ctr">
                        <a:spcBef>
                          <a:spcPct val="0"/>
                        </a:spcBef>
                        <a:spcAft>
                          <a:spcPct val="0"/>
                        </a:spcAft>
                      </a:pPr>
                      <a:r>
                        <a:rPr lang="zh-CN" altLang="en-US" sz="1800">
                          <a:latin typeface="Times New Roman" panose="02020603050405020304" charset="0"/>
                          <a:ea typeface="微软雅黑" panose="020B0503020204020204" pitchFamily="34" charset="-122"/>
                        </a:rPr>
                        <a:t>设置</a:t>
                      </a:r>
                    </a:p>
                  </a:txBody>
                  <a:tcPr marL="9525" marR="9525" marT="9525" marB="9525"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4"/>
                  </a:ext>
                </a:extLst>
              </a:tr>
              <a:tr h="615315">
                <a:tc>
                  <a:txBody>
                    <a:bodyPr/>
                    <a:lstStyle/>
                    <a:p>
                      <a:pPr marL="8255" indent="0" algn="ctr">
                        <a:spcBef>
                          <a:spcPct val="0"/>
                        </a:spcBef>
                        <a:spcAft>
                          <a:spcPct val="0"/>
                        </a:spcAft>
                      </a:pPr>
                      <a:r>
                        <a:rPr lang="zh-CN" altLang="en-US" sz="1800">
                          <a:latin typeface="Times New Roman" panose="02020603050405020304" charset="0"/>
                          <a:ea typeface="微软雅黑" panose="020B0503020204020204" pitchFamily="34" charset="-122"/>
                        </a:rPr>
                        <a:t>放射中</a:t>
                      </a:r>
                    </a:p>
                  </a:txBody>
                  <a:tcPr marL="9525" marR="9525" marT="9525" marB="9525"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255" indent="0" algn="ctr">
                        <a:spcBef>
                          <a:spcPct val="0"/>
                        </a:spcBef>
                        <a:spcAft>
                          <a:spcPct val="0"/>
                        </a:spcAft>
                      </a:pPr>
                      <a:r>
                        <a:rPr lang="en-US" altLang="zh-CN" sz="1800">
                          <a:latin typeface="Times New Roman" panose="02020603050405020304" charset="0"/>
                          <a:ea typeface="微软雅黑" panose="020B0503020204020204" pitchFamily="34" charset="-122"/>
                        </a:rPr>
                        <a:t>—</a:t>
                      </a:r>
                    </a:p>
                  </a:txBody>
                  <a:tcPr marL="9525" marR="9525" marT="9525" marB="9525"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255" indent="0" algn="ctr">
                        <a:spcBef>
                          <a:spcPct val="0"/>
                        </a:spcBef>
                        <a:spcAft>
                          <a:spcPct val="0"/>
                        </a:spcAft>
                      </a:pPr>
                      <a:r>
                        <a:rPr lang="en-US" altLang="zh-CN" sz="1800">
                          <a:latin typeface="Times New Roman" panose="02020603050405020304" charset="0"/>
                          <a:ea typeface="微软雅黑" panose="020B0503020204020204" pitchFamily="34" charset="-122"/>
                        </a:rPr>
                        <a:t>—</a:t>
                      </a:r>
                    </a:p>
                  </a:txBody>
                  <a:tcPr marL="9525" marR="9525" marT="9525" marB="9525"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255" indent="0" algn="ctr">
                        <a:spcBef>
                          <a:spcPct val="0"/>
                        </a:spcBef>
                        <a:spcAft>
                          <a:spcPct val="0"/>
                        </a:spcAft>
                      </a:pPr>
                      <a:r>
                        <a:rPr lang="en-US" altLang="zh-CN" sz="1800">
                          <a:latin typeface="Times New Roman" panose="02020603050405020304" charset="0"/>
                          <a:ea typeface="微软雅黑" panose="020B0503020204020204" pitchFamily="34" charset="-122"/>
                        </a:rPr>
                        <a:t>—</a:t>
                      </a:r>
                    </a:p>
                  </a:txBody>
                  <a:tcPr marL="9525" marR="9525" marT="9525" marB="9525"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255" indent="0" algn="ctr">
                        <a:spcBef>
                          <a:spcPct val="0"/>
                        </a:spcBef>
                        <a:spcAft>
                          <a:spcPct val="0"/>
                        </a:spcAft>
                      </a:pPr>
                      <a:r>
                        <a:rPr lang="en-US" altLang="zh-CN" sz="1800">
                          <a:latin typeface="Times New Roman" panose="02020603050405020304" charset="0"/>
                          <a:ea typeface="微软雅黑" panose="020B0503020204020204" pitchFamily="34" charset="-122"/>
                        </a:rPr>
                        <a:t>—</a:t>
                      </a:r>
                    </a:p>
                  </a:txBody>
                  <a:tcPr marL="9525" marR="9525" marT="9525" marB="9525"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255" indent="0" algn="ctr">
                        <a:spcBef>
                          <a:spcPct val="0"/>
                        </a:spcBef>
                        <a:spcAft>
                          <a:spcPct val="0"/>
                        </a:spcAft>
                      </a:pPr>
                      <a:r>
                        <a:rPr lang="en-US" altLang="zh-CN" sz="1800">
                          <a:latin typeface="Times New Roman" panose="02020603050405020304" charset="0"/>
                          <a:ea typeface="微软雅黑" panose="020B0503020204020204" pitchFamily="34" charset="-122"/>
                        </a:rPr>
                        <a:t>—</a:t>
                      </a:r>
                    </a:p>
                  </a:txBody>
                  <a:tcPr marL="9525" marR="9525" marT="9525" marB="9525"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255" indent="0" algn="ctr">
                        <a:spcBef>
                          <a:spcPct val="0"/>
                        </a:spcBef>
                        <a:spcAft>
                          <a:spcPct val="0"/>
                        </a:spcAft>
                      </a:pPr>
                      <a:r>
                        <a:rPr lang="zh-CN" altLang="en-US" sz="1800">
                          <a:latin typeface="Times New Roman" panose="02020603050405020304" charset="0"/>
                          <a:ea typeface="微软雅黑" panose="020B0503020204020204" pitchFamily="34" charset="-122"/>
                        </a:rPr>
                        <a:t>就绪</a:t>
                      </a:r>
                    </a:p>
                  </a:txBody>
                  <a:tcPr marL="9525" marR="9525" marT="9525" marB="9525"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255" indent="0" algn="ctr">
                        <a:spcBef>
                          <a:spcPct val="0"/>
                        </a:spcBef>
                        <a:spcAft>
                          <a:spcPct val="0"/>
                        </a:spcAft>
                      </a:pPr>
                      <a:r>
                        <a:rPr lang="zh-CN" altLang="en-US" sz="1800">
                          <a:latin typeface="Times New Roman" panose="02020603050405020304" charset="0"/>
                          <a:ea typeface="微软雅黑" panose="020B0503020204020204" pitchFamily="34" charset="-122"/>
                        </a:rPr>
                        <a:t>设置</a:t>
                      </a:r>
                    </a:p>
                  </a:txBody>
                  <a:tcPr marL="9525" marR="9525" marT="9525" marB="9525"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3200" dirty="0">
                <a:latin typeface="Times New Roman" panose="02020603050405020304" charset="0"/>
              </a:rPr>
              <a:t>实体</a:t>
            </a:r>
            <a:r>
              <a:rPr lang="en-US" altLang="zh-CN" sz="3200" dirty="0">
                <a:latin typeface="Times New Roman" panose="02020603050405020304" charset="0"/>
              </a:rPr>
              <a:t>-</a:t>
            </a:r>
            <a:r>
              <a:rPr lang="zh-CN" altLang="en-US" sz="3200" dirty="0">
                <a:latin typeface="Times New Roman" panose="02020603050405020304" charset="0"/>
              </a:rPr>
              <a:t>关系模型</a:t>
            </a: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t>52</a:t>
            </a:fld>
            <a:endParaRPr lang="zh-CN" altLang="en-US" dirty="0"/>
          </a:p>
        </p:txBody>
      </p:sp>
      <p:sp>
        <p:nvSpPr>
          <p:cNvPr id="8" name="TextBox 3"/>
          <p:cNvSpPr txBox="1"/>
          <p:nvPr/>
        </p:nvSpPr>
        <p:spPr>
          <a:xfrm>
            <a:off x="572375" y="1802977"/>
            <a:ext cx="11163995" cy="2861310"/>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20204" pitchFamily="34" charset="0"/>
              </a:rPr>
              <a:t>用于关系型数据库的需求和设计方法。</a:t>
            </a:r>
          </a:p>
          <a:p>
            <a:endParaRPr lang="en-US" altLang="zh-CN" sz="2000" b="1" dirty="0">
              <a:solidFill>
                <a:srgbClr val="515223"/>
              </a:solidFill>
              <a:latin typeface="Helvetica" pitchFamily="2" charset="0"/>
              <a:cs typeface="Arial" panose="020B0604020202020204" pitchFamily="34" charset="0"/>
            </a:endParaRPr>
          </a:p>
          <a:p>
            <a:pPr marL="342900" indent="-342900">
              <a:buFont typeface="Arial" panose="020B0604020202020204" pitchFamily="34" charset="0"/>
              <a:buChar char="•"/>
            </a:pPr>
            <a:r>
              <a:rPr lang="en-US" altLang="zh-CN" sz="2000" dirty="0"/>
              <a:t>实体和关系的数据库。</a:t>
            </a:r>
          </a:p>
          <a:p>
            <a:pPr marL="342900" indent="-342900">
              <a:buFont typeface="Arial" panose="020B0604020202020204" pitchFamily="34" charset="0"/>
              <a:buChar char="•"/>
            </a:pPr>
            <a:endParaRPr lang="en-US" altLang="zh-CN" sz="2000" dirty="0"/>
          </a:p>
          <a:p>
            <a:pPr marL="342900" indent="-342900">
              <a:buFont typeface="Arial" panose="020B0604020202020204" pitchFamily="34" charset="0"/>
              <a:buChar char="•"/>
            </a:pPr>
            <a:r>
              <a:rPr lang="en-US" altLang="zh-CN" sz="2000" dirty="0"/>
              <a:t>用于显示和操作实体-关系图的工具。</a:t>
            </a:r>
          </a:p>
          <a:p>
            <a:pPr marL="342900" indent="-342900">
              <a:buFont typeface="Arial" panose="020B0604020202020204" pitchFamily="34" charset="0"/>
              <a:buChar char="•"/>
            </a:pPr>
            <a:endParaRPr lang="en-US" altLang="zh-CN" sz="2000" dirty="0"/>
          </a:p>
          <a:p>
            <a:pPr marL="342900" indent="-342900">
              <a:buFont typeface="Arial" panose="020B0604020202020204" pitchFamily="34" charset="0"/>
              <a:buChar char="•"/>
            </a:pPr>
            <a:r>
              <a:rPr lang="en-US" altLang="zh-CN" sz="2000" dirty="0"/>
              <a:t>用于操作数据库的工具（例如，作为数据库设计的输入）。</a:t>
            </a:r>
          </a:p>
          <a:p>
            <a:endParaRPr lang="en-US" altLang="zh-CN" sz="2000" b="1" dirty="0">
              <a:solidFill>
                <a:srgbClr val="515223"/>
              </a:solidFill>
              <a:latin typeface="Helvetica" pitchFamily="2" charset="0"/>
              <a:cs typeface="Arial" panose="020B0604020202020204" pitchFamily="34" charset="0"/>
            </a:endParaRPr>
          </a:p>
          <a:p>
            <a:r>
              <a:rPr lang="zh-CN" altLang="en-US" sz="2000" b="1" dirty="0">
                <a:solidFill>
                  <a:srgbClr val="515223"/>
                </a:solidFill>
                <a:latin typeface="Helvetica" pitchFamily="2" charset="0"/>
                <a:cs typeface="Arial" panose="020B0604020202020204" pitchFamily="34" charset="0"/>
              </a:rPr>
              <a:t>实体</a:t>
            </a:r>
            <a:r>
              <a:rPr lang="en-US" altLang="zh-CN" sz="2000" b="1" dirty="0">
                <a:solidFill>
                  <a:srgbClr val="515223"/>
                </a:solidFill>
                <a:latin typeface="Helvetica" pitchFamily="2" charset="0"/>
                <a:cs typeface="Arial" panose="020B0604020202020204" pitchFamily="34" charset="0"/>
              </a:rPr>
              <a:t>-</a:t>
            </a:r>
            <a:r>
              <a:rPr lang="zh-CN" altLang="en-US" sz="2000" b="1" dirty="0">
                <a:solidFill>
                  <a:srgbClr val="515223"/>
                </a:solidFill>
                <a:latin typeface="Helvetica" pitchFamily="2" charset="0"/>
                <a:cs typeface="Arial" panose="020B0604020202020204" pitchFamily="34" charset="0"/>
              </a:rPr>
              <a:t>关系模型既可用于需求规格说明，也可用于设计规格说明。</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3200" dirty="0">
                <a:latin typeface="Times New Roman" panose="02020603050405020304" charset="0"/>
              </a:rPr>
              <a:t>建模工具：实体</a:t>
            </a:r>
            <a:r>
              <a:rPr lang="en-US" altLang="zh-CN" sz="3200" dirty="0">
                <a:latin typeface="Times New Roman" panose="02020603050405020304" charset="0"/>
              </a:rPr>
              <a:t>-</a:t>
            </a:r>
            <a:r>
              <a:rPr lang="zh-CN" altLang="en-US" sz="3200" dirty="0">
                <a:latin typeface="Times New Roman" panose="02020603050405020304" charset="0"/>
              </a:rPr>
              <a:t>关系图</a:t>
            </a: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t>53</a:t>
            </a:fld>
            <a:endParaRPr lang="zh-CN" altLang="en-US" dirty="0"/>
          </a:p>
        </p:txBody>
      </p:sp>
      <p:pic>
        <p:nvPicPr>
          <p:cNvPr id="4" name="图片 3"/>
          <p:cNvPicPr>
            <a:picLocks noChangeAspect="1"/>
          </p:cNvPicPr>
          <p:nvPr/>
        </p:nvPicPr>
        <p:blipFill>
          <a:blip r:embed="rId2"/>
          <a:stretch>
            <a:fillRect/>
          </a:stretch>
        </p:blipFill>
        <p:spPr>
          <a:xfrm>
            <a:off x="2195857" y="1357047"/>
            <a:ext cx="7800286" cy="4546515"/>
          </a:xfrm>
          <a:prstGeom prst="rect">
            <a:avLst/>
          </a:prstGeom>
        </p:spPr>
      </p:pic>
      <p:sp>
        <p:nvSpPr>
          <p:cNvPr id="6" name="矩形 5"/>
          <p:cNvSpPr/>
          <p:nvPr/>
        </p:nvSpPr>
        <p:spPr>
          <a:xfrm>
            <a:off x="6391275" y="1724025"/>
            <a:ext cx="1957705" cy="419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实体（名词）</a:t>
            </a:r>
          </a:p>
        </p:txBody>
      </p:sp>
      <p:sp>
        <p:nvSpPr>
          <p:cNvPr id="5" name="矩形 4"/>
          <p:cNvSpPr/>
          <p:nvPr/>
        </p:nvSpPr>
        <p:spPr>
          <a:xfrm>
            <a:off x="5986145" y="2848610"/>
            <a:ext cx="4010025" cy="419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实体之间的关系（动词）</a:t>
            </a:r>
          </a:p>
        </p:txBody>
      </p:sp>
      <p:sp>
        <p:nvSpPr>
          <p:cNvPr id="8" name="矩形 7"/>
          <p:cNvSpPr/>
          <p:nvPr/>
        </p:nvSpPr>
        <p:spPr>
          <a:xfrm>
            <a:off x="5782310" y="4060190"/>
            <a:ext cx="3662045" cy="419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实体或关系属性</a:t>
            </a:r>
          </a:p>
        </p:txBody>
      </p:sp>
      <p:sp>
        <p:nvSpPr>
          <p:cNvPr id="9" name="矩形 8"/>
          <p:cNvSpPr/>
          <p:nvPr/>
        </p:nvSpPr>
        <p:spPr>
          <a:xfrm>
            <a:off x="2195830" y="4926330"/>
            <a:ext cx="7800340" cy="838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rPr>
              <a:t>注意：实体关系图中没有严格定义的符号类型，最终目的是让比人看懂。</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5" y="237834"/>
            <a:ext cx="9434284" cy="790865"/>
          </a:xfrm>
        </p:spPr>
        <p:txBody>
          <a:bodyPr>
            <a:normAutofit/>
          </a:bodyPr>
          <a:lstStyle/>
          <a:p>
            <a:r>
              <a:rPr lang="zh-CN" altLang="en-US" dirty="0">
                <a:latin typeface="Times New Roman" panose="02020603050405020304" charset="0"/>
              </a:rPr>
              <a:t>作为设计工具的实体</a:t>
            </a:r>
            <a:r>
              <a:rPr lang="en-US" altLang="zh-CN" dirty="0">
                <a:latin typeface="Times New Roman" panose="02020603050405020304" charset="0"/>
              </a:rPr>
              <a:t>-</a:t>
            </a:r>
            <a:r>
              <a:rPr lang="zh-CN" altLang="en-US" dirty="0">
                <a:latin typeface="Times New Roman" panose="02020603050405020304" charset="0"/>
              </a:rPr>
              <a:t>关系图</a:t>
            </a:r>
            <a:endParaRPr lang="en-US" altLang="zh-CN"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t>54</a:t>
            </a:fld>
            <a:endParaRPr lang="zh-CN" altLang="en-US" dirty="0"/>
          </a:p>
        </p:txBody>
      </p:sp>
      <p:pic>
        <p:nvPicPr>
          <p:cNvPr id="4" name="图片 3"/>
          <p:cNvPicPr>
            <a:picLocks noChangeAspect="1"/>
          </p:cNvPicPr>
          <p:nvPr/>
        </p:nvPicPr>
        <p:blipFill>
          <a:blip r:embed="rId2"/>
          <a:stretch>
            <a:fillRect/>
          </a:stretch>
        </p:blipFill>
        <p:spPr>
          <a:xfrm>
            <a:off x="0" y="2148520"/>
            <a:ext cx="12192000" cy="256096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3200" dirty="0">
                <a:latin typeface="Times New Roman" panose="02020603050405020304" charset="0"/>
              </a:rPr>
              <a:t>作为设计工具的实体</a:t>
            </a:r>
            <a:r>
              <a:rPr lang="en-US" altLang="zh-CN" sz="3200" dirty="0">
                <a:latin typeface="Times New Roman" panose="02020603050405020304" charset="0"/>
              </a:rPr>
              <a:t>-</a:t>
            </a:r>
            <a:r>
              <a:rPr lang="zh-CN" altLang="en-US" sz="3200" dirty="0">
                <a:latin typeface="Times New Roman" panose="02020603050405020304" charset="0"/>
              </a:rPr>
              <a:t>关系图</a:t>
            </a:r>
            <a:br>
              <a:rPr lang="en-US" altLang="zh-CN" sz="3200" dirty="0">
                <a:latin typeface="Times New Roman" panose="02020603050405020304" charset="0"/>
              </a:rPr>
            </a:br>
            <a:r>
              <a:rPr lang="zh-CN" altLang="en-US" sz="3200" dirty="0">
                <a:latin typeface="Times New Roman" panose="02020603050405020304" charset="0"/>
              </a:rPr>
              <a:t>示例：</a:t>
            </a:r>
            <a:r>
              <a:rPr lang="en-US" altLang="zh-CN" sz="3200" dirty="0">
                <a:latin typeface="Times New Roman" panose="02020603050405020304" charset="0"/>
              </a:rPr>
              <a:t>Web </a:t>
            </a:r>
            <a:r>
              <a:rPr lang="zh-CN" altLang="en-US" sz="3200" dirty="0">
                <a:latin typeface="Times New Roman" panose="02020603050405020304" charset="0"/>
              </a:rPr>
              <a:t>数据的数据库模式</a:t>
            </a: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t>55</a:t>
            </a:fld>
            <a:endParaRPr lang="zh-CN" altLang="en-US" dirty="0"/>
          </a:p>
        </p:txBody>
      </p:sp>
      <p:sp>
        <p:nvSpPr>
          <p:cNvPr id="5" name="Rectangle 4"/>
          <p:cNvSpPr/>
          <p:nvPr/>
        </p:nvSpPr>
        <p:spPr>
          <a:xfrm>
            <a:off x="341971" y="1235927"/>
            <a:ext cx="4549698" cy="18554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C00000"/>
                </a:solidFill>
              </a:rPr>
              <a:t>何时使用实体</a:t>
            </a:r>
            <a:r>
              <a:rPr lang="en-US" altLang="zh-CN" dirty="0">
                <a:solidFill>
                  <a:srgbClr val="C00000"/>
                </a:solidFill>
              </a:rPr>
              <a:t>-</a:t>
            </a:r>
            <a:r>
              <a:rPr lang="zh-CN" altLang="en-US" dirty="0">
                <a:solidFill>
                  <a:srgbClr val="C00000"/>
                </a:solidFill>
              </a:rPr>
              <a:t>关系图？</a:t>
            </a:r>
          </a:p>
        </p:txBody>
      </p:sp>
      <p:pic>
        <p:nvPicPr>
          <p:cNvPr id="1026" name="Picture 2" descr="PlantUML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1454" y="1127416"/>
            <a:ext cx="3222309" cy="54927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3200" dirty="0">
                <a:latin typeface="Times New Roman" panose="02020603050405020304" charset="0"/>
              </a:rPr>
              <a:t>需求原型</a:t>
            </a: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t>56</a:t>
            </a:fld>
            <a:endParaRPr lang="zh-CN" altLang="en-US" dirty="0"/>
          </a:p>
        </p:txBody>
      </p:sp>
      <p:sp>
        <p:nvSpPr>
          <p:cNvPr id="8" name="TextBox 3"/>
          <p:cNvSpPr txBox="1"/>
          <p:nvPr/>
        </p:nvSpPr>
        <p:spPr>
          <a:xfrm>
            <a:off x="572376" y="1689853"/>
            <a:ext cx="11135716" cy="1630045"/>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20204" pitchFamily="34" charset="0"/>
              </a:rPr>
              <a:t>快速原型法是所有建模方法中最全面的。</a:t>
            </a:r>
          </a:p>
          <a:p>
            <a:endParaRPr lang="en-US" altLang="zh-CN" sz="2000" b="1" dirty="0">
              <a:solidFill>
                <a:srgbClr val="515223"/>
              </a:solidFill>
              <a:latin typeface="Helvetica" pitchFamily="2" charset="0"/>
              <a:cs typeface="Arial" panose="020B0604020202020204" pitchFamily="34" charset="0"/>
            </a:endParaRPr>
          </a:p>
          <a:p>
            <a:pPr marL="342900" indent="-342900">
              <a:buFont typeface="Arial" panose="020B0604020202020204" pitchFamily="34" charset="0"/>
              <a:buChar char="•"/>
            </a:pPr>
            <a:r>
              <a:rPr lang="en-US" altLang="zh-CN" sz="2000" dirty="0"/>
              <a:t>一种通过构建一个展示所需系统关键部分功能的系统来明确需求的方法。</a:t>
            </a:r>
          </a:p>
          <a:p>
            <a:endParaRPr lang="en-US" altLang="zh-CN" sz="2000" b="1" dirty="0">
              <a:solidFill>
                <a:srgbClr val="515223"/>
              </a:solidFill>
              <a:latin typeface="Helvetica" pitchFamily="2" charset="0"/>
              <a:cs typeface="Arial" panose="020B0604020202020204" pitchFamily="34" charset="0"/>
            </a:endParaRPr>
          </a:p>
          <a:p>
            <a:r>
              <a:rPr lang="zh-CN" altLang="en-US" sz="2000" b="1" dirty="0">
                <a:solidFill>
                  <a:srgbClr val="515223"/>
                </a:solidFill>
                <a:latin typeface="Helvetica" pitchFamily="2" charset="0"/>
                <a:cs typeface="Arial" panose="020B0604020202020204" pitchFamily="34" charset="0"/>
              </a:rPr>
              <a:t>对于用户界面特别有价值。</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3200" dirty="0">
                <a:latin typeface="Times New Roman" panose="02020603050405020304" charset="0"/>
              </a:rPr>
              <a:t>需求定义：数据字典（</a:t>
            </a:r>
            <a:r>
              <a:rPr lang="en-US" altLang="zh-CN" sz="3200" dirty="0">
                <a:latin typeface="Times New Roman" panose="02020603050405020304" charset="0"/>
              </a:rPr>
              <a:t>Data Dictionary</a:t>
            </a:r>
            <a:r>
              <a:rPr lang="zh-CN" altLang="en-US" sz="3200" dirty="0">
                <a:latin typeface="Times New Roman" panose="02020603050405020304" charset="0"/>
              </a:rPr>
              <a:t>）</a:t>
            </a: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t>57</a:t>
            </a:fld>
            <a:endParaRPr lang="zh-CN" altLang="en-US" dirty="0"/>
          </a:p>
        </p:txBody>
      </p:sp>
      <p:sp>
        <p:nvSpPr>
          <p:cNvPr id="8" name="TextBox 3"/>
          <p:cNvSpPr txBox="1"/>
          <p:nvPr/>
        </p:nvSpPr>
        <p:spPr>
          <a:xfrm>
            <a:off x="572375" y="1689853"/>
            <a:ext cx="11163995" cy="2861310"/>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20204" pitchFamily="34" charset="0"/>
              </a:rPr>
              <a:t>数据字典是系统使用的名称列表。</a:t>
            </a:r>
          </a:p>
          <a:p>
            <a:endParaRPr lang="en-US" altLang="zh-CN" sz="2000" b="1" dirty="0">
              <a:solidFill>
                <a:srgbClr val="515223"/>
              </a:solidFill>
              <a:latin typeface="Helvetica" pitchFamily="2" charset="0"/>
              <a:cs typeface="Arial" panose="020B0604020202020204" pitchFamily="34" charset="0"/>
            </a:endParaRPr>
          </a:p>
          <a:p>
            <a:pPr marL="342900" indent="-342900">
              <a:buFont typeface="Arial" panose="020B0604020202020204" pitchFamily="34" charset="0"/>
              <a:buChar char="•"/>
            </a:pPr>
            <a:r>
              <a:rPr lang="en-US" altLang="zh-CN" sz="2000" dirty="0"/>
              <a:t>名称（例如，“start_date”）</a:t>
            </a:r>
          </a:p>
          <a:p>
            <a:pPr marL="342900" indent="-342900">
              <a:buFont typeface="Arial" panose="020B0604020202020204" pitchFamily="34" charset="0"/>
              <a:buChar char="•"/>
            </a:pPr>
            <a:r>
              <a:rPr lang="en-US" altLang="zh-CN" sz="2000" dirty="0"/>
              <a:t>简要定义（例如，“日期”是什么）</a:t>
            </a:r>
          </a:p>
          <a:p>
            <a:pPr marL="342900" indent="-342900">
              <a:buFont typeface="Arial" panose="020B0604020202020204" pitchFamily="34" charset="0"/>
              <a:buChar char="•"/>
            </a:pPr>
            <a:r>
              <a:rPr lang="en-US" altLang="zh-CN" sz="2000" dirty="0"/>
              <a:t>它是什么？（例如，整数、关系）</a:t>
            </a:r>
          </a:p>
          <a:p>
            <a:pPr marL="342900" indent="-342900">
              <a:buFont typeface="Arial" panose="020B0604020202020204" pitchFamily="34" charset="0"/>
              <a:buChar char="•"/>
            </a:pPr>
            <a:r>
              <a:rPr lang="en-US" altLang="zh-CN" sz="2000" dirty="0"/>
              <a:t>在何处使用（例如，来源、使用者等）</a:t>
            </a:r>
          </a:p>
          <a:p>
            <a:pPr marL="342900" indent="-342900">
              <a:buFont typeface="Arial" panose="020B0604020202020204" pitchFamily="34" charset="0"/>
              <a:buChar char="•"/>
            </a:pPr>
            <a:r>
              <a:rPr lang="en-US" altLang="zh-CN" sz="2000" dirty="0"/>
              <a:t>可以与术语表结合使用。</a:t>
            </a:r>
          </a:p>
          <a:p>
            <a:endParaRPr lang="en-US" altLang="zh-CN" sz="2000" b="1" dirty="0">
              <a:solidFill>
                <a:srgbClr val="515223"/>
              </a:solidFill>
              <a:latin typeface="Helvetica" pitchFamily="2" charset="0"/>
              <a:cs typeface="Arial" panose="020B0604020202020204" pitchFamily="34" charset="0"/>
            </a:endParaRPr>
          </a:p>
          <a:p>
            <a:r>
              <a:rPr lang="zh-CN" altLang="en-US" sz="2000" b="1" dirty="0">
                <a:solidFill>
                  <a:srgbClr val="515223"/>
                </a:solidFill>
                <a:latin typeface="Helvetica" pitchFamily="2" charset="0"/>
                <a:cs typeface="Arial" panose="020B0604020202020204" pitchFamily="34" charset="0"/>
              </a:rPr>
              <a:t>随着系统的开发，需求中的数据字典成为系统数据字典的基础，后者可能是最终文档的一部分。</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3200" dirty="0">
                <a:latin typeface="Times New Roman" panose="02020603050405020304" charset="0"/>
              </a:rPr>
              <a:t>关于类和对象模型的说明</a:t>
            </a: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t>58</a:t>
            </a:fld>
            <a:endParaRPr lang="zh-CN" altLang="en-US" dirty="0"/>
          </a:p>
        </p:txBody>
      </p:sp>
      <p:sp>
        <p:nvSpPr>
          <p:cNvPr id="8" name="TextBox 3"/>
          <p:cNvSpPr txBox="1"/>
          <p:nvPr/>
        </p:nvSpPr>
        <p:spPr>
          <a:xfrm>
            <a:off x="572375" y="1689853"/>
            <a:ext cx="11163995" cy="2861310"/>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20204" pitchFamily="34" charset="0"/>
              </a:rPr>
              <a:t>在本课程中：</a:t>
            </a:r>
          </a:p>
          <a:p>
            <a:endParaRPr lang="en-US" altLang="zh-CN" sz="2000" b="1" dirty="0">
              <a:solidFill>
                <a:srgbClr val="515223"/>
              </a:solidFill>
              <a:latin typeface="Helvetica" pitchFamily="2" charset="0"/>
              <a:cs typeface="Arial" panose="020B0604020202020204" pitchFamily="34" charset="0"/>
            </a:endParaRPr>
          </a:p>
          <a:p>
            <a:pPr marL="342900" indent="-342900">
              <a:buFont typeface="Arial" panose="020B0604020202020204" pitchFamily="34" charset="0"/>
              <a:buChar char="•"/>
            </a:pPr>
            <a:r>
              <a:rPr lang="en-US" altLang="zh-CN" sz="2000" b="1" dirty="0">
                <a:solidFill>
                  <a:srgbClr val="FF0000"/>
                </a:solidFill>
              </a:rPr>
              <a:t>类</a:t>
            </a:r>
            <a:r>
              <a:rPr lang="en-US" altLang="zh-CN" sz="2000" dirty="0"/>
              <a:t>和</a:t>
            </a:r>
            <a:r>
              <a:rPr lang="en-US" altLang="zh-CN" sz="2000" b="1" dirty="0">
                <a:solidFill>
                  <a:srgbClr val="FF0000"/>
                </a:solidFill>
              </a:rPr>
              <a:t>对象</a:t>
            </a:r>
            <a:r>
              <a:rPr lang="en-US" altLang="zh-CN" sz="2000" dirty="0"/>
              <a:t>模型被用作</a:t>
            </a:r>
            <a:r>
              <a:rPr lang="en-US" altLang="zh-CN" sz="2000" b="1" dirty="0">
                <a:solidFill>
                  <a:srgbClr val="FF0000"/>
                </a:solidFill>
              </a:rPr>
              <a:t>程序设计</a:t>
            </a:r>
            <a:r>
              <a:rPr lang="en-US" altLang="zh-CN" sz="2000" dirty="0"/>
              <a:t>的工具，而非用于需求建模。</a:t>
            </a:r>
          </a:p>
          <a:p>
            <a:pPr marL="342900" indent="-342900">
              <a:buFont typeface="Arial" panose="020B0604020202020204" pitchFamily="34" charset="0"/>
              <a:buChar char="•"/>
            </a:pPr>
            <a:endParaRPr lang="en-US" altLang="zh-CN" sz="2000" dirty="0"/>
          </a:p>
          <a:p>
            <a:pPr marL="342900" indent="-342900">
              <a:buFont typeface="Arial" panose="020B0604020202020204" pitchFamily="34" charset="0"/>
              <a:buChar char="•"/>
            </a:pPr>
            <a:r>
              <a:rPr lang="en-US" altLang="zh-CN" sz="2000" dirty="0"/>
              <a:t>一些人推荐将类和对象模型用于需求定义，但使用它们而不约束系统设计是很困难的。</a:t>
            </a:r>
          </a:p>
          <a:p>
            <a:pPr marL="342900" indent="-342900">
              <a:buFont typeface="Arial" panose="020B0604020202020204" pitchFamily="34" charset="0"/>
              <a:buChar char="•"/>
            </a:pPr>
            <a:endParaRPr lang="en-US" altLang="zh-CN" sz="2000" dirty="0"/>
          </a:p>
          <a:p>
            <a:pPr marL="342900" indent="-342900">
              <a:buFont typeface="Arial" panose="020B0604020202020204" pitchFamily="34" charset="0"/>
              <a:buChar char="•"/>
            </a:pPr>
            <a:r>
              <a:rPr lang="en-US" altLang="zh-CN" sz="2000" b="1" dirty="0" err="1">
                <a:solidFill>
                  <a:srgbClr val="FF0000"/>
                </a:solidFill>
              </a:rPr>
              <a:t>流程图</a:t>
            </a:r>
            <a:r>
              <a:rPr lang="en-US" altLang="zh-CN" sz="2000" dirty="0" err="1"/>
              <a:t>和</a:t>
            </a:r>
            <a:r>
              <a:rPr lang="en-US" altLang="zh-CN" sz="2000" b="1" dirty="0" err="1">
                <a:solidFill>
                  <a:srgbClr val="FF0000"/>
                </a:solidFill>
              </a:rPr>
              <a:t>有限状态机</a:t>
            </a:r>
            <a:r>
              <a:rPr lang="zh-CN" altLang="en-US" sz="2000" dirty="0"/>
              <a:t>常用于</a:t>
            </a:r>
            <a:r>
              <a:rPr lang="zh-CN" altLang="en-US" sz="2000" b="1" dirty="0">
                <a:solidFill>
                  <a:srgbClr val="FF0000"/>
                </a:solidFill>
              </a:rPr>
              <a:t>程序设计</a:t>
            </a:r>
            <a:r>
              <a:rPr lang="zh-CN" altLang="en-US" sz="2000" dirty="0"/>
              <a:t>建模</a:t>
            </a:r>
            <a:r>
              <a:rPr lang="en-US" altLang="zh-CN" sz="2000" dirty="0"/>
              <a:t>，</a:t>
            </a:r>
            <a:r>
              <a:rPr lang="en-US" altLang="zh-CN" sz="2000" dirty="0" err="1"/>
              <a:t>但它们对于</a:t>
            </a:r>
            <a:r>
              <a:rPr lang="en-US" altLang="zh-CN" sz="2000" b="1" dirty="0" err="1">
                <a:solidFill>
                  <a:srgbClr val="FF0000"/>
                </a:solidFill>
              </a:rPr>
              <a:t>需求</a:t>
            </a:r>
            <a:r>
              <a:rPr lang="zh-CN" altLang="en-US" sz="2000" b="1" dirty="0">
                <a:solidFill>
                  <a:srgbClr val="FF0000"/>
                </a:solidFill>
              </a:rPr>
              <a:t>分析</a:t>
            </a:r>
            <a:r>
              <a:rPr lang="en-US" altLang="zh-CN" sz="2000" dirty="0" err="1"/>
              <a:t>同样有用</a:t>
            </a:r>
            <a:r>
              <a:rPr lang="en-US" altLang="zh-CN" sz="2000" dirty="0"/>
              <a:t>。</a:t>
            </a:r>
          </a:p>
          <a:p>
            <a:endParaRPr lang="en-US" altLang="zh-CN" sz="2000" b="1" dirty="0">
              <a:solidFill>
                <a:srgbClr val="515223"/>
              </a:solidFill>
              <a:latin typeface="Helvetica" pitchFamily="2" charset="0"/>
              <a:cs typeface="Arial" panose="020B0604020202020204" pitchFamily="34" charset="0"/>
            </a:endParaRPr>
          </a:p>
          <a:p>
            <a:endParaRPr lang="en-US" altLang="zh-CN" sz="2000" b="1" dirty="0">
              <a:solidFill>
                <a:srgbClr val="515223"/>
              </a:solidFill>
              <a:latin typeface="Helvetica" pitchFamily="2" charset="0"/>
              <a:cs typeface="Arial" panose="020B0604020202020204" pitchFamily="34"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dirty="0">
                <a:latin typeface="Times New Roman" panose="02020603050405020304" charset="0"/>
              </a:rPr>
              <a:t>期末项目要求</a:t>
            </a: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t>59</a:t>
            </a:fld>
            <a:endParaRPr lang="zh-CN" altLang="en-US" dirty="0"/>
          </a:p>
        </p:txBody>
      </p:sp>
      <p:sp>
        <p:nvSpPr>
          <p:cNvPr id="9" name="TextBox 3"/>
          <p:cNvSpPr txBox="1"/>
          <p:nvPr/>
        </p:nvSpPr>
        <p:spPr>
          <a:xfrm>
            <a:off x="572375" y="1690062"/>
            <a:ext cx="11163995" cy="398780"/>
          </a:xfrm>
          <a:prstGeom prst="rect">
            <a:avLst/>
          </a:prstGeom>
          <a:noFill/>
        </p:spPr>
        <p:txBody>
          <a:bodyPr wrap="square">
            <a:spAutoFit/>
          </a:bodyPr>
          <a:lstStyle/>
          <a:p>
            <a:r>
              <a:rPr lang="en-US" altLang="zh-CN" sz="2000" b="1" dirty="0">
                <a:solidFill>
                  <a:srgbClr val="C00000"/>
                </a:solidFill>
                <a:latin typeface="Helvetica" pitchFamily="2" charset="0"/>
                <a:cs typeface="Arial" panose="020B0604020202020204" pitchFamily="34" charset="0"/>
              </a:rPr>
              <a:t>7.</a:t>
            </a:r>
            <a:r>
              <a:rPr lang="zh-CN" altLang="en-US" sz="2000" b="1" dirty="0">
                <a:solidFill>
                  <a:srgbClr val="C00000"/>
                </a:solidFill>
                <a:latin typeface="Helvetica" pitchFamily="2" charset="0"/>
                <a:cs typeface="Arial" panose="020B0604020202020204" pitchFamily="34" charset="0"/>
              </a:rPr>
              <a:t>在你的最终报告中使用一些需求建模图。</a:t>
            </a:r>
            <a:endParaRPr lang="en-US" altLang="zh-CN" sz="2000" b="1" dirty="0">
              <a:solidFill>
                <a:srgbClr val="C00000"/>
              </a:solidFill>
              <a:latin typeface="Helvetica" pitchFamily="2" charset="0"/>
              <a:cs typeface="Arial" panose="020B0604020202020204" pitchFamily="34" charset="0"/>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612*350"/>
  <p:tag name="TABLE_ENDDRAG_RECT" val="288*102*612*350"/>
</p:tagLst>
</file>

<file path=ppt/theme/theme1.xml><?xml version="1.0" encoding="utf-8"?>
<a:theme xmlns:a="http://schemas.openxmlformats.org/drawingml/2006/main" name="1_Office 主题​​">
  <a:themeElements>
    <a:clrScheme name="SEU">
      <a:dk1>
        <a:srgbClr val="000000"/>
      </a:dk1>
      <a:lt1>
        <a:srgbClr val="FFFFFF"/>
      </a:lt1>
      <a:dk2>
        <a:srgbClr val="44546A"/>
      </a:dk2>
      <a:lt2>
        <a:srgbClr val="E7E6E6"/>
      </a:lt2>
      <a:accent1>
        <a:srgbClr val="505122"/>
      </a:accent1>
      <a:accent2>
        <a:srgbClr val="FDCA04"/>
      </a:accent2>
      <a:accent3>
        <a:srgbClr val="00529D"/>
      </a:accent3>
      <a:accent4>
        <a:srgbClr val="B01417"/>
      </a:accent4>
      <a:accent5>
        <a:srgbClr val="7F7611"/>
      </a:accent5>
      <a:accent6>
        <a:srgbClr val="5D6B70"/>
      </a:accent6>
      <a:hlink>
        <a:srgbClr val="868A8C"/>
      </a:hlink>
      <a:folHlink>
        <a:srgbClr val="C2C6C8"/>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2952</TotalTime>
  <Words>3015</Words>
  <Application>Microsoft Macintosh PowerPoint</Application>
  <PresentationFormat>Widescreen</PresentationFormat>
  <Paragraphs>569</Paragraphs>
  <Slides>59</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59</vt:i4>
      </vt:variant>
    </vt:vector>
  </HeadingPairs>
  <TitlesOfParts>
    <vt:vector size="67" baseType="lpstr">
      <vt:lpstr>等线</vt:lpstr>
      <vt:lpstr>微软雅黑</vt:lpstr>
      <vt:lpstr>Arial</vt:lpstr>
      <vt:lpstr>Cambria Math</vt:lpstr>
      <vt:lpstr>Helvetica</vt:lpstr>
      <vt:lpstr>Helvetica Regular</vt:lpstr>
      <vt:lpstr>Times New Roman</vt:lpstr>
      <vt:lpstr>1_Office 主题​​</vt:lpstr>
      <vt:lpstr>PowerPoint Presentation</vt:lpstr>
      <vt:lpstr>提示</vt:lpstr>
      <vt:lpstr>与客户一起开发场景：一个典型的学生</vt:lpstr>
      <vt:lpstr>与客户一起开发场景（续）</vt:lpstr>
      <vt:lpstr>与客户一起开发场景（续）</vt:lpstr>
      <vt:lpstr>讨论</vt:lpstr>
      <vt:lpstr>与客户一起开发场景（续）</vt:lpstr>
      <vt:lpstr>PowerPoint Presentation</vt:lpstr>
      <vt:lpstr>用于分析特殊需求的场景</vt:lpstr>
      <vt:lpstr>将场景建模为用例</vt:lpstr>
      <vt:lpstr>两个简单的用例</vt:lpstr>
      <vt:lpstr>参与者和用例图</vt:lpstr>
      <vt:lpstr>用例与参与者</vt:lpstr>
      <vt:lpstr>考试系统的用例</vt:lpstr>
      <vt:lpstr>考试系统的用例（续）</vt:lpstr>
      <vt:lpstr>描述用例</vt:lpstr>
      <vt:lpstr>参加考试用例：基本流</vt:lpstr>
      <vt:lpstr>参加考试用例：备选流</vt:lpstr>
      <vt:lpstr>«extend» 关系</vt:lpstr>
      <vt:lpstr>用例之间的关系：«extend»</vt:lpstr>
      <vt:lpstr>«includes» 关系</vt:lpstr>
      <vt:lpstr>用例之间的关系：«includes»</vt:lpstr>
      <vt:lpstr>场景和用例在开发周期中的应用</vt:lpstr>
      <vt:lpstr>具有多个参与者的用例</vt:lpstr>
      <vt:lpstr>用例图</vt:lpstr>
      <vt:lpstr>一个旧考题</vt:lpstr>
      <vt:lpstr>一个旧考题</vt:lpstr>
      <vt:lpstr>讨论</vt:lpstr>
      <vt:lpstr>期末项目要求</vt:lpstr>
      <vt:lpstr>PowerPoint Presentation</vt:lpstr>
      <vt:lpstr>需求模型</vt:lpstr>
      <vt:lpstr>模型：有用的参考文献</vt:lpstr>
      <vt:lpstr>模型</vt:lpstr>
      <vt:lpstr>建模原则</vt:lpstr>
      <vt:lpstr>统一建模语言</vt:lpstr>
      <vt:lpstr>UML 中的模型：图与规格说明</vt:lpstr>
      <vt:lpstr>数据流模型 Data-Flow Models</vt:lpstr>
      <vt:lpstr>数据流模型示例：大学招生</vt:lpstr>
      <vt:lpstr>数据流模型示例：大学招生</vt:lpstr>
      <vt:lpstr>数据流模型示例：组装申请</vt:lpstr>
      <vt:lpstr>数据流模型示例：组装申请</vt:lpstr>
      <vt:lpstr>数据流模型示例：处理完成的申请</vt:lpstr>
      <vt:lpstr>决策表模型</vt:lpstr>
      <vt:lpstr>流程图模型</vt:lpstr>
      <vt:lpstr>示例：大学招生 - 组装申请</vt:lpstr>
      <vt:lpstr>建模工具：伪代码</vt:lpstr>
      <vt:lpstr>建模工具：转换图</vt:lpstr>
      <vt:lpstr>有限状态机模型治疗控制台示例</vt:lpstr>
      <vt:lpstr>有限状态机模型 - 治疗控制台：场景</vt:lpstr>
      <vt:lpstr>有限状态机模型 - 状态转换图</vt:lpstr>
      <vt:lpstr>有限状态机模型 - 状态转换表</vt:lpstr>
      <vt:lpstr>实体-关系模型</vt:lpstr>
      <vt:lpstr>建模工具：实体-关系图</vt:lpstr>
      <vt:lpstr>作为设计工具的实体-关系图</vt:lpstr>
      <vt:lpstr>作为设计工具的实体-关系图 示例：Web 数据的数据库模式</vt:lpstr>
      <vt:lpstr>需求原型</vt:lpstr>
      <vt:lpstr>需求定义：数据字典（Data Dictionary）</vt:lpstr>
      <vt:lpstr>关于类和对象模型的说明</vt:lpstr>
      <vt:lpstr>期末项目要求</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子豪 任</dc:creator>
  <cp:lastModifiedBy>Microsoft Office User</cp:lastModifiedBy>
  <cp:revision>143</cp:revision>
  <dcterms:created xsi:type="dcterms:W3CDTF">2025-03-14T01:27:00Z</dcterms:created>
  <dcterms:modified xsi:type="dcterms:W3CDTF">2026-03-26T03:07:30Z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A5D63B2C364A6D9B4CDDD0679986EE4D_43</vt:lpwstr>
  </property>
  <property fmtid="{D5CDD505-2E9C-101B-9397-08002B2CF9AE}" pid="3" name="KSOProductBuildVer">
    <vt:lpwstr>2052-12.1.0.25225</vt:lpwstr>
  </property>
</Properties>
</file>