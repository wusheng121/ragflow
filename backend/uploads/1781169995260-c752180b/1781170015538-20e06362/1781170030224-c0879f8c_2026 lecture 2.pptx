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4"/>
  </p:handoutMasterIdLst>
  <p:sldIdLst>
    <p:sldId id="582" r:id="rId3"/>
    <p:sldId id="545" r:id="rId5"/>
    <p:sldId id="584" r:id="rId6"/>
    <p:sldId id="585" r:id="rId7"/>
    <p:sldId id="586" r:id="rId8"/>
    <p:sldId id="587" r:id="rId9"/>
    <p:sldId id="588" r:id="rId10"/>
    <p:sldId id="589" r:id="rId11"/>
    <p:sldId id="590" r:id="rId12"/>
    <p:sldId id="678" r:id="rId13"/>
    <p:sldId id="592" r:id="rId14"/>
    <p:sldId id="593" r:id="rId15"/>
    <p:sldId id="594" r:id="rId16"/>
    <p:sldId id="595" r:id="rId17"/>
    <p:sldId id="603" r:id="rId18"/>
    <p:sldId id="596" r:id="rId19"/>
    <p:sldId id="597" r:id="rId20"/>
    <p:sldId id="598" r:id="rId21"/>
    <p:sldId id="599" r:id="rId22"/>
    <p:sldId id="600" r:id="rId23"/>
    <p:sldId id="601" r:id="rId24"/>
    <p:sldId id="602" r:id="rId25"/>
    <p:sldId id="604" r:id="rId26"/>
    <p:sldId id="605" r:id="rId27"/>
    <p:sldId id="606" r:id="rId28"/>
    <p:sldId id="607" r:id="rId29"/>
    <p:sldId id="608" r:id="rId30"/>
    <p:sldId id="609" r:id="rId31"/>
    <p:sldId id="610" r:id="rId32"/>
    <p:sldId id="612" r:id="rId33"/>
    <p:sldId id="675" r:id="rId34"/>
    <p:sldId id="672" r:id="rId35"/>
    <p:sldId id="638" r:id="rId36"/>
    <p:sldId id="673" r:id="rId37"/>
    <p:sldId id="553" r:id="rId38"/>
    <p:sldId id="674" r:id="rId39"/>
    <p:sldId id="614" r:id="rId40"/>
    <p:sldId id="615" r:id="rId41"/>
    <p:sldId id="616" r:id="rId42"/>
    <p:sldId id="621" r:id="rId43"/>
    <p:sldId id="623" r:id="rId44"/>
    <p:sldId id="624" r:id="rId45"/>
    <p:sldId id="625" r:id="rId46"/>
    <p:sldId id="626" r:id="rId47"/>
    <p:sldId id="627" r:id="rId48"/>
    <p:sldId id="628" r:id="rId49"/>
    <p:sldId id="629" r:id="rId50"/>
    <p:sldId id="630" r:id="rId51"/>
    <p:sldId id="676" r:id="rId52"/>
    <p:sldId id="613" r:id="rId53"/>
    <p:sldId id="639" r:id="rId54"/>
    <p:sldId id="640" r:id="rId55"/>
    <p:sldId id="641" r:id="rId56"/>
    <p:sldId id="642" r:id="rId57"/>
    <p:sldId id="643" r:id="rId58"/>
    <p:sldId id="644" r:id="rId59"/>
    <p:sldId id="645" r:id="rId60"/>
    <p:sldId id="646" r:id="rId61"/>
    <p:sldId id="647" r:id="rId62"/>
    <p:sldId id="649" r:id="rId63"/>
    <p:sldId id="650" r:id="rId64"/>
    <p:sldId id="651" r:id="rId65"/>
    <p:sldId id="652" r:id="rId66"/>
    <p:sldId id="653" r:id="rId67"/>
    <p:sldId id="655" r:id="rId68"/>
    <p:sldId id="656" r:id="rId69"/>
    <p:sldId id="660" r:id="rId70"/>
    <p:sldId id="661" r:id="rId71"/>
    <p:sldId id="662" r:id="rId72"/>
    <p:sldId id="663" r:id="rId73"/>
    <p:sldId id="664" r:id="rId74"/>
    <p:sldId id="665" r:id="rId75"/>
    <p:sldId id="666" r:id="rId76"/>
    <p:sldId id="667" r:id="rId77"/>
    <p:sldId id="668" r:id="rId78"/>
    <p:sldId id="669" r:id="rId79"/>
    <p:sldId id="670" r:id="rId80"/>
    <p:sldId id="671" r:id="rId81"/>
    <p:sldId id="677" r:id="rId82"/>
    <p:sldId id="527" r:id="rId8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A8A5"/>
    <a:srgbClr val="FFD5A9"/>
    <a:srgbClr val="A8D6FF"/>
    <a:srgbClr val="FFFDA9"/>
    <a:srgbClr val="505122"/>
    <a:srgbClr val="D5F0FF"/>
    <a:srgbClr val="F1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3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0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handoutMaster" Target="handoutMasters/handoutMaster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413-AF54-469D-ABFD-75D5619B00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3.png"/><Relationship Id="rId1" Type="http://schemas.openxmlformats.org/officeDocument/2006/relationships/tags" Target="../tags/tag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4.png"/><Relationship Id="rId1" Type="http://schemas.openxmlformats.org/officeDocument/2006/relationships/tags" Target="../tags/tag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5.png"/><Relationship Id="rId1" Type="http://schemas.openxmlformats.org/officeDocument/2006/relationships/tags" Target="../tags/tag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1" Type="http://schemas.openxmlformats.org/officeDocument/2006/relationships/tags" Target="../tags/tag6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tags" Target="../tags/tag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8.png"/><Relationship Id="rId1" Type="http://schemas.openxmlformats.org/officeDocument/2006/relationships/tags" Target="../tags/tag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36880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B09S0061 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软件工程</a:t>
            </a:r>
            <a:endParaRPr lang="en-US" altLang="zh-CN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Lecture 2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68227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2026/03/12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934074" y="4381010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刘光迟</a:t>
            </a: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77436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7500"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软件开发过程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ONE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8320" y="1372870"/>
            <a:ext cx="10911840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515223"/>
                </a:solidFill>
                <a:latin typeface="微软雅黑" charset="0"/>
                <a:ea typeface="微软雅黑" charset="0"/>
                <a:cs typeface="黑体" panose="02010609060101010101" charset="-122"/>
              </a:rPr>
              <a:t>第一讲介绍了几个过程步骤：</a:t>
            </a:r>
            <a:endParaRPr lang="en-US" altLang="zh-CN" sz="2200" b="1" dirty="0">
              <a:solidFill>
                <a:srgbClr val="515223"/>
              </a:solidFill>
              <a:latin typeface="微软雅黑" charset="0"/>
              <a:ea typeface="微软雅黑" charset="0"/>
              <a:cs typeface="黑体" panose="02010609060101010101" charset="-122"/>
            </a:endParaRPr>
          </a:p>
          <a:p>
            <a:r>
              <a:rPr lang="en-US" sz="2200" dirty="0">
                <a:latin typeface="黑体" panose="02010609060101010101" charset="-122"/>
                <a:ea typeface="黑体" panose="02010609060101010101" charset="-122"/>
              </a:rPr>
              <a:t>      需求</a:t>
            </a:r>
            <a:endParaRPr lang="en-US" sz="22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sz="2200" dirty="0">
                <a:latin typeface="黑体" panose="02010609060101010101" charset="-122"/>
                <a:ea typeface="黑体" panose="02010609060101010101" charset="-122"/>
              </a:rPr>
              <a:t>      用户界面设计</a:t>
            </a:r>
            <a:endParaRPr lang="en-US" sz="22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sz="2200" dirty="0">
                <a:latin typeface="黑体" panose="02010609060101010101" charset="-122"/>
                <a:ea typeface="黑体" panose="02010609060101010101" charset="-122"/>
              </a:rPr>
              <a:t>      系统设计</a:t>
            </a:r>
            <a:endParaRPr lang="en-US" sz="22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sz="2200" dirty="0">
                <a:latin typeface="黑体" panose="02010609060101010101" charset="-122"/>
                <a:ea typeface="黑体" panose="02010609060101010101" charset="-122"/>
              </a:rPr>
              <a:t>      程序开发（设计与编码）</a:t>
            </a:r>
            <a:endParaRPr lang="en-US" sz="22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sz="2200" dirty="0">
                <a:latin typeface="黑体" panose="02010609060101010101" charset="-122"/>
                <a:ea typeface="黑体" panose="02010609060101010101" charset="-122"/>
              </a:rPr>
              <a:t>      验收与发布</a:t>
            </a:r>
            <a:endParaRPr lang="en-US" sz="22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200" b="1" dirty="0">
              <a:solidFill>
                <a:srgbClr val="515223"/>
              </a:solidFill>
              <a:latin typeface="黑体" panose="02010609060101010101" charset="-122"/>
              <a:ea typeface="黑体" panose="02010609060101010101" charset="-122"/>
              <a:cs typeface="Arial" panose="020B0604020202090204" pitchFamily="34" charset="0"/>
            </a:endParaRPr>
          </a:p>
          <a:p>
            <a:r>
              <a:rPr lang="en-US" altLang="zh-CN" sz="2200" b="1" dirty="0">
                <a:solidFill>
                  <a:srgbClr val="515223"/>
                </a:solidFill>
                <a:latin typeface="黑体" panose="02010609060101010101" charset="-122"/>
                <a:ea typeface="黑体" panose="02010609060101010101" charset="-122"/>
                <a:cs typeface="Arial" panose="020B0604020202090204" pitchFamily="34" charset="0"/>
              </a:rPr>
              <a:t>每一个软件项目都会包含这些基本步骤，但：</a:t>
            </a:r>
            <a:endParaRPr lang="en-US" altLang="zh-CN" sz="2200" b="1" dirty="0">
              <a:solidFill>
                <a:srgbClr val="515223"/>
              </a:solidFill>
              <a:latin typeface="黑体" panose="02010609060101010101" charset="-122"/>
              <a:ea typeface="黑体" panose="02010609060101010101" charset="-122"/>
              <a:cs typeface="Arial" panose="020B0604020202090204" pitchFamily="34" charset="0"/>
            </a:endParaRPr>
          </a:p>
          <a:p>
            <a:r>
              <a:rPr lang="en-US" sz="2200" dirty="0">
                <a:latin typeface="黑体" panose="02010609060101010101" charset="-122"/>
                <a:ea typeface="黑体" panose="02010609060101010101" charset="-122"/>
              </a:rPr>
              <a:t>      这些步骤可能是正式的或非正式的</a:t>
            </a:r>
            <a:endParaRPr lang="en-US" sz="22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sz="2200" dirty="0">
                <a:latin typeface="黑体" panose="02010609060101010101" charset="-122"/>
                <a:ea typeface="黑体" panose="02010609060101010101" charset="-122"/>
              </a:rPr>
              <a:t>      这些步骤可以按不同顺序执行</a:t>
            </a:r>
            <a:endParaRPr lang="en-US" sz="22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200" b="1" dirty="0">
                <a:solidFill>
                  <a:srgbClr val="515223"/>
                </a:solidFill>
                <a:latin typeface="黑体" panose="02010609060101010101" charset="-122"/>
                <a:ea typeface="黑体" panose="02010609060101010101" charset="-122"/>
                <a:cs typeface="Arial" panose="020B0604020202090204" pitchFamily="34" charset="0"/>
              </a:rPr>
              <a:t>软件开发过程（方法论）是将这些步骤系统化组合来构建软件系统的方法。</a:t>
            </a:r>
            <a:r>
              <a:rPr lang="en-US" sz="2200" dirty="0"/>
              <a:t>	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软件开发过程模型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1372887"/>
            <a:ext cx="10946524" cy="449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瀑布模型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 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Waterfall 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Model</a:t>
            </a:r>
            <a:endParaRPr lang="en-US" altLang="zh-CN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200" dirty="0"/>
              <a:t>             </a:t>
            </a:r>
            <a:r>
              <a:rPr lang="zh-CN" altLang="en-US" sz="2200" dirty="0"/>
              <a:t>完成一个阶段后再开始下一个阶段。</a:t>
            </a:r>
            <a:r>
              <a:rPr lang="en-US" altLang="zh-CN" sz="2200" dirty="0"/>
              <a:t> </a:t>
            </a:r>
            <a:endParaRPr lang="en-US" altLang="zh-CN" sz="2200" dirty="0"/>
          </a:p>
          <a:p>
            <a:endParaRPr lang="en-US" altLang="zh-CN" sz="2200" dirty="0"/>
          </a:p>
          <a:p>
            <a:r>
              <a:rPr lang="zh-CN" altLang="en-US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迭代细化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Iterative Refinement</a:t>
            </a:r>
            <a:endParaRPr lang="en-US" altLang="zh-CN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200" dirty="0"/>
              <a:t>	</a:t>
            </a:r>
            <a:r>
              <a:rPr lang="zh-CN" altLang="en-US" sz="2200" dirty="0"/>
              <a:t>快速完成所有步骤得到一个粗略系统，然后不断重复这些步骤来改进系统。</a:t>
            </a:r>
            <a:endParaRPr lang="zh-CN" altLang="en-US" sz="2200" dirty="0"/>
          </a:p>
          <a:p>
            <a:endParaRPr lang="en-US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螺旋模型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Spiral Development</a:t>
            </a:r>
            <a:endParaRPr lang="zh-CN" altLang="en-US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200" dirty="0"/>
              <a:t>	</a:t>
            </a:r>
            <a:r>
              <a:rPr lang="zh-CN" altLang="en-US" sz="2200" dirty="0"/>
              <a:t>一种迭代模型变体：在开发过程中，当新的组件完成时就加入系统。</a:t>
            </a:r>
            <a:endParaRPr lang="zh-CN" altLang="en-US" sz="2200" dirty="0"/>
          </a:p>
          <a:p>
            <a:endParaRPr lang="en-US" sz="2200" dirty="0"/>
          </a:p>
          <a:p>
            <a:r>
              <a:rPr lang="zh-CN" altLang="en-US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敏捷开发</a:t>
            </a:r>
            <a:r>
              <a:rPr lang="en-US" altLang="zh-CN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en-US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Agile Development</a:t>
            </a:r>
            <a:endParaRPr lang="en-US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200" dirty="0"/>
              <a:t>	</a:t>
            </a:r>
            <a:r>
              <a:rPr lang="zh-CN" altLang="en-US" sz="2200" dirty="0"/>
              <a:t>软件以小增量开发。每个增量称为：</a:t>
            </a:r>
            <a:r>
              <a:rPr lang="en-US" altLang="zh-CN" sz="2200" dirty="0"/>
              <a:t>Sprint </a:t>
            </a:r>
            <a:r>
              <a:rPr lang="zh-CN" altLang="en-US" sz="2200" dirty="0"/>
              <a:t>（</a:t>
            </a:r>
            <a:r>
              <a:rPr lang="zh-CN" altLang="en-US" sz="2200" dirty="0"/>
              <a:t>冲刺），每个</a:t>
            </a:r>
            <a:r>
              <a:rPr lang="en-US" altLang="zh-CN" sz="2200" dirty="0"/>
              <a:t> Sprint </a:t>
            </a:r>
            <a:r>
              <a:rPr lang="zh-CN" altLang="en-US" sz="2200" dirty="0"/>
              <a:t>都会产生可部署代码。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重量级与轻量级开发过程</a:t>
            </a:r>
            <a:endParaRPr lang="zh-CN" alt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9285" y="1333500"/>
            <a:ext cx="10815955" cy="42335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重量级过程</a:t>
            </a:r>
            <a:endParaRPr lang="zh-CN" altLang="en-US" sz="24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400" dirty="0"/>
          </a:p>
          <a:p>
            <a:r>
              <a:rPr lang="zh-CN" altLang="en-US" sz="2400" dirty="0"/>
              <a:t>目标是完整完成每个阶段，尽量减少后期变更与修订。开始下一阶段前，每个阶段都完成完整文档。</a:t>
            </a:r>
            <a:endParaRPr lang="zh-CN" altLang="en-US" sz="2400" dirty="0"/>
          </a:p>
          <a:p>
            <a:r>
              <a:rPr lang="zh-CN" altLang="en-US" sz="2400" dirty="0"/>
              <a:t>示例：</a:t>
            </a:r>
            <a:r>
              <a:rPr lang="zh-CN" altLang="en-US" sz="24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改进型瀑布模型</a:t>
            </a:r>
            <a:endParaRPr lang="zh-CN" altLang="en-US" sz="24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400" dirty="0"/>
          </a:p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轻量级过程</a:t>
            </a:r>
            <a:endParaRPr lang="zh-CN" altLang="en-US" sz="24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400" dirty="0"/>
          </a:p>
          <a:p>
            <a:r>
              <a:rPr lang="zh-CN" altLang="en-US" sz="2400" dirty="0"/>
              <a:t>开发团队仅保留最少的中间文档。预期会根据经验进行调整，仅对最终系统编制文档。</a:t>
            </a:r>
            <a:endParaRPr lang="zh-CN" altLang="en-US" sz="2400" dirty="0"/>
          </a:p>
          <a:p>
            <a:r>
              <a:rPr lang="zh-CN" altLang="en-US" sz="2400" dirty="0"/>
              <a:t>示例：</a:t>
            </a:r>
            <a:r>
              <a:rPr lang="zh-CN" altLang="en-US" sz="24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敏捷软件开发</a:t>
            </a:r>
            <a:endParaRPr lang="zh-CN" altLang="en-US" sz="24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828800" y="1089660"/>
          <a:ext cx="7748270" cy="3288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8270"/>
              </a:tblGrid>
              <a:tr h="72517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0E7"/>
                    </a:solidFill>
                  </a:tcPr>
                </a:tc>
              </a:tr>
              <a:tr h="25628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重量级和轻量级方法论</a:t>
            </a:r>
            <a:endParaRPr lang="zh-CN" alt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8423379" y="5768564"/>
            <a:ext cx="3695048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基于敏捷软件开发宣言</a:t>
            </a:r>
            <a:r>
              <a:rPr lang="en-US" altLang="zh-CN" sz="1050" dirty="0"/>
              <a:t>   http://agilemanifesto.org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79750" y="1880870"/>
            <a:ext cx="5414645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过程和工具</a:t>
            </a:r>
            <a:r>
              <a:rPr lang="en-US" altLang="zh-CN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 </a:t>
            </a:r>
            <a:r>
              <a:rPr lang="en-US" altLang="zh-CN" sz="2400" b="0" i="0" dirty="0" err="1">
                <a:solidFill>
                  <a:srgbClr val="191B1F"/>
                </a:solidFill>
                <a:effectLst/>
                <a:latin typeface="-apple-system"/>
              </a:rPr>
              <a:t>v.s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.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个体和交互 </a:t>
            </a:r>
            <a:endParaRPr lang="en-US" altLang="zh-CN" sz="24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面面俱到的文档</a:t>
            </a:r>
            <a:r>
              <a:rPr lang="en-US" altLang="zh-CN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 </a:t>
            </a:r>
            <a:r>
              <a:rPr lang="en-US" altLang="zh-CN" sz="2400" b="0" i="0" dirty="0" err="1">
                <a:solidFill>
                  <a:srgbClr val="191B1F"/>
                </a:solidFill>
                <a:effectLst/>
                <a:latin typeface="-apple-system"/>
              </a:rPr>
              <a:t>v.s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.  </a:t>
            </a: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可以工作的软件</a:t>
            </a:r>
            <a:endParaRPr lang="zh-CN" altLang="en-US" sz="24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遵循计划</a:t>
            </a:r>
            <a:r>
              <a:rPr lang="en-US" altLang="zh-CN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 </a:t>
            </a:r>
            <a:r>
              <a:rPr lang="en-US" altLang="zh-CN" sz="2400" b="0" i="0" dirty="0" err="1">
                <a:solidFill>
                  <a:srgbClr val="191B1F"/>
                </a:solidFill>
                <a:effectLst/>
                <a:latin typeface="-apple-system"/>
              </a:rPr>
              <a:t>v.s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. </a:t>
            </a:r>
            <a:r>
              <a:rPr lang="zh-CN" altLang="en-US" sz="2400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响应变化 </a:t>
            </a:r>
            <a:endParaRPr lang="en-US" altLang="zh-CN" sz="24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合同谈判</a:t>
            </a:r>
            <a:r>
              <a:rPr lang="en-US" altLang="zh-CN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 </a:t>
            </a:r>
            <a:r>
              <a:rPr lang="en-US" altLang="zh-CN" sz="2400" b="0" i="0" dirty="0" err="1">
                <a:solidFill>
                  <a:srgbClr val="191B1F"/>
                </a:solidFill>
                <a:effectLst/>
                <a:latin typeface="-apple-system"/>
              </a:rPr>
              <a:t>v.s</a:t>
            </a:r>
            <a:r>
              <a:rPr lang="en-US" altLang="zh-CN" sz="2400" b="0" i="0" dirty="0">
                <a:solidFill>
                  <a:srgbClr val="191B1F"/>
                </a:solidFill>
                <a:effectLst/>
                <a:latin typeface="-apple-system"/>
              </a:rPr>
              <a:t>.  </a:t>
            </a:r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客户合作</a:t>
            </a:r>
            <a:endParaRPr lang="zh-CN" altLang="en-US" sz="24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22525" y="1205230"/>
            <a:ext cx="6751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重量级</a:t>
            </a:r>
            <a:r>
              <a:rPr lang="en-US" altLang="zh-CN" sz="2400"/>
              <a:t>          v.s.           </a:t>
            </a:r>
            <a:r>
              <a:rPr lang="zh-CN" altLang="en-US" sz="2400"/>
              <a:t>轻量级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软件工程历史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1372887"/>
            <a:ext cx="10946524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软件工程作为一门学科，起源于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20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世纪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70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年代初。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当时背景：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大多数计算机系统是从原手工系统转换而来，例如薪资、账单、机票预订。需求易于明确。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许多系统采用相同架构：主文件更新。系统设计易于明确。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编码繁琐，无现代语言与工具。因此，编码前做好程序设计至关重要。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这些因素催生了软件开发的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瀑布模型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瀑布模型</a:t>
            </a:r>
            <a:r>
              <a:rPr lang="en-US" altLang="zh-CN" dirty="0"/>
              <a:t> （Waterfall </a:t>
            </a:r>
            <a:r>
              <a:rPr lang="en-US" altLang="zh-CN" dirty="0"/>
              <a:t>Model）</a:t>
            </a:r>
            <a:endParaRPr lang="en-US" altLang="zh-C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624489" y="1240972"/>
            <a:ext cx="8943022" cy="4742297"/>
            <a:chOff x="2061898" y="1684150"/>
            <a:chExt cx="7452106" cy="380270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61898" y="1684150"/>
              <a:ext cx="6713802" cy="237002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7366" y="4054175"/>
              <a:ext cx="4366638" cy="1432684"/>
            </a:xfrm>
            <a:prstGeom prst="rect">
              <a:avLst/>
            </a:prstGeom>
          </p:spPr>
        </p:pic>
      </p:grpSp>
      <p:sp>
        <p:nvSpPr>
          <p:cNvPr id="8" name="TextBox 3"/>
          <p:cNvSpPr txBox="1"/>
          <p:nvPr/>
        </p:nvSpPr>
        <p:spPr>
          <a:xfrm>
            <a:off x="969957" y="4408865"/>
            <a:ext cx="3711382" cy="706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这个基础模型存在问题，实际中很少使用。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10940" y="2526030"/>
            <a:ext cx="2095500" cy="357505"/>
          </a:xfrm>
          <a:prstGeom prst="rect">
            <a:avLst/>
          </a:prstGeom>
          <a:solidFill>
            <a:srgbClr val="FFFD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系统设计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01490" y="3143250"/>
            <a:ext cx="2095500" cy="357505"/>
          </a:xfrm>
          <a:prstGeom prst="rect">
            <a:avLst/>
          </a:prstGeom>
          <a:solidFill>
            <a:srgbClr val="FFFD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程序设计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44770" y="3725545"/>
            <a:ext cx="2484120" cy="357505"/>
          </a:xfrm>
          <a:prstGeom prst="rect">
            <a:avLst/>
          </a:prstGeom>
          <a:solidFill>
            <a:srgbClr val="A8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实现（编码）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61025" y="4307840"/>
            <a:ext cx="2484120" cy="357505"/>
          </a:xfrm>
          <a:prstGeom prst="rect">
            <a:avLst/>
          </a:prstGeom>
          <a:solidFill>
            <a:srgbClr val="A8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程序测试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64630" y="4890135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验收与发布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48500" y="5477510"/>
            <a:ext cx="2769235" cy="357505"/>
          </a:xfrm>
          <a:prstGeom prst="rect">
            <a:avLst/>
          </a:prstGeom>
          <a:solidFill>
            <a:srgbClr val="FFD5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运行与维护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75560" y="1356995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可行性</a:t>
            </a:r>
            <a:r>
              <a:rPr lang="zh-CN" altLang="en-US">
                <a:solidFill>
                  <a:schemeClr val="tx1"/>
                </a:solidFill>
              </a:rPr>
              <a:t>研究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15310" y="1935480"/>
            <a:ext cx="2095500" cy="357505"/>
          </a:xfrm>
          <a:prstGeom prst="rect">
            <a:avLst/>
          </a:prstGeom>
          <a:solidFill>
            <a:srgbClr val="E2A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48500" y="1216025"/>
            <a:ext cx="1513205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需求</a:t>
            </a:r>
            <a:endParaRPr lang="zh-CN" alt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08875" y="2014855"/>
            <a:ext cx="1513205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C000"/>
                </a:solidFill>
              </a:rPr>
              <a:t>设计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882255" y="2947035"/>
            <a:ext cx="1776095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accent3">
                    <a:lumMod val="60000"/>
                    <a:lumOff val="40000"/>
                  </a:schemeClr>
                </a:solidFill>
              </a:rPr>
              <a:t>执行</a:t>
            </a:r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瀑布模型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493549" y="1372887"/>
            <a:ext cx="10946524" cy="449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瀑布模型是重量级流程，每个流程步骤都有完整文档。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优点</a:t>
            </a:r>
            <a:endParaRPr lang="zh-CN" altLang="en-US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任务分离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流程可见性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各阶段质量控制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各阶段成本监控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缺点</a:t>
            </a:r>
            <a:endParaRPr lang="zh-CN" altLang="en-US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每个阶段都会揭示对前一阶段的新理解，常需要修订早期阶段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瀑布模型灵活性不足。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2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瀑布模型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493549" y="1372887"/>
            <a:ext cx="10946524" cy="36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200" b="1" dirty="0">
                <a:solidFill>
                  <a:srgbClr val="5051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纯顺序模型是不现实的。</a:t>
            </a:r>
            <a:endParaRPr lang="zh-CN" altLang="en-US" sz="2200" b="1" dirty="0">
              <a:solidFill>
                <a:srgbClr val="5051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b="1" dirty="0">
                <a:solidFill>
                  <a:srgbClr val="5051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计划必须允许某种形式的迭代。</a:t>
            </a:r>
            <a:endParaRPr lang="zh-CN" altLang="en-US" sz="2200" b="1" dirty="0">
              <a:solidFill>
                <a:srgbClr val="5051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示例：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可行性研究若不初步调研需求与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初步设计，无法制定预算与进度。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详细设计与实现会暴露需求细节中的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开发过程中需求和技术可能发生变更。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计划赶不上变化！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改进型瀑布模型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1808752" y="1310878"/>
            <a:ext cx="8574496" cy="4726027"/>
            <a:chOff x="1373457" y="1668948"/>
            <a:chExt cx="7064352" cy="382557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06408" y="1668948"/>
              <a:ext cx="4191363" cy="1486029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3457" y="3154977"/>
              <a:ext cx="7064352" cy="2339543"/>
            </a:xfrm>
            <a:prstGeom prst="rect">
              <a:avLst/>
            </a:prstGeom>
          </p:spPr>
        </p:pic>
      </p:grpSp>
      <p:sp>
        <p:nvSpPr>
          <p:cNvPr id="11" name="TextBox 3"/>
          <p:cNvSpPr txBox="1"/>
          <p:nvPr/>
        </p:nvSpPr>
        <p:spPr>
          <a:xfrm>
            <a:off x="7640320" y="1463675"/>
            <a:ext cx="3766820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带反馈回路的瀑布模型效果更好</a:t>
            </a: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25090" y="1463675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可行性</a:t>
            </a:r>
            <a:r>
              <a:rPr lang="zh-CN" altLang="en-US">
                <a:solidFill>
                  <a:schemeClr val="tx1"/>
                </a:solidFill>
              </a:rPr>
              <a:t>研究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64840" y="2042160"/>
            <a:ext cx="2095500" cy="357505"/>
          </a:xfrm>
          <a:prstGeom prst="rect">
            <a:avLst/>
          </a:prstGeom>
          <a:solidFill>
            <a:srgbClr val="E2A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26510" y="2594610"/>
            <a:ext cx="2095500" cy="357505"/>
          </a:xfrm>
          <a:prstGeom prst="rect">
            <a:avLst/>
          </a:prstGeom>
          <a:solidFill>
            <a:srgbClr val="FFFD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系统设计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17060" y="3211830"/>
            <a:ext cx="2095500" cy="357505"/>
          </a:xfrm>
          <a:prstGeom prst="rect">
            <a:avLst/>
          </a:prstGeom>
          <a:solidFill>
            <a:srgbClr val="FFFD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程序设计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60340" y="3794125"/>
            <a:ext cx="2484120" cy="357505"/>
          </a:xfrm>
          <a:prstGeom prst="rect">
            <a:avLst/>
          </a:prstGeom>
          <a:solidFill>
            <a:srgbClr val="A8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实现（编码）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76595" y="4376420"/>
            <a:ext cx="2484120" cy="357505"/>
          </a:xfrm>
          <a:prstGeom prst="rect">
            <a:avLst/>
          </a:prstGeom>
          <a:solidFill>
            <a:srgbClr val="A8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程序测试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680200" y="4958715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验收与发布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164070" y="5546090"/>
            <a:ext cx="2769235" cy="357505"/>
          </a:xfrm>
          <a:prstGeom prst="rect">
            <a:avLst/>
          </a:prstGeom>
          <a:solidFill>
            <a:srgbClr val="FFD5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运行与维护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改进型瀑布模型适用场景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改进型瀑布模型适用场景</a:t>
            </a:r>
            <a:endParaRPr lang="zh-CN" altLang="en-US" sz="24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改进型瀑布模型最适合</a:t>
            </a: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需求明确、设计简单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的场景，例如：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转换手工数据处理系统（需求明确），如电费账单系统。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系统新版本（功能紧密继承旧产品），如汽车自动制动系统。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大型系统中需求清晰、与其他部分独立的组件。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迭代细化</a:t>
            </a:r>
            <a:r>
              <a:rPr lang="en-US" altLang="zh-CN" dirty="0"/>
              <a:t> （</a:t>
            </a:r>
            <a:r>
              <a:rPr lang="en-US" altLang="zh-CN" dirty="0"/>
              <a:t>Iterative Refinement）</a:t>
            </a:r>
            <a:endParaRPr lang="en-US" altLang="zh-C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核心理念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除非有可运行系统，否则需求难以理解，尤其是用户界面。系统与程序设计可借助原型获益。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流程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开发早期创建原型系统。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与客户评审原型、用户测试，深化需求理解、明确设计。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通过一系列迭代优化原型。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迭代</a:t>
            </a:r>
            <a:r>
              <a:rPr lang="zh-CN" altLang="en-US" dirty="0">
                <a:sym typeface="+mn-ea"/>
              </a:rPr>
              <a:t>细化</a:t>
            </a:r>
            <a:r>
              <a:rPr lang="zh-CN" altLang="en-US" dirty="0"/>
              <a:t>：示例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338033"/>
            <a:ext cx="10946524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问题：为编程环境添加图形包</a:t>
            </a:r>
            <a:endParaRPr lang="zh-CN" altLang="en-US" sz="2400" b="1" dirty="0">
              <a:solidFill>
                <a:srgbClr val="5051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需求：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客户对多项关键需求不确定，例如不同对象间坐标管理的语法。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流程：</a:t>
            </a:r>
            <a:endParaRPr lang="zh-CN" altLang="en-US" sz="2400" b="1" dirty="0">
              <a:solidFill>
                <a:srgbClr val="5051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用预处理器与初步运行时包构建原型版本。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多次迭代：用户测试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修改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重复至用户满意。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最终迭代：替换预处理器，清除运行时包中的补丁与捷径。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这是迭代求精的典型案例。</a:t>
            </a:r>
            <a:endParaRPr lang="zh-CN" altLang="en-US" sz="2400" b="1" dirty="0">
              <a:solidFill>
                <a:srgbClr val="5051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迭代</a:t>
            </a:r>
            <a:r>
              <a:rPr lang="zh-CN" altLang="en-US" dirty="0">
                <a:sym typeface="+mn-ea"/>
              </a:rPr>
              <a:t>细化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0270" y="1632728"/>
            <a:ext cx="6484313" cy="374268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011805" y="2849245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63515" y="1605280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48550" y="2860675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34305" y="4226560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评审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19680" y="4916805"/>
            <a:ext cx="209550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发布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迭代</a:t>
            </a:r>
            <a:r>
              <a:rPr lang="zh-CN" altLang="en-US" dirty="0">
                <a:sym typeface="+mn-ea"/>
              </a:rPr>
              <a:t>细化</a:t>
            </a:r>
            <a:r>
              <a:rPr lang="zh-CN" altLang="en-US" dirty="0"/>
              <a:t>的讨论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167457"/>
            <a:ext cx="10946524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这是中等重量流程，过程中生成文档。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迭代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细化采用多种技术让客户在开发早期评审计划中的系统：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用户界面原型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可废弃软件组件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虚拟模块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快速原型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逐步求精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尽快做出可运行版本供客户与用户评估，但不发布。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7446" y="5718990"/>
            <a:ext cx="46567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先模拟实现，直到真正完成。</a:t>
            </a:r>
            <a:endParaRPr lang="zh-CN" altLang="en-US" sz="24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螺旋开发</a:t>
            </a:r>
            <a:r>
              <a:rPr lang="en-US" altLang="zh-CN" dirty="0"/>
              <a:t> （Spiral </a:t>
            </a:r>
            <a:r>
              <a:rPr lang="en-US" altLang="zh-CN" dirty="0"/>
              <a:t>Development）</a:t>
            </a:r>
            <a:endParaRPr lang="en-US" altLang="zh-C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184145"/>
            <a:ext cx="10946524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开发操作系统新版本（微软）。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螺旋开发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始终有完整测试的系统，但功能不完整。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创建具备最终产品整体结构的基础系统，缺失组件用虚拟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接口代替。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每个完成的组件都配套完整测试用例。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开发团队构建新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/ 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改进组件并配套测试用例，加入源码库。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每日周期：测试人员从源码库构建整个系统，运行全套测试用例。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螺旋开发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983" y="1875454"/>
            <a:ext cx="10240034" cy="32686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18235" y="2931160"/>
            <a:ext cx="1535430" cy="83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新增</a:t>
            </a:r>
            <a:r>
              <a:rPr lang="zh-CN" altLang="en-US">
                <a:solidFill>
                  <a:schemeClr val="tx1"/>
                </a:solidFill>
              </a:rPr>
              <a:t>和改进的</a:t>
            </a:r>
            <a:r>
              <a:rPr lang="zh-CN" altLang="en-US">
                <a:solidFill>
                  <a:schemeClr val="tx1"/>
                </a:solidFill>
              </a:rPr>
              <a:t>组件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17290" y="2505075"/>
            <a:ext cx="1535430" cy="666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源码</a:t>
            </a:r>
            <a:r>
              <a:rPr lang="zh-CN" altLang="en-US">
                <a:solidFill>
                  <a:schemeClr val="tx1"/>
                </a:solidFill>
              </a:rPr>
              <a:t>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17290" y="3632200"/>
            <a:ext cx="1535430" cy="666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测试库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632950" y="3075940"/>
            <a:ext cx="845820" cy="737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每</a:t>
            </a:r>
            <a:r>
              <a:rPr lang="zh-CN" altLang="en-US">
                <a:solidFill>
                  <a:srgbClr val="C00000"/>
                </a:solidFill>
              </a:rPr>
              <a:t>日重复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6188075" y="2597150"/>
            <a:ext cx="2202815" cy="680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从源码构建整个系统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199505" y="3729990"/>
            <a:ext cx="2202815" cy="680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运行全套测试套件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螺旋开发</a:t>
            </a:r>
            <a:r>
              <a:rPr lang="zh-CN" altLang="en-US" dirty="0"/>
              <a:t>的讨论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螺旋开发广泛用于大型系统新版本开发：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整体系统架构明确。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大型组件可独立开发与测试。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系统重要性足以支撑搭建完整自动化测试的开销。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挑战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难以对架构做重大修改。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难以进行影响多组件的变更。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在线系统增量发布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小团队正确开发小系统，比协调复杂大项目更容易。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网站与其他在线软件常可先发布极简系统，再通过一系列短冲刺添加功能。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初创公司提供店铺到家配送服务。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优点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投资快速回报。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后续冲刺中需求更清晰，减少无效工作。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可在后续阶段融入客户反馈。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敏捷</a:t>
            </a:r>
            <a:r>
              <a:rPr lang="zh-CN" altLang="en-US" dirty="0">
                <a:sym typeface="+mn-ea"/>
              </a:rPr>
              <a:t>开发</a:t>
            </a:r>
            <a:r>
              <a:rPr lang="en-US" altLang="zh-CN" dirty="0">
                <a:sym typeface="+mn-ea"/>
              </a:rPr>
              <a:t> （Agile </a:t>
            </a:r>
            <a:r>
              <a:rPr lang="en-US" altLang="zh-CN" dirty="0">
                <a:sym typeface="+mn-ea"/>
              </a:rPr>
              <a:t>Development）</a:t>
            </a:r>
            <a:endParaRPr lang="en-US" altLang="zh-CN" dirty="0"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8" y="1690062"/>
            <a:ext cx="10946524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“敏捷</a:t>
            </a: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” 指代多种方法。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通用原则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大项目拆分为名为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“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冲刺（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sprint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” 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的小增量。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4–9 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人小团队执行开发。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进度划分为固定时间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窗，通常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2–4 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周。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每个冲刺是一个时间</a:t>
            </a:r>
            <a:r>
              <a:rPr lang="zh-CN" altLang="en-US" sz="2400" dirty="0">
                <a:latin typeface="Helvetica" pitchFamily="2" charset="0"/>
                <a:cs typeface="Arial" panose="020B0604020202090204" pitchFamily="34" charset="0"/>
                <a:sym typeface="+mn-ea"/>
              </a:rPr>
              <a:t>窗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，团队完成部分项目；单次冲刺覆盖需求、设计、编码、测试等步骤。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每个冲刺结束产出完整测试、可上线的代码。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这是轻量级流程，过程中文档最少，最终版本需完整文档用于后续维护。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敏捷开发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730996" y="4207686"/>
            <a:ext cx="10946524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每次冲刺后代码可：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直接发布（原始敏捷方法）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与其他冲刺代码合并后发布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并入更大代码库（螺旋开发）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828" y="1303803"/>
            <a:ext cx="8550344" cy="26930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940050" y="1765300"/>
            <a:ext cx="1286510" cy="428625"/>
          </a:xfrm>
          <a:prstGeom prst="rect">
            <a:avLst/>
          </a:prstGeom>
          <a:solidFill>
            <a:srgbClr val="D5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冲刺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08270" y="1788160"/>
            <a:ext cx="1286510" cy="428625"/>
          </a:xfrm>
          <a:prstGeom prst="rect">
            <a:avLst/>
          </a:prstGeom>
          <a:solidFill>
            <a:srgbClr val="D5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冲刺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46340" y="1781175"/>
            <a:ext cx="1286510" cy="428625"/>
          </a:xfrm>
          <a:prstGeom prst="rect">
            <a:avLst/>
          </a:prstGeom>
          <a:solidFill>
            <a:srgbClr val="D5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冲刺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58895" y="3124835"/>
            <a:ext cx="1214755" cy="5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测试通过</a:t>
            </a:r>
            <a:r>
              <a:rPr lang="zh-CN" altLang="en-US">
                <a:solidFill>
                  <a:schemeClr val="tx1"/>
                </a:solidFill>
              </a:rPr>
              <a:t>代码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690" y="3124835"/>
            <a:ext cx="1214755" cy="5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测试通过</a:t>
            </a:r>
            <a:r>
              <a:rPr lang="zh-CN" altLang="en-US">
                <a:solidFill>
                  <a:schemeClr val="tx1"/>
                </a:solidFill>
              </a:rPr>
              <a:t>代码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62645" y="3136265"/>
            <a:ext cx="1214755" cy="5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测试通过</a:t>
            </a:r>
            <a:r>
              <a:rPr lang="zh-CN" altLang="en-US">
                <a:solidFill>
                  <a:schemeClr val="tx1"/>
                </a:solidFill>
              </a:rPr>
              <a:t>代码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敏捷：代码发布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8" y="1797784"/>
            <a:ext cx="10946524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敏捷变体：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原始敏捷要求每个冲刺结束发布代码，实际中很少可行。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本课程定义：冲刺产出生产级质量代码。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有人将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“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冲刺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” 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泛指任何短期活动，这违背敏捷精神。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敏捷开发：返工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8" y="1172414"/>
            <a:ext cx="10946524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敏捷开发的挑战：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敏捷非常适合在既定架构下开发或持续优化系统。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需高阶团队制定整体架构并协调各冲刺。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返工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敏捷中，整体系统的需求与设计渐进式明确。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早期冲刺的部分内容不可避免需要返工。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这需要修改已测试甚至已发布的代码，始终比较棘手。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若返工量大，更高效的方式是：不必过度打磨每个组件，用迭代</a:t>
            </a: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细化减少返工量。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混合流程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391482"/>
            <a:ext cx="10946524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实际中，许多大型项目混合使用四类软件流程。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需求明确的项目：可用改进型瀑布做需求与系统设计，再用敏捷冲刺。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需求模糊的项目：先用迭代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细化明确需求，再用改进型瀑布构建最终版本。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螺旋开发中，新组件可按一系列冲刺开发。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用户界面必须用户测试，因此无论系统其他部分用什么流程，都必须迭代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细化。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混合流程：分阶段开发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将大型项目拆分为两个或更多阶段。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第一阶段：快速上线具备基础功能的系统版本。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后续阶段：基于前一阶段用户经验迭代。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优点</a:t>
            </a:r>
            <a:endParaRPr lang="zh-CN" altLang="en-US" sz="24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投资快速回报。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后续阶段需求更清晰。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成本可长期分摊。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软件流程观察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已完成项目应包含所有基本流程步骤，但开发流程总是部分演进式的。</a:t>
            </a:r>
            <a:endParaRPr lang="zh-CN" altLang="en-US" sz="2400" b="1" dirty="0">
              <a:solidFill>
                <a:srgbClr val="5051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降低风险的方式：</a:t>
            </a:r>
            <a:endParaRPr lang="zh-CN" altLang="en-US" sz="2400" b="1" dirty="0">
              <a:solidFill>
                <a:srgbClr val="5051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对关键组件做原型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频繁发布，或大项目分阶段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尽早并反复与用户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/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客户测试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遵循可见的软件流程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不可能在完全不预留修订空间的情况下完成每个步骤。</a:t>
            </a:r>
            <a:endParaRPr lang="zh-CN" altLang="en-US" sz="2400" b="1" dirty="0">
              <a:solidFill>
                <a:srgbClr val="5051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选择软件流程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323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开发过程中的变更成本很高。</a:t>
            </a:r>
            <a:endParaRPr lang="zh-CN" altLang="en-US" sz="24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需求不明确或预期变更：选高灵活性流程</a:t>
            </a:r>
            <a:r>
              <a:rPr lang="zh-CN" altLang="en-US" sz="24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（迭代</a:t>
            </a:r>
            <a:r>
              <a:rPr lang="zh-CN" altLang="en-US" sz="24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细化、敏捷冲刺、分阶段实施）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大型系统组件关联紧密：避免开发中大幅修改设计</a:t>
            </a:r>
            <a:r>
              <a:rPr lang="zh-CN" altLang="en-US" sz="24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（改进型瀑布）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软件市场不明确：用快速上线流程</a:t>
            </a:r>
            <a:r>
              <a:rPr lang="zh-CN" altLang="en-US" sz="2400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（敏捷冲刺）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企业流程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大型软件组织有适配自身需求的内部流程：</a:t>
            </a:r>
            <a:endParaRPr lang="zh-CN" altLang="en-US" sz="2400" b="1" dirty="0">
              <a:solidFill>
                <a:srgbClr val="50512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亚马逊（互联网电商）：敏捷先驱，多数开发拆分为约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4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周冲刺。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快速行动，打破常规</a:t>
            </a:r>
            <a:endParaRPr lang="zh-CN" altLang="en-US" sz="2400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洛克希德</a:t>
            </a:r>
            <a:r>
              <a:rPr lang="ja-JP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・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马丁（政府承包商）：采用改进型瀑布，适配美国政府软件合同管理方式。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微软（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PC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软件）：极度重视多设备测试与向下兼容，多数开发用螺旋流程。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潮流与流行词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135" y="1464310"/>
            <a:ext cx="11163935" cy="4749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505122"/>
                </a:solidFill>
              </a:rPr>
              <a:t>每隔几年就有新软件方法论大肆宣传。</a:t>
            </a:r>
            <a:endParaRPr lang="zh-CN" altLang="en-US" sz="2400" b="1" dirty="0">
              <a:solidFill>
                <a:srgbClr val="505122"/>
              </a:solidFill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505122"/>
                </a:solidFill>
              </a:rPr>
              <a:t>近年示例：英雄式编程、敏捷、Scrum、DevOps、Jenkins 流水线等。</a:t>
            </a:r>
            <a:endParaRPr lang="zh-CN" altLang="en-US" sz="2400" b="1" dirty="0">
              <a:solidFill>
                <a:srgbClr val="505122"/>
              </a:solidFill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/>
              <a:t>都宣称比旧方法大幅改进。</a:t>
            </a:r>
            <a:endParaRPr lang="zh-CN" altLang="en-US" sz="2400" dirty="0"/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/>
              <a:t>多数包含好想法，有些只是旧概念重新包装。</a:t>
            </a:r>
            <a:endParaRPr lang="zh-CN" altLang="en-US" sz="2400" dirty="0"/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/>
              <a:t>每种新方法论都会创造新流行词。</a:t>
            </a:r>
            <a:endParaRPr lang="zh-CN" altLang="en-US" sz="2400" dirty="0"/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505122"/>
                </a:solidFill>
              </a:rPr>
              <a:t>别被营销忽悠。</a:t>
            </a:r>
            <a:endParaRPr lang="zh-CN" altLang="en-US" sz="2400" b="1" dirty="0">
              <a:solidFill>
                <a:srgbClr val="505122"/>
              </a:solidFill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/>
              <a:t>没有适用于所有软件的开发流程。</a:t>
            </a:r>
            <a:endParaRPr lang="zh-CN" altLang="en-US" sz="2400" dirty="0"/>
          </a:p>
          <a:p>
            <a:pPr marL="342900" indent="-34290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/>
              <a:t>即使最好的流程，也需要熟练开发者才能打造优质、安全、可靠的系统。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Requirements on Final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690062"/>
            <a:ext cx="1116399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1.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描述项目所用流程并说明原因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7500"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可行性研究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TWO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可行性研究</a:t>
            </a:r>
            <a:endParaRPr lang="en-US" altLang="zh-CN" sz="36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921882" y="2932955"/>
            <a:ext cx="8778875" cy="2329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dirty="0"/>
              <a:t>夫未战而庙算胜者，得算多也，未战而庙算不胜者，得算少也。多算胜，少算不胜，而况于无算乎！</a:t>
            </a:r>
            <a:endParaRPr lang="zh-CN" altLang="en-US" dirty="0"/>
          </a:p>
          <a:p>
            <a:pPr algn="r"/>
            <a:r>
              <a:rPr lang="en-US" altLang="zh-CN" dirty="0"/>
              <a:t>——《</a:t>
            </a:r>
            <a:r>
              <a:rPr lang="zh-CN" altLang="en-US" dirty="0"/>
              <a:t>孙子兵法</a:t>
            </a:r>
            <a:r>
              <a:rPr lang="en-US" altLang="zh-CN" dirty="0"/>
              <a:t>·</a:t>
            </a:r>
            <a:r>
              <a:rPr lang="zh-CN" altLang="en-US" dirty="0"/>
              <a:t>计篇</a:t>
            </a:r>
            <a:r>
              <a:rPr lang="en-US" altLang="zh-CN" dirty="0"/>
              <a:t>》</a:t>
            </a:r>
            <a:endParaRPr lang="zh-CN" altLang="en-US" dirty="0"/>
          </a:p>
          <a:p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可行性研究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458595"/>
            <a:ext cx="97853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2400" dirty="0"/>
              <a:t>可行性研究是</a:t>
            </a:r>
            <a:r>
              <a:rPr lang="zh-CN" altLang="en-US" sz="2400" b="1" dirty="0"/>
              <a:t>项目立项前</a:t>
            </a:r>
            <a:r>
              <a:rPr lang="zh-CN" altLang="en-US" sz="2400" dirty="0"/>
              <a:t>的调研。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237490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可行性研究输出决策：</a:t>
            </a:r>
            <a:endParaRPr lang="zh-CN" alt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/>
              <a:t>继续推进</a:t>
            </a:r>
            <a:endParaRPr lang="zh-CN" altLang="en-US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dirty="0"/>
              <a:t>终止项目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090930" y="3907155"/>
            <a:ext cx="9785985" cy="779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生产型项目中，可行性研究常作为预算申请依据。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可行性研究可采用项目建议书形式。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可行性研究为何困难？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40570" y="1148832"/>
            <a:ext cx="10573057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spcBef>
                <a:spcPts val="1800"/>
              </a:spcBef>
              <a:defRPr/>
            </a:pPr>
            <a:r>
              <a:rPr lang="zh-CN" altLang="en-US" sz="2400" b="1" kern="0" dirty="0">
                <a:effectLst/>
              </a:rPr>
              <a:t>不确定性</a:t>
            </a:r>
            <a:endParaRPr lang="zh-CN" altLang="en-US" sz="2400" b="1" kern="0" dirty="0">
              <a:effectLst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b="0" kern="0" dirty="0">
                <a:effectLst/>
              </a:rPr>
              <a:t>客户可能不确定项目范围。</a:t>
            </a:r>
            <a:endParaRPr lang="zh-CN" altLang="en-US" sz="2400" b="0" kern="0" dirty="0">
              <a:effectLst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b="0" kern="0" dirty="0">
                <a:effectLst/>
              </a:rPr>
              <a:t>收益通常难以量化。</a:t>
            </a:r>
            <a:endParaRPr lang="zh-CN" altLang="en-US" sz="2400" b="0" kern="0" dirty="0">
              <a:effectLst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b="0" kern="0" dirty="0">
                <a:effectLst/>
              </a:rPr>
              <a:t>实施方案通常不明确。资源与时间估算非常粗略。</a:t>
            </a:r>
            <a:endParaRPr lang="zh-CN" altLang="en-US" sz="2400" b="0" kern="0" dirty="0">
              <a:effectLst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b="0" kern="0" dirty="0">
                <a:effectLst/>
              </a:rPr>
              <a:t>可能需要组织变革。</a:t>
            </a:r>
            <a:endParaRPr lang="zh-CN" altLang="en-US" sz="2400" b="0" kern="0" dirty="0">
              <a:effectLst/>
            </a:endParaRPr>
          </a:p>
          <a:p>
            <a:pPr indent="0" fontAlgn="auto">
              <a:spcBef>
                <a:spcPts val="1800"/>
              </a:spcBef>
              <a:defRPr/>
            </a:pPr>
            <a:r>
              <a:rPr lang="zh-CN" altLang="en-US" sz="2400" b="0" kern="0" dirty="0">
                <a:effectLst/>
              </a:rPr>
              <a:t>因此，可行性研究高度依赖</a:t>
            </a:r>
            <a:r>
              <a:rPr lang="zh-CN" altLang="en-US" sz="2400" b="1" kern="0" dirty="0">
                <a:effectLst/>
              </a:rPr>
              <a:t>资深人员判断。</a:t>
            </a:r>
            <a:endParaRPr lang="zh-CN" altLang="en-US" sz="2400" b="0" kern="0" dirty="0">
              <a:effectLst/>
            </a:endParaRPr>
          </a:p>
          <a:p>
            <a:pPr indent="0" fontAlgn="auto">
              <a:spcBef>
                <a:spcPts val="1800"/>
              </a:spcBef>
              <a:defRPr/>
            </a:pPr>
            <a:r>
              <a:rPr lang="zh-CN" altLang="en-US" sz="2400" b="0" kern="0" dirty="0">
                <a:effectLst/>
              </a:rPr>
              <a:t>项目初期犯错最难纠正。</a:t>
            </a:r>
            <a:r>
              <a:rPr lang="en-US" sz="2400" b="0" kern="0" dirty="0">
                <a:effectLst/>
              </a:rPr>
              <a:t>	</a:t>
            </a:r>
            <a:r>
              <a:rPr lang="en-US" sz="2000" dirty="0">
                <a:cs typeface="Arial" panose="020B0604020202090204" pitchFamily="34" charset="0"/>
              </a:rPr>
              <a:t>	</a:t>
            </a:r>
            <a:endParaRPr lang="en-US" sz="1600" dirty="0"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可行性研究为何困难？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91565" y="1148715"/>
            <a:ext cx="9584690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spcBef>
                <a:spcPts val="1800"/>
              </a:spcBef>
              <a:defRPr/>
            </a:pPr>
            <a:r>
              <a:rPr lang="zh-CN" altLang="en-US" sz="2400" b="1" dirty="0"/>
              <a:t>倡导倾向</a:t>
            </a:r>
            <a:endParaRPr lang="zh-CN" altLang="en-US" sz="2400" b="1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需要倡导激发项目热情，说服组织启动高成本、高风险复杂项目。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热情是好事，但倡导者通常</a:t>
            </a:r>
            <a:r>
              <a:rPr lang="zh-CN" altLang="en-US" sz="2400" b="1" dirty="0"/>
              <a:t>强调收益、弱化风险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开展可行性研究与决策的人，往往在项目推进中有既得利益（如经济收益、职业发展）。</a:t>
            </a:r>
            <a:endParaRPr lang="zh-CN" altLang="en-US" sz="2400" dirty="0"/>
          </a:p>
          <a:p>
            <a:pPr indent="0" fontAlgn="auto">
              <a:spcBef>
                <a:spcPts val="1800"/>
              </a:spcBef>
              <a:defRPr/>
            </a:pPr>
            <a:r>
              <a:rPr lang="en-US" sz="2000" dirty="0"/>
              <a:t>	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sz="2000" dirty="0">
                <a:cs typeface="Arial" panose="020B0604020202090204" pitchFamily="34" charset="0"/>
              </a:rPr>
              <a:t>	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en-US" sz="1600" b="0" kern="0" dirty="0">
                <a:effectLst/>
              </a:rPr>
              <a:t>	</a:t>
            </a:r>
            <a:r>
              <a:rPr lang="en-US" sz="2000" dirty="0">
                <a:cs typeface="Arial" panose="020B0604020202090204" pitchFamily="34" charset="0"/>
              </a:rPr>
              <a:t>	</a:t>
            </a:r>
            <a:endParaRPr lang="en-US" sz="1600" dirty="0">
              <a:cs typeface="Arial" panose="020B060402020209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940" y="4273768"/>
            <a:ext cx="2346398" cy="234639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决策者视角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91345" y="1233922"/>
            <a:ext cx="10573057" cy="4123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spcBef>
                <a:spcPts val="1200"/>
              </a:spcBef>
              <a:defRPr/>
            </a:pPr>
            <a:r>
              <a:rPr lang="zh-CN" altLang="en-US" sz="2400" dirty="0"/>
              <a:t>可行性研究给出建议。</a:t>
            </a:r>
            <a:endParaRPr lang="zh-CN" altLang="en-US" sz="2400" dirty="0"/>
          </a:p>
          <a:p>
            <a:pPr indent="0" fontAlgn="auto">
              <a:spcBef>
                <a:spcPts val="1200"/>
              </a:spcBef>
              <a:defRPr/>
            </a:pPr>
            <a:r>
              <a:rPr lang="zh-CN" altLang="en-US" sz="2400" dirty="0"/>
              <a:t>客户组织高层决定是否启动大型软件项目。他们需要哪些信息？</a:t>
            </a:r>
            <a:endParaRPr lang="zh-CN" altLang="en-US" sz="2400" dirty="0"/>
          </a:p>
          <a:p>
            <a:pPr marL="342900" indent="-342900" fontAlgn="auto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客户：项目为谁而做？</a:t>
            </a:r>
            <a:endParaRPr lang="zh-CN" altLang="en-US" sz="2400" dirty="0"/>
          </a:p>
          <a:p>
            <a:pPr marL="342900" indent="-342900" fontAlgn="auto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范围：项目边界是什么？</a:t>
            </a:r>
            <a:endParaRPr lang="zh-CN" altLang="en-US" sz="2400" dirty="0"/>
          </a:p>
          <a:p>
            <a:pPr marL="342900" indent="-342900" fontAlgn="auto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收益：有何收益？能否量化？若是软件产品，销量预测如何？</a:t>
            </a:r>
            <a:endParaRPr lang="zh-CN" altLang="en-US" sz="2400" dirty="0"/>
          </a:p>
          <a:p>
            <a:pPr marL="342900" indent="-342900" fontAlgn="auto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技术：项目是否可行？是否至少有一种技术方案？</a:t>
            </a:r>
            <a:endParaRPr lang="zh-CN" altLang="en-US" sz="2400" dirty="0"/>
          </a:p>
          <a:p>
            <a:pPr marL="342900" indent="-342900" fontAlgn="auto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资源：人员、时间、设备等估算？</a:t>
            </a:r>
            <a:endParaRPr lang="zh-CN" altLang="en-US" sz="2400" dirty="0"/>
          </a:p>
          <a:p>
            <a:pPr marL="342900" indent="-342900" fontAlgn="auto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/>
              <a:t>替代方案：不做此项目有哪些选择？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579610" cy="790575"/>
          </a:xfrm>
        </p:spPr>
        <p:txBody>
          <a:bodyPr>
            <a:normAutofit/>
          </a:bodyPr>
          <a:lstStyle/>
          <a:p>
            <a:r>
              <a:rPr lang="zh-CN" altLang="en-US" dirty="0"/>
              <a:t>风险在哪？能否最小化？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91345" y="1148832"/>
            <a:ext cx="10573057" cy="4199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spcBef>
                <a:spcPts val="1800"/>
              </a:spcBef>
              <a:defRPr/>
            </a:pPr>
            <a:r>
              <a:rPr lang="zh-CN" altLang="en-US" sz="2400" b="1" dirty="0">
                <a:cs typeface="Arial" panose="020B0604020202090204" pitchFamily="34" charset="0"/>
              </a:rPr>
              <a:t>技术风险</a:t>
            </a:r>
            <a:endParaRPr lang="zh-CN" altLang="en-US" sz="2400" b="1" dirty="0"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>
                <a:cs typeface="Arial" panose="020B0604020202090204" pitchFamily="34" charset="0"/>
              </a:rPr>
              <a:t>必须有含粗略时间表与人员分配的概要计划。</a:t>
            </a:r>
            <a:endParaRPr lang="zh-CN" altLang="en-US" sz="2400" dirty="0"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>
                <a:cs typeface="Arial" panose="020B0604020202090204" pitchFamily="34" charset="0"/>
              </a:rPr>
              <a:t>计划必须留大幅应急余量（项目通常需要可行性计划预估的</a:t>
            </a:r>
            <a:r>
              <a:rPr lang="en-US" altLang="zh-CN" sz="2400" dirty="0">
                <a:cs typeface="Arial" panose="020B0604020202090204" pitchFamily="34" charset="0"/>
              </a:rPr>
              <a:t> 2 </a:t>
            </a:r>
            <a:r>
              <a:rPr lang="zh-CN" altLang="en-US" sz="2400" dirty="0">
                <a:cs typeface="Arial" panose="020B0604020202090204" pitchFamily="34" charset="0"/>
              </a:rPr>
              <a:t>倍人力</a:t>
            </a:r>
            <a:r>
              <a:rPr lang="en-US" altLang="zh-CN" sz="2400" dirty="0">
                <a:cs typeface="Arial" panose="020B0604020202090204" pitchFamily="34" charset="0"/>
              </a:rPr>
              <a:t> / </a:t>
            </a:r>
            <a:r>
              <a:rPr lang="zh-CN" altLang="en-US" sz="2400" dirty="0">
                <a:cs typeface="Arial" panose="020B0604020202090204" pitchFamily="34" charset="0"/>
              </a:rPr>
              <a:t>时间）。</a:t>
            </a:r>
            <a:endParaRPr lang="zh-CN" altLang="en-US" sz="2400" dirty="0"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  <a:defRPr/>
            </a:pPr>
            <a:r>
              <a:rPr lang="zh-CN" altLang="en-US" sz="2400" b="1" dirty="0">
                <a:cs typeface="Arial" panose="020B0604020202090204" pitchFamily="34" charset="0"/>
              </a:rPr>
              <a:t>外部风险</a:t>
            </a:r>
            <a:endParaRPr lang="zh-CN" altLang="en-US" sz="2400" b="1" dirty="0"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>
                <a:cs typeface="Arial" panose="020B0604020202090204" pitchFamily="34" charset="0"/>
              </a:rPr>
              <a:t>每个系统都会与其他系统交互：相关方是否承诺必要投入（如潜在用户与客户）？</a:t>
            </a:r>
            <a:endParaRPr lang="zh-CN" altLang="en-US" sz="2400" dirty="0"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2400" dirty="0">
                <a:cs typeface="Arial" panose="020B0604020202090204" pitchFamily="34" charset="0"/>
              </a:rPr>
              <a:t>外部压力与障碍在哪里？</a:t>
            </a:r>
            <a:endParaRPr lang="zh-CN" altLang="en-US" sz="2400" dirty="0"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组织可行性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35050" y="1167130"/>
            <a:ext cx="938784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cs typeface="Arial" panose="020B0604020202090204" pitchFamily="34" charset="0"/>
              </a:rPr>
              <a:t>大型计算机系统对组织提出要求：</a:t>
            </a:r>
            <a:endParaRPr lang="zh-CN" altLang="en-US" sz="2400" dirty="0"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Arial" panose="020B0604020202090204" pitchFamily="34" charset="0"/>
              </a:rPr>
              <a:t>组织是否具备管理能力？</a:t>
            </a:r>
            <a:endParaRPr lang="zh-CN" altLang="en-US" sz="2400" dirty="0"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Arial" panose="020B0604020202090204" pitchFamily="34" charset="0"/>
              </a:rPr>
              <a:t>组织是否具备技术能力？即使外包，组织也需专业能力监督。</a:t>
            </a:r>
            <a:endParaRPr lang="zh-CN" altLang="en-US" sz="2400" dirty="0"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cs typeface="Arial" panose="020B0604020202090204" pitchFamily="34" charset="0"/>
              </a:rPr>
              <a:t>组织是否能</a:t>
            </a:r>
            <a:r>
              <a:rPr lang="zh-CN" altLang="en-US" sz="2400" dirty="0">
                <a:cs typeface="Arial" panose="020B0604020202090204" pitchFamily="34" charset="0"/>
              </a:rPr>
              <a:t>应对人员、工作流等</a:t>
            </a:r>
            <a:r>
              <a:rPr lang="zh-CN" altLang="en-US" sz="2400" dirty="0">
                <a:cs typeface="Arial" panose="020B0604020202090204" pitchFamily="34" charset="0"/>
              </a:rPr>
              <a:t>变化？</a:t>
            </a:r>
            <a:endParaRPr lang="zh-CN" altLang="en-US" sz="2400" dirty="0"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</a:pPr>
            <a:endParaRPr lang="zh-CN" altLang="en-US" sz="2400" dirty="0"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可行性研究：范围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47420" y="1167765"/>
            <a:ext cx="9714865" cy="4061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/>
              <a:t>范围定义系统边界：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包含功能清单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排除功能清单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依赖项清单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待替换现有系统清单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/>
              <a:t>范围混淆是客户对系统不满的常见原因。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en-US" altLang="zh-CN" sz="2400"/>
              <a:t>“</a:t>
            </a:r>
            <a:r>
              <a:rPr lang="zh-CN" altLang="en-US" sz="2400"/>
              <a:t>就只做了这些？</a:t>
            </a:r>
            <a:r>
              <a:rPr lang="en-US" altLang="zh-CN" sz="2400"/>
              <a:t>”“</a:t>
            </a:r>
            <a:r>
              <a:rPr lang="zh-CN" altLang="en-US" sz="2400"/>
              <a:t>我以为你会做</a:t>
            </a:r>
            <a:r>
              <a:rPr lang="en-US" altLang="zh-CN" sz="2400"/>
              <a:t> xyz</a:t>
            </a:r>
            <a:r>
              <a:rPr lang="zh-CN" altLang="en-US" sz="2400"/>
              <a:t>。</a:t>
            </a:r>
            <a:r>
              <a:rPr lang="en-US" altLang="zh-CN" sz="2400"/>
              <a:t>”“</a:t>
            </a:r>
            <a:r>
              <a:rPr lang="zh-CN" altLang="en-US" sz="2400"/>
              <a:t>没有</a:t>
            </a:r>
            <a:r>
              <a:rPr lang="en-US" altLang="zh-CN" sz="2400"/>
              <a:t> abc </a:t>
            </a:r>
            <a:r>
              <a:rPr lang="zh-CN" altLang="en-US" sz="2400"/>
              <a:t>我用不了这个系统。</a:t>
            </a:r>
            <a:r>
              <a:rPr lang="en-US" altLang="zh-CN" sz="2400"/>
              <a:t>”</a:t>
            </a:r>
            <a:endParaRPr lang="en-US" altLang="zh-CN"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可行性研究：收益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0930" y="1244600"/>
            <a:ext cx="10427970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chemeClr val="tx1"/>
                </a:solidFill>
              </a:rPr>
              <a:t>为何提议此项目？能否量化收益？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b="1">
                <a:solidFill>
                  <a:schemeClr val="tx1"/>
                </a:solidFill>
              </a:rPr>
              <a:t>组织收益</a:t>
            </a:r>
            <a:endParaRPr lang="zh-CN" altLang="en-US" sz="2400" b="1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打造可销售产品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提升组织效率（如节省人力）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管控人工无法管控的复杂系统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提供新</a:t>
            </a:r>
            <a:r>
              <a:rPr lang="en-US" altLang="zh-CN" sz="2400">
                <a:solidFill>
                  <a:schemeClr val="tx1"/>
                </a:solidFill>
              </a:rPr>
              <a:t> / </a:t>
            </a:r>
            <a:r>
              <a:rPr lang="zh-CN" altLang="en-US" sz="2400">
                <a:solidFill>
                  <a:schemeClr val="tx1"/>
                </a:solidFill>
              </a:rPr>
              <a:t>改进服务（如更快客户响应）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安全与保障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chemeClr val="tx1"/>
                </a:solidFill>
              </a:rPr>
              <a:t>专业收益不是立项理由。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可行性研究：技术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37310"/>
            <a:ext cx="1042797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可行性研究需证明项目</a:t>
            </a:r>
            <a:r>
              <a:rPr lang="zh-CN" altLang="en-US" sz="24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技术可行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，要求：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需求概要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可行系统设计（如数据库、分布式等）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待采购</a:t>
            </a:r>
            <a:r>
              <a:rPr lang="en-US" altLang="zh-CN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/ </a:t>
            </a: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开发软件的可选方案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用户数、数据量、事务量等估算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这些粗略数据用于估算人力、时间表、设备需求等概要计划。实际采用的技术方案可能差异很大。</a:t>
            </a:r>
            <a:endParaRPr lang="zh-CN" altLang="en-US" sz="24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73490" cy="790575"/>
          </a:xfrm>
        </p:spPr>
        <p:txBody>
          <a:bodyPr>
            <a:normAutofit/>
          </a:bodyPr>
          <a:lstStyle/>
          <a:p>
            <a:r>
              <a:rPr lang="zh-CN" altLang="en-US"/>
              <a:t>可行性研究：计划与资源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27430" y="1582420"/>
            <a:ext cx="10340340" cy="3461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可行性研究必须包含概要计划：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估算人力、设备需求与初步时间表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明确主要里程碑与决策点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明确与外部系统的交互与依赖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提供可交付成果与交付日期初步清单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可行性研究：替代方案与风险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0930" y="1028700"/>
            <a:ext cx="10330180" cy="5459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/>
              <a:t>可行性研究应识别风险与替代方案。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风险</a:t>
            </a:r>
            <a:endParaRPr lang="zh-CN" altLang="en-US" sz="24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可能出什么问题？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如何监控进度、发现问题（可见性）？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备选方案是什么？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替代方案</a:t>
            </a:r>
            <a:endParaRPr lang="zh-CN" altLang="en-US" sz="24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继续使用现有系统、升级还是新建？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内部开发还是外包？（合同如何管理？）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交付阶段与计划修订节点。</a:t>
            </a:r>
            <a:endParaRPr lang="zh-CN" altLang="en-US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可行性研究的一些</a:t>
            </a:r>
            <a:r>
              <a:rPr lang="zh-CN" altLang="en-US" dirty="0"/>
              <a:t>技巧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139825"/>
            <a:ext cx="10249535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/>
              <a:t>最高优先级：确保客户与开发团队对系统目标</a:t>
            </a:r>
            <a:r>
              <a:rPr lang="zh-CN" altLang="en-US" sz="2400" b="1"/>
              <a:t>理解一致</a:t>
            </a:r>
            <a:r>
              <a:rPr lang="zh-CN" altLang="en-US" sz="2400"/>
              <a:t>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/>
              <a:t>开发团队理解目标：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与客户及客户组织员工访谈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评审现有系统（含竞品）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/>
              <a:t>客户理解拟建系统：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演示关键功能或同类系统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制作用户界面原型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运行典型业务或交互</a:t>
            </a:r>
            <a:r>
              <a:rPr lang="zh-CN" altLang="en-US" sz="2400"/>
              <a:t>流程</a:t>
            </a:r>
            <a:endParaRPr lang="zh-CN" altLang="en-US" sz="2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可行性研究</a:t>
            </a:r>
            <a:r>
              <a:rPr lang="zh-CN" altLang="en-US" dirty="0">
                <a:sym typeface="+mn-ea"/>
              </a:rPr>
              <a:t>一些技巧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02030" y="1407160"/>
            <a:ext cx="10187940" cy="442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预算</a:t>
            </a:r>
            <a:r>
              <a:rPr lang="zh-CN" altLang="en-US" sz="2400" b="1"/>
              <a:t>概要</a:t>
            </a:r>
            <a:endParaRPr lang="zh-CN" altLang="en-US" sz="24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en-US" altLang="zh-CN" sz="2400"/>
              <a:t>n </a:t>
            </a:r>
            <a:r>
              <a:rPr lang="zh-CN" altLang="en-US" sz="2400"/>
              <a:t>人</a:t>
            </a:r>
            <a:r>
              <a:rPr lang="en-US" altLang="zh-CN" sz="2400"/>
              <a:t> </a:t>
            </a:r>
            <a:r>
              <a:rPr lang="en-US" altLang="en-US" sz="2400"/>
              <a:t> </a:t>
            </a:r>
            <a:r>
              <a:rPr lang="en-US" altLang="zh-CN" sz="2400"/>
              <a:t>m </a:t>
            </a:r>
            <a:r>
              <a:rPr lang="zh-CN" altLang="en-US" sz="2400"/>
              <a:t>月</a:t>
            </a:r>
            <a:r>
              <a:rPr lang="en-US" altLang="zh-CN" sz="2400"/>
              <a:t> </a:t>
            </a:r>
            <a:r>
              <a:rPr lang="en-US" altLang="en-US" sz="2400"/>
              <a:t> </a:t>
            </a:r>
            <a:r>
              <a:rPr lang="zh-CN" altLang="en-US" sz="2400"/>
              <a:t>月均成本</a:t>
            </a:r>
            <a:r>
              <a:rPr lang="en-US" altLang="zh-CN" sz="2400"/>
              <a:t> x</a:t>
            </a:r>
            <a:endParaRPr lang="en-US" altLang="zh-CN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设备、场地等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应急储备（至少</a:t>
            </a:r>
            <a:r>
              <a:rPr lang="en-US" altLang="zh-CN" sz="2400"/>
              <a:t> 50%</a:t>
            </a:r>
            <a:r>
              <a:rPr lang="zh-CN" altLang="en-US" sz="2400"/>
              <a:t>）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阶段</a:t>
            </a:r>
            <a:r>
              <a:rPr lang="en-US" altLang="zh-CN" sz="2400" b="1"/>
              <a:t> / </a:t>
            </a:r>
            <a:r>
              <a:rPr lang="zh-CN" altLang="en-US" sz="2400" b="1"/>
              <a:t>里程碑</a:t>
            </a:r>
            <a:endParaRPr lang="zh-CN" altLang="en-US" sz="24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指定可交付成果与大致日期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计划发布节点</a:t>
            </a:r>
            <a:endParaRPr lang="zh-CN" altLang="en-US"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可行性研究：决策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33500"/>
            <a:ext cx="96774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chemeClr val="tx1"/>
                </a:solidFill>
              </a:rPr>
              <a:t>不同组织与高层管理者对可行性研究有不同风格，例如：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监控团队与流程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依赖详细阅读书面报告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依赖与知情人员面对面质询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rgbClr val="C00000"/>
                </a:solidFill>
              </a:rPr>
              <a:t>但他们必须理解决策内容。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可行性报告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0930" y="1111250"/>
            <a:ext cx="10506710" cy="4061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chemeClr val="tx1"/>
                </a:solidFill>
              </a:rPr>
              <a:t>可行性研究应有</a:t>
            </a:r>
            <a:r>
              <a:rPr lang="zh-CN" altLang="en-US" sz="2400" b="1">
                <a:solidFill>
                  <a:schemeClr val="tx1"/>
                </a:solidFill>
              </a:rPr>
              <a:t>书面报告</a:t>
            </a:r>
            <a:r>
              <a:rPr lang="zh-CN" altLang="en-US" sz="2400">
                <a:solidFill>
                  <a:schemeClr val="tx1"/>
                </a:solidFill>
              </a:rPr>
              <a:t>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rgbClr val="C00000"/>
                </a:solidFill>
              </a:rPr>
              <a:t>报告应撰写精良、呈现专业：</a:t>
            </a:r>
            <a:endParaRPr lang="zh-CN" altLang="en-US" sz="2400">
              <a:solidFill>
                <a:srgbClr val="C00000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面向广泛受众：客户、财务管理层、技术管理层等。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篇幅适中，确保所有人阅读。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内容完整，不遗漏重要主题。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细节可放入支撑文档。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rgbClr val="C00000"/>
                </a:solidFill>
              </a:rPr>
              <a:t>未被阅读与理解的报告毫无价值。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期末项目要求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690062"/>
            <a:ext cx="1116399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2. </a:t>
            </a:r>
            <a:r>
              <a:rPr lang="zh-CN" altLang="en-US" sz="2000" b="1" dirty="0">
                <a:solidFill>
                  <a:srgbClr val="C00000"/>
                </a:solidFill>
              </a:rPr>
              <a:t>将可行性报告纳入期末报告（假设评审者为决策者）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7500"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项目管理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THREE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项目管理目标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149985"/>
            <a:ext cx="10427335" cy="4208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完成项目需满足：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按时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按预算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满足功能要求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客户满意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不耗尽团队精力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提供项目进度</a:t>
            </a:r>
            <a:r>
              <a:rPr lang="zh-CN" altLang="en-US" sz="2400" b="1" dirty="0">
                <a:solidFill>
                  <a:schemeClr val="tx1"/>
                </a:solidFill>
              </a:rPr>
              <a:t>可见性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提前预警问题以便纠正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项目管理挑战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955040"/>
            <a:ext cx="10303510" cy="4658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客户想知道：</a:t>
            </a:r>
            <a:endParaRPr lang="zh-CN" altLang="en-US" sz="24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系统能否兑现承诺？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何时交付？延期则延多久？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成本与预算对比如何？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软件通常是一盘</a:t>
            </a:r>
            <a:r>
              <a:rPr lang="zh-CN" altLang="en-US" sz="2400" b="1"/>
              <a:t>大旗的一部分：</a:t>
            </a:r>
            <a:endParaRPr lang="zh-CN" altLang="en-US" sz="24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若是产品：营销与开发必须协同（如微软</a:t>
            </a:r>
            <a:r>
              <a:rPr lang="en-US" altLang="zh-CN" sz="2400"/>
              <a:t> Office</a:t>
            </a:r>
            <a:r>
              <a:rPr lang="zh-CN" altLang="en-US" sz="2400"/>
              <a:t>）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若需与其他系统协同：开发必须协调（如汽车嵌入式系统）</a:t>
            </a:r>
            <a:endParaRPr lang="zh-CN" altLang="en-US" sz="2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/>
              <a:t>项目管理挑战（续）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86535"/>
            <a:ext cx="10125710" cy="3718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/>
              <a:t>但是：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每个软件系统都不同。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多数系统需求不明确，或开发中需求变更。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即使系统明确，时间与工作量估算也充满误差。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endParaRPr lang="zh-CN" altLang="en-US" sz="2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项目管理内容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886460"/>
            <a:ext cx="9967595" cy="516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 fontAlgn="auto">
              <a:spcBef>
                <a:spcPts val="1800"/>
              </a:spcBef>
              <a:buClrTx/>
              <a:buSzTx/>
              <a:buFontTx/>
            </a:pPr>
            <a:r>
              <a:rPr lang="zh-CN" altLang="en-US" b="1" dirty="0"/>
              <a:t>计划</a:t>
            </a:r>
            <a:endParaRPr lang="zh-CN" altLang="en-US" b="1" dirty="0"/>
          </a:p>
          <a:p>
            <a:pPr marL="285750" indent="-28575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b="1" dirty="0"/>
              <a:t>可行性研究阶段制定概要进度</a:t>
            </a:r>
            <a:endParaRPr lang="zh-CN" altLang="en-US" b="1" dirty="0"/>
          </a:p>
          <a:p>
            <a:pPr marL="285750" indent="-28575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b="1" dirty="0"/>
              <a:t>项目各部分更详细进度（如每个流程步骤、迭代、冲刺）</a:t>
            </a:r>
            <a:endParaRPr lang="zh-CN" altLang="en-US" b="1" dirty="0"/>
          </a:p>
          <a:p>
            <a:pPr algn="l" fontAlgn="auto">
              <a:spcBef>
                <a:spcPts val="1800"/>
              </a:spcBef>
              <a:buClrTx/>
              <a:buSzTx/>
              <a:buFontTx/>
            </a:pPr>
            <a:r>
              <a:rPr lang="zh-CN" altLang="en-US" b="1" dirty="0"/>
              <a:t>应急计划</a:t>
            </a:r>
            <a:endParaRPr lang="zh-CN" altLang="en-US" b="1" dirty="0"/>
          </a:p>
          <a:p>
            <a:pPr marL="285750" indent="-28575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b="1" dirty="0"/>
              <a:t>预判可能问题（风险管理）</a:t>
            </a:r>
            <a:endParaRPr lang="zh-CN" altLang="en-US" b="1" dirty="0"/>
          </a:p>
          <a:p>
            <a:pPr algn="l" fontAlgn="auto">
              <a:spcBef>
                <a:spcPts val="1800"/>
              </a:spcBef>
              <a:buClrTx/>
              <a:buSzTx/>
              <a:buFontTx/>
            </a:pPr>
            <a:r>
              <a:rPr lang="zh-CN" altLang="en-US" b="1" dirty="0"/>
              <a:t>进度跟踪</a:t>
            </a:r>
            <a:endParaRPr lang="zh-CN" altLang="en-US" b="1" dirty="0"/>
          </a:p>
          <a:p>
            <a:pPr marL="285750" indent="-28575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b="1" dirty="0"/>
              <a:t>定期对比进度与计划</a:t>
            </a:r>
            <a:endParaRPr lang="zh-CN" altLang="en-US" b="1" dirty="0"/>
          </a:p>
          <a:p>
            <a:pPr marL="285750" indent="-28575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b="1" dirty="0"/>
              <a:t>定期调整计划</a:t>
            </a:r>
            <a:endParaRPr lang="zh-CN" altLang="en-US" b="1" dirty="0"/>
          </a:p>
          <a:p>
            <a:pPr marL="285750" indent="-28575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b="1" dirty="0"/>
              <a:t>客户与开发者共同调整范围等</a:t>
            </a:r>
            <a:endParaRPr lang="zh-CN" altLang="en-US" b="1" dirty="0"/>
          </a:p>
          <a:p>
            <a:pPr algn="l" fontAlgn="auto">
              <a:spcBef>
                <a:spcPts val="1800"/>
              </a:spcBef>
              <a:buClrTx/>
              <a:buSzTx/>
              <a:buFontTx/>
            </a:pPr>
            <a:r>
              <a:rPr lang="zh-CN" altLang="en-US" b="1" dirty="0"/>
              <a:t>最终分析</a:t>
            </a:r>
            <a:endParaRPr lang="zh-CN" altLang="en-US" b="1" dirty="0"/>
          </a:p>
          <a:p>
            <a:pPr marL="285750" indent="-28575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b="1" dirty="0"/>
              <a:t>项目复盘，用于后续改进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术语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05560"/>
            <a:ext cx="10010775" cy="3804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 fontAlgn="auto">
              <a:spcBef>
                <a:spcPts val="1800"/>
              </a:spcBef>
              <a:buClrTx/>
              <a:buSzTx/>
              <a:buFontTx/>
            </a:pPr>
            <a:r>
              <a:rPr lang="zh-CN" altLang="en-US" sz="2400" b="1"/>
              <a:t>可交付成果</a:t>
            </a:r>
            <a:r>
              <a:rPr lang="en-US" altLang="zh-CN" sz="2400" b="1"/>
              <a:t> （</a:t>
            </a:r>
            <a:r>
              <a:rPr lang="en-US" altLang="zh-CN" sz="2400" b="1"/>
              <a:t>Deliverable）</a:t>
            </a:r>
            <a:endParaRPr lang="zh-CN" altLang="en-US" sz="2400" b="1"/>
          </a:p>
          <a:p>
            <a:pPr marL="342900" indent="-34290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400"/>
              <a:t>提供给客户的工作产物（原型、演示、报告、文档、代码等）</a:t>
            </a:r>
            <a:endParaRPr lang="zh-CN" altLang="en-US" sz="2400"/>
          </a:p>
          <a:p>
            <a:pPr marL="342900" indent="-342900" algn="l" fontAlgn="auto">
              <a:spcBef>
                <a:spcPts val="18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400"/>
              <a:t>向客户与用户发布系统或子系统</a:t>
            </a:r>
            <a:endParaRPr lang="zh-CN" altLang="en-US" sz="2400"/>
          </a:p>
          <a:p>
            <a:pPr algn="l" fontAlgn="auto">
              <a:spcBef>
                <a:spcPts val="1800"/>
              </a:spcBef>
              <a:buClrTx/>
              <a:buSzTx/>
              <a:buFontTx/>
            </a:pPr>
            <a:r>
              <a:rPr lang="zh-CN" altLang="en-US" sz="2400" b="1"/>
              <a:t>里程碑</a:t>
            </a:r>
            <a:r>
              <a:rPr lang="en-US" altLang="zh-CN" sz="2400" b="1"/>
              <a:t> （</a:t>
            </a:r>
            <a:r>
              <a:rPr lang="en-US" altLang="zh-CN" sz="2400" b="1"/>
              <a:t>Milestone）</a:t>
            </a:r>
            <a:endParaRPr lang="zh-CN" altLang="en-US" sz="2400" b="1"/>
          </a:p>
          <a:p>
            <a:pPr algn="l" fontAlgn="auto">
              <a:spcBef>
                <a:spcPts val="1800"/>
              </a:spcBef>
              <a:buClrTx/>
              <a:buSzTx/>
              <a:buFontTx/>
            </a:pPr>
            <a:r>
              <a:rPr lang="zh-CN" altLang="en-US" sz="2400"/>
              <a:t>一组指定活动完成（如交付可交付成果、完成流程步骤、冲刺结束）</a:t>
            </a:r>
            <a:endParaRPr lang="zh-CN" altLang="en-US"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术语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73175"/>
            <a:ext cx="10223500" cy="4653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000" b="1"/>
              <a:t>活动</a:t>
            </a:r>
            <a:r>
              <a:rPr lang="en-US" altLang="zh-CN" sz="2000" b="1"/>
              <a:t> Activity</a:t>
            </a:r>
            <a:endParaRPr lang="zh-CN" altLang="en-US" sz="2000" b="1"/>
          </a:p>
          <a:p>
            <a:pPr indent="0" fontAlgn="auto">
              <a:spcBef>
                <a:spcPts val="1800"/>
              </a:spcBef>
            </a:pPr>
            <a:r>
              <a:rPr lang="zh-CN" altLang="en-US" sz="2000"/>
              <a:t>项目中随时间开展的工作（也称任务）</a:t>
            </a:r>
            <a:endParaRPr lang="zh-CN" altLang="en-US" sz="2000"/>
          </a:p>
          <a:p>
            <a:pPr indent="0" fontAlgn="auto">
              <a:spcBef>
                <a:spcPts val="1800"/>
              </a:spcBef>
            </a:pPr>
            <a:r>
              <a:rPr lang="zh-CN" altLang="en-US" sz="2000" b="1"/>
              <a:t>事件</a:t>
            </a:r>
            <a:r>
              <a:rPr lang="en-US" altLang="zh-CN" sz="2000" b="1"/>
              <a:t> Event</a:t>
            </a:r>
            <a:endParaRPr lang="zh-CN" altLang="en-US" sz="2000" b="1"/>
          </a:p>
          <a:p>
            <a:pPr indent="0" fontAlgn="auto">
              <a:spcBef>
                <a:spcPts val="1800"/>
              </a:spcBef>
            </a:pPr>
            <a:r>
              <a:rPr lang="zh-CN" altLang="en-US" sz="2000"/>
              <a:t>一组活动结束（如各方就预算与计划达成一致）</a:t>
            </a:r>
            <a:endParaRPr lang="zh-CN" altLang="en-US" sz="2000"/>
          </a:p>
          <a:p>
            <a:pPr indent="0" fontAlgn="auto">
              <a:spcBef>
                <a:spcPts val="1800"/>
              </a:spcBef>
            </a:pPr>
            <a:r>
              <a:rPr lang="zh-CN" altLang="en-US" sz="2000" b="1"/>
              <a:t>依赖</a:t>
            </a:r>
            <a:r>
              <a:rPr lang="en-US" altLang="zh-CN" sz="2000" b="1"/>
              <a:t> Dependency</a:t>
            </a:r>
            <a:endParaRPr lang="en-US" altLang="zh-CN" sz="2000" b="1"/>
          </a:p>
          <a:p>
            <a:pPr indent="0" fontAlgn="auto">
              <a:spcBef>
                <a:spcPts val="1800"/>
              </a:spcBef>
            </a:pPr>
            <a:r>
              <a:rPr lang="zh-CN" altLang="en-US" sz="2000"/>
              <a:t>某事件完成后才能开始的活动</a:t>
            </a:r>
            <a:endParaRPr lang="zh-CN" altLang="en-US" sz="2000"/>
          </a:p>
          <a:p>
            <a:pPr indent="0" fontAlgn="auto">
              <a:spcBef>
                <a:spcPts val="1800"/>
              </a:spcBef>
            </a:pPr>
            <a:r>
              <a:rPr lang="zh-CN" altLang="en-US" sz="2000" b="1"/>
              <a:t>资源</a:t>
            </a:r>
            <a:r>
              <a:rPr lang="en-US" altLang="zh-CN" sz="2000" b="1"/>
              <a:t> Resource</a:t>
            </a:r>
            <a:endParaRPr lang="zh-CN" altLang="en-US" sz="2000" b="1"/>
          </a:p>
          <a:p>
            <a:pPr indent="0" fontAlgn="auto">
              <a:spcBef>
                <a:spcPts val="1800"/>
              </a:spcBef>
            </a:pPr>
            <a:r>
              <a:rPr lang="zh-CN" altLang="en-US" sz="2000"/>
              <a:t>活动所需的人力时间、设备等有限资源</a:t>
            </a:r>
            <a:endParaRPr lang="zh-CN" altLang="en-US" sz="2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270365" cy="790575"/>
          </a:xfrm>
        </p:spPr>
        <p:txBody>
          <a:bodyPr>
            <a:normAutofit/>
          </a:bodyPr>
          <a:lstStyle/>
          <a:p>
            <a:r>
              <a:rPr lang="zh-CN" altLang="en-US"/>
              <a:t>项目管理标准方法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34440"/>
            <a:ext cx="10294620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早期定义项目范围。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开发拆分为任务与里程碑。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估算每个任务的时间与资源。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合并估算形成进度与计划。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持续对照计划跟踪进度（通常每周）。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按范围、时间、资源等调整计划。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chemeClr val="tx1"/>
                </a:solidFill>
              </a:rPr>
              <a:t>通常由独立项目管理团队管理计划，而非软件开发人员。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rgbClr val="C00000"/>
                </a:solidFill>
              </a:rPr>
              <a:t>适用于改进型瀑布模型与迭代</a:t>
            </a:r>
            <a:r>
              <a:rPr lang="zh-CN" altLang="en-US" sz="2400">
                <a:solidFill>
                  <a:srgbClr val="C00000"/>
                </a:solidFill>
              </a:rPr>
              <a:t>细化。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敏捷项目管理方法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696085"/>
            <a:ext cx="10049510" cy="3221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计划分为</a:t>
            </a:r>
            <a:r>
              <a:rPr lang="zh-CN" altLang="en-US" sz="2400" b="1"/>
              <a:t>高层发布预测</a:t>
            </a:r>
            <a:r>
              <a:rPr lang="zh-CN" altLang="en-US" sz="2400"/>
              <a:t>与</a:t>
            </a:r>
            <a:r>
              <a:rPr lang="zh-CN" altLang="en-US" sz="2400" b="1"/>
              <a:t>低层详细计划</a:t>
            </a:r>
            <a:r>
              <a:rPr lang="zh-CN" altLang="en-US" sz="2400"/>
              <a:t>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发布计划是对时间</a:t>
            </a:r>
            <a:r>
              <a:rPr lang="zh-CN" altLang="en-US" sz="2400"/>
              <a:t>窗序列可达成内容的粗略预估。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发布计划持续调整（通常每日）。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客户与开发者共同控制发布计划与冲刺选择。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每个时间</a:t>
            </a:r>
            <a:r>
              <a:rPr lang="zh-CN" altLang="en-US" sz="2400">
                <a:sym typeface="+mn-ea"/>
              </a:rPr>
              <a:t>窗</a:t>
            </a:r>
            <a:r>
              <a:rPr lang="zh-CN" altLang="en-US" sz="2400"/>
              <a:t>内，团队规划可完成内容；可使用甘特图等传统工具</a:t>
            </a:r>
            <a:endParaRPr lang="zh-CN" altLang="en-US" sz="2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活动时间估算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17955"/>
            <a:ext cx="981900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/>
              <a:t>资深员工对单一任务的实际耗时估算通常较准，但是：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琐碎细节常被低估。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从</a:t>
            </a:r>
            <a:r>
              <a:rPr lang="en-US" altLang="zh-CN" sz="2400"/>
              <a:t> “</a:t>
            </a:r>
            <a:r>
              <a:rPr lang="zh-CN" altLang="en-US" sz="2400"/>
              <a:t>基本完成</a:t>
            </a:r>
            <a:r>
              <a:rPr lang="en-US" altLang="zh-CN" sz="2400"/>
              <a:t>” </a:t>
            </a:r>
            <a:r>
              <a:rPr lang="zh-CN" altLang="en-US" sz="2400"/>
              <a:t>到</a:t>
            </a:r>
            <a:r>
              <a:rPr lang="en-US" altLang="zh-CN" sz="2400"/>
              <a:t> “</a:t>
            </a:r>
            <a:r>
              <a:rPr lang="zh-CN" altLang="en-US" sz="2400"/>
              <a:t>完全完成</a:t>
            </a:r>
            <a:r>
              <a:rPr lang="en-US" altLang="zh-CN" sz="2400"/>
              <a:t>” </a:t>
            </a:r>
            <a:r>
              <a:rPr lang="zh-CN" altLang="en-US" sz="2400"/>
              <a:t>的时间远超预期。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未计划干扰项（系统崩溃升级、私事、面试等）。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/>
              <a:t>部分工作需要重做。</a:t>
            </a:r>
            <a:endParaRPr lang="zh-CN" altLang="en-US" sz="2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团队估算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0295" y="1434465"/>
            <a:ext cx="10428605" cy="3714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敏捷项目管理：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不同团队速度不同。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团队最了解单个时间窗</a:t>
            </a:r>
            <a:r>
              <a:rPr lang="en-US" altLang="zh-CN" sz="2400" dirty="0">
                <a:solidFill>
                  <a:schemeClr val="tx1"/>
                </a:solidFill>
              </a:rPr>
              <a:t> / </a:t>
            </a:r>
            <a:r>
              <a:rPr lang="zh-CN" altLang="en-US" sz="2400" dirty="0">
                <a:solidFill>
                  <a:schemeClr val="tx1"/>
                </a:solidFill>
              </a:rPr>
              <a:t>冲刺能完成什么。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团队对冲刺结果做出承诺。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时间</a:t>
            </a:r>
            <a:r>
              <a:rPr lang="zh-CN" altLang="en-US" sz="2400" dirty="0">
                <a:sym typeface="+mn-ea"/>
              </a:rPr>
              <a:t>窗</a:t>
            </a:r>
            <a:r>
              <a:rPr lang="zh-CN" altLang="en-US" sz="2400" dirty="0">
                <a:solidFill>
                  <a:schemeClr val="tx1"/>
                </a:solidFill>
              </a:rPr>
              <a:t>内团队必须有内部进度。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你的项目需要承诺结果并制定进度管理计划。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启动时间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44625"/>
            <a:ext cx="10427335" cy="3461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chemeClr val="tx1"/>
                </a:solidFill>
              </a:rPr>
              <a:t>大型项目启动期通常</a:t>
            </a:r>
            <a:r>
              <a:rPr lang="en-US" altLang="zh-CN" sz="2400" b="1">
                <a:solidFill>
                  <a:schemeClr val="tx1"/>
                </a:solidFill>
              </a:rPr>
              <a:t>3–6 </a:t>
            </a:r>
            <a:r>
              <a:rPr lang="zh-CN" altLang="en-US" sz="2400" b="1">
                <a:solidFill>
                  <a:schemeClr val="tx1"/>
                </a:solidFill>
              </a:rPr>
              <a:t>个月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人员需完成前序项目或招聘到位。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软硬件需采购安装。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人员需学习新领域与软件（学习期效率低）。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客户可能未准备就绪。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rgbClr val="C00000"/>
                </a:solidFill>
              </a:rPr>
              <a:t>新公司困难更大：需招聘、找办公场地等。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项目规划工具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0930" y="1271270"/>
            <a:ext cx="10427970" cy="3480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dirty="0"/>
              <a:t>关键路径法、甘特图等：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基于活动数据构建工作计划。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以图形</a:t>
            </a:r>
            <a:r>
              <a:rPr lang="en-US" altLang="zh-CN" sz="2400" dirty="0"/>
              <a:t> / </a:t>
            </a:r>
            <a:r>
              <a:rPr lang="zh-CN" altLang="en-US" sz="2400" dirty="0"/>
              <a:t>表格形式展示计划。</a:t>
            </a:r>
            <a:endParaRPr lang="zh-CN" altLang="en-US" sz="24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400" dirty="0"/>
              <a:t>项目规划软件（如</a:t>
            </a:r>
            <a:r>
              <a:rPr lang="en-US" altLang="zh-CN" sz="2400" dirty="0"/>
              <a:t> PingCode</a:t>
            </a:r>
            <a:r>
              <a:rPr lang="zh-CN" altLang="en-US" sz="2400" dirty="0"/>
              <a:t>、飞书、</a:t>
            </a:r>
            <a:r>
              <a:rPr lang="en-US" altLang="zh-CN" sz="2400" dirty="0"/>
              <a:t>Jira</a:t>
            </a:r>
            <a:r>
              <a:rPr lang="zh-CN" altLang="en-US" sz="2400" dirty="0"/>
              <a:t>）：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维护活动与相关数据数据库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计算与展示进度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管理进度报告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简易甘特图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22475" y="1402715"/>
            <a:ext cx="7167245" cy="32842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02100" y="5151120"/>
            <a:ext cx="55232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来源：</a:t>
            </a:r>
            <a:r>
              <a:rPr lang="en-US" altLang="zh-CN"/>
              <a:t>Advanced Software Engineering Limited</a:t>
            </a:r>
            <a:endParaRPr lang="en-US" altLang="zh-C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甘特图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167130"/>
            <a:ext cx="10083165" cy="4625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dirty="0"/>
              <a:t>适用于小型项目、单个时间</a:t>
            </a:r>
            <a:r>
              <a:rPr lang="zh-CN" altLang="en-US" sz="2400" dirty="0"/>
              <a:t>窗与冲刺：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顶部为日期（天</a:t>
            </a:r>
            <a:r>
              <a:rPr lang="en-US" altLang="zh-CN" sz="2400" dirty="0"/>
              <a:t> / </a:t>
            </a:r>
            <a:r>
              <a:rPr lang="zh-CN" altLang="en-US" sz="2400" dirty="0"/>
              <a:t>周</a:t>
            </a:r>
            <a:r>
              <a:rPr lang="en-US" altLang="zh-CN" sz="2400" dirty="0"/>
              <a:t> / </a:t>
            </a:r>
            <a:r>
              <a:rPr lang="zh-CN" altLang="en-US" sz="2400" dirty="0"/>
              <a:t>月）。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每行代表一个活动；活动可顺序、并行或重叠。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活动进度用水平条表示：左端为计划开始，右端为预期结束。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通过填充活动条长度更新进度（通常较难）。</a:t>
            </a:r>
            <a:endParaRPr lang="zh-CN" altLang="en-US" sz="2400" dirty="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 dirty="0"/>
              <a:t>可在当前日期画竖线，对比实际与计划进度。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活动图</a:t>
            </a:r>
            <a:r>
              <a:rPr lang="en-US" altLang="zh-CN"/>
              <a:t> （Activity </a:t>
            </a:r>
            <a:r>
              <a:rPr lang="en-US" altLang="zh-CN"/>
              <a:t>Graph）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508125"/>
            <a:ext cx="97669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accent1"/>
                </a:solidFill>
                <a:latin typeface="+mj-lt"/>
                <a:ea typeface="黑体" panose="02010609060101010101" charset="-122"/>
                <a:cs typeface="+mj-lt"/>
              </a:rPr>
              <a:t>一组强调依赖关系的进度规划技术</a:t>
            </a:r>
            <a:endParaRPr lang="zh-CN" altLang="en-US" b="1">
              <a:solidFill>
                <a:schemeClr val="accent1"/>
              </a:solidFill>
              <a:latin typeface="+mj-lt"/>
              <a:ea typeface="黑体" panose="02010609060101010101" charset="-122"/>
              <a:cs typeface="+mj-lt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174750" y="2547620"/>
            <a:ext cx="24536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1"/>
            </p:custDataLst>
          </p:nvPr>
        </p:nvCxnSpPr>
        <p:spPr>
          <a:xfrm>
            <a:off x="1174750" y="3319145"/>
            <a:ext cx="2453640" cy="0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1944370" y="3571875"/>
            <a:ext cx="914400" cy="914400"/>
          </a:xfrm>
          <a:prstGeom prst="ellipse">
            <a:avLst/>
          </a:prstGeom>
          <a:noFill/>
          <a:ln>
            <a:solidFill>
              <a:srgbClr val="5152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944370" y="4792980"/>
            <a:ext cx="953135" cy="758825"/>
          </a:xfrm>
          <a:prstGeom prst="rect">
            <a:avLst/>
          </a:prstGeom>
          <a:noFill/>
          <a:ln>
            <a:solidFill>
              <a:srgbClr val="5152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34510" y="2317750"/>
            <a:ext cx="2894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活动（任务）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34510" y="31273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虚拟活动（依赖）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334510" y="3844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事件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34510" y="49834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里程碑</a:t>
            </a:r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示例：带时间估算的活动图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85595" y="1329055"/>
            <a:ext cx="8496935" cy="39141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333230" cy="790575"/>
          </a:xfrm>
        </p:spPr>
        <p:txBody>
          <a:bodyPr>
            <a:normAutofit/>
          </a:bodyPr>
          <a:lstStyle/>
          <a:p>
            <a:r>
              <a:rPr lang="zh-CN" altLang="en-US"/>
              <a:t>最早事件日期与最早开始日期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30020"/>
            <a:ext cx="9880600" cy="3084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最早开始日期：</a:t>
            </a:r>
            <a:r>
              <a:rPr lang="zh-CN" altLang="en-US" sz="2400"/>
              <a:t>活动可能开始的最早日期。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最早事件日期：</a:t>
            </a:r>
            <a:r>
              <a:rPr lang="zh-CN" altLang="en-US" sz="2400"/>
              <a:t>所有活动按最早开始日期执行时，到达该节点全部完成的日期。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最早项目完工日期：</a:t>
            </a:r>
            <a:r>
              <a:rPr lang="zh-CN" altLang="en-US" sz="2400"/>
              <a:t>所有活动按最早开始日期执行时，项目完工日期。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/>
              <a:t>这些计算依赖活动图表示的依赖关系，以及单个任务耗时估算的准确性。</a:t>
            </a:r>
            <a:endParaRPr lang="zh-CN" altLang="en-US" sz="2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015095" cy="790575"/>
          </a:xfrm>
        </p:spPr>
        <p:txBody>
          <a:bodyPr>
            <a:normAutofit/>
          </a:bodyPr>
          <a:lstStyle/>
          <a:p>
            <a:r>
              <a:rPr lang="zh-CN" altLang="en-US"/>
              <a:t>最早事件日期与最</a:t>
            </a:r>
            <a:r>
              <a:rPr lang="zh-CN" altLang="en-US"/>
              <a:t>早开始日期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13180" y="1351280"/>
            <a:ext cx="7545705" cy="43370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4930" y="1397000"/>
            <a:ext cx="3212465" cy="66675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最早事件日期以</a:t>
            </a:r>
            <a:r>
              <a:rPr lang="zh-CN" altLang="en-US">
                <a:solidFill>
                  <a:srgbClr val="C00000"/>
                </a:solidFill>
              </a:rPr>
              <a:t>红色标注。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最晚事件日期与最晚开始日期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82725"/>
            <a:ext cx="8470265" cy="3440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最晚开始日期：</a:t>
            </a:r>
            <a:r>
              <a:rPr lang="zh-CN" altLang="en-US" sz="2400"/>
              <a:t>活动可开始且不延误项目最早完工日期的最晚日期。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 b="1"/>
              <a:t>最晚事件日期：</a:t>
            </a:r>
            <a:r>
              <a:rPr lang="zh-CN" altLang="en-US" sz="2400"/>
              <a:t>为保证项目按最早完工日期完成，到达该节点所有活动必须完成的最晚日期。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endParaRPr lang="zh-CN" altLang="en-US" sz="2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最晚事件日期与最晚开始日期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07890" y="1156970"/>
            <a:ext cx="57423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每个事件必须在所示日期前完成，否则无法达成最终日期。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91565" y="1211580"/>
            <a:ext cx="3013075" cy="6800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>
                <a:solidFill>
                  <a:srgbClr val="00B0F0"/>
                </a:solidFill>
                <a:latin typeface="+mj-lt"/>
                <a:ea typeface="黑体" panose="02010609060101010101" charset="-122"/>
                <a:cs typeface="+mj-lt"/>
              </a:rPr>
              <a:t>最晚事件日期以蓝色标注。</a:t>
            </a:r>
            <a:endParaRPr lang="zh-CN" altLang="en-US">
              <a:solidFill>
                <a:srgbClr val="00B0F0"/>
              </a:solidFill>
              <a:latin typeface="+mj-lt"/>
              <a:ea typeface="黑体" panose="02010609060101010101" charset="-122"/>
              <a:cs typeface="+mj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1565" y="2021205"/>
            <a:ext cx="8350250" cy="376682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关键路径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8990" y="1155065"/>
            <a:ext cx="7401560" cy="1234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000"/>
              <a:t>关键路径上的事件：</a:t>
            </a:r>
            <a:r>
              <a:rPr lang="zh-CN" altLang="en-US" sz="2000" b="1"/>
              <a:t>最早事件日期</a:t>
            </a:r>
            <a:r>
              <a:rPr lang="en-US" altLang="zh-CN" sz="2000" b="1"/>
              <a:t> = </a:t>
            </a:r>
            <a:r>
              <a:rPr lang="zh-CN" altLang="en-US" sz="2000" b="1"/>
              <a:t>最晚事件日期。</a:t>
            </a:r>
            <a:endParaRPr lang="zh-CN" altLang="en-US" sz="2000" b="1"/>
          </a:p>
          <a:p>
            <a:pPr indent="0" fontAlgn="auto">
              <a:spcBef>
                <a:spcPts val="1800"/>
              </a:spcBef>
            </a:pPr>
            <a:r>
              <a:rPr lang="zh-CN" altLang="en-US" sz="2000"/>
              <a:t>关键路径上的每个活动</a:t>
            </a:r>
            <a:r>
              <a:rPr lang="zh-CN" altLang="en-US" sz="2000" b="1"/>
              <a:t>必须按最早开始日期启动。</a:t>
            </a:r>
            <a:endParaRPr lang="zh-CN" altLang="en-US" sz="2000" b="1"/>
          </a:p>
        </p:txBody>
      </p:sp>
      <p:sp>
        <p:nvSpPr>
          <p:cNvPr id="5" name="文本框 4"/>
          <p:cNvSpPr txBox="1"/>
          <p:nvPr/>
        </p:nvSpPr>
        <p:spPr>
          <a:xfrm>
            <a:off x="673100" y="1292860"/>
            <a:ext cx="2319020" cy="3683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>
                <a:solidFill>
                  <a:srgbClr val="FFC000"/>
                </a:solidFill>
              </a:rPr>
              <a:t>关键路径以橙色标注。</a:t>
            </a:r>
            <a:endParaRPr lang="zh-CN" altLang="en-US">
              <a:solidFill>
                <a:srgbClr val="FFC000"/>
              </a:solidFill>
            </a:endParaRPr>
          </a:p>
        </p:txBody>
      </p:sp>
      <p:graphicFrame>
        <p:nvGraphicFramePr>
          <p:cNvPr id="6" name="对象 5"/>
          <p:cNvGraphicFramePr/>
          <p:nvPr>
            <p:custDataLst>
              <p:tags r:id="rId1"/>
            </p:custDataLst>
          </p:nvPr>
        </p:nvGraphicFramePr>
        <p:xfrm>
          <a:off x="1177290" y="2247265"/>
          <a:ext cx="9279255" cy="3761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10895965" imgH="6029325" progId="Paint.Picture">
                  <p:embed/>
                </p:oleObj>
              </mc:Choice>
              <mc:Fallback>
                <p:oleObj name="" r:id="rId2" imgW="10895965" imgH="6029325" progId="Paint.Picture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77290" y="2247265"/>
                        <a:ext cx="9279255" cy="3761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松弛时间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4460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非关键路径活动拥有松弛时间（</a:t>
            </a:r>
            <a:r>
              <a:rPr lang="en-US" altLang="zh-CN" sz="2000"/>
              <a:t>Slack</a:t>
            </a:r>
            <a:r>
              <a:rPr lang="zh-CN" altLang="en-US" sz="2000"/>
              <a:t>）。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69235" y="1682750"/>
            <a:ext cx="5287010" cy="25634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2200" y="4475480"/>
            <a:ext cx="950785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活动最早开始</a:t>
            </a:r>
            <a:r>
              <a:rPr lang="en-US" altLang="zh-CN" sz="2000"/>
              <a:t> 17 </a:t>
            </a:r>
            <a:r>
              <a:rPr lang="zh-CN" altLang="en-US" sz="2000"/>
              <a:t>周，必须</a:t>
            </a:r>
            <a:r>
              <a:rPr lang="en-US" altLang="zh-CN" sz="2000"/>
              <a:t> 23 </a:t>
            </a:r>
            <a:r>
              <a:rPr lang="zh-CN" altLang="en-US" sz="2000"/>
              <a:t>周完成，耗时</a:t>
            </a:r>
            <a:r>
              <a:rPr lang="en-US" altLang="zh-CN" sz="2000"/>
              <a:t> 3 </a:t>
            </a:r>
            <a:r>
              <a:rPr lang="zh-CN" altLang="en-US" sz="2000"/>
              <a:t>周。</a:t>
            </a:r>
            <a:endParaRPr lang="zh-CN" altLang="en-US" sz="2000"/>
          </a:p>
          <a:p>
            <a:r>
              <a:rPr lang="zh-CN" altLang="en-US" sz="2000"/>
              <a:t>可在</a:t>
            </a:r>
            <a:r>
              <a:rPr lang="en-US" altLang="zh-CN" sz="2000"/>
              <a:t> 17–20 </a:t>
            </a:r>
            <a:r>
              <a:rPr lang="zh-CN" altLang="en-US" sz="2000"/>
              <a:t>周任意时间开始，松弛时间为</a:t>
            </a:r>
            <a:r>
              <a:rPr lang="en-US" altLang="zh-CN" sz="2000"/>
              <a:t> 3 </a:t>
            </a:r>
            <a:r>
              <a:rPr lang="zh-CN" altLang="en-US" sz="2000"/>
              <a:t>周。</a:t>
            </a:r>
            <a:endParaRPr lang="zh-CN" altLang="en-US" sz="2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Slack</a:t>
            </a:r>
            <a:r>
              <a:rPr lang="en-US" altLang="zh-CN"/>
              <a:t> </a:t>
            </a:r>
            <a:r>
              <a:rPr lang="zh-CN" altLang="en-US"/>
              <a:t>and</a:t>
            </a:r>
            <a:r>
              <a:rPr lang="en-US" altLang="zh-CN"/>
              <a:t> </a:t>
            </a:r>
            <a:r>
              <a:rPr lang="zh-CN" altLang="en-US"/>
              <a:t>Cri</a:t>
            </a:r>
            <a:r>
              <a:rPr lang="en-US" altLang="zh-CN"/>
              <a:t>ti</a:t>
            </a:r>
            <a:r>
              <a:rPr lang="zh-CN" altLang="en-US"/>
              <a:t>cal</a:t>
            </a:r>
            <a:r>
              <a:rPr lang="en-US" altLang="zh-CN"/>
              <a:t> </a:t>
            </a:r>
            <a:r>
              <a:rPr lang="zh-CN" altLang="en-US"/>
              <a:t>Path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91565" y="1363345"/>
                <a:ext cx="10427335" cy="33032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indent="0" fontAlgn="auto">
                  <a:spcBef>
                    <a:spcPts val="1800"/>
                  </a:spcBef>
                </a:pPr>
                <a:r>
                  <a:rPr lang="zh-CN" altLang="en-US" sz="2400" b="1">
                    <a:solidFill>
                      <a:schemeClr val="accent1"/>
                    </a:solidFill>
                    <a:latin typeface="+mj-lt"/>
                    <a:ea typeface="黑体" panose="02010609060101010101" charset="-122"/>
                    <a:cs typeface="+mj-lt"/>
                  </a:rPr>
                  <a:t>松弛时间: </a:t>
                </a:r>
                <a:r>
                  <a:rPr lang="zh-CN" altLang="en-US" sz="2400"/>
                  <a:t>指一项活动的最</a:t>
                </a:r>
                <a:r>
                  <a:rPr lang="zh-CN" altLang="en-US" sz="2400"/>
                  <a:t>晚开始日期与最早开始日期之间的差值。</a:t>
                </a:r>
                <a:endParaRPr lang="zh-CN" altLang="en-US" sz="2400"/>
              </a:p>
              <a:p>
                <a:pPr indent="0" fontAlgn="auto">
                  <a:spcBef>
                    <a:spcPts val="1800"/>
                  </a:spcBef>
                </a:pPr>
                <a:r>
                  <a:rPr lang="zh-CN" altLang="en-US" sz="2400"/>
                  <a:t>Slack</a:t>
                </a:r>
                <a:r>
                  <a:rPr lang="en-US" altLang="zh-CN" sz="2400"/>
                  <a:t> </a:t>
                </a:r>
                <a:r>
                  <a:rPr lang="zh-CN" altLang="en-US" sz="240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(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𝑙𝑎𝑡𝑒𝑠𝑡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𝑒𝑣𝑒𝑛𝑡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(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𝑒𝑎𝑟𝑙𝑖𝑒𝑠𝑡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𝑒𝑣𝑒𝑛𝑡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sym typeface="+mn-ea"/>
                          </a:rPr>
                          <m:t>begin</m:t>
                        </m:r>
                      </m:sub>
                    </m:sSub>
                  </m:oMath>
                </a14:m>
                <a:r>
                  <a:rPr lang="en-US" altLang="zh-CN" sz="2400"/>
                  <a:t> </a:t>
                </a:r>
                <a:r>
                  <a:rPr lang="zh-CN" altLang="en-US" sz="2400"/>
                  <a:t>-</a:t>
                </a:r>
                <a:r>
                  <a:rPr lang="en-US" altLang="zh-CN" sz="2400"/>
                  <a:t> </a:t>
                </a:r>
                <a:r>
                  <a:rPr lang="zh-CN" altLang="en-US" sz="2400"/>
                  <a:t>(</a:t>
                </a:r>
                <a:r>
                  <a:rPr lang="en-US" altLang="zh-CN" sz="2400"/>
                  <a:t>ti</a:t>
                </a:r>
                <a:r>
                  <a:rPr lang="zh-CN" altLang="en-US" sz="2400"/>
                  <a:t>me</a:t>
                </a:r>
                <a:r>
                  <a:rPr lang="en-US" altLang="zh-CN" sz="2400"/>
                  <a:t> </a:t>
                </a:r>
                <a:r>
                  <a:rPr lang="zh-CN" altLang="en-US" sz="2400"/>
                  <a:t>es</a:t>
                </a:r>
                <a:r>
                  <a:rPr lang="en-US" altLang="zh-CN" sz="2400"/>
                  <a:t>ti</a:t>
                </a:r>
                <a:r>
                  <a:rPr lang="zh-CN" altLang="en-US" sz="2400"/>
                  <a:t>mate)</a:t>
                </a:r>
                <a:endParaRPr lang="zh-CN" altLang="en-US" sz="2400"/>
              </a:p>
              <a:p>
                <a:pPr indent="0" fontAlgn="auto">
                  <a:spcBef>
                    <a:spcPts val="1800"/>
                  </a:spcBef>
                </a:pPr>
                <a:r>
                  <a:rPr lang="zh-CN" altLang="en-US" sz="2400" b="1">
                    <a:solidFill>
                      <a:schemeClr val="accent1"/>
                    </a:solidFill>
                    <a:latin typeface="+mj-lt"/>
                    <a:ea typeface="黑体" panose="02010609060101010101" charset="-122"/>
                    <a:cs typeface="+mj-lt"/>
                  </a:rPr>
                  <a:t>关键路径: </a:t>
                </a:r>
                <a:r>
                  <a:rPr lang="zh-CN" altLang="en-US" sz="2400"/>
                  <a:t>图中一条每项活动都没有剩余时间的路径</a:t>
                </a:r>
                <a:endParaRPr lang="zh-CN" altLang="en-US" sz="2400"/>
              </a:p>
              <a:p>
                <a:pPr indent="0" fontAlgn="auto">
                  <a:spcBef>
                    <a:spcPts val="1800"/>
                  </a:spcBef>
                </a:pPr>
                <a:endParaRPr lang="zh-CN" altLang="en-US" sz="2400"/>
              </a:p>
              <a:p>
                <a:pPr indent="0" fontAlgn="auto">
                  <a:spcBef>
                    <a:spcPts val="1800"/>
                  </a:spcBef>
                </a:pPr>
                <a:r>
                  <a:rPr lang="zh-CN" altLang="en-US" sz="2400"/>
                  <a:t>如果关键路径上的某项活动没有在最早开始日期开始执行，或者完成所需时间超过预期时间，那么项目的完成日期就会被推迟。</a:t>
                </a:r>
                <a:endParaRPr lang="zh-CN" altLang="en-US" sz="240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65" y="1363345"/>
                <a:ext cx="10427335" cy="33032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618220" cy="790575"/>
          </a:xfrm>
        </p:spPr>
        <p:txBody>
          <a:bodyPr>
            <a:normAutofit/>
          </a:bodyPr>
          <a:lstStyle/>
          <a:p>
            <a:r>
              <a:rPr lang="zh-CN" altLang="en-US"/>
              <a:t>用关键路径法识别问题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57325"/>
            <a:ext cx="10223500" cy="2406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rgbClr val="C00000"/>
                </a:solidFill>
              </a:rPr>
              <a:t>问题发现越早，修复越容易。</a:t>
            </a:r>
            <a:endParaRPr lang="zh-CN" altLang="en-US" sz="2400">
              <a:solidFill>
                <a:srgbClr val="C00000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/>
              <a:t>示例：</a:t>
            </a:r>
            <a:endParaRPr lang="zh-CN" altLang="en-US" sz="2400"/>
          </a:p>
          <a:p>
            <a:pPr indent="0" fontAlgn="auto">
              <a:spcBef>
                <a:spcPts val="1800"/>
              </a:spcBef>
            </a:pPr>
            <a:r>
              <a:rPr lang="zh-CN" altLang="en-US" sz="2400"/>
              <a:t>提前采购关键设备。</a:t>
            </a:r>
            <a:endParaRPr lang="zh-CN" altLang="en-US" sz="2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为活动图</a:t>
            </a:r>
            <a:r>
              <a:rPr lang="en-US" altLang="zh-CN"/>
              <a:t> / </a:t>
            </a:r>
            <a:r>
              <a:rPr lang="zh-CN" altLang="en-US"/>
              <a:t>甘特图添加资源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2200" y="1305560"/>
            <a:ext cx="1036320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000" b="1"/>
              <a:t>每个活动标注资源，例如：</a:t>
            </a:r>
            <a:endParaRPr lang="zh-CN" altLang="en-US" sz="20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/>
              <a:t>人数（如</a:t>
            </a:r>
            <a:r>
              <a:rPr lang="en-US" altLang="zh-CN" sz="2000"/>
              <a:t> 2 </a:t>
            </a:r>
            <a:r>
              <a:rPr lang="zh-CN" altLang="en-US" sz="2000"/>
              <a:t>名</a:t>
            </a:r>
            <a:r>
              <a:rPr lang="en-US" altLang="zh-CN" sz="2000"/>
              <a:t> Java </a:t>
            </a:r>
            <a:r>
              <a:rPr lang="zh-CN" altLang="en-US" sz="2000"/>
              <a:t>程序员）</a:t>
            </a:r>
            <a:endParaRPr lang="zh-CN" altLang="en-US" sz="20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/>
              <a:t>关键人员（如首席系统架构师）</a:t>
            </a:r>
            <a:endParaRPr lang="zh-CN" altLang="en-US" sz="20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/>
              <a:t>设备（如</a:t>
            </a:r>
            <a:r>
              <a:rPr lang="en-US" altLang="zh-CN" sz="2000"/>
              <a:t> 3 </a:t>
            </a:r>
            <a:r>
              <a:rPr lang="zh-CN" altLang="en-US" sz="2000"/>
              <a:t>台指定软件服务器）</a:t>
            </a:r>
            <a:endParaRPr lang="zh-CN" altLang="en-US" sz="20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/>
              <a:t>设施（如视频会议中心）</a:t>
            </a:r>
            <a:endParaRPr lang="zh-CN" altLang="en-US" sz="2000"/>
          </a:p>
          <a:p>
            <a:pPr indent="0" fontAlgn="auto">
              <a:spcBef>
                <a:spcPts val="1800"/>
              </a:spcBef>
            </a:pPr>
            <a:r>
              <a:rPr lang="zh-CN" altLang="en-US" sz="2000" b="1"/>
              <a:t>每个资源标注可用性，例如：</a:t>
            </a:r>
            <a:endParaRPr lang="zh-CN" altLang="en-US" sz="2000" b="1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/>
              <a:t>招聘与培训</a:t>
            </a:r>
            <a:endParaRPr lang="zh-CN" altLang="en-US" sz="20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/>
              <a:t>休假</a:t>
            </a:r>
            <a:endParaRPr lang="zh-CN" altLang="en-US" sz="20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/>
              <a:t>设备可用时间</a:t>
            </a:r>
            <a:endParaRPr lang="zh-CN" altLang="en-US" sz="20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活动图资源管理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13485"/>
            <a:ext cx="10125710" cy="2261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/>
              <a:t>假设所有活动按最早开始日期启动：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rgbClr val="C00000"/>
                </a:solidFill>
              </a:rPr>
              <a:t>每个时间段计算</a:t>
            </a:r>
            <a:r>
              <a:rPr lang="zh-CN" altLang="en-US" sz="2400"/>
              <a:t>：资源需求</a:t>
            </a:r>
            <a:r>
              <a:rPr lang="en-US" altLang="zh-CN" sz="2400"/>
              <a:t> / </a:t>
            </a:r>
            <a:r>
              <a:rPr lang="zh-CN" altLang="en-US" sz="2400"/>
              <a:t>资源可用量</a:t>
            </a:r>
            <a:endParaRPr lang="zh-CN" altLang="en-US" sz="2400"/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rgbClr val="C00000"/>
                </a:solidFill>
              </a:rPr>
              <a:t>识别资源短缺</a:t>
            </a:r>
            <a:r>
              <a:rPr lang="en-US" altLang="zh-CN" sz="2400">
                <a:solidFill>
                  <a:srgbClr val="C00000"/>
                </a:solidFill>
              </a:rPr>
              <a:t> / </a:t>
            </a:r>
            <a:r>
              <a:rPr lang="zh-CN" altLang="en-US" sz="2400">
                <a:solidFill>
                  <a:srgbClr val="C00000"/>
                </a:solidFill>
              </a:rPr>
              <a:t>盈余</a:t>
            </a:r>
            <a:endParaRPr lang="zh-CN" altLang="en-US" sz="2400">
              <a:solidFill>
                <a:srgbClr val="C00000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rgbClr val="C00000"/>
                </a:solidFill>
              </a:rPr>
              <a:t>调整进度</a:t>
            </a:r>
            <a:r>
              <a:rPr lang="zh-CN" altLang="en-US" sz="2400"/>
              <a:t>：增聘人员（顾问）、调整安排（休假）、调整活动顺序</a:t>
            </a:r>
            <a:endParaRPr lang="zh-CN" altLang="en-US" sz="2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关键人员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13485"/>
            <a:ext cx="10223500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 b="1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计算机领域并非人人平等：</a:t>
            </a:r>
            <a:endParaRPr lang="zh-CN" altLang="en-US" sz="2400" b="1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部分人效率极高（如经验丰富）。</a:t>
            </a:r>
            <a:endParaRPr lang="zh-CN" altLang="en-US" sz="2400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部分任务难度极高，并非人人能胜任。</a:t>
            </a:r>
            <a:endParaRPr lang="zh-CN" altLang="en-US" sz="2400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b="1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增加人员会增加沟通复杂度：</a:t>
            </a:r>
            <a:endParaRPr lang="zh-CN" altLang="en-US" sz="2400" b="1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部分任务需要单一思路。</a:t>
            </a:r>
            <a:endParaRPr lang="zh-CN" altLang="en-US" sz="2400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部分活动耗时无法缩短。</a:t>
            </a:r>
            <a:endParaRPr lang="zh-CN" altLang="en-US" sz="2400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增加人员可能延长项目工期。</a:t>
            </a:r>
            <a:endParaRPr lang="zh-CN" altLang="en-US" sz="2400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 b="1">
                <a:solidFill>
                  <a:schemeClr val="tx1"/>
                </a:solidFill>
                <a:latin typeface="+mj-lt"/>
                <a:ea typeface="黑体" panose="02010609060101010101" charset="-122"/>
                <a:cs typeface="+mj-lt"/>
              </a:rPr>
              <a:t>关键人员生病或离职，项目会怎样？</a:t>
            </a:r>
            <a:endParaRPr lang="zh-CN" altLang="en-US" sz="2400" b="1">
              <a:solidFill>
                <a:schemeClr val="tx1"/>
              </a:solidFill>
              <a:latin typeface="+mj-lt"/>
              <a:ea typeface="黑体" panose="02010609060101010101" charset="-122"/>
              <a:cs typeface="+mj-l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进度管理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155065"/>
            <a:ext cx="10364470" cy="4879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chemeClr val="tx1"/>
                </a:solidFill>
              </a:rPr>
              <a:t>进度可由团队成员或外部项目经理管理：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创建与维护进度。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对照进度跟踪进展。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检查进度松弛时间（降低风险）。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持续调整：提前启动活动、外包、重新协商可交付成果。</a:t>
            </a:r>
            <a:endParaRPr lang="zh-CN" altLang="en-US" sz="240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向高层汇报（可见性）。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400">
                <a:solidFill>
                  <a:srgbClr val="C00000"/>
                </a:solidFill>
              </a:rPr>
              <a:t>需要获得团队成员信任。</a:t>
            </a:r>
            <a:endParaRPr lang="zh-CN" altLang="en-US" sz="2400">
              <a:solidFill>
                <a:srgbClr val="C00000"/>
              </a:solidFill>
            </a:endParaRPr>
          </a:p>
          <a:p>
            <a:pPr indent="0" fontAlgn="auto">
              <a:spcBef>
                <a:spcPts val="1800"/>
              </a:spcBef>
            </a:pP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期末项目要求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690062"/>
            <a:ext cx="1116399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3. </a:t>
            </a:r>
            <a:r>
              <a:rPr lang="zh-CN" altLang="en-US" sz="2000" dirty="0">
                <a:solidFill>
                  <a:srgbClr val="C00000"/>
                </a:solidFill>
              </a:rPr>
              <a:t>在期末报告中描述项目计划</a:t>
            </a:r>
            <a:r>
              <a:rPr lang="en-US" altLang="zh-CN" sz="2000" dirty="0">
                <a:solidFill>
                  <a:srgbClr val="C00000"/>
                </a:solidFill>
              </a:rPr>
              <a:t> / </a:t>
            </a:r>
            <a:r>
              <a:rPr lang="zh-CN" altLang="en-US" sz="2000" dirty="0">
                <a:solidFill>
                  <a:srgbClr val="C00000"/>
                </a:solidFill>
              </a:rPr>
              <a:t>进度，使用本部分介绍的技术与组件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540868" y="2606037"/>
            <a:ext cx="7978032" cy="914400"/>
          </a:xfrm>
        </p:spPr>
        <p:txBody>
          <a:bodyPr>
            <a:normAutofit/>
          </a:bodyPr>
          <a:lstStyle/>
          <a:p>
            <a:pPr algn="r"/>
            <a:r>
              <a:rPr lang="zh-CN" altLang="en-US" dirty="0"/>
              <a:t>感谢聆听！</a:t>
            </a:r>
            <a:endParaRPr lang="zh-CN" altLang="en-US" dirty="0"/>
          </a:p>
        </p:txBody>
      </p:sp>
      <p:cxnSp>
        <p:nvCxnSpPr>
          <p:cNvPr id="27" name="直接连接符 2"/>
          <p:cNvCxnSpPr/>
          <p:nvPr/>
        </p:nvCxnSpPr>
        <p:spPr>
          <a:xfrm>
            <a:off x="11226555" y="4069080"/>
            <a:ext cx="0" cy="786699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63"/>
          <p:cNvSpPr/>
          <p:nvPr/>
        </p:nvSpPr>
        <p:spPr>
          <a:xfrm>
            <a:off x="8043723" y="4360552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2026/03/12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3" name="矩形 66"/>
          <p:cNvSpPr/>
          <p:nvPr/>
        </p:nvSpPr>
        <p:spPr>
          <a:xfrm>
            <a:off x="4295518" y="3921753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刘光迟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1*300"/>
  <p:tag name="TABLE_ENDDRAG_RECT" val="144*85*671*300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7735</Words>
  <Application>WPS Writer</Application>
  <PresentationFormat>Widescreen</PresentationFormat>
  <Paragraphs>919</Paragraphs>
  <Slides>80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107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微软雅黑</vt:lpstr>
      <vt:lpstr>黑体</vt:lpstr>
      <vt:lpstr>-apple-system</vt:lpstr>
      <vt:lpstr>Thonburi</vt:lpstr>
      <vt:lpstr>汉仪中黑KW</vt:lpstr>
      <vt:lpstr>宋体</vt:lpstr>
      <vt:lpstr>Arial Unicode MS</vt:lpstr>
      <vt:lpstr>等线</vt:lpstr>
      <vt:lpstr>汉仪中等线KW</vt:lpstr>
      <vt:lpstr>Cambria Math</vt:lpstr>
      <vt:lpstr>Calibri</vt:lpstr>
      <vt:lpstr>Helvetica Neue</vt:lpstr>
      <vt:lpstr>Kingsoft Math</vt:lpstr>
      <vt:lpstr>-apple-system</vt:lpstr>
      <vt:lpstr>黑体</vt:lpstr>
      <vt:lpstr>汉仪书宋二KW</vt:lpstr>
      <vt:lpstr>苹方-简</vt:lpstr>
      <vt:lpstr>MS PGothic</vt:lpstr>
      <vt:lpstr>1_Office 主题​​</vt:lpstr>
      <vt:lpstr>Paint.Picture</vt:lpstr>
      <vt:lpstr>PowerPoint 演示文稿</vt:lpstr>
      <vt:lpstr>PowerPoint 演示文稿</vt:lpstr>
      <vt:lpstr>流程</vt:lpstr>
      <vt:lpstr>软件开发过程模型</vt:lpstr>
      <vt:lpstr>重量级与轻量级开发过程</vt:lpstr>
      <vt:lpstr>重量级和轻量级方法论</vt:lpstr>
      <vt:lpstr>软件工程历史</vt:lpstr>
      <vt:lpstr>瀑布模型</vt:lpstr>
      <vt:lpstr>瀑布模型</vt:lpstr>
      <vt:lpstr>瀑布模型</vt:lpstr>
      <vt:lpstr>改进型瀑布模型</vt:lpstr>
      <vt:lpstr>改进型瀑布模型适用场景</vt:lpstr>
      <vt:lpstr>迭代细化</vt:lpstr>
      <vt:lpstr>迭代细化：示例</vt:lpstr>
      <vt:lpstr>迭代细化</vt:lpstr>
      <vt:lpstr>迭代细化的讨论</vt:lpstr>
      <vt:lpstr>螺旋开发</vt:lpstr>
      <vt:lpstr>螺旋开发</vt:lpstr>
      <vt:lpstr>螺旋开发的讨论</vt:lpstr>
      <vt:lpstr>在线系统增量发布</vt:lpstr>
      <vt:lpstr>敏捷开发</vt:lpstr>
      <vt:lpstr>敏捷开发</vt:lpstr>
      <vt:lpstr>敏捷：代码发布</vt:lpstr>
      <vt:lpstr>敏捷开发：返工</vt:lpstr>
      <vt:lpstr>混合流程</vt:lpstr>
      <vt:lpstr>混合流程：分阶段开发</vt:lpstr>
      <vt:lpstr>软件流程观察</vt:lpstr>
      <vt:lpstr>选择软件流程</vt:lpstr>
      <vt:lpstr>企业流程</vt:lpstr>
      <vt:lpstr>潮流与流行词</vt:lpstr>
      <vt:lpstr>Requirements on Final Project</vt:lpstr>
      <vt:lpstr>PowerPoint 演示文稿</vt:lpstr>
      <vt:lpstr>可行性研究</vt:lpstr>
      <vt:lpstr>可行性研究</vt:lpstr>
      <vt:lpstr>可行性研究为何困难？</vt:lpstr>
      <vt:lpstr>可行性研究为何困难？</vt:lpstr>
      <vt:lpstr>决策者视角</vt:lpstr>
      <vt:lpstr>风险在哪？能否最小化？</vt:lpstr>
      <vt:lpstr>组织可行性</vt:lpstr>
      <vt:lpstr>可行性研究：范围</vt:lpstr>
      <vt:lpstr>可行性研究：收益</vt:lpstr>
      <vt:lpstr>可行性研究：技术</vt:lpstr>
      <vt:lpstr>可行性研究：计划与资源</vt:lpstr>
      <vt:lpstr>可行性研究：替代方案与风险</vt:lpstr>
      <vt:lpstr>可行性研究的一些技巧</vt:lpstr>
      <vt:lpstr>可行性研究一些技巧</vt:lpstr>
      <vt:lpstr>可行性研究：决策</vt:lpstr>
      <vt:lpstr>可行性报告</vt:lpstr>
      <vt:lpstr>期末项目要求</vt:lpstr>
      <vt:lpstr>PowerPoint 演示文稿</vt:lpstr>
      <vt:lpstr>项目管理目标</vt:lpstr>
      <vt:lpstr>项目管理挑战</vt:lpstr>
      <vt:lpstr>项目管理挑战（续）</vt:lpstr>
      <vt:lpstr>项目管理内容</vt:lpstr>
      <vt:lpstr>术语</vt:lpstr>
      <vt:lpstr>术语</vt:lpstr>
      <vt:lpstr>项目管理标准方法</vt:lpstr>
      <vt:lpstr>敏捷项目管理方法</vt:lpstr>
      <vt:lpstr>活动时间估算</vt:lpstr>
      <vt:lpstr>团队估算</vt:lpstr>
      <vt:lpstr>启动时间</vt:lpstr>
      <vt:lpstr>项目规划工具</vt:lpstr>
      <vt:lpstr>简易甘特图</vt:lpstr>
      <vt:lpstr>甘特图</vt:lpstr>
      <vt:lpstr>活动图</vt:lpstr>
      <vt:lpstr>示例：带时间估算的活动图</vt:lpstr>
      <vt:lpstr>最早事件日期与最早开始日期</vt:lpstr>
      <vt:lpstr>最早事件日期与最早开始日期</vt:lpstr>
      <vt:lpstr>最晚事件日期与最晚开始日期</vt:lpstr>
      <vt:lpstr>最晚事件日期与最晚开始日期</vt:lpstr>
      <vt:lpstr>关键路径</vt:lpstr>
      <vt:lpstr>松弛时间</vt:lpstr>
      <vt:lpstr>Slack and Critical Path</vt:lpstr>
      <vt:lpstr>用关键路径法识别问题</vt:lpstr>
      <vt:lpstr>为活动图 / 甘特图添加资源</vt:lpstr>
      <vt:lpstr>活动图资源管理</vt:lpstr>
      <vt:lpstr>关键人员</vt:lpstr>
      <vt:lpstr>进度管理</vt:lpstr>
      <vt:lpstr>期末项目要求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子豪 任</dc:creator>
  <cp:lastModifiedBy>刘光迟</cp:lastModifiedBy>
  <cp:revision>37</cp:revision>
  <dcterms:created xsi:type="dcterms:W3CDTF">2026-03-12T03:43:29Z</dcterms:created>
  <dcterms:modified xsi:type="dcterms:W3CDTF">2026-03-12T03:43:29Z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E9A0B022FC2198FB6136B269B05BB27B_43</vt:lpwstr>
  </property>
  <property fmtid="{D5CDD505-2E9C-101B-9397-08002B2CF9AE}" pid="3" name="KSOProductBuildVer">
    <vt:lpwstr>1033-7.2.2.8955</vt:lpwstr>
  </property>
</Properties>
</file>