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emf" ContentType="image/x-e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  <p:sldMasterId id="2147483668" r:id="rId3"/>
  </p:sldMasterIdLst>
  <p:notesMasterIdLst>
    <p:notesMasterId r:id="rId5"/>
  </p:notesMasterIdLst>
  <p:handoutMasterIdLst>
    <p:handoutMasterId r:id="rId40"/>
  </p:handoutMasterIdLst>
  <p:sldIdLst>
    <p:sldId id="523" r:id="rId4"/>
    <p:sldId id="545" r:id="rId6"/>
    <p:sldId id="551" r:id="rId7"/>
    <p:sldId id="552" r:id="rId8"/>
    <p:sldId id="587" r:id="rId9"/>
    <p:sldId id="550" r:id="rId10"/>
    <p:sldId id="547" r:id="rId11"/>
    <p:sldId id="553" r:id="rId12"/>
    <p:sldId id="584" r:id="rId13"/>
    <p:sldId id="554" r:id="rId14"/>
    <p:sldId id="555" r:id="rId15"/>
    <p:sldId id="557" r:id="rId16"/>
    <p:sldId id="558" r:id="rId17"/>
    <p:sldId id="585" r:id="rId18"/>
    <p:sldId id="560" r:id="rId19"/>
    <p:sldId id="571" r:id="rId20"/>
    <p:sldId id="572" r:id="rId21"/>
    <p:sldId id="573" r:id="rId22"/>
    <p:sldId id="574" r:id="rId23"/>
    <p:sldId id="575" r:id="rId24"/>
    <p:sldId id="576" r:id="rId25"/>
    <p:sldId id="581" r:id="rId26"/>
    <p:sldId id="577" r:id="rId27"/>
    <p:sldId id="578" r:id="rId28"/>
    <p:sldId id="586" r:id="rId29"/>
    <p:sldId id="559" r:id="rId30"/>
    <p:sldId id="561" r:id="rId31"/>
    <p:sldId id="563" r:id="rId32"/>
    <p:sldId id="564" r:id="rId33"/>
    <p:sldId id="565" r:id="rId34"/>
    <p:sldId id="566" r:id="rId35"/>
    <p:sldId id="567" r:id="rId36"/>
    <p:sldId id="568" r:id="rId37"/>
    <p:sldId id="569" r:id="rId38"/>
    <p:sldId id="527" r:id="rId39"/>
  </p:sldIdLst>
  <p:sldSz cx="12192000" cy="6858000"/>
  <p:notesSz cx="6858000" cy="9144000"/>
  <p:custDataLst>
    <p:tags r:id="rId45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74" userDrawn="1">
          <p15:clr>
            <a:srgbClr val="A4A3A4"/>
          </p15:clr>
        </p15:guide>
        <p15:guide id="2" pos="3758" userDrawn="1">
          <p15:clr>
            <a:srgbClr val="A4A3A4"/>
          </p15:clr>
        </p15:guide>
        <p15:guide id="3" pos="1050" userDrawn="1">
          <p15:clr>
            <a:srgbClr val="A4A3A4"/>
          </p15:clr>
        </p15:guide>
        <p15:guide id="4" pos="6630" userDrawn="1">
          <p15:clr>
            <a:srgbClr val="A4A3A4"/>
          </p15:clr>
        </p15:guide>
        <p15:guide id="5" orient="horz" pos="675" userDrawn="1">
          <p15:clr>
            <a:srgbClr val="A4A3A4"/>
          </p15:clr>
        </p15:guide>
        <p15:guide id="6" orient="horz" pos="726" userDrawn="1">
          <p15:clr>
            <a:srgbClr val="A4A3A4"/>
          </p15:clr>
        </p15:guide>
        <p15:guide id="7" orient="horz" pos="4004" userDrawn="1">
          <p15:clr>
            <a:srgbClr val="A4A3A4"/>
          </p15:clr>
        </p15:guide>
        <p15:guide id="8" orient="horz" pos="3874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叶 丁" initials="叶" lastIdx="2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15223"/>
    <a:srgbClr val="4B7D2B"/>
    <a:srgbClr val="EAB908"/>
    <a:srgbClr val="EAB905"/>
    <a:srgbClr val="FECD54"/>
    <a:srgbClr val="817222"/>
    <a:srgbClr val="9A8B3D"/>
    <a:srgbClr val="141213"/>
    <a:srgbClr val="D3D1D2"/>
    <a:srgbClr val="56565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711" autoAdjust="0"/>
    <p:restoredTop sz="94966" autoAdjust="0"/>
  </p:normalViewPr>
  <p:slideViewPr>
    <p:cSldViewPr snapToGrid="0" showGuides="1">
      <p:cViewPr varScale="1">
        <p:scale>
          <a:sx n="121" d="100"/>
          <a:sy n="121" d="100"/>
        </p:scale>
        <p:origin x="1248" y="184"/>
      </p:cViewPr>
      <p:guideLst>
        <p:guide orient="horz" pos="2274"/>
        <p:guide pos="3758"/>
        <p:guide pos="1050"/>
        <p:guide pos="6630"/>
        <p:guide orient="horz" pos="675"/>
        <p:guide orient="horz" pos="726"/>
        <p:guide orient="horz" pos="4004"/>
        <p:guide orient="horz" pos="3874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22" d="100"/>
        <a:sy n="122" d="100"/>
      </p:scale>
      <p:origin x="0" y="-1392"/>
    </p:cViewPr>
  </p:sorterViewPr>
  <p:notesViewPr>
    <p:cSldViewPr snapToGrid="0">
      <p:cViewPr varScale="1">
        <p:scale>
          <a:sx n="83" d="100"/>
          <a:sy n="83" d="100"/>
        </p:scale>
        <p:origin x="3992" y="208"/>
      </p:cViewPr>
      <p:guideLst/>
    </p:cSldViewPr>
  </p:notesViewPr>
  <p:gridSpacing cx="46800" cy="468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5" Type="http://schemas.openxmlformats.org/officeDocument/2006/relationships/tags" Target="tags/tag5.xml"/><Relationship Id="rId44" Type="http://schemas.openxmlformats.org/officeDocument/2006/relationships/commentAuthors" Target="commentAuthors.xml"/><Relationship Id="rId43" Type="http://schemas.openxmlformats.org/officeDocument/2006/relationships/tableStyles" Target="tableStyles.xml"/><Relationship Id="rId42" Type="http://schemas.openxmlformats.org/officeDocument/2006/relationships/viewProps" Target="viewProps.xml"/><Relationship Id="rId41" Type="http://schemas.openxmlformats.org/officeDocument/2006/relationships/presProps" Target="presProps.xml"/><Relationship Id="rId40" Type="http://schemas.openxmlformats.org/officeDocument/2006/relationships/handoutMaster" Target="handoutMasters/handoutMaster1.xml"/><Relationship Id="rId4" Type="http://schemas.openxmlformats.org/officeDocument/2006/relationships/slide" Target="slides/slide1.xml"/><Relationship Id="rId39" Type="http://schemas.openxmlformats.org/officeDocument/2006/relationships/slide" Target="slides/slide35.xml"/><Relationship Id="rId38" Type="http://schemas.openxmlformats.org/officeDocument/2006/relationships/slide" Target="slides/slide34.xml"/><Relationship Id="rId37" Type="http://schemas.openxmlformats.org/officeDocument/2006/relationships/slide" Target="slides/slide33.xml"/><Relationship Id="rId36" Type="http://schemas.openxmlformats.org/officeDocument/2006/relationships/slide" Target="slides/slide32.xml"/><Relationship Id="rId35" Type="http://schemas.openxmlformats.org/officeDocument/2006/relationships/slide" Target="slides/slide31.xml"/><Relationship Id="rId34" Type="http://schemas.openxmlformats.org/officeDocument/2006/relationships/slide" Target="slides/slide30.xml"/><Relationship Id="rId33" Type="http://schemas.openxmlformats.org/officeDocument/2006/relationships/slide" Target="slides/slide29.xml"/><Relationship Id="rId32" Type="http://schemas.openxmlformats.org/officeDocument/2006/relationships/slide" Target="slides/slide28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5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201325C-51CE-41A1-8630-1A52C13085BB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E7E3C29-C726-4695-AB77-50247DBF3DA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B3B8505-E7BC-4327-812D-12C5E82484F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371B729-817F-448C-AF52-5327A9569471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7" Type="http://schemas.openxmlformats.org/officeDocument/2006/relationships/hyperlink" Target="https://zhuanlan.zhihu.com/p/335298500" TargetMode="External"/><Relationship Id="rId6" Type="http://schemas.openxmlformats.org/officeDocument/2006/relationships/hyperlink" Target="https://weibo.com/p/1005052284144087/photos?type=photo" TargetMode="External"/><Relationship Id="rId5" Type="http://schemas.openxmlformats.org/officeDocument/2006/relationships/hyperlink" Target="https://www.seu.edu.cn/bsxtwxw/main.htm" TargetMode="External"/><Relationship Id="rId4" Type="http://schemas.openxmlformats.org/officeDocument/2006/relationships/hyperlink" Target="https://mp.weixin.qq.com/mp/profile_ext?action=home&amp;__biz=MzA4MzM3Mzc3Ng==&amp;scene=124#wechat_redirect" TargetMode="External"/><Relationship Id="rId3" Type="http://schemas.openxmlformats.org/officeDocument/2006/relationships/hyperlink" Target="http://www.officeplus.cn/p/51/102751.shtml" TargetMode="External"/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85750" indent="-285750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zh-CN" altLang="en-US" dirty="0">
                <a:cs typeface="+mn-ea"/>
                <a:sym typeface="+mn-lt"/>
              </a:rPr>
              <a:t>本模板基于“</a:t>
            </a:r>
            <a:r>
              <a:rPr lang="zh-CN" altLang="en-US" dirty="0">
                <a:hlinkClick r:id="rId3"/>
              </a:rPr>
              <a:t>中国科学院大学</a:t>
            </a:r>
            <a:r>
              <a:rPr lang="en-US" altLang="zh-CN" dirty="0">
                <a:hlinkClick r:id="rId3"/>
              </a:rPr>
              <a:t>-</a:t>
            </a:r>
            <a:r>
              <a:rPr lang="zh-CN" altLang="en-US" dirty="0">
                <a:hlinkClick r:id="rId3"/>
              </a:rPr>
              <a:t>路人丁</a:t>
            </a:r>
            <a:r>
              <a:rPr lang="en-US" altLang="zh-CN" dirty="0">
                <a:hlinkClick r:id="rId3"/>
              </a:rPr>
              <a:t>-PPT</a:t>
            </a:r>
            <a:r>
              <a:rPr lang="zh-CN" altLang="en-US" dirty="0">
                <a:hlinkClick r:id="rId3"/>
              </a:rPr>
              <a:t>模板</a:t>
            </a:r>
            <a:r>
              <a:rPr lang="zh-CN" altLang="en-US" dirty="0"/>
              <a:t>”魔改而成，著作权归该作者所有。</a:t>
            </a:r>
            <a:endParaRPr lang="en-US" altLang="zh-CN" dirty="0"/>
          </a:p>
          <a:p>
            <a:pPr marL="285750" indent="-285750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zh-CN" altLang="en-US" dirty="0"/>
              <a:t>本模板中使用的东南大学校徽、校标文字组合、校训文字等素材来自于微信公众号“</a:t>
            </a:r>
            <a:r>
              <a:rPr lang="zh-CN" altLang="en-US" dirty="0">
                <a:hlinkClick r:id="rId4"/>
              </a:rPr>
              <a:t>金木屋</a:t>
            </a:r>
            <a:r>
              <a:rPr lang="zh-CN" altLang="en-US" dirty="0"/>
              <a:t>”。</a:t>
            </a:r>
            <a:endParaRPr lang="en-US" altLang="zh-CN" dirty="0"/>
          </a:p>
          <a:p>
            <a:pPr marL="285750" indent="-285750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zh-CN" altLang="en-US" dirty="0"/>
              <a:t>本模板的视觉设计参考了“</a:t>
            </a:r>
            <a:r>
              <a:rPr lang="zh-CN" altLang="en-US" dirty="0">
                <a:hlinkClick r:id="rId5"/>
              </a:rPr>
              <a:t>东南大学视觉识别系统</a:t>
            </a:r>
            <a:r>
              <a:rPr lang="zh-CN" altLang="en-US" dirty="0"/>
              <a:t>”。</a:t>
            </a:r>
            <a:endParaRPr lang="en-US" altLang="zh-CN" dirty="0"/>
          </a:p>
          <a:p>
            <a:pPr marL="285750" indent="-285750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zh-CN" altLang="en-US" dirty="0"/>
              <a:t>人物介绍页头像素材来自 </a:t>
            </a:r>
            <a:r>
              <a:rPr lang="zh-CN" altLang="en-US" dirty="0">
                <a:hlinkClick r:id="rId6"/>
              </a:rPr>
              <a:t>小肥柴</a:t>
            </a:r>
            <a:r>
              <a:rPr lang="zh-CN" altLang="en-US" dirty="0"/>
              <a:t>。</a:t>
            </a:r>
            <a:endParaRPr lang="en-US" altLang="zh-CN" dirty="0"/>
          </a:p>
          <a:p>
            <a:pPr marL="285750" indent="-285750">
              <a:lnSpc>
                <a:spcPct val="150000"/>
              </a:lnSpc>
              <a:buFont typeface="Arial" panose="020B0604020202090204" pitchFamily="34" charset="0"/>
              <a:buChar char="•"/>
            </a:pPr>
            <a:endParaRPr lang="en-US" altLang="zh-CN" sz="800" dirty="0"/>
          </a:p>
          <a:p>
            <a:pPr marL="285750" indent="-285750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zh-CN" altLang="en-US" dirty="0"/>
              <a:t>本模板力求简洁，布局合理，主次分明。以学术风为设计理念，适用于学术报告与论文答辩等相关应用场景。模板未使用任何动画效果。</a:t>
            </a:r>
            <a:endParaRPr lang="en-US" altLang="zh-CN" dirty="0"/>
          </a:p>
          <a:p>
            <a:pPr marL="285750" indent="-285750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zh-CN" altLang="en-US" dirty="0"/>
              <a:t>您仅可以以个人非商业用途使用本</a:t>
            </a:r>
            <a:r>
              <a:rPr lang="en-US" altLang="zh-CN" dirty="0"/>
              <a:t>PPT</a:t>
            </a:r>
            <a:r>
              <a:rPr lang="zh-CN" altLang="en-US" dirty="0"/>
              <a:t>模板，不可将信息内容的全部或部分用以出售，或以出租、出借、转让、分销、发布等其他任何方式供其他人使用。</a:t>
            </a:r>
            <a:endParaRPr lang="en-US" altLang="zh-CN" dirty="0"/>
          </a:p>
          <a:p>
            <a:pPr marL="285750" indent="-285750">
              <a:lnSpc>
                <a:spcPct val="150000"/>
              </a:lnSpc>
              <a:buFont typeface="Arial" panose="020B0604020202090204" pitchFamily="34" charset="0"/>
              <a:buChar char="•"/>
            </a:pPr>
            <a:endParaRPr lang="en-US" altLang="zh-CN" sz="800" dirty="0"/>
          </a:p>
          <a:p>
            <a:pPr marL="285750" indent="-285750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zh-CN" altLang="en-US" dirty="0"/>
              <a:t>欢迎 </a:t>
            </a:r>
            <a:r>
              <a:rPr lang="zh-CN" altLang="en-US" dirty="0">
                <a:hlinkClick r:id="rId7"/>
              </a:rPr>
              <a:t>持续关注东南大学止于至善学术风</a:t>
            </a:r>
            <a:r>
              <a:rPr lang="en-US" altLang="zh-CN" dirty="0">
                <a:hlinkClick r:id="rId7"/>
              </a:rPr>
              <a:t> PPT </a:t>
            </a:r>
            <a:r>
              <a:rPr lang="zh-CN" altLang="en-US" dirty="0">
                <a:hlinkClick r:id="rId7"/>
              </a:rPr>
              <a:t>模板</a:t>
            </a:r>
            <a:r>
              <a:rPr lang="zh-CN" altLang="en-US" dirty="0"/>
              <a:t> （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https://</a:t>
            </a:r>
            <a:r>
              <a:rPr lang="en-US" altLang="zh-CN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zhuanlan.zhihu.com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/p/335298500</a:t>
            </a:r>
            <a:r>
              <a:rPr lang="zh-CN" altLang="en-US" dirty="0"/>
              <a:t>）后续的功能优化及多语言更新版本。</a:t>
            </a:r>
            <a:endParaRPr lang="en-US" altLang="zh-CN" dirty="0"/>
          </a:p>
          <a:p>
            <a:pPr marL="285750" indent="-285750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zh-CN" altLang="en-US" dirty="0"/>
              <a:t>最后，祝汇报顺利，马到成功！</a:t>
            </a:r>
            <a:endParaRPr lang="en-US" altLang="zh-CN" dirty="0"/>
          </a:p>
          <a:p>
            <a:pPr marL="285750" indent="-285750">
              <a:lnSpc>
                <a:spcPct val="150000"/>
              </a:lnSpc>
              <a:buFont typeface="Arial" panose="020B0604020202090204" pitchFamily="34" charset="0"/>
              <a:buChar char="•"/>
            </a:pPr>
            <a:endParaRPr lang="en-US" altLang="zh-CN" dirty="0"/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Char char="•"/>
              <a:defRPr/>
            </a:pPr>
            <a:r>
              <a:rPr kumimoji="1" lang="en-US" altLang="zh-CN" dirty="0">
                <a:latin typeface="+mn-ea"/>
                <a:cs typeface="Arial" panose="020B0604020202090204" pitchFamily="34" charset="0"/>
              </a:rPr>
              <a:t>Version:</a:t>
            </a:r>
            <a:r>
              <a:rPr kumimoji="1" lang="zh-CN" altLang="en-US" dirty="0">
                <a:latin typeface="+mn-ea"/>
                <a:cs typeface="Arial" panose="020B0604020202090204" pitchFamily="34" charset="0"/>
              </a:rPr>
              <a:t> </a:t>
            </a:r>
            <a:r>
              <a:rPr kumimoji="1" lang="en-US" altLang="zh-CN" dirty="0">
                <a:latin typeface="+mn-ea"/>
                <a:cs typeface="Arial" panose="020B0604020202090204" pitchFamily="34" charset="0"/>
              </a:rPr>
              <a:t>(2021) v1.5-en.</a:t>
            </a:r>
            <a:endParaRPr kumimoji="1" lang="zh-CN" altLang="en-US" dirty="0">
              <a:latin typeface="+mn-ea"/>
              <a:cs typeface="Arial" panose="020B0604020202090204" pitchFamily="34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71B729-817F-448C-AF52-5327A956947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71B729-817F-448C-AF52-5327A956947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71B729-817F-448C-AF52-5327A956947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71B729-817F-448C-AF52-5327A956947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71B729-817F-448C-AF52-5327A956947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71B729-817F-448C-AF52-5327A956947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71B729-817F-448C-AF52-5327A956947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71B729-817F-448C-AF52-5327A956947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71B729-817F-448C-AF52-5327A956947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71B729-817F-448C-AF52-5327A956947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71B729-817F-448C-AF52-5327A956947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71B729-817F-448C-AF52-5327A956947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71B729-817F-448C-AF52-5327A956947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71B729-817F-448C-AF52-5327A956947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71B729-817F-448C-AF52-5327A956947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71B729-817F-448C-AF52-5327A956947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71B729-817F-448C-AF52-5327A956947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幻灯片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箭头: 五边形 46"/>
          <p:cNvSpPr/>
          <p:nvPr userDrawn="1"/>
        </p:nvSpPr>
        <p:spPr>
          <a:xfrm rot="5400000">
            <a:off x="-1070579" y="2025798"/>
            <a:ext cx="6858002" cy="2806406"/>
          </a:xfrm>
          <a:prstGeom prst="homePlate">
            <a:avLst>
              <a:gd name="adj" fmla="val 32231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0" i="0" dirty="0">
              <a:solidFill>
                <a:schemeClr val="accent6"/>
              </a:solidFill>
              <a:latin typeface="Helvetica Regular" pitchFamily="2" charset="0"/>
            </a:endParaRPr>
          </a:p>
        </p:txBody>
      </p:sp>
      <p:pic>
        <p:nvPicPr>
          <p:cNvPr id="4" name="图片 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3142" y="2263721"/>
            <a:ext cx="2330560" cy="233056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页版式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任意多边形: 形状 84"/>
          <p:cNvSpPr/>
          <p:nvPr userDrawn="1"/>
        </p:nvSpPr>
        <p:spPr bwMode="auto">
          <a:xfrm rot="5400000">
            <a:off x="4539448" y="-380490"/>
            <a:ext cx="3113105" cy="2609911"/>
          </a:xfrm>
          <a:custGeom>
            <a:avLst/>
            <a:gdLst>
              <a:gd name="connsiteX0" fmla="*/ 0 w 3113105"/>
              <a:gd name="connsiteY0" fmla="*/ 2609911 h 2609911"/>
              <a:gd name="connsiteX1" fmla="*/ 0 w 3113105"/>
              <a:gd name="connsiteY1" fmla="*/ 0 h 2609911"/>
              <a:gd name="connsiteX2" fmla="*/ 2301594 w 3113105"/>
              <a:gd name="connsiteY2" fmla="*/ 0 h 2609911"/>
              <a:gd name="connsiteX3" fmla="*/ 3113105 w 3113105"/>
              <a:gd name="connsiteY3" fmla="*/ 1304956 h 2609911"/>
              <a:gd name="connsiteX4" fmla="*/ 2301594 w 3113105"/>
              <a:gd name="connsiteY4" fmla="*/ 2609910 h 2609911"/>
              <a:gd name="connsiteX5" fmla="*/ 2301594 w 3113105"/>
              <a:gd name="connsiteY5" fmla="*/ 2609911 h 26099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113105" h="2609911">
                <a:moveTo>
                  <a:pt x="0" y="2609911"/>
                </a:moveTo>
                <a:lnTo>
                  <a:pt x="0" y="0"/>
                </a:lnTo>
                <a:lnTo>
                  <a:pt x="2301594" y="0"/>
                </a:lnTo>
                <a:lnTo>
                  <a:pt x="3113105" y="1304956"/>
                </a:lnTo>
                <a:lnTo>
                  <a:pt x="2301594" y="2609910"/>
                </a:lnTo>
                <a:lnTo>
                  <a:pt x="2301594" y="260991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noAutofit/>
          </a:bodyPr>
          <a:lstStyle/>
          <a:p>
            <a:pPr algn="ctr">
              <a:lnSpc>
                <a:spcPct val="130000"/>
              </a:lnSpc>
            </a:pPr>
            <a:endParaRPr lang="en-US" sz="4000" b="0" i="0" dirty="0">
              <a:solidFill>
                <a:schemeClr val="bg1"/>
              </a:solidFill>
              <a:latin typeface="Helvetica Regular" pitchFamily="2" charset="0"/>
              <a:cs typeface="+mn-ea"/>
              <a:sym typeface="+mn-lt"/>
            </a:endParaRPr>
          </a:p>
        </p:txBody>
      </p:sp>
      <p:sp>
        <p:nvSpPr>
          <p:cNvPr id="86" name="文本框 85"/>
          <p:cNvSpPr txBox="1"/>
          <p:nvPr userDrawn="1"/>
        </p:nvSpPr>
        <p:spPr>
          <a:xfrm>
            <a:off x="4781377" y="483991"/>
            <a:ext cx="2629246" cy="90826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4400" b="1" i="0" dirty="0">
                <a:solidFill>
                  <a:schemeClr val="bg1"/>
                </a:solidFill>
                <a:latin typeface="Helvetica" pitchFamily="2" charset="0"/>
                <a:cs typeface="Arial" panose="020B0604020202090204" pitchFamily="34" charset="0"/>
                <a:sym typeface="+mn-lt"/>
              </a:rPr>
              <a:t>Contents</a:t>
            </a:r>
            <a:endParaRPr lang="zh-CN" altLang="en-US" sz="4400" b="1" i="0" dirty="0">
              <a:solidFill>
                <a:schemeClr val="bg1"/>
              </a:solidFill>
              <a:latin typeface="Helvetica" pitchFamily="2" charset="0"/>
              <a:cs typeface="Arial" panose="020B0604020202090204" pitchFamily="34" charset="0"/>
              <a:sym typeface="+mn-lt"/>
            </a:endParaRPr>
          </a:p>
        </p:txBody>
      </p:sp>
      <p:sp>
        <p:nvSpPr>
          <p:cNvPr id="87" name="任意多边形: 形状 86"/>
          <p:cNvSpPr/>
          <p:nvPr userDrawn="1"/>
        </p:nvSpPr>
        <p:spPr bwMode="auto">
          <a:xfrm rot="5400000">
            <a:off x="4384812" y="-485285"/>
            <a:ext cx="3422377" cy="3128773"/>
          </a:xfrm>
          <a:custGeom>
            <a:avLst/>
            <a:gdLst>
              <a:gd name="connsiteX0" fmla="*/ 0 w 3422377"/>
              <a:gd name="connsiteY0" fmla="*/ 3128773 h 3128773"/>
              <a:gd name="connsiteX1" fmla="*/ 0 w 3422377"/>
              <a:gd name="connsiteY1" fmla="*/ 0 h 3128773"/>
              <a:gd name="connsiteX2" fmla="*/ 2449535 w 3422377"/>
              <a:gd name="connsiteY2" fmla="*/ 0 h 3128773"/>
              <a:gd name="connsiteX3" fmla="*/ 3422377 w 3422377"/>
              <a:gd name="connsiteY3" fmla="*/ 1564387 h 3128773"/>
              <a:gd name="connsiteX4" fmla="*/ 2449535 w 3422377"/>
              <a:gd name="connsiteY4" fmla="*/ 3128772 h 3128773"/>
              <a:gd name="connsiteX5" fmla="*/ 2449535 w 3422377"/>
              <a:gd name="connsiteY5" fmla="*/ 3128773 h 31287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422377" h="3128773">
                <a:moveTo>
                  <a:pt x="0" y="3128773"/>
                </a:moveTo>
                <a:lnTo>
                  <a:pt x="0" y="0"/>
                </a:lnTo>
                <a:lnTo>
                  <a:pt x="2449535" y="0"/>
                </a:lnTo>
                <a:lnTo>
                  <a:pt x="3422377" y="1564387"/>
                </a:lnTo>
                <a:lnTo>
                  <a:pt x="2449535" y="3128772"/>
                </a:lnTo>
                <a:lnTo>
                  <a:pt x="2449535" y="3128773"/>
                </a:lnTo>
                <a:close/>
              </a:path>
            </a:pathLst>
          </a:custGeom>
          <a:noFill/>
          <a:ln w="12700">
            <a:solidFill>
              <a:schemeClr val="accent1"/>
            </a:solidFill>
            <a:prstDash val="lgDash"/>
          </a:ln>
          <a:effectLst/>
        </p:spPr>
        <p:txBody>
          <a:bodyPr vert="horz" wrap="square" lIns="91440" tIns="45720" rIns="91440" bIns="45720" numCol="1" anchor="ctr" anchorCtr="0" compatLnSpc="1">
            <a:noAutofit/>
          </a:bodyPr>
          <a:lstStyle/>
          <a:p>
            <a:pPr algn="ctr">
              <a:lnSpc>
                <a:spcPct val="130000"/>
              </a:lnSpc>
            </a:pPr>
            <a:endParaRPr lang="en-US" sz="4000" b="0" i="0" dirty="0">
              <a:solidFill>
                <a:schemeClr val="bg1"/>
              </a:solidFill>
              <a:latin typeface="Helvetica Regular" pitchFamily="2" charset="0"/>
              <a:cs typeface="+mn-ea"/>
              <a:sym typeface="+mn-lt"/>
            </a:endParaRPr>
          </a:p>
        </p:txBody>
      </p:sp>
      <p:pic>
        <p:nvPicPr>
          <p:cNvPr id="89" name="图片 88"/>
          <p:cNvPicPr>
            <a:picLocks noChangeAspect="1"/>
          </p:cNvPicPr>
          <p:nvPr userDrawn="1"/>
        </p:nvPicPr>
        <p:blipFill>
          <a:blip r:embed="rId2">
            <a:alphaModFix amt="2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428999" y="0"/>
            <a:ext cx="6858000" cy="6858000"/>
          </a:xfrm>
          <a:prstGeom prst="rect">
            <a:avLst/>
          </a:prstGeom>
        </p:spPr>
      </p:pic>
      <p:pic>
        <p:nvPicPr>
          <p:cNvPr id="90" name="图片 89"/>
          <p:cNvPicPr>
            <a:picLocks noChangeAspect="1"/>
          </p:cNvPicPr>
          <p:nvPr userDrawn="1"/>
        </p:nvPicPr>
        <p:blipFill>
          <a:blip r:embed="rId2">
            <a:alphaModFix amt="2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3000" y="0"/>
            <a:ext cx="6858000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转场-短标题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椭圆 5"/>
          <p:cNvSpPr/>
          <p:nvPr userDrawn="1"/>
        </p:nvSpPr>
        <p:spPr>
          <a:xfrm>
            <a:off x="3997387" y="1330387"/>
            <a:ext cx="4197226" cy="4197226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Helvetica" pitchFamily="2" charset="0"/>
            </a:endParaRPr>
          </a:p>
        </p:txBody>
      </p:sp>
      <p:sp>
        <p:nvSpPr>
          <p:cNvPr id="7" name="文本框 6"/>
          <p:cNvSpPr txBox="1"/>
          <p:nvPr userDrawn="1"/>
        </p:nvSpPr>
        <p:spPr>
          <a:xfrm>
            <a:off x="5093161" y="3044279"/>
            <a:ext cx="2068195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4400" b="1" i="0" dirty="0">
                <a:solidFill>
                  <a:schemeClr val="bg1"/>
                </a:solidFill>
                <a:latin typeface="Helvetica" pitchFamily="2" charset="0"/>
                <a:cs typeface="Arial" panose="020B0604020202090204" pitchFamily="34" charset="0"/>
              </a:rPr>
              <a:t>Part 01</a:t>
            </a:r>
            <a:endParaRPr lang="zh-CN" altLang="en-US" sz="4400" b="1" i="0" dirty="0">
              <a:solidFill>
                <a:schemeClr val="bg1"/>
              </a:solidFill>
              <a:latin typeface="Helvetica" pitchFamily="2" charset="0"/>
              <a:cs typeface="Arial" panose="020B0604020202090204" pitchFamily="34" charset="0"/>
            </a:endParaRPr>
          </a:p>
        </p:txBody>
      </p:sp>
      <p:cxnSp>
        <p:nvCxnSpPr>
          <p:cNvPr id="8" name="直接连接符 7"/>
          <p:cNvCxnSpPr/>
          <p:nvPr userDrawn="1"/>
        </p:nvCxnSpPr>
        <p:spPr>
          <a:xfrm>
            <a:off x="4908550" y="3851820"/>
            <a:ext cx="23749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椭圆 9"/>
          <p:cNvSpPr/>
          <p:nvPr userDrawn="1"/>
        </p:nvSpPr>
        <p:spPr>
          <a:xfrm>
            <a:off x="3775702" y="1108702"/>
            <a:ext cx="4640596" cy="4640596"/>
          </a:xfrm>
          <a:prstGeom prst="ellipse">
            <a:avLst/>
          </a:prstGeom>
          <a:noFill/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elvetica" pitchFamily="2" charset="0"/>
            </a:endParaRPr>
          </a:p>
        </p:txBody>
      </p:sp>
      <p:sp>
        <p:nvSpPr>
          <p:cNvPr id="11" name="椭圆 10"/>
          <p:cNvSpPr/>
          <p:nvPr userDrawn="1"/>
        </p:nvSpPr>
        <p:spPr>
          <a:xfrm>
            <a:off x="9613900" y="5273613"/>
            <a:ext cx="764381" cy="764381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elvetica" pitchFamily="2" charset="0"/>
            </a:endParaRPr>
          </a:p>
        </p:txBody>
      </p:sp>
      <p:sp>
        <p:nvSpPr>
          <p:cNvPr id="12" name="椭圆 11"/>
          <p:cNvSpPr/>
          <p:nvPr userDrawn="1"/>
        </p:nvSpPr>
        <p:spPr>
          <a:xfrm>
            <a:off x="2209800" y="6134100"/>
            <a:ext cx="1130300" cy="1130300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elvetica" pitchFamily="2" charset="0"/>
            </a:endParaRPr>
          </a:p>
        </p:txBody>
      </p:sp>
      <p:sp>
        <p:nvSpPr>
          <p:cNvPr id="13" name="椭圆 12"/>
          <p:cNvSpPr/>
          <p:nvPr userDrawn="1"/>
        </p:nvSpPr>
        <p:spPr>
          <a:xfrm>
            <a:off x="10818188" y="-911691"/>
            <a:ext cx="2092326" cy="2092326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elvetica" pitchFamily="2" charset="0"/>
            </a:endParaRPr>
          </a:p>
        </p:txBody>
      </p:sp>
      <p:sp>
        <p:nvSpPr>
          <p:cNvPr id="14" name="椭圆 13"/>
          <p:cNvSpPr/>
          <p:nvPr userDrawn="1"/>
        </p:nvSpPr>
        <p:spPr>
          <a:xfrm>
            <a:off x="-1048048" y="-250249"/>
            <a:ext cx="2861767" cy="2861767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elvetica" pitchFamily="2" charset="0"/>
            </a:endParaRPr>
          </a:p>
        </p:txBody>
      </p:sp>
      <p:sp>
        <p:nvSpPr>
          <p:cNvPr id="17" name="文本占位符 16"/>
          <p:cNvSpPr>
            <a:spLocks noGrp="1"/>
          </p:cNvSpPr>
          <p:nvPr>
            <p:ph type="body" sz="quarter" idx="10" hasCustomPrompt="1"/>
          </p:nvPr>
        </p:nvSpPr>
        <p:spPr>
          <a:xfrm>
            <a:off x="4098000" y="3951320"/>
            <a:ext cx="3996000" cy="914400"/>
          </a:xfrm>
        </p:spPr>
        <p:txBody>
          <a:bodyPr anchor="ctr" anchorCtr="0">
            <a:normAutofit/>
          </a:bodyPr>
          <a:lstStyle>
            <a:lvl1pPr marL="0" indent="0" algn="ctr">
              <a:buNone/>
              <a:defRPr sz="3200" b="1">
                <a:solidFill>
                  <a:schemeClr val="bg1"/>
                </a:solidFill>
                <a:latin typeface="Helvetica" pitchFamily="2" charset="0"/>
              </a:defRPr>
            </a:lvl1pPr>
          </a:lstStyle>
          <a:p>
            <a:pPr lvl="0"/>
            <a:r>
              <a:rPr lang="en-US" altLang="zh-CN" dirty="0"/>
              <a:t>Edit Here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转场-短标题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等腰三角形 5"/>
          <p:cNvSpPr/>
          <p:nvPr userDrawn="1"/>
        </p:nvSpPr>
        <p:spPr>
          <a:xfrm>
            <a:off x="4000500" y="1050677"/>
            <a:ext cx="4191000" cy="4097866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Helvetica" pitchFamily="2" charset="0"/>
            </a:endParaRPr>
          </a:p>
        </p:txBody>
      </p:sp>
      <p:sp>
        <p:nvSpPr>
          <p:cNvPr id="7" name="文本框 6"/>
          <p:cNvSpPr txBox="1"/>
          <p:nvPr userDrawn="1"/>
        </p:nvSpPr>
        <p:spPr>
          <a:xfrm>
            <a:off x="5093162" y="3044279"/>
            <a:ext cx="2068195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400" b="1" i="0" dirty="0">
                <a:solidFill>
                  <a:schemeClr val="bg1"/>
                </a:solidFill>
                <a:latin typeface="Helvetica" pitchFamily="2" charset="0"/>
                <a:cs typeface="Arial" panose="020B0604020202090204" pitchFamily="34" charset="0"/>
              </a:rPr>
              <a:t>Part 02</a:t>
            </a:r>
            <a:endParaRPr lang="zh-CN" altLang="en-US" sz="4400" b="1" i="0" dirty="0">
              <a:solidFill>
                <a:schemeClr val="bg1"/>
              </a:solidFill>
              <a:latin typeface="Helvetica" pitchFamily="2" charset="0"/>
              <a:cs typeface="Arial" panose="020B0604020202090204" pitchFamily="34" charset="0"/>
            </a:endParaRPr>
          </a:p>
        </p:txBody>
      </p:sp>
      <p:cxnSp>
        <p:nvCxnSpPr>
          <p:cNvPr id="8" name="直接连接符 7"/>
          <p:cNvCxnSpPr/>
          <p:nvPr userDrawn="1"/>
        </p:nvCxnSpPr>
        <p:spPr>
          <a:xfrm>
            <a:off x="4908550" y="3851820"/>
            <a:ext cx="23749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等腰三角形 8"/>
          <p:cNvSpPr/>
          <p:nvPr userDrawn="1"/>
        </p:nvSpPr>
        <p:spPr>
          <a:xfrm>
            <a:off x="3564087" y="505131"/>
            <a:ext cx="5063826" cy="4951296"/>
          </a:xfrm>
          <a:prstGeom prst="triangle">
            <a:avLst/>
          </a:prstGeom>
          <a:noFill/>
          <a:ln>
            <a:solidFill>
              <a:srgbClr val="183883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Helvetica" pitchFamily="2" charset="0"/>
            </a:endParaRPr>
          </a:p>
        </p:txBody>
      </p:sp>
      <p:sp>
        <p:nvSpPr>
          <p:cNvPr id="10" name="等腰三角形 9"/>
          <p:cNvSpPr/>
          <p:nvPr userDrawn="1"/>
        </p:nvSpPr>
        <p:spPr>
          <a:xfrm rot="10800000">
            <a:off x="1390650" y="6496115"/>
            <a:ext cx="1493560" cy="1460370"/>
          </a:xfrm>
          <a:prstGeom prst="triangl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Helvetica" pitchFamily="2" charset="0"/>
            </a:endParaRPr>
          </a:p>
        </p:txBody>
      </p:sp>
      <p:sp>
        <p:nvSpPr>
          <p:cNvPr id="11" name="等腰三角形 10"/>
          <p:cNvSpPr/>
          <p:nvPr userDrawn="1"/>
        </p:nvSpPr>
        <p:spPr>
          <a:xfrm>
            <a:off x="11153775" y="1013971"/>
            <a:ext cx="2076450" cy="2030307"/>
          </a:xfrm>
          <a:prstGeom prst="triangl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Helvetica" pitchFamily="2" charset="0"/>
            </a:endParaRPr>
          </a:p>
        </p:txBody>
      </p:sp>
      <p:sp>
        <p:nvSpPr>
          <p:cNvPr id="12" name="等腰三角形 11"/>
          <p:cNvSpPr/>
          <p:nvPr userDrawn="1"/>
        </p:nvSpPr>
        <p:spPr>
          <a:xfrm rot="10800000">
            <a:off x="-414337" y="-187450"/>
            <a:ext cx="2386788" cy="2333749"/>
          </a:xfrm>
          <a:prstGeom prst="triangle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Helvetica" pitchFamily="2" charset="0"/>
            </a:endParaRPr>
          </a:p>
        </p:txBody>
      </p:sp>
      <p:sp>
        <p:nvSpPr>
          <p:cNvPr id="13" name="等腰三角形 12"/>
          <p:cNvSpPr/>
          <p:nvPr userDrawn="1"/>
        </p:nvSpPr>
        <p:spPr>
          <a:xfrm rot="5400000">
            <a:off x="9449232" y="5270665"/>
            <a:ext cx="883117" cy="863492"/>
          </a:xfrm>
          <a:prstGeom prst="triangle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Helvetica" pitchFamily="2" charset="0"/>
            </a:endParaRPr>
          </a:p>
        </p:txBody>
      </p:sp>
      <p:sp>
        <p:nvSpPr>
          <p:cNvPr id="18" name="文本占位符 17"/>
          <p:cNvSpPr>
            <a:spLocks noGrp="1"/>
          </p:cNvSpPr>
          <p:nvPr>
            <p:ph type="body" sz="quarter" idx="11" hasCustomPrompt="1"/>
          </p:nvPr>
        </p:nvSpPr>
        <p:spPr>
          <a:xfrm>
            <a:off x="4098000" y="3959372"/>
            <a:ext cx="3996000" cy="914400"/>
          </a:xfrm>
        </p:spPr>
        <p:txBody>
          <a:bodyPr anchor="ctr" anchorCtr="0"/>
          <a:lstStyle>
            <a:lvl1pPr marL="0" indent="0" algn="ctr">
              <a:buNone/>
              <a:defRPr b="1">
                <a:solidFill>
                  <a:schemeClr val="bg1"/>
                </a:solidFill>
                <a:latin typeface="Helvetica" pitchFamily="2" charset="0"/>
              </a:defRPr>
            </a:lvl1pPr>
            <a:lvl3pPr marL="914400" indent="0">
              <a:buNone/>
              <a:defRPr/>
            </a:lvl3pPr>
          </a:lstStyle>
          <a:p>
            <a:pPr lvl="0"/>
            <a:r>
              <a:rPr lang="en-US" altLang="zh-CN" dirty="0"/>
              <a:t>Edit Here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转场-短标题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 userDrawn="1"/>
        </p:nvSpPr>
        <p:spPr>
          <a:xfrm rot="18893364">
            <a:off x="4380710" y="1706822"/>
            <a:ext cx="3444573" cy="344457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Helvetica" pitchFamily="2" charset="0"/>
            </a:endParaRPr>
          </a:p>
        </p:txBody>
      </p:sp>
      <p:sp>
        <p:nvSpPr>
          <p:cNvPr id="7" name="矩形 6"/>
          <p:cNvSpPr/>
          <p:nvPr userDrawn="1"/>
        </p:nvSpPr>
        <p:spPr>
          <a:xfrm rot="18893364">
            <a:off x="4161891" y="1495013"/>
            <a:ext cx="3868219" cy="3868219"/>
          </a:xfrm>
          <a:prstGeom prst="rect">
            <a:avLst/>
          </a:prstGeom>
          <a:noFill/>
          <a:ln>
            <a:solidFill>
              <a:schemeClr val="accent1">
                <a:shade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Helvetica" pitchFamily="2" charset="0"/>
            </a:endParaRPr>
          </a:p>
        </p:txBody>
      </p:sp>
      <p:sp>
        <p:nvSpPr>
          <p:cNvPr id="8" name="文本框 7"/>
          <p:cNvSpPr txBox="1"/>
          <p:nvPr userDrawn="1"/>
        </p:nvSpPr>
        <p:spPr>
          <a:xfrm>
            <a:off x="5093162" y="3044279"/>
            <a:ext cx="2068195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400" b="1" i="0" dirty="0">
                <a:solidFill>
                  <a:schemeClr val="bg1"/>
                </a:solidFill>
                <a:latin typeface="Helvetica" pitchFamily="2" charset="0"/>
                <a:cs typeface="Arial" panose="020B0604020202090204" pitchFamily="34" charset="0"/>
              </a:rPr>
              <a:t>Part 03</a:t>
            </a:r>
            <a:endParaRPr lang="zh-CN" altLang="en-US" sz="4400" b="1" i="0" dirty="0">
              <a:solidFill>
                <a:schemeClr val="bg1"/>
              </a:solidFill>
              <a:latin typeface="Helvetica" pitchFamily="2" charset="0"/>
              <a:cs typeface="Arial" panose="020B0604020202090204" pitchFamily="34" charset="0"/>
            </a:endParaRPr>
          </a:p>
        </p:txBody>
      </p:sp>
      <p:cxnSp>
        <p:nvCxnSpPr>
          <p:cNvPr id="9" name="直接连接符 8"/>
          <p:cNvCxnSpPr/>
          <p:nvPr userDrawn="1"/>
        </p:nvCxnSpPr>
        <p:spPr>
          <a:xfrm>
            <a:off x="4908550" y="3851820"/>
            <a:ext cx="23749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矩形 9"/>
          <p:cNvSpPr/>
          <p:nvPr userDrawn="1"/>
        </p:nvSpPr>
        <p:spPr>
          <a:xfrm rot="18893364">
            <a:off x="-897505" y="-513190"/>
            <a:ext cx="2663805" cy="2663805"/>
          </a:xfrm>
          <a:prstGeom prst="rect">
            <a:avLst/>
          </a:prstGeom>
          <a:solidFill>
            <a:srgbClr val="A4A8A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Helvetica" pitchFamily="2" charset="0"/>
            </a:endParaRPr>
          </a:p>
        </p:txBody>
      </p:sp>
      <p:sp>
        <p:nvSpPr>
          <p:cNvPr id="11" name="矩形 10"/>
          <p:cNvSpPr/>
          <p:nvPr userDrawn="1"/>
        </p:nvSpPr>
        <p:spPr>
          <a:xfrm rot="18893364">
            <a:off x="725976" y="6497388"/>
            <a:ext cx="1300124" cy="1300124"/>
          </a:xfrm>
          <a:prstGeom prst="rect">
            <a:avLst/>
          </a:prstGeom>
          <a:solidFill>
            <a:srgbClr val="C3C7C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Helvetica" pitchFamily="2" charset="0"/>
            </a:endParaRPr>
          </a:p>
        </p:txBody>
      </p:sp>
      <p:sp>
        <p:nvSpPr>
          <p:cNvPr id="12" name="矩形 11"/>
          <p:cNvSpPr/>
          <p:nvPr userDrawn="1"/>
        </p:nvSpPr>
        <p:spPr>
          <a:xfrm rot="18893364">
            <a:off x="11407699" y="1261300"/>
            <a:ext cx="1568601" cy="1568601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Helvetica" pitchFamily="2" charset="0"/>
            </a:endParaRPr>
          </a:p>
        </p:txBody>
      </p:sp>
      <p:sp>
        <p:nvSpPr>
          <p:cNvPr id="13" name="矩形 12"/>
          <p:cNvSpPr/>
          <p:nvPr userDrawn="1"/>
        </p:nvSpPr>
        <p:spPr>
          <a:xfrm rot="18893364">
            <a:off x="9270159" y="5188596"/>
            <a:ext cx="861175" cy="861175"/>
          </a:xfrm>
          <a:prstGeom prst="rect">
            <a:avLst/>
          </a:prstGeom>
          <a:solidFill>
            <a:srgbClr val="8589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Helvetica" pitchFamily="2" charset="0"/>
            </a:endParaRPr>
          </a:p>
        </p:txBody>
      </p:sp>
      <p:sp>
        <p:nvSpPr>
          <p:cNvPr id="17" name="文本占位符 16"/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4098000" y="3947897"/>
            <a:ext cx="3996000" cy="914400"/>
          </a:xfrm>
        </p:spPr>
        <p:txBody>
          <a:bodyPr anchor="ctr" anchorCtr="0"/>
          <a:lstStyle>
            <a:lvl1pPr marL="0" indent="0" algn="ctr">
              <a:buNone/>
              <a:defRPr b="1">
                <a:solidFill>
                  <a:schemeClr val="bg1"/>
                </a:solidFill>
                <a:latin typeface="Helvetica" pitchFamily="2" charset="0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altLang="zh-CN" dirty="0"/>
              <a:t>Edit Here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转场-短标题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五边形 5"/>
          <p:cNvSpPr>
            <a:spLocks noChangeAspect="1"/>
          </p:cNvSpPr>
          <p:nvPr userDrawn="1"/>
        </p:nvSpPr>
        <p:spPr>
          <a:xfrm>
            <a:off x="3870642" y="1106412"/>
            <a:ext cx="4450715" cy="4238776"/>
          </a:xfrm>
          <a:prstGeom prst="pent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Helvetica" pitchFamily="2" charset="0"/>
            </a:endParaRPr>
          </a:p>
        </p:txBody>
      </p:sp>
      <p:sp>
        <p:nvSpPr>
          <p:cNvPr id="7" name="文本框 6"/>
          <p:cNvSpPr txBox="1"/>
          <p:nvPr userDrawn="1"/>
        </p:nvSpPr>
        <p:spPr>
          <a:xfrm>
            <a:off x="5093162" y="3044279"/>
            <a:ext cx="2068195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400" b="1" i="0" dirty="0">
                <a:solidFill>
                  <a:schemeClr val="bg1"/>
                </a:solidFill>
                <a:latin typeface="Helvetica" pitchFamily="2" charset="0"/>
                <a:cs typeface="Arial" panose="020B0604020202090204" pitchFamily="34" charset="0"/>
              </a:rPr>
              <a:t>Part 04</a:t>
            </a:r>
            <a:endParaRPr lang="zh-CN" altLang="en-US" sz="4400" b="1" i="0" dirty="0">
              <a:solidFill>
                <a:schemeClr val="bg1"/>
              </a:solidFill>
              <a:latin typeface="Helvetica" pitchFamily="2" charset="0"/>
              <a:cs typeface="Arial" panose="020B0604020202090204" pitchFamily="34" charset="0"/>
            </a:endParaRPr>
          </a:p>
        </p:txBody>
      </p:sp>
      <p:cxnSp>
        <p:nvCxnSpPr>
          <p:cNvPr id="8" name="直接连接符 7"/>
          <p:cNvCxnSpPr/>
          <p:nvPr userDrawn="1"/>
        </p:nvCxnSpPr>
        <p:spPr>
          <a:xfrm>
            <a:off x="4908550" y="3851820"/>
            <a:ext cx="23749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五边形 8"/>
          <p:cNvSpPr>
            <a:spLocks noChangeAspect="1"/>
          </p:cNvSpPr>
          <p:nvPr userDrawn="1"/>
        </p:nvSpPr>
        <p:spPr>
          <a:xfrm>
            <a:off x="3575685" y="806045"/>
            <a:ext cx="5040628" cy="4800598"/>
          </a:xfrm>
          <a:prstGeom prst="pentagon">
            <a:avLst/>
          </a:prstGeom>
          <a:noFill/>
          <a:ln>
            <a:solidFill>
              <a:schemeClr val="accent1">
                <a:shade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Helvetica" pitchFamily="2" charset="0"/>
            </a:endParaRPr>
          </a:p>
        </p:txBody>
      </p:sp>
      <p:sp>
        <p:nvSpPr>
          <p:cNvPr id="10" name="五边形 9"/>
          <p:cNvSpPr>
            <a:spLocks noChangeAspect="1"/>
          </p:cNvSpPr>
          <p:nvPr userDrawn="1"/>
        </p:nvSpPr>
        <p:spPr>
          <a:xfrm rot="18978551">
            <a:off x="1199607" y="5189314"/>
            <a:ext cx="1114961" cy="1061868"/>
          </a:xfrm>
          <a:prstGeom prst="pentagon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Helvetica" pitchFamily="2" charset="0"/>
            </a:endParaRPr>
          </a:p>
        </p:txBody>
      </p:sp>
      <p:sp>
        <p:nvSpPr>
          <p:cNvPr id="11" name="五边形 10"/>
          <p:cNvSpPr>
            <a:spLocks noChangeAspect="1"/>
          </p:cNvSpPr>
          <p:nvPr userDrawn="1"/>
        </p:nvSpPr>
        <p:spPr>
          <a:xfrm>
            <a:off x="-1122630" y="516786"/>
            <a:ext cx="2245259" cy="2138343"/>
          </a:xfrm>
          <a:prstGeom prst="pentagon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Helvetica" pitchFamily="2" charset="0"/>
            </a:endParaRPr>
          </a:p>
        </p:txBody>
      </p:sp>
      <p:sp>
        <p:nvSpPr>
          <p:cNvPr id="12" name="五边形 11"/>
          <p:cNvSpPr>
            <a:spLocks noChangeAspect="1"/>
          </p:cNvSpPr>
          <p:nvPr userDrawn="1"/>
        </p:nvSpPr>
        <p:spPr>
          <a:xfrm rot="6589711">
            <a:off x="10153440" y="4944146"/>
            <a:ext cx="2774574" cy="2642453"/>
          </a:xfrm>
          <a:prstGeom prst="pentagon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Helvetica" pitchFamily="2" charset="0"/>
            </a:endParaRPr>
          </a:p>
        </p:txBody>
      </p:sp>
      <p:sp>
        <p:nvSpPr>
          <p:cNvPr id="13" name="五边形 12"/>
          <p:cNvSpPr>
            <a:spLocks noChangeAspect="1"/>
          </p:cNvSpPr>
          <p:nvPr userDrawn="1"/>
        </p:nvSpPr>
        <p:spPr>
          <a:xfrm rot="10800000">
            <a:off x="9654125" y="-530934"/>
            <a:ext cx="1114961" cy="1061868"/>
          </a:xfrm>
          <a:prstGeom prst="pentagon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Helvetica" pitchFamily="2" charset="0"/>
            </a:endParaRPr>
          </a:p>
        </p:txBody>
      </p:sp>
      <p:sp>
        <p:nvSpPr>
          <p:cNvPr id="17" name="文本占位符 16"/>
          <p:cNvSpPr>
            <a:spLocks noGrp="1"/>
          </p:cNvSpPr>
          <p:nvPr>
            <p:ph type="body" sz="quarter" idx="10" hasCustomPrompt="1"/>
          </p:nvPr>
        </p:nvSpPr>
        <p:spPr>
          <a:xfrm>
            <a:off x="4098000" y="3947897"/>
            <a:ext cx="3996000" cy="914400"/>
          </a:xfrm>
        </p:spPr>
        <p:txBody>
          <a:bodyPr anchor="ctr" anchorCtr="0"/>
          <a:lstStyle>
            <a:lvl1pPr marL="0" indent="0" algn="ctr">
              <a:buNone/>
              <a:defRPr b="1">
                <a:solidFill>
                  <a:schemeClr val="bg1"/>
                </a:solidFill>
                <a:latin typeface="Helvetica" pitchFamily="2" charset="0"/>
              </a:defRPr>
            </a:lvl1pPr>
          </a:lstStyle>
          <a:p>
            <a:pPr lvl="0"/>
            <a:r>
              <a:rPr lang="en-US" altLang="zh-CN" dirty="0"/>
              <a:t>Edit Here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转场-短标题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六边形 5"/>
          <p:cNvSpPr>
            <a:spLocks noChangeAspect="1"/>
          </p:cNvSpPr>
          <p:nvPr userDrawn="1"/>
        </p:nvSpPr>
        <p:spPr>
          <a:xfrm rot="16200000">
            <a:off x="3978962" y="1603967"/>
            <a:ext cx="4234076" cy="3650066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Helvetica" pitchFamily="2" charset="0"/>
            </a:endParaRPr>
          </a:p>
        </p:txBody>
      </p:sp>
      <p:sp>
        <p:nvSpPr>
          <p:cNvPr id="8" name="文本框 7"/>
          <p:cNvSpPr txBox="1"/>
          <p:nvPr userDrawn="1"/>
        </p:nvSpPr>
        <p:spPr>
          <a:xfrm>
            <a:off x="5093162" y="3044279"/>
            <a:ext cx="2068195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400" b="1" i="0" dirty="0">
                <a:solidFill>
                  <a:schemeClr val="bg1"/>
                </a:solidFill>
                <a:latin typeface="Helvetica" pitchFamily="2" charset="0"/>
                <a:cs typeface="Arial" panose="020B0604020202090204" pitchFamily="34" charset="0"/>
              </a:rPr>
              <a:t>Part 05</a:t>
            </a:r>
            <a:endParaRPr lang="zh-CN" altLang="en-US" sz="4400" b="1" i="0" dirty="0">
              <a:solidFill>
                <a:schemeClr val="bg1"/>
              </a:solidFill>
              <a:latin typeface="Helvetica" pitchFamily="2" charset="0"/>
              <a:cs typeface="Arial" panose="020B0604020202090204" pitchFamily="34" charset="0"/>
            </a:endParaRPr>
          </a:p>
        </p:txBody>
      </p:sp>
      <p:cxnSp>
        <p:nvCxnSpPr>
          <p:cNvPr id="9" name="直接连接符 8"/>
          <p:cNvCxnSpPr/>
          <p:nvPr userDrawn="1"/>
        </p:nvCxnSpPr>
        <p:spPr>
          <a:xfrm>
            <a:off x="4908550" y="3851820"/>
            <a:ext cx="23749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六边形 9"/>
          <p:cNvSpPr/>
          <p:nvPr userDrawn="1"/>
        </p:nvSpPr>
        <p:spPr>
          <a:xfrm rot="16200000">
            <a:off x="3695701" y="1359776"/>
            <a:ext cx="4800598" cy="4138446"/>
          </a:xfrm>
          <a:prstGeom prst="hexagon">
            <a:avLst/>
          </a:prstGeom>
          <a:noFill/>
          <a:ln>
            <a:solidFill>
              <a:srgbClr val="183883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Helvetica" pitchFamily="2" charset="0"/>
            </a:endParaRPr>
          </a:p>
        </p:txBody>
      </p:sp>
      <p:sp>
        <p:nvSpPr>
          <p:cNvPr id="11" name="六边形 10"/>
          <p:cNvSpPr>
            <a:spLocks noChangeAspect="1"/>
          </p:cNvSpPr>
          <p:nvPr userDrawn="1"/>
        </p:nvSpPr>
        <p:spPr>
          <a:xfrm rot="16200000">
            <a:off x="-687663" y="4872077"/>
            <a:ext cx="2798353" cy="2412373"/>
          </a:xfrm>
          <a:prstGeom prst="hexagon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Helvetica" pitchFamily="2" charset="0"/>
            </a:endParaRPr>
          </a:p>
        </p:txBody>
      </p:sp>
      <p:sp>
        <p:nvSpPr>
          <p:cNvPr id="12" name="六边形 11"/>
          <p:cNvSpPr>
            <a:spLocks noChangeAspect="1"/>
          </p:cNvSpPr>
          <p:nvPr userDrawn="1"/>
        </p:nvSpPr>
        <p:spPr>
          <a:xfrm rot="16200000">
            <a:off x="9480973" y="5159003"/>
            <a:ext cx="1015781" cy="875673"/>
          </a:xfrm>
          <a:prstGeom prst="hexagon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Helvetica" pitchFamily="2" charset="0"/>
            </a:endParaRPr>
          </a:p>
        </p:txBody>
      </p:sp>
      <p:sp>
        <p:nvSpPr>
          <p:cNvPr id="13" name="六边形 12"/>
          <p:cNvSpPr>
            <a:spLocks noChangeAspect="1"/>
          </p:cNvSpPr>
          <p:nvPr userDrawn="1"/>
        </p:nvSpPr>
        <p:spPr>
          <a:xfrm rot="16200000">
            <a:off x="11493500" y="210644"/>
            <a:ext cx="1397000" cy="1204310"/>
          </a:xfrm>
          <a:prstGeom prst="hexagon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Helvetica" pitchFamily="2" charset="0"/>
            </a:endParaRPr>
          </a:p>
        </p:txBody>
      </p:sp>
      <p:sp>
        <p:nvSpPr>
          <p:cNvPr id="14" name="六边形 13"/>
          <p:cNvSpPr>
            <a:spLocks noChangeAspect="1"/>
          </p:cNvSpPr>
          <p:nvPr userDrawn="1"/>
        </p:nvSpPr>
        <p:spPr>
          <a:xfrm rot="16200000">
            <a:off x="641459" y="-437837"/>
            <a:ext cx="1015781" cy="875673"/>
          </a:xfrm>
          <a:prstGeom prst="hexagon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Helvetica" pitchFamily="2" charset="0"/>
            </a:endParaRPr>
          </a:p>
        </p:txBody>
      </p:sp>
      <p:sp>
        <p:nvSpPr>
          <p:cNvPr id="17" name="文本占位符 16"/>
          <p:cNvSpPr>
            <a:spLocks noGrp="1"/>
          </p:cNvSpPr>
          <p:nvPr>
            <p:ph type="body" sz="quarter" idx="10" hasCustomPrompt="1"/>
          </p:nvPr>
        </p:nvSpPr>
        <p:spPr>
          <a:xfrm>
            <a:off x="4098000" y="3947897"/>
            <a:ext cx="3996000" cy="914400"/>
          </a:xfrm>
        </p:spPr>
        <p:txBody>
          <a:bodyPr anchor="ctr" anchorCtr="0"/>
          <a:lstStyle>
            <a:lvl1pPr marL="0" indent="0" algn="ctr">
              <a:buNone/>
              <a:defRPr b="1">
                <a:solidFill>
                  <a:schemeClr val="bg1"/>
                </a:solidFill>
                <a:latin typeface="Helvetica" pitchFamily="2" charset="0"/>
              </a:defRPr>
            </a:lvl1pPr>
          </a:lstStyle>
          <a:p>
            <a:pPr lvl="0"/>
            <a:r>
              <a:rPr lang="en-US" altLang="zh-CN" dirty="0"/>
              <a:t>Edit Here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转场-短标题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七边形 5"/>
          <p:cNvSpPr>
            <a:spLocks noChangeAspect="1"/>
          </p:cNvSpPr>
          <p:nvPr userDrawn="1"/>
        </p:nvSpPr>
        <p:spPr>
          <a:xfrm>
            <a:off x="3972000" y="1047224"/>
            <a:ext cx="4248000" cy="4248000"/>
          </a:xfrm>
          <a:prstGeom prst="hept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Helvetica" pitchFamily="2" charset="0"/>
            </a:endParaRPr>
          </a:p>
        </p:txBody>
      </p:sp>
      <p:sp>
        <p:nvSpPr>
          <p:cNvPr id="8" name="文本框 7"/>
          <p:cNvSpPr txBox="1"/>
          <p:nvPr userDrawn="1"/>
        </p:nvSpPr>
        <p:spPr>
          <a:xfrm>
            <a:off x="5093161" y="3044279"/>
            <a:ext cx="2068195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400" b="1" i="0" dirty="0">
                <a:solidFill>
                  <a:schemeClr val="bg1"/>
                </a:solidFill>
                <a:latin typeface="Helvetica" pitchFamily="2" charset="0"/>
                <a:cs typeface="Arial" panose="020B0604020202090204" pitchFamily="34" charset="0"/>
              </a:rPr>
              <a:t>Part 06</a:t>
            </a:r>
            <a:endParaRPr lang="zh-CN" altLang="en-US" sz="4400" b="1" i="0" dirty="0">
              <a:solidFill>
                <a:schemeClr val="bg1"/>
              </a:solidFill>
              <a:latin typeface="Helvetica" pitchFamily="2" charset="0"/>
              <a:cs typeface="Arial" panose="020B0604020202090204" pitchFamily="34" charset="0"/>
            </a:endParaRPr>
          </a:p>
        </p:txBody>
      </p:sp>
      <p:cxnSp>
        <p:nvCxnSpPr>
          <p:cNvPr id="9" name="直接连接符 8"/>
          <p:cNvCxnSpPr/>
          <p:nvPr userDrawn="1"/>
        </p:nvCxnSpPr>
        <p:spPr>
          <a:xfrm>
            <a:off x="4908550" y="3851820"/>
            <a:ext cx="23749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七边形 9"/>
          <p:cNvSpPr/>
          <p:nvPr userDrawn="1"/>
        </p:nvSpPr>
        <p:spPr>
          <a:xfrm rot="1563509">
            <a:off x="10682028" y="-776191"/>
            <a:ext cx="3268663" cy="3268663"/>
          </a:xfrm>
          <a:prstGeom prst="heptagon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Helvetica" pitchFamily="2" charset="0"/>
            </a:endParaRPr>
          </a:p>
        </p:txBody>
      </p:sp>
      <p:sp>
        <p:nvSpPr>
          <p:cNvPr id="11" name="七边形 10"/>
          <p:cNvSpPr/>
          <p:nvPr userDrawn="1"/>
        </p:nvSpPr>
        <p:spPr>
          <a:xfrm>
            <a:off x="1384129" y="5078241"/>
            <a:ext cx="1047921" cy="1047921"/>
          </a:xfrm>
          <a:prstGeom prst="heptagon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Helvetica" pitchFamily="2" charset="0"/>
            </a:endParaRPr>
          </a:p>
        </p:txBody>
      </p:sp>
      <p:sp>
        <p:nvSpPr>
          <p:cNvPr id="12" name="七边形 11"/>
          <p:cNvSpPr/>
          <p:nvPr userDrawn="1"/>
        </p:nvSpPr>
        <p:spPr>
          <a:xfrm rot="20151602">
            <a:off x="-1111336" y="360448"/>
            <a:ext cx="2222671" cy="2222671"/>
          </a:xfrm>
          <a:prstGeom prst="heptagon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Helvetica" pitchFamily="2" charset="0"/>
            </a:endParaRPr>
          </a:p>
        </p:txBody>
      </p:sp>
      <p:sp>
        <p:nvSpPr>
          <p:cNvPr id="13" name="七边形 12"/>
          <p:cNvSpPr/>
          <p:nvPr userDrawn="1"/>
        </p:nvSpPr>
        <p:spPr>
          <a:xfrm rot="20592885">
            <a:off x="8879510" y="6235700"/>
            <a:ext cx="2222671" cy="2222671"/>
          </a:xfrm>
          <a:prstGeom prst="heptagon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Helvetica" pitchFamily="2" charset="0"/>
            </a:endParaRPr>
          </a:p>
        </p:txBody>
      </p:sp>
      <p:sp>
        <p:nvSpPr>
          <p:cNvPr id="14" name="七边形 13"/>
          <p:cNvSpPr>
            <a:spLocks noChangeAspect="1"/>
          </p:cNvSpPr>
          <p:nvPr userDrawn="1"/>
        </p:nvSpPr>
        <p:spPr>
          <a:xfrm>
            <a:off x="3683000" y="774700"/>
            <a:ext cx="4826000" cy="4826000"/>
          </a:xfrm>
          <a:prstGeom prst="heptagon">
            <a:avLst/>
          </a:prstGeom>
          <a:noFill/>
          <a:ln>
            <a:solidFill>
              <a:srgbClr val="183883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Helvetica" pitchFamily="2" charset="0"/>
            </a:endParaRPr>
          </a:p>
        </p:txBody>
      </p:sp>
      <p:sp>
        <p:nvSpPr>
          <p:cNvPr id="17" name="文本占位符 16"/>
          <p:cNvSpPr>
            <a:spLocks noGrp="1"/>
          </p:cNvSpPr>
          <p:nvPr>
            <p:ph type="body" sz="quarter" idx="10" hasCustomPrompt="1"/>
          </p:nvPr>
        </p:nvSpPr>
        <p:spPr>
          <a:xfrm>
            <a:off x="4098000" y="3966909"/>
            <a:ext cx="3996000" cy="914400"/>
          </a:xfrm>
        </p:spPr>
        <p:txBody>
          <a:bodyPr anchor="ctr" anchorCtr="0"/>
          <a:lstStyle>
            <a:lvl1pPr marL="0" indent="0" algn="ctr">
              <a:buNone/>
              <a:defRPr b="1">
                <a:solidFill>
                  <a:schemeClr val="bg1"/>
                </a:solidFill>
                <a:latin typeface="Helvetica" pitchFamily="2" charset="0"/>
              </a:defRPr>
            </a:lvl1pPr>
          </a:lstStyle>
          <a:p>
            <a:pPr lvl="0"/>
            <a:r>
              <a:rPr lang="en-US" altLang="zh-CN" dirty="0"/>
              <a:t>Edit Here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页-长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箭头: 五边形 5"/>
          <p:cNvSpPr/>
          <p:nvPr userDrawn="1"/>
        </p:nvSpPr>
        <p:spPr>
          <a:xfrm>
            <a:off x="2" y="0"/>
            <a:ext cx="2835871" cy="6858000"/>
          </a:xfrm>
          <a:prstGeom prst="homePlate">
            <a:avLst>
              <a:gd name="adj" fmla="val 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Helvetica" pitchFamily="2" charset="0"/>
            </a:endParaRPr>
          </a:p>
        </p:txBody>
      </p:sp>
      <p:sp>
        <p:nvSpPr>
          <p:cNvPr id="54" name="矩形 53"/>
          <p:cNvSpPr/>
          <p:nvPr/>
        </p:nvSpPr>
        <p:spPr>
          <a:xfrm>
            <a:off x="140677" y="3106616"/>
            <a:ext cx="2520462" cy="1066800"/>
          </a:xfrm>
          <a:prstGeom prst="rect">
            <a:avLst/>
          </a:prstGeom>
          <a:noFill/>
          <a:ln w="158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/>
              </a:solidFill>
              <a:latin typeface="Helvetica" pitchFamily="2" charset="0"/>
            </a:endParaRPr>
          </a:p>
        </p:txBody>
      </p:sp>
      <p:sp>
        <p:nvSpPr>
          <p:cNvPr id="2" name="矩形 1"/>
          <p:cNvSpPr/>
          <p:nvPr userDrawn="1"/>
        </p:nvSpPr>
        <p:spPr>
          <a:xfrm>
            <a:off x="2782511" y="612708"/>
            <a:ext cx="8695230" cy="5632585"/>
          </a:xfrm>
          <a:prstGeom prst="rect">
            <a:avLst/>
          </a:prstGeom>
          <a:noFill/>
          <a:ln w="19050">
            <a:solidFill>
              <a:schemeClr val="accent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elvetica" pitchFamily="2" charset="0"/>
            </a:endParaRPr>
          </a:p>
        </p:txBody>
      </p:sp>
      <p:sp>
        <p:nvSpPr>
          <p:cNvPr id="50" name="文本框 49"/>
          <p:cNvSpPr txBox="1"/>
          <p:nvPr/>
        </p:nvSpPr>
        <p:spPr>
          <a:xfrm>
            <a:off x="23448" y="2848709"/>
            <a:ext cx="2782509" cy="1574934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rmAutofit/>
          </a:bodyPr>
          <a:lstStyle/>
          <a:p>
            <a:pPr algn="ctr"/>
            <a:r>
              <a:rPr lang="en-US" altLang="zh-CN" sz="4400" b="1" i="0" dirty="0">
                <a:solidFill>
                  <a:schemeClr val="bg1"/>
                </a:solidFill>
                <a:latin typeface="Helvetica" pitchFamily="2" charset="0"/>
                <a:ea typeface="+mj-ea"/>
                <a:cs typeface="Arial" panose="020B0604020202090204" pitchFamily="34" charset="0"/>
              </a:rPr>
              <a:t>Contents</a:t>
            </a:r>
            <a:endParaRPr lang="zh-CN" altLang="en-US" sz="4000" b="1" i="0" dirty="0">
              <a:solidFill>
                <a:schemeClr val="bg1"/>
              </a:solidFill>
              <a:latin typeface="Helvetica" pitchFamily="2" charset="0"/>
              <a:ea typeface="+mj-ea"/>
              <a:cs typeface="Arial" panose="020B0604020202090204" pitchFamily="34" charset="0"/>
            </a:endParaRPr>
          </a:p>
        </p:txBody>
      </p:sp>
      <p:pic>
        <p:nvPicPr>
          <p:cNvPr id="47" name="图片 46"/>
          <p:cNvPicPr>
            <a:picLocks noChangeAspect="1"/>
          </p:cNvPicPr>
          <p:nvPr userDrawn="1"/>
        </p:nvPicPr>
        <p:blipFill>
          <a:blip r:embed="rId2">
            <a:alphaModFix amt="2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4000" y="0"/>
            <a:ext cx="6858000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转场-长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箭头: 五边形 6"/>
          <p:cNvSpPr/>
          <p:nvPr userDrawn="1"/>
        </p:nvSpPr>
        <p:spPr>
          <a:xfrm rot="19659736">
            <a:off x="-59387" y="6355211"/>
            <a:ext cx="1593667" cy="240022"/>
          </a:xfrm>
          <a:prstGeom prst="homePlate">
            <a:avLst>
              <a:gd name="adj" fmla="val 62948"/>
            </a:avLst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0" i="0" dirty="0">
              <a:latin typeface="Helvetica Regular" pitchFamily="2" charset="0"/>
            </a:endParaRPr>
          </a:p>
        </p:txBody>
      </p:sp>
      <p:sp>
        <p:nvSpPr>
          <p:cNvPr id="25" name="箭头: 五边形 24"/>
          <p:cNvSpPr/>
          <p:nvPr userDrawn="1"/>
        </p:nvSpPr>
        <p:spPr>
          <a:xfrm rot="19659736">
            <a:off x="501875" y="5626509"/>
            <a:ext cx="1198809" cy="202681"/>
          </a:xfrm>
          <a:prstGeom prst="homePlate">
            <a:avLst>
              <a:gd name="adj" fmla="val 62948"/>
            </a:avLst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0" i="0" dirty="0">
              <a:latin typeface="Helvetica Regular" pitchFamily="2" charset="0"/>
            </a:endParaRPr>
          </a:p>
        </p:txBody>
      </p:sp>
      <p:sp>
        <p:nvSpPr>
          <p:cNvPr id="26" name="箭头: 五边形 25"/>
          <p:cNvSpPr/>
          <p:nvPr userDrawn="1"/>
        </p:nvSpPr>
        <p:spPr>
          <a:xfrm rot="19659736">
            <a:off x="11343042" y="442070"/>
            <a:ext cx="869215" cy="124045"/>
          </a:xfrm>
          <a:prstGeom prst="homePlate">
            <a:avLst>
              <a:gd name="adj" fmla="val 62948"/>
            </a:avLst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0" i="0" dirty="0">
              <a:latin typeface="Helvetica Regular" pitchFamily="2" charset="0"/>
            </a:endParaRPr>
          </a:p>
        </p:txBody>
      </p:sp>
      <p:sp>
        <p:nvSpPr>
          <p:cNvPr id="27" name="箭头: 五边形 26"/>
          <p:cNvSpPr/>
          <p:nvPr userDrawn="1"/>
        </p:nvSpPr>
        <p:spPr>
          <a:xfrm rot="19659736">
            <a:off x="10829985" y="427917"/>
            <a:ext cx="542830" cy="99029"/>
          </a:xfrm>
          <a:prstGeom prst="homePlate">
            <a:avLst>
              <a:gd name="adj" fmla="val 62948"/>
            </a:avLst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0" i="0" dirty="0">
              <a:latin typeface="Helvetica Regular" pitchFamily="2" charset="0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接连接符 4"/>
          <p:cNvCxnSpPr/>
          <p:nvPr userDrawn="1"/>
        </p:nvCxnSpPr>
        <p:spPr>
          <a:xfrm>
            <a:off x="660400" y="6238240"/>
            <a:ext cx="10858500" cy="0"/>
          </a:xfrm>
          <a:prstGeom prst="line">
            <a:avLst/>
          </a:prstGeom>
          <a:ln w="3175" cap="rnd">
            <a:solidFill>
              <a:schemeClr val="bg1">
                <a:lumMod val="75000"/>
                <a:alpha val="47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任意多边形: 形状 11"/>
          <p:cNvSpPr/>
          <p:nvPr/>
        </p:nvSpPr>
        <p:spPr bwMode="auto">
          <a:xfrm rot="5400000">
            <a:off x="93484" y="218081"/>
            <a:ext cx="1133344" cy="494119"/>
          </a:xfrm>
          <a:custGeom>
            <a:avLst/>
            <a:gdLst>
              <a:gd name="connsiteX0" fmla="*/ 0 w 4641513"/>
              <a:gd name="connsiteY0" fmla="*/ 0 h 2088000"/>
              <a:gd name="connsiteX1" fmla="*/ 3814008 w 4641513"/>
              <a:gd name="connsiteY1" fmla="*/ 0 h 2088000"/>
              <a:gd name="connsiteX2" fmla="*/ 4641513 w 4641513"/>
              <a:gd name="connsiteY2" fmla="*/ 1044000 h 2088000"/>
              <a:gd name="connsiteX3" fmla="*/ 3814008 w 4641513"/>
              <a:gd name="connsiteY3" fmla="*/ 2087999 h 2088000"/>
              <a:gd name="connsiteX4" fmla="*/ 3814008 w 4641513"/>
              <a:gd name="connsiteY4" fmla="*/ 2088000 h 2088000"/>
              <a:gd name="connsiteX5" fmla="*/ 0 w 4641513"/>
              <a:gd name="connsiteY5" fmla="*/ 2088000 h 208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641513" h="2088000">
                <a:moveTo>
                  <a:pt x="0" y="0"/>
                </a:moveTo>
                <a:lnTo>
                  <a:pt x="3814008" y="0"/>
                </a:lnTo>
                <a:lnTo>
                  <a:pt x="4641513" y="1044000"/>
                </a:lnTo>
                <a:lnTo>
                  <a:pt x="3814008" y="2087999"/>
                </a:lnTo>
                <a:lnTo>
                  <a:pt x="3814008" y="2088000"/>
                </a:lnTo>
                <a:lnTo>
                  <a:pt x="0" y="20880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noAutofit/>
          </a:bodyPr>
          <a:lstStyle/>
          <a:p>
            <a:pPr algn="ctr">
              <a:lnSpc>
                <a:spcPct val="130000"/>
              </a:lnSpc>
            </a:pPr>
            <a:endParaRPr lang="en-US" sz="4000" b="0" i="0" dirty="0">
              <a:solidFill>
                <a:schemeClr val="accent3"/>
              </a:solidFill>
              <a:latin typeface="Helvetica Regular" pitchFamily="2" charset="0"/>
              <a:cs typeface="+mn-ea"/>
              <a:sym typeface="+mn-lt"/>
            </a:endParaRPr>
          </a:p>
        </p:txBody>
      </p:sp>
      <p:pic>
        <p:nvPicPr>
          <p:cNvPr id="6" name="图片 5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44128" y="6420492"/>
            <a:ext cx="958362" cy="236837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966201" y="381027"/>
            <a:ext cx="1552699" cy="494974"/>
          </a:xfrm>
          <a:prstGeom prst="rect">
            <a:avLst/>
          </a:prstGeom>
        </p:spPr>
      </p:pic>
      <p:sp>
        <p:nvSpPr>
          <p:cNvPr id="8" name="标题 1"/>
          <p:cNvSpPr>
            <a:spLocks noGrp="1"/>
          </p:cNvSpPr>
          <p:nvPr>
            <p:ph type="title" hasCustomPrompt="1"/>
          </p:nvPr>
        </p:nvSpPr>
        <p:spPr>
          <a:xfrm>
            <a:off x="1091255" y="237834"/>
            <a:ext cx="8168208" cy="790865"/>
          </a:xfrm>
        </p:spPr>
        <p:txBody>
          <a:bodyPr wrap="square" lIns="0" tIns="0" rIns="0" bIns="0">
            <a:normAutofit/>
          </a:bodyPr>
          <a:lstStyle>
            <a:lvl1pPr>
              <a:defRPr sz="3600" b="1" i="0">
                <a:solidFill>
                  <a:schemeClr val="accent1"/>
                </a:solidFill>
                <a:latin typeface="Helvetica" pitchFamily="2" charset="0"/>
                <a:cs typeface="Arial" panose="020B0604020202090204" pitchFamily="34" charset="0"/>
              </a:defRPr>
            </a:lvl1pPr>
          </a:lstStyle>
          <a:p>
            <a:r>
              <a:rPr lang="en-US" altLang="zh-CN" dirty="0"/>
              <a:t>Here</a:t>
            </a:r>
            <a:r>
              <a:rPr lang="zh-CN" altLang="en-US" dirty="0"/>
              <a:t> </a:t>
            </a:r>
            <a:r>
              <a:rPr lang="en-US" altLang="zh-CN" dirty="0"/>
              <a:t>is</a:t>
            </a:r>
            <a:r>
              <a:rPr lang="zh-CN" altLang="en-US" dirty="0"/>
              <a:t> </a:t>
            </a:r>
            <a:r>
              <a:rPr lang="en-US" altLang="zh-CN" dirty="0"/>
              <a:t>title</a:t>
            </a:r>
            <a:r>
              <a:rPr lang="zh-CN" altLang="en-US" dirty="0"/>
              <a:t> </a:t>
            </a:r>
            <a:r>
              <a:rPr lang="en-US" altLang="zh-CN" dirty="0"/>
              <a:t>(Helvetica</a:t>
            </a:r>
            <a:r>
              <a:rPr lang="zh-CN" altLang="en-US" dirty="0"/>
              <a:t> </a:t>
            </a:r>
            <a:r>
              <a:rPr lang="en-US" altLang="zh-CN" dirty="0"/>
              <a:t>/</a:t>
            </a:r>
            <a:r>
              <a:rPr lang="zh-CN" altLang="en-US" dirty="0"/>
              <a:t> </a:t>
            </a:r>
            <a:r>
              <a:rPr lang="en-US" altLang="zh-CN" dirty="0"/>
              <a:t>Arial</a:t>
            </a:r>
            <a:r>
              <a:rPr lang="zh-CN" altLang="en-US" dirty="0"/>
              <a:t> </a:t>
            </a:r>
            <a:r>
              <a:rPr lang="en-US" altLang="zh-CN" dirty="0"/>
              <a:t>36Pt)</a:t>
            </a:r>
            <a:endParaRPr lang="zh-CN" altLang="en-US" dirty="0"/>
          </a:p>
        </p:txBody>
      </p:sp>
      <p:sp>
        <p:nvSpPr>
          <p:cNvPr id="13" name="日期占位符 1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4" name="页脚占位符 1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5" name="灯片编号占位符 1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515AB8F-1C56-49E9-90C8-78D22B0C1B97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横向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接连接符 4"/>
          <p:cNvCxnSpPr/>
          <p:nvPr userDrawn="1"/>
        </p:nvCxnSpPr>
        <p:spPr>
          <a:xfrm>
            <a:off x="660400" y="6238240"/>
            <a:ext cx="10858500" cy="0"/>
          </a:xfrm>
          <a:prstGeom prst="line">
            <a:avLst/>
          </a:prstGeom>
          <a:ln w="3175" cap="rnd">
            <a:solidFill>
              <a:schemeClr val="bg1">
                <a:lumMod val="75000"/>
                <a:alpha val="47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灯片编号占位符 6"/>
          <p:cNvSpPr>
            <a:spLocks noGrp="1"/>
          </p:cNvSpPr>
          <p:nvPr userDrawn="1">
            <p:ph type="sldNum" sz="quarter" idx="12"/>
          </p:nvPr>
        </p:nvSpPr>
        <p:spPr>
          <a:xfrm>
            <a:off x="8746825" y="6356349"/>
            <a:ext cx="27432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515AB8F-1C56-49E9-90C8-78D22B0C1B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91" name="图片占位符 90"/>
          <p:cNvSpPr>
            <a:spLocks noGrp="1" noChangeAspect="1"/>
          </p:cNvSpPr>
          <p:nvPr>
            <p:ph type="pic" sz="quarter" idx="13"/>
          </p:nvPr>
        </p:nvSpPr>
        <p:spPr>
          <a:xfrm>
            <a:off x="862171" y="1825888"/>
            <a:ext cx="4826535" cy="2736000"/>
          </a:xfrm>
          <a:custGeom>
            <a:avLst/>
            <a:gdLst>
              <a:gd name="connsiteX0" fmla="*/ 0 w 4241800"/>
              <a:gd name="connsiteY0" fmla="*/ 0 h 2404533"/>
              <a:gd name="connsiteX1" fmla="*/ 4241800 w 4241800"/>
              <a:gd name="connsiteY1" fmla="*/ 0 h 2404533"/>
              <a:gd name="connsiteX2" fmla="*/ 4241800 w 4241800"/>
              <a:gd name="connsiteY2" fmla="*/ 2404533 h 2404533"/>
              <a:gd name="connsiteX3" fmla="*/ 0 w 4241800"/>
              <a:gd name="connsiteY3" fmla="*/ 2404533 h 24045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241800" h="2404533">
                <a:moveTo>
                  <a:pt x="0" y="0"/>
                </a:moveTo>
                <a:lnTo>
                  <a:pt x="4241800" y="0"/>
                </a:lnTo>
                <a:lnTo>
                  <a:pt x="4241800" y="2404533"/>
                </a:lnTo>
                <a:lnTo>
                  <a:pt x="0" y="2404533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90" name="任意多边形: 形状 89"/>
          <p:cNvSpPr/>
          <p:nvPr userDrawn="1"/>
        </p:nvSpPr>
        <p:spPr bwMode="auto">
          <a:xfrm rot="5400000">
            <a:off x="93484" y="218081"/>
            <a:ext cx="1133344" cy="494119"/>
          </a:xfrm>
          <a:custGeom>
            <a:avLst/>
            <a:gdLst>
              <a:gd name="connsiteX0" fmla="*/ 0 w 4641513"/>
              <a:gd name="connsiteY0" fmla="*/ 0 h 2088000"/>
              <a:gd name="connsiteX1" fmla="*/ 3814008 w 4641513"/>
              <a:gd name="connsiteY1" fmla="*/ 0 h 2088000"/>
              <a:gd name="connsiteX2" fmla="*/ 4641513 w 4641513"/>
              <a:gd name="connsiteY2" fmla="*/ 1044000 h 2088000"/>
              <a:gd name="connsiteX3" fmla="*/ 3814008 w 4641513"/>
              <a:gd name="connsiteY3" fmla="*/ 2087999 h 2088000"/>
              <a:gd name="connsiteX4" fmla="*/ 3814008 w 4641513"/>
              <a:gd name="connsiteY4" fmla="*/ 2088000 h 2088000"/>
              <a:gd name="connsiteX5" fmla="*/ 0 w 4641513"/>
              <a:gd name="connsiteY5" fmla="*/ 2088000 h 208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641513" h="2088000">
                <a:moveTo>
                  <a:pt x="0" y="0"/>
                </a:moveTo>
                <a:lnTo>
                  <a:pt x="3814008" y="0"/>
                </a:lnTo>
                <a:lnTo>
                  <a:pt x="4641513" y="1044000"/>
                </a:lnTo>
                <a:lnTo>
                  <a:pt x="3814008" y="2087999"/>
                </a:lnTo>
                <a:lnTo>
                  <a:pt x="3814008" y="2088000"/>
                </a:lnTo>
                <a:lnTo>
                  <a:pt x="0" y="20880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noAutofit/>
          </a:bodyPr>
          <a:lstStyle/>
          <a:p>
            <a:pPr algn="ctr">
              <a:lnSpc>
                <a:spcPct val="130000"/>
              </a:lnSpc>
            </a:pPr>
            <a:endParaRPr lang="en-US" sz="4000" b="0" i="0" dirty="0">
              <a:solidFill>
                <a:schemeClr val="accent3"/>
              </a:solidFill>
              <a:latin typeface="Helvetica Regular" pitchFamily="2" charset="0"/>
              <a:cs typeface="+mn-ea"/>
              <a:sym typeface="+mn-lt"/>
            </a:endParaRPr>
          </a:p>
        </p:txBody>
      </p:sp>
      <p:sp>
        <p:nvSpPr>
          <p:cNvPr id="92" name="标题 1"/>
          <p:cNvSpPr>
            <a:spLocks noGrp="1"/>
          </p:cNvSpPr>
          <p:nvPr>
            <p:ph type="title" hasCustomPrompt="1"/>
          </p:nvPr>
        </p:nvSpPr>
        <p:spPr>
          <a:xfrm>
            <a:off x="1091255" y="237834"/>
            <a:ext cx="8168208" cy="790865"/>
          </a:xfrm>
        </p:spPr>
        <p:txBody>
          <a:bodyPr wrap="square" lIns="0" tIns="0" rIns="0" bIns="0">
            <a:normAutofit/>
          </a:bodyPr>
          <a:lstStyle>
            <a:lvl1pPr>
              <a:defRPr sz="3600" b="1">
                <a:solidFill>
                  <a:schemeClr val="accent1"/>
                </a:solidFill>
                <a:latin typeface="Helvetica" pitchFamily="2" charset="0"/>
              </a:defRPr>
            </a:lvl1pPr>
          </a:lstStyle>
          <a:p>
            <a:r>
              <a:rPr lang="en-US" altLang="zh-CN" dirty="0"/>
              <a:t>Here</a:t>
            </a:r>
            <a:r>
              <a:rPr lang="zh-CN" altLang="en-US" dirty="0"/>
              <a:t> </a:t>
            </a:r>
            <a:r>
              <a:rPr lang="en-US" altLang="zh-CN" dirty="0"/>
              <a:t>is</a:t>
            </a:r>
            <a:r>
              <a:rPr lang="zh-CN" altLang="en-US" dirty="0"/>
              <a:t> </a:t>
            </a:r>
            <a:r>
              <a:rPr lang="en-US" altLang="zh-CN" dirty="0"/>
              <a:t>title</a:t>
            </a:r>
            <a:r>
              <a:rPr lang="zh-CN" altLang="en-US" dirty="0"/>
              <a:t> </a:t>
            </a:r>
            <a:r>
              <a:rPr lang="en-US" altLang="zh-CN" dirty="0"/>
              <a:t>(Helvetica</a:t>
            </a:r>
            <a:r>
              <a:rPr lang="zh-CN" altLang="en-US" dirty="0"/>
              <a:t> </a:t>
            </a:r>
            <a:r>
              <a:rPr lang="en-US" altLang="zh-CN" dirty="0"/>
              <a:t>/</a:t>
            </a:r>
            <a:r>
              <a:rPr lang="zh-CN" altLang="en-US" dirty="0"/>
              <a:t> </a:t>
            </a:r>
            <a:r>
              <a:rPr lang="en-US" altLang="zh-CN" dirty="0"/>
              <a:t>Arial</a:t>
            </a:r>
            <a:r>
              <a:rPr lang="zh-CN" altLang="en-US" dirty="0"/>
              <a:t> </a:t>
            </a:r>
            <a:r>
              <a:rPr lang="en-US" altLang="zh-CN" dirty="0"/>
              <a:t>36Pt)</a:t>
            </a:r>
            <a:endParaRPr lang="zh-CN" altLang="en-US" dirty="0"/>
          </a:p>
        </p:txBody>
      </p:sp>
      <p:pic>
        <p:nvPicPr>
          <p:cNvPr id="93" name="图片 9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44128" y="6420492"/>
            <a:ext cx="958362" cy="236837"/>
          </a:xfrm>
          <a:prstGeom prst="rect">
            <a:avLst/>
          </a:prstGeom>
        </p:spPr>
      </p:pic>
      <p:pic>
        <p:nvPicPr>
          <p:cNvPr id="97" name="图片 96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966201" y="381027"/>
            <a:ext cx="1552699" cy="49497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接连接符 4"/>
          <p:cNvCxnSpPr/>
          <p:nvPr userDrawn="1"/>
        </p:nvCxnSpPr>
        <p:spPr>
          <a:xfrm>
            <a:off x="660400" y="6238240"/>
            <a:ext cx="10858500" cy="0"/>
          </a:xfrm>
          <a:prstGeom prst="line">
            <a:avLst/>
          </a:prstGeom>
          <a:ln w="3175" cap="rnd">
            <a:solidFill>
              <a:schemeClr val="bg1">
                <a:lumMod val="75000"/>
                <a:alpha val="47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灯片编号占位符 6"/>
          <p:cNvSpPr>
            <a:spLocks noGrp="1"/>
          </p:cNvSpPr>
          <p:nvPr userDrawn="1">
            <p:ph type="sldNum" sz="quarter" idx="12"/>
          </p:nvPr>
        </p:nvSpPr>
        <p:spPr>
          <a:xfrm>
            <a:off x="8746825" y="6356349"/>
            <a:ext cx="27432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515AB8F-1C56-49E9-90C8-78D22B0C1B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90" name="图片占位符 6"/>
          <p:cNvSpPr>
            <a:spLocks noGrp="1" noChangeAspect="1"/>
          </p:cNvSpPr>
          <p:nvPr>
            <p:ph type="pic" sz="quarter" idx="10"/>
          </p:nvPr>
        </p:nvSpPr>
        <p:spPr>
          <a:xfrm>
            <a:off x="1692274" y="1541374"/>
            <a:ext cx="3238088" cy="43200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91" name="任意多边形: 形状 90"/>
          <p:cNvSpPr/>
          <p:nvPr userDrawn="1"/>
        </p:nvSpPr>
        <p:spPr bwMode="auto">
          <a:xfrm rot="5400000">
            <a:off x="93484" y="218081"/>
            <a:ext cx="1133344" cy="494119"/>
          </a:xfrm>
          <a:custGeom>
            <a:avLst/>
            <a:gdLst>
              <a:gd name="connsiteX0" fmla="*/ 0 w 4641513"/>
              <a:gd name="connsiteY0" fmla="*/ 0 h 2088000"/>
              <a:gd name="connsiteX1" fmla="*/ 3814008 w 4641513"/>
              <a:gd name="connsiteY1" fmla="*/ 0 h 2088000"/>
              <a:gd name="connsiteX2" fmla="*/ 4641513 w 4641513"/>
              <a:gd name="connsiteY2" fmla="*/ 1044000 h 2088000"/>
              <a:gd name="connsiteX3" fmla="*/ 3814008 w 4641513"/>
              <a:gd name="connsiteY3" fmla="*/ 2087999 h 2088000"/>
              <a:gd name="connsiteX4" fmla="*/ 3814008 w 4641513"/>
              <a:gd name="connsiteY4" fmla="*/ 2088000 h 2088000"/>
              <a:gd name="connsiteX5" fmla="*/ 0 w 4641513"/>
              <a:gd name="connsiteY5" fmla="*/ 2088000 h 208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641513" h="2088000">
                <a:moveTo>
                  <a:pt x="0" y="0"/>
                </a:moveTo>
                <a:lnTo>
                  <a:pt x="3814008" y="0"/>
                </a:lnTo>
                <a:lnTo>
                  <a:pt x="4641513" y="1044000"/>
                </a:lnTo>
                <a:lnTo>
                  <a:pt x="3814008" y="2087999"/>
                </a:lnTo>
                <a:lnTo>
                  <a:pt x="3814008" y="2088000"/>
                </a:lnTo>
                <a:lnTo>
                  <a:pt x="0" y="20880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noAutofit/>
          </a:bodyPr>
          <a:lstStyle/>
          <a:p>
            <a:pPr algn="ctr">
              <a:lnSpc>
                <a:spcPct val="130000"/>
              </a:lnSpc>
            </a:pPr>
            <a:endParaRPr lang="en-US" sz="4000" b="0" i="0" dirty="0">
              <a:solidFill>
                <a:schemeClr val="accent3"/>
              </a:solidFill>
              <a:latin typeface="Helvetica Regular" pitchFamily="2" charset="0"/>
              <a:cs typeface="+mn-ea"/>
              <a:sym typeface="+mn-lt"/>
            </a:endParaRPr>
          </a:p>
        </p:txBody>
      </p:sp>
      <p:sp>
        <p:nvSpPr>
          <p:cNvPr id="92" name="标题 1"/>
          <p:cNvSpPr>
            <a:spLocks noGrp="1"/>
          </p:cNvSpPr>
          <p:nvPr>
            <p:ph type="title" hasCustomPrompt="1"/>
          </p:nvPr>
        </p:nvSpPr>
        <p:spPr>
          <a:xfrm>
            <a:off x="1091255" y="237834"/>
            <a:ext cx="8168208" cy="790865"/>
          </a:xfrm>
        </p:spPr>
        <p:txBody>
          <a:bodyPr wrap="square" lIns="0" tIns="0" rIns="0" bIns="0">
            <a:normAutofit/>
          </a:bodyPr>
          <a:lstStyle>
            <a:lvl1pPr>
              <a:defRPr sz="3600" b="1">
                <a:solidFill>
                  <a:schemeClr val="accent1"/>
                </a:solidFill>
                <a:latin typeface="Helvetica" pitchFamily="2" charset="0"/>
              </a:defRPr>
            </a:lvl1pPr>
          </a:lstStyle>
          <a:p>
            <a:r>
              <a:rPr lang="en-US" altLang="zh-CN" dirty="0"/>
              <a:t>Here</a:t>
            </a:r>
            <a:r>
              <a:rPr lang="zh-CN" altLang="en-US" dirty="0"/>
              <a:t> </a:t>
            </a:r>
            <a:r>
              <a:rPr lang="en-US" altLang="zh-CN" dirty="0"/>
              <a:t>is</a:t>
            </a:r>
            <a:r>
              <a:rPr lang="zh-CN" altLang="en-US" dirty="0"/>
              <a:t> </a:t>
            </a:r>
            <a:r>
              <a:rPr lang="en-US" altLang="zh-CN" dirty="0"/>
              <a:t>title</a:t>
            </a:r>
            <a:r>
              <a:rPr lang="zh-CN" altLang="en-US" dirty="0"/>
              <a:t> </a:t>
            </a:r>
            <a:r>
              <a:rPr lang="en-US" altLang="zh-CN" dirty="0"/>
              <a:t>(Helvetica</a:t>
            </a:r>
            <a:r>
              <a:rPr lang="zh-CN" altLang="en-US" dirty="0"/>
              <a:t> </a:t>
            </a:r>
            <a:r>
              <a:rPr lang="en-US" altLang="zh-CN" dirty="0"/>
              <a:t>/</a:t>
            </a:r>
            <a:r>
              <a:rPr lang="zh-CN" altLang="en-US" dirty="0"/>
              <a:t> </a:t>
            </a:r>
            <a:r>
              <a:rPr lang="en-US" altLang="zh-CN" dirty="0"/>
              <a:t>Arial</a:t>
            </a:r>
            <a:r>
              <a:rPr lang="zh-CN" altLang="en-US" dirty="0"/>
              <a:t> </a:t>
            </a:r>
            <a:r>
              <a:rPr lang="en-US" altLang="zh-CN" dirty="0"/>
              <a:t>36Pt)</a:t>
            </a:r>
            <a:endParaRPr lang="zh-CN" altLang="en-US" dirty="0"/>
          </a:p>
        </p:txBody>
      </p:sp>
      <p:pic>
        <p:nvPicPr>
          <p:cNvPr id="93" name="图片 9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44128" y="6420492"/>
            <a:ext cx="958362" cy="236837"/>
          </a:xfrm>
          <a:prstGeom prst="rect">
            <a:avLst/>
          </a:prstGeom>
        </p:spPr>
      </p:pic>
      <p:pic>
        <p:nvPicPr>
          <p:cNvPr id="97" name="图片 96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966201" y="381027"/>
            <a:ext cx="1552699" cy="49497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图片-圆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任意多边形: 形状 92"/>
          <p:cNvSpPr/>
          <p:nvPr userDrawn="1"/>
        </p:nvSpPr>
        <p:spPr>
          <a:xfrm>
            <a:off x="660400" y="1531871"/>
            <a:ext cx="10858500" cy="4491875"/>
          </a:xfrm>
          <a:custGeom>
            <a:avLst/>
            <a:gdLst>
              <a:gd name="connsiteX0" fmla="*/ 2682382 w 10858500"/>
              <a:gd name="connsiteY0" fmla="*/ 0 h 4491875"/>
              <a:gd name="connsiteX1" fmla="*/ 4661514 w 10858500"/>
              <a:gd name="connsiteY1" fmla="*/ 1979131 h 4491875"/>
              <a:gd name="connsiteX2" fmla="*/ 4081840 w 10858500"/>
              <a:gd name="connsiteY2" fmla="*/ 3378588 h 4491875"/>
              <a:gd name="connsiteX3" fmla="*/ 3948253 w 10858500"/>
              <a:gd name="connsiteY3" fmla="*/ 3500000 h 4491875"/>
              <a:gd name="connsiteX4" fmla="*/ 10858500 w 10858500"/>
              <a:gd name="connsiteY4" fmla="*/ 3500000 h 4491875"/>
              <a:gd name="connsiteX5" fmla="*/ 10858500 w 10858500"/>
              <a:gd name="connsiteY5" fmla="*/ 4491875 h 4491875"/>
              <a:gd name="connsiteX6" fmla="*/ 0 w 10858500"/>
              <a:gd name="connsiteY6" fmla="*/ 4491875 h 4491875"/>
              <a:gd name="connsiteX7" fmla="*/ 0 w 10858500"/>
              <a:gd name="connsiteY7" fmla="*/ 3500000 h 4491875"/>
              <a:gd name="connsiteX8" fmla="*/ 1416512 w 10858500"/>
              <a:gd name="connsiteY8" fmla="*/ 3500000 h 4491875"/>
              <a:gd name="connsiteX9" fmla="*/ 1282925 w 10858500"/>
              <a:gd name="connsiteY9" fmla="*/ 3378588 h 4491875"/>
              <a:gd name="connsiteX10" fmla="*/ 703250 w 10858500"/>
              <a:gd name="connsiteY10" fmla="*/ 1979131 h 4491875"/>
              <a:gd name="connsiteX11" fmla="*/ 2682382 w 10858500"/>
              <a:gd name="connsiteY11" fmla="*/ 0 h 44918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0858500" h="4491875">
                <a:moveTo>
                  <a:pt x="2682382" y="0"/>
                </a:moveTo>
                <a:cubicBezTo>
                  <a:pt x="3775426" y="0"/>
                  <a:pt x="4661514" y="886087"/>
                  <a:pt x="4661514" y="1979131"/>
                </a:cubicBezTo>
                <a:cubicBezTo>
                  <a:pt x="4661514" y="2525653"/>
                  <a:pt x="4439992" y="3020436"/>
                  <a:pt x="4081840" y="3378588"/>
                </a:cubicBezTo>
                <a:lnTo>
                  <a:pt x="3948253" y="3500000"/>
                </a:lnTo>
                <a:lnTo>
                  <a:pt x="10858500" y="3500000"/>
                </a:lnTo>
                <a:lnTo>
                  <a:pt x="10858500" y="4491875"/>
                </a:lnTo>
                <a:lnTo>
                  <a:pt x="0" y="4491875"/>
                </a:lnTo>
                <a:lnTo>
                  <a:pt x="0" y="3500000"/>
                </a:lnTo>
                <a:lnTo>
                  <a:pt x="1416512" y="3500000"/>
                </a:lnTo>
                <a:lnTo>
                  <a:pt x="1282925" y="3378588"/>
                </a:lnTo>
                <a:cubicBezTo>
                  <a:pt x="924772" y="3020436"/>
                  <a:pt x="703250" y="2525653"/>
                  <a:pt x="703250" y="1979131"/>
                </a:cubicBezTo>
                <a:cubicBezTo>
                  <a:pt x="703250" y="886087"/>
                  <a:pt x="1589338" y="0"/>
                  <a:pt x="2682382" y="0"/>
                </a:cubicBezTo>
                <a:close/>
              </a:path>
            </a:pathLst>
          </a:custGeom>
          <a:solidFill>
            <a:schemeClr val="accent1"/>
          </a:solidFill>
          <a:ln w="19050">
            <a:noFill/>
          </a:ln>
          <a:effectLst>
            <a:outerShdw blurRad="127000" algn="ct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b="0" i="0" dirty="0">
              <a:latin typeface="Helvetica Regular" pitchFamily="2" charset="0"/>
              <a:cs typeface="+mn-ea"/>
              <a:sym typeface="+mn-lt"/>
            </a:endParaRPr>
          </a:p>
        </p:txBody>
      </p:sp>
      <p:cxnSp>
        <p:nvCxnSpPr>
          <p:cNvPr id="5" name="直接连接符 4"/>
          <p:cNvCxnSpPr/>
          <p:nvPr userDrawn="1"/>
        </p:nvCxnSpPr>
        <p:spPr>
          <a:xfrm>
            <a:off x="660400" y="6238240"/>
            <a:ext cx="10858500" cy="0"/>
          </a:xfrm>
          <a:prstGeom prst="line">
            <a:avLst/>
          </a:prstGeom>
          <a:ln w="3175" cap="rnd">
            <a:solidFill>
              <a:schemeClr val="bg1">
                <a:lumMod val="75000"/>
                <a:alpha val="47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灯片编号占位符 6"/>
          <p:cNvSpPr>
            <a:spLocks noGrp="1"/>
          </p:cNvSpPr>
          <p:nvPr userDrawn="1">
            <p:ph type="sldNum" sz="quarter" idx="12"/>
          </p:nvPr>
        </p:nvSpPr>
        <p:spPr>
          <a:xfrm>
            <a:off x="8746825" y="6356349"/>
            <a:ext cx="27432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515AB8F-1C56-49E9-90C8-78D22B0C1B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91" name="任意多边形: 形状 90"/>
          <p:cNvSpPr/>
          <p:nvPr userDrawn="1"/>
        </p:nvSpPr>
        <p:spPr bwMode="auto">
          <a:xfrm rot="5400000">
            <a:off x="93484" y="218081"/>
            <a:ext cx="1133344" cy="494119"/>
          </a:xfrm>
          <a:custGeom>
            <a:avLst/>
            <a:gdLst>
              <a:gd name="connsiteX0" fmla="*/ 0 w 4641513"/>
              <a:gd name="connsiteY0" fmla="*/ 0 h 2088000"/>
              <a:gd name="connsiteX1" fmla="*/ 3814008 w 4641513"/>
              <a:gd name="connsiteY1" fmla="*/ 0 h 2088000"/>
              <a:gd name="connsiteX2" fmla="*/ 4641513 w 4641513"/>
              <a:gd name="connsiteY2" fmla="*/ 1044000 h 2088000"/>
              <a:gd name="connsiteX3" fmla="*/ 3814008 w 4641513"/>
              <a:gd name="connsiteY3" fmla="*/ 2087999 h 2088000"/>
              <a:gd name="connsiteX4" fmla="*/ 3814008 w 4641513"/>
              <a:gd name="connsiteY4" fmla="*/ 2088000 h 2088000"/>
              <a:gd name="connsiteX5" fmla="*/ 0 w 4641513"/>
              <a:gd name="connsiteY5" fmla="*/ 2088000 h 208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641513" h="2088000">
                <a:moveTo>
                  <a:pt x="0" y="0"/>
                </a:moveTo>
                <a:lnTo>
                  <a:pt x="3814008" y="0"/>
                </a:lnTo>
                <a:lnTo>
                  <a:pt x="4641513" y="1044000"/>
                </a:lnTo>
                <a:lnTo>
                  <a:pt x="3814008" y="2087999"/>
                </a:lnTo>
                <a:lnTo>
                  <a:pt x="3814008" y="2088000"/>
                </a:lnTo>
                <a:lnTo>
                  <a:pt x="0" y="20880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noAutofit/>
          </a:bodyPr>
          <a:lstStyle/>
          <a:p>
            <a:pPr algn="ctr">
              <a:lnSpc>
                <a:spcPct val="130000"/>
              </a:lnSpc>
            </a:pPr>
            <a:endParaRPr lang="en-US" sz="4000" b="0" i="0" dirty="0">
              <a:solidFill>
                <a:schemeClr val="accent3"/>
              </a:solidFill>
              <a:latin typeface="Helvetica Regular" pitchFamily="2" charset="0"/>
              <a:cs typeface="+mn-ea"/>
              <a:sym typeface="+mn-lt"/>
            </a:endParaRPr>
          </a:p>
        </p:txBody>
      </p:sp>
      <p:sp>
        <p:nvSpPr>
          <p:cNvPr id="92" name="图片占位符 91"/>
          <p:cNvSpPr>
            <a:spLocks noGrp="1" noChangeAspect="1"/>
          </p:cNvSpPr>
          <p:nvPr>
            <p:ph type="pic" sz="quarter" idx="13"/>
          </p:nvPr>
        </p:nvSpPr>
        <p:spPr>
          <a:xfrm>
            <a:off x="1451524" y="1608975"/>
            <a:ext cx="3780000" cy="3780000"/>
          </a:xfrm>
          <a:custGeom>
            <a:avLst/>
            <a:gdLst>
              <a:gd name="connsiteX0" fmla="*/ 1657350 w 3314700"/>
              <a:gd name="connsiteY0" fmla="*/ 0 h 3314700"/>
              <a:gd name="connsiteX1" fmla="*/ 3314700 w 3314700"/>
              <a:gd name="connsiteY1" fmla="*/ 1657350 h 3314700"/>
              <a:gd name="connsiteX2" fmla="*/ 1657350 w 3314700"/>
              <a:gd name="connsiteY2" fmla="*/ 3314700 h 3314700"/>
              <a:gd name="connsiteX3" fmla="*/ 0 w 3314700"/>
              <a:gd name="connsiteY3" fmla="*/ 1657350 h 3314700"/>
              <a:gd name="connsiteX4" fmla="*/ 1657350 w 3314700"/>
              <a:gd name="connsiteY4" fmla="*/ 0 h 3314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314700" h="3314700">
                <a:moveTo>
                  <a:pt x="1657350" y="0"/>
                </a:moveTo>
                <a:cubicBezTo>
                  <a:pt x="2572679" y="0"/>
                  <a:pt x="3314700" y="742021"/>
                  <a:pt x="3314700" y="1657350"/>
                </a:cubicBezTo>
                <a:cubicBezTo>
                  <a:pt x="3314700" y="2572679"/>
                  <a:pt x="2572679" y="3314700"/>
                  <a:pt x="1657350" y="3314700"/>
                </a:cubicBezTo>
                <a:cubicBezTo>
                  <a:pt x="742021" y="3314700"/>
                  <a:pt x="0" y="2572679"/>
                  <a:pt x="0" y="1657350"/>
                </a:cubicBezTo>
                <a:cubicBezTo>
                  <a:pt x="0" y="742021"/>
                  <a:pt x="742021" y="0"/>
                  <a:pt x="1657350" y="0"/>
                </a:cubicBezTo>
                <a:close/>
              </a:path>
            </a:pathLst>
          </a:custGeom>
        </p:spPr>
        <p:txBody>
          <a:bodyPr wrap="square" anchor="ctr" anchorCtr="0">
            <a:noAutofit/>
          </a:bodyPr>
          <a:lstStyle/>
          <a:p>
            <a:endParaRPr lang="zh-CN" altLang="en-US" dirty="0"/>
          </a:p>
        </p:txBody>
      </p:sp>
      <p:sp>
        <p:nvSpPr>
          <p:cNvPr id="90" name="标题 1"/>
          <p:cNvSpPr>
            <a:spLocks noGrp="1"/>
          </p:cNvSpPr>
          <p:nvPr>
            <p:ph type="title" hasCustomPrompt="1"/>
          </p:nvPr>
        </p:nvSpPr>
        <p:spPr>
          <a:xfrm>
            <a:off x="1091255" y="237834"/>
            <a:ext cx="8168208" cy="790865"/>
          </a:xfrm>
        </p:spPr>
        <p:txBody>
          <a:bodyPr wrap="square" lIns="0" tIns="0" rIns="0" bIns="0">
            <a:normAutofit/>
          </a:bodyPr>
          <a:lstStyle>
            <a:lvl1pPr>
              <a:defRPr sz="3600" b="1">
                <a:solidFill>
                  <a:schemeClr val="accent1"/>
                </a:solidFill>
                <a:latin typeface="Helvetica" pitchFamily="2" charset="0"/>
              </a:defRPr>
            </a:lvl1pPr>
          </a:lstStyle>
          <a:p>
            <a:r>
              <a:rPr lang="en-US" altLang="zh-CN" dirty="0"/>
              <a:t>Here</a:t>
            </a:r>
            <a:r>
              <a:rPr lang="zh-CN" altLang="en-US" dirty="0"/>
              <a:t> </a:t>
            </a:r>
            <a:r>
              <a:rPr lang="en-US" altLang="zh-CN" dirty="0"/>
              <a:t>is</a:t>
            </a:r>
            <a:r>
              <a:rPr lang="zh-CN" altLang="en-US" dirty="0"/>
              <a:t> </a:t>
            </a:r>
            <a:r>
              <a:rPr lang="en-US" altLang="zh-CN" dirty="0"/>
              <a:t>title</a:t>
            </a:r>
            <a:r>
              <a:rPr lang="zh-CN" altLang="en-US" dirty="0"/>
              <a:t> </a:t>
            </a:r>
            <a:r>
              <a:rPr lang="en-US" altLang="zh-CN" dirty="0"/>
              <a:t>(Helvetica</a:t>
            </a:r>
            <a:r>
              <a:rPr lang="zh-CN" altLang="en-US" dirty="0"/>
              <a:t> </a:t>
            </a:r>
            <a:r>
              <a:rPr lang="en-US" altLang="zh-CN" dirty="0"/>
              <a:t>/</a:t>
            </a:r>
            <a:r>
              <a:rPr lang="zh-CN" altLang="en-US" dirty="0"/>
              <a:t> </a:t>
            </a:r>
            <a:r>
              <a:rPr lang="en-US" altLang="zh-CN" dirty="0"/>
              <a:t>Arial</a:t>
            </a:r>
            <a:r>
              <a:rPr lang="zh-CN" altLang="en-US" dirty="0"/>
              <a:t> </a:t>
            </a:r>
            <a:r>
              <a:rPr lang="en-US" altLang="zh-CN" dirty="0"/>
              <a:t>36Pt)</a:t>
            </a:r>
            <a:endParaRPr lang="zh-CN" altLang="en-US" dirty="0"/>
          </a:p>
        </p:txBody>
      </p:sp>
      <p:pic>
        <p:nvPicPr>
          <p:cNvPr id="94" name="图片 9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44128" y="6420492"/>
            <a:ext cx="958362" cy="236837"/>
          </a:xfrm>
          <a:prstGeom prst="rect">
            <a:avLst/>
          </a:prstGeom>
        </p:spPr>
      </p:pic>
      <p:pic>
        <p:nvPicPr>
          <p:cNvPr id="98" name="图片 9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966201" y="381027"/>
            <a:ext cx="1552699" cy="49497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接连接符 4"/>
          <p:cNvCxnSpPr/>
          <p:nvPr userDrawn="1"/>
        </p:nvCxnSpPr>
        <p:spPr>
          <a:xfrm>
            <a:off x="660400" y="6238240"/>
            <a:ext cx="10858500" cy="0"/>
          </a:xfrm>
          <a:prstGeom prst="line">
            <a:avLst/>
          </a:prstGeom>
          <a:ln w="3175" cap="rnd">
            <a:solidFill>
              <a:schemeClr val="bg1">
                <a:lumMod val="75000"/>
                <a:alpha val="47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灯片编号占位符 6"/>
          <p:cNvSpPr>
            <a:spLocks noGrp="1"/>
          </p:cNvSpPr>
          <p:nvPr userDrawn="1">
            <p:ph type="sldNum" sz="quarter" idx="12"/>
          </p:nvPr>
        </p:nvSpPr>
        <p:spPr>
          <a:xfrm>
            <a:off x="8746825" y="6356349"/>
            <a:ext cx="27432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515AB8F-1C56-49E9-90C8-78D22B0C1B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90" name="图片占位符 6"/>
          <p:cNvSpPr>
            <a:spLocks noGrp="1" noChangeAspect="1"/>
          </p:cNvSpPr>
          <p:nvPr>
            <p:ph type="pic" sz="quarter" idx="10"/>
          </p:nvPr>
        </p:nvSpPr>
        <p:spPr>
          <a:xfrm>
            <a:off x="1114722" y="1132945"/>
            <a:ext cx="1735608" cy="231551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91" name="图片占位符 6"/>
          <p:cNvSpPr>
            <a:spLocks noGrp="1" noChangeAspect="1"/>
          </p:cNvSpPr>
          <p:nvPr>
            <p:ph type="pic" sz="quarter" idx="13"/>
          </p:nvPr>
        </p:nvSpPr>
        <p:spPr>
          <a:xfrm>
            <a:off x="9351363" y="3674135"/>
            <a:ext cx="1755000" cy="2341381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92" name="任意多边形: 形状 91"/>
          <p:cNvSpPr/>
          <p:nvPr userDrawn="1"/>
        </p:nvSpPr>
        <p:spPr bwMode="auto">
          <a:xfrm rot="5400000">
            <a:off x="93484" y="218081"/>
            <a:ext cx="1133344" cy="494119"/>
          </a:xfrm>
          <a:custGeom>
            <a:avLst/>
            <a:gdLst>
              <a:gd name="connsiteX0" fmla="*/ 0 w 4641513"/>
              <a:gd name="connsiteY0" fmla="*/ 0 h 2088000"/>
              <a:gd name="connsiteX1" fmla="*/ 3814008 w 4641513"/>
              <a:gd name="connsiteY1" fmla="*/ 0 h 2088000"/>
              <a:gd name="connsiteX2" fmla="*/ 4641513 w 4641513"/>
              <a:gd name="connsiteY2" fmla="*/ 1044000 h 2088000"/>
              <a:gd name="connsiteX3" fmla="*/ 3814008 w 4641513"/>
              <a:gd name="connsiteY3" fmla="*/ 2087999 h 2088000"/>
              <a:gd name="connsiteX4" fmla="*/ 3814008 w 4641513"/>
              <a:gd name="connsiteY4" fmla="*/ 2088000 h 2088000"/>
              <a:gd name="connsiteX5" fmla="*/ 0 w 4641513"/>
              <a:gd name="connsiteY5" fmla="*/ 2088000 h 208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641513" h="2088000">
                <a:moveTo>
                  <a:pt x="0" y="0"/>
                </a:moveTo>
                <a:lnTo>
                  <a:pt x="3814008" y="0"/>
                </a:lnTo>
                <a:lnTo>
                  <a:pt x="4641513" y="1044000"/>
                </a:lnTo>
                <a:lnTo>
                  <a:pt x="3814008" y="2087999"/>
                </a:lnTo>
                <a:lnTo>
                  <a:pt x="3814008" y="2088000"/>
                </a:lnTo>
                <a:lnTo>
                  <a:pt x="0" y="20880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noAutofit/>
          </a:bodyPr>
          <a:lstStyle/>
          <a:p>
            <a:pPr algn="ctr">
              <a:lnSpc>
                <a:spcPct val="130000"/>
              </a:lnSpc>
            </a:pPr>
            <a:endParaRPr lang="en-US" sz="4000" b="0" i="0" dirty="0">
              <a:solidFill>
                <a:schemeClr val="accent3"/>
              </a:solidFill>
              <a:latin typeface="Helvetica Regular" pitchFamily="2" charset="0"/>
              <a:cs typeface="+mn-ea"/>
              <a:sym typeface="+mn-lt"/>
            </a:endParaRPr>
          </a:p>
        </p:txBody>
      </p:sp>
      <p:sp>
        <p:nvSpPr>
          <p:cNvPr id="93" name="标题 1"/>
          <p:cNvSpPr>
            <a:spLocks noGrp="1"/>
          </p:cNvSpPr>
          <p:nvPr>
            <p:ph type="title" hasCustomPrompt="1"/>
          </p:nvPr>
        </p:nvSpPr>
        <p:spPr>
          <a:xfrm>
            <a:off x="1091255" y="237834"/>
            <a:ext cx="8168208" cy="790865"/>
          </a:xfrm>
        </p:spPr>
        <p:txBody>
          <a:bodyPr wrap="square" lIns="0" tIns="0" rIns="0" bIns="0">
            <a:normAutofit/>
          </a:bodyPr>
          <a:lstStyle>
            <a:lvl1pPr>
              <a:defRPr sz="3600" b="1">
                <a:solidFill>
                  <a:schemeClr val="accent1"/>
                </a:solidFill>
                <a:latin typeface="Helvetica" pitchFamily="2" charset="0"/>
              </a:defRPr>
            </a:lvl1pPr>
          </a:lstStyle>
          <a:p>
            <a:r>
              <a:rPr lang="en-US" altLang="zh-CN" dirty="0"/>
              <a:t>Here</a:t>
            </a:r>
            <a:r>
              <a:rPr lang="zh-CN" altLang="en-US" dirty="0"/>
              <a:t> </a:t>
            </a:r>
            <a:r>
              <a:rPr lang="en-US" altLang="zh-CN" dirty="0"/>
              <a:t>is</a:t>
            </a:r>
            <a:r>
              <a:rPr lang="zh-CN" altLang="en-US" dirty="0"/>
              <a:t> </a:t>
            </a:r>
            <a:r>
              <a:rPr lang="en-US" altLang="zh-CN" dirty="0"/>
              <a:t>title</a:t>
            </a:r>
            <a:r>
              <a:rPr lang="zh-CN" altLang="en-US" dirty="0"/>
              <a:t> </a:t>
            </a:r>
            <a:r>
              <a:rPr lang="en-US" altLang="zh-CN" dirty="0"/>
              <a:t>(Helvetica</a:t>
            </a:r>
            <a:r>
              <a:rPr lang="zh-CN" altLang="en-US" dirty="0"/>
              <a:t> </a:t>
            </a:r>
            <a:r>
              <a:rPr lang="en-US" altLang="zh-CN" dirty="0"/>
              <a:t>/</a:t>
            </a:r>
            <a:r>
              <a:rPr lang="zh-CN" altLang="en-US" dirty="0"/>
              <a:t> </a:t>
            </a:r>
            <a:r>
              <a:rPr lang="en-US" altLang="zh-CN" dirty="0"/>
              <a:t>Arial</a:t>
            </a:r>
            <a:r>
              <a:rPr lang="zh-CN" altLang="en-US" dirty="0"/>
              <a:t> </a:t>
            </a:r>
            <a:r>
              <a:rPr lang="en-US" altLang="zh-CN" dirty="0"/>
              <a:t>36Pt)</a:t>
            </a:r>
            <a:endParaRPr lang="zh-CN" altLang="en-US" dirty="0"/>
          </a:p>
        </p:txBody>
      </p:sp>
      <p:pic>
        <p:nvPicPr>
          <p:cNvPr id="94" name="图片 9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44128" y="6420492"/>
            <a:ext cx="958362" cy="236837"/>
          </a:xfrm>
          <a:prstGeom prst="rect">
            <a:avLst/>
          </a:prstGeom>
        </p:spPr>
      </p:pic>
      <p:pic>
        <p:nvPicPr>
          <p:cNvPr id="98" name="图片 9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966201" y="381027"/>
            <a:ext cx="1552699" cy="49497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接连接符 4"/>
          <p:cNvCxnSpPr/>
          <p:nvPr userDrawn="1"/>
        </p:nvCxnSpPr>
        <p:spPr>
          <a:xfrm>
            <a:off x="660400" y="6238240"/>
            <a:ext cx="10858500" cy="0"/>
          </a:xfrm>
          <a:prstGeom prst="line">
            <a:avLst/>
          </a:prstGeom>
          <a:ln w="3175" cap="rnd">
            <a:solidFill>
              <a:schemeClr val="bg1">
                <a:lumMod val="75000"/>
                <a:alpha val="47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灯片编号占位符 6"/>
          <p:cNvSpPr>
            <a:spLocks noGrp="1"/>
          </p:cNvSpPr>
          <p:nvPr userDrawn="1">
            <p:ph type="sldNum" sz="quarter" idx="12"/>
          </p:nvPr>
        </p:nvSpPr>
        <p:spPr>
          <a:xfrm>
            <a:off x="8746825" y="6356349"/>
            <a:ext cx="27432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515AB8F-1C56-49E9-90C8-78D22B0C1B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91" name="图片占位符 90"/>
          <p:cNvSpPr>
            <a:spLocks noGrp="1"/>
          </p:cNvSpPr>
          <p:nvPr>
            <p:ph type="pic" sz="quarter" idx="13"/>
          </p:nvPr>
        </p:nvSpPr>
        <p:spPr>
          <a:xfrm>
            <a:off x="1219984" y="1645829"/>
            <a:ext cx="1755000" cy="1755000"/>
          </a:xfrm>
          <a:custGeom>
            <a:avLst/>
            <a:gdLst>
              <a:gd name="connsiteX0" fmla="*/ 877500 w 1755000"/>
              <a:gd name="connsiteY0" fmla="*/ 0 h 1755000"/>
              <a:gd name="connsiteX1" fmla="*/ 1755000 w 1755000"/>
              <a:gd name="connsiteY1" fmla="*/ 877500 h 1755000"/>
              <a:gd name="connsiteX2" fmla="*/ 877500 w 1755000"/>
              <a:gd name="connsiteY2" fmla="*/ 1755000 h 1755000"/>
              <a:gd name="connsiteX3" fmla="*/ 0 w 1755000"/>
              <a:gd name="connsiteY3" fmla="*/ 877500 h 1755000"/>
              <a:gd name="connsiteX4" fmla="*/ 877500 w 1755000"/>
              <a:gd name="connsiteY4" fmla="*/ 0 h 1755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55000" h="1755000">
                <a:moveTo>
                  <a:pt x="877500" y="0"/>
                </a:moveTo>
                <a:cubicBezTo>
                  <a:pt x="1362130" y="0"/>
                  <a:pt x="1755000" y="392870"/>
                  <a:pt x="1755000" y="877500"/>
                </a:cubicBezTo>
                <a:cubicBezTo>
                  <a:pt x="1755000" y="1362130"/>
                  <a:pt x="1362130" y="1755000"/>
                  <a:pt x="877500" y="1755000"/>
                </a:cubicBezTo>
                <a:cubicBezTo>
                  <a:pt x="392870" y="1755000"/>
                  <a:pt x="0" y="1362130"/>
                  <a:pt x="0" y="877500"/>
                </a:cubicBezTo>
                <a:cubicBezTo>
                  <a:pt x="0" y="392870"/>
                  <a:pt x="392870" y="0"/>
                  <a:pt x="877500" y="0"/>
                </a:cubicBezTo>
                <a:close/>
              </a:path>
            </a:pathLst>
          </a:custGeom>
          <a:ln w="47625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00000">
                  <a:schemeClr val="accent1"/>
                </a:gs>
              </a:gsLst>
              <a:lin ang="2700000" scaled="1"/>
              <a:tileRect/>
            </a:gradFill>
          </a:ln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95" name="图片占位符 94"/>
          <p:cNvSpPr>
            <a:spLocks noGrp="1"/>
          </p:cNvSpPr>
          <p:nvPr>
            <p:ph type="pic" sz="quarter" idx="14"/>
          </p:nvPr>
        </p:nvSpPr>
        <p:spPr>
          <a:xfrm>
            <a:off x="9369946" y="1645829"/>
            <a:ext cx="1755000" cy="1755000"/>
          </a:xfrm>
          <a:custGeom>
            <a:avLst/>
            <a:gdLst>
              <a:gd name="connsiteX0" fmla="*/ 877500 w 1755000"/>
              <a:gd name="connsiteY0" fmla="*/ 0 h 1755000"/>
              <a:gd name="connsiteX1" fmla="*/ 1755000 w 1755000"/>
              <a:gd name="connsiteY1" fmla="*/ 877500 h 1755000"/>
              <a:gd name="connsiteX2" fmla="*/ 877500 w 1755000"/>
              <a:gd name="connsiteY2" fmla="*/ 1755000 h 1755000"/>
              <a:gd name="connsiteX3" fmla="*/ 0 w 1755000"/>
              <a:gd name="connsiteY3" fmla="*/ 877500 h 1755000"/>
              <a:gd name="connsiteX4" fmla="*/ 877500 w 1755000"/>
              <a:gd name="connsiteY4" fmla="*/ 0 h 1755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55000" h="1755000">
                <a:moveTo>
                  <a:pt x="877500" y="0"/>
                </a:moveTo>
                <a:cubicBezTo>
                  <a:pt x="1362130" y="0"/>
                  <a:pt x="1755000" y="392870"/>
                  <a:pt x="1755000" y="877500"/>
                </a:cubicBezTo>
                <a:cubicBezTo>
                  <a:pt x="1755000" y="1362130"/>
                  <a:pt x="1362130" y="1755000"/>
                  <a:pt x="877500" y="1755000"/>
                </a:cubicBezTo>
                <a:cubicBezTo>
                  <a:pt x="392870" y="1755000"/>
                  <a:pt x="0" y="1362130"/>
                  <a:pt x="0" y="877500"/>
                </a:cubicBezTo>
                <a:cubicBezTo>
                  <a:pt x="0" y="392870"/>
                  <a:pt x="392870" y="0"/>
                  <a:pt x="877500" y="0"/>
                </a:cubicBezTo>
                <a:close/>
              </a:path>
            </a:pathLst>
          </a:custGeom>
          <a:ln w="47625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00000">
                  <a:schemeClr val="accent1"/>
                </a:gs>
              </a:gsLst>
              <a:lin ang="2700000" scaled="1"/>
              <a:tileRect/>
            </a:gradFill>
          </a:ln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98" name="图片占位符 97"/>
          <p:cNvSpPr>
            <a:spLocks noGrp="1"/>
          </p:cNvSpPr>
          <p:nvPr>
            <p:ph type="pic" sz="quarter" idx="15"/>
          </p:nvPr>
        </p:nvSpPr>
        <p:spPr>
          <a:xfrm>
            <a:off x="3936638" y="1645829"/>
            <a:ext cx="1755000" cy="1755000"/>
          </a:xfrm>
          <a:custGeom>
            <a:avLst/>
            <a:gdLst>
              <a:gd name="connsiteX0" fmla="*/ 877500 w 1755000"/>
              <a:gd name="connsiteY0" fmla="*/ 0 h 1755000"/>
              <a:gd name="connsiteX1" fmla="*/ 1755000 w 1755000"/>
              <a:gd name="connsiteY1" fmla="*/ 877500 h 1755000"/>
              <a:gd name="connsiteX2" fmla="*/ 877500 w 1755000"/>
              <a:gd name="connsiteY2" fmla="*/ 1755000 h 1755000"/>
              <a:gd name="connsiteX3" fmla="*/ 0 w 1755000"/>
              <a:gd name="connsiteY3" fmla="*/ 877500 h 1755000"/>
              <a:gd name="connsiteX4" fmla="*/ 877500 w 1755000"/>
              <a:gd name="connsiteY4" fmla="*/ 0 h 1755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55000" h="1755000">
                <a:moveTo>
                  <a:pt x="877500" y="0"/>
                </a:moveTo>
                <a:cubicBezTo>
                  <a:pt x="1362130" y="0"/>
                  <a:pt x="1755000" y="392870"/>
                  <a:pt x="1755000" y="877500"/>
                </a:cubicBezTo>
                <a:cubicBezTo>
                  <a:pt x="1755000" y="1362130"/>
                  <a:pt x="1362130" y="1755000"/>
                  <a:pt x="877500" y="1755000"/>
                </a:cubicBezTo>
                <a:cubicBezTo>
                  <a:pt x="392870" y="1755000"/>
                  <a:pt x="0" y="1362130"/>
                  <a:pt x="0" y="877500"/>
                </a:cubicBezTo>
                <a:cubicBezTo>
                  <a:pt x="0" y="392870"/>
                  <a:pt x="392870" y="0"/>
                  <a:pt x="877500" y="0"/>
                </a:cubicBezTo>
                <a:close/>
              </a:path>
            </a:pathLst>
          </a:custGeom>
          <a:ln w="47625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00000">
                  <a:schemeClr val="accent1"/>
                </a:gs>
              </a:gsLst>
              <a:lin ang="2700000" scaled="1"/>
              <a:tileRect/>
            </a:gradFill>
          </a:ln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99" name="图片占位符 98"/>
          <p:cNvSpPr>
            <a:spLocks noGrp="1"/>
          </p:cNvSpPr>
          <p:nvPr>
            <p:ph type="pic" sz="quarter" idx="16"/>
          </p:nvPr>
        </p:nvSpPr>
        <p:spPr>
          <a:xfrm>
            <a:off x="6653292" y="1645829"/>
            <a:ext cx="1755000" cy="1755000"/>
          </a:xfrm>
          <a:custGeom>
            <a:avLst/>
            <a:gdLst>
              <a:gd name="connsiteX0" fmla="*/ 877500 w 1755000"/>
              <a:gd name="connsiteY0" fmla="*/ 0 h 1755000"/>
              <a:gd name="connsiteX1" fmla="*/ 1755000 w 1755000"/>
              <a:gd name="connsiteY1" fmla="*/ 877500 h 1755000"/>
              <a:gd name="connsiteX2" fmla="*/ 877500 w 1755000"/>
              <a:gd name="connsiteY2" fmla="*/ 1755000 h 1755000"/>
              <a:gd name="connsiteX3" fmla="*/ 0 w 1755000"/>
              <a:gd name="connsiteY3" fmla="*/ 877500 h 1755000"/>
              <a:gd name="connsiteX4" fmla="*/ 877500 w 1755000"/>
              <a:gd name="connsiteY4" fmla="*/ 0 h 1755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55000" h="1755000">
                <a:moveTo>
                  <a:pt x="877500" y="0"/>
                </a:moveTo>
                <a:cubicBezTo>
                  <a:pt x="1362130" y="0"/>
                  <a:pt x="1755000" y="392870"/>
                  <a:pt x="1755000" y="877500"/>
                </a:cubicBezTo>
                <a:cubicBezTo>
                  <a:pt x="1755000" y="1362130"/>
                  <a:pt x="1362130" y="1755000"/>
                  <a:pt x="877500" y="1755000"/>
                </a:cubicBezTo>
                <a:cubicBezTo>
                  <a:pt x="392870" y="1755000"/>
                  <a:pt x="0" y="1362130"/>
                  <a:pt x="0" y="877500"/>
                </a:cubicBezTo>
                <a:cubicBezTo>
                  <a:pt x="0" y="392870"/>
                  <a:pt x="392870" y="0"/>
                  <a:pt x="877500" y="0"/>
                </a:cubicBezTo>
                <a:close/>
              </a:path>
            </a:pathLst>
          </a:custGeom>
          <a:ln w="47625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00000">
                  <a:schemeClr val="accent1"/>
                </a:gs>
              </a:gsLst>
              <a:lin ang="2700000" scaled="1"/>
              <a:tileRect/>
            </a:gradFill>
          </a:ln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90" name="任意多边形: 形状 89"/>
          <p:cNvSpPr/>
          <p:nvPr userDrawn="1"/>
        </p:nvSpPr>
        <p:spPr bwMode="auto">
          <a:xfrm rot="5400000">
            <a:off x="93484" y="218081"/>
            <a:ext cx="1133344" cy="494119"/>
          </a:xfrm>
          <a:custGeom>
            <a:avLst/>
            <a:gdLst>
              <a:gd name="connsiteX0" fmla="*/ 0 w 4641513"/>
              <a:gd name="connsiteY0" fmla="*/ 0 h 2088000"/>
              <a:gd name="connsiteX1" fmla="*/ 3814008 w 4641513"/>
              <a:gd name="connsiteY1" fmla="*/ 0 h 2088000"/>
              <a:gd name="connsiteX2" fmla="*/ 4641513 w 4641513"/>
              <a:gd name="connsiteY2" fmla="*/ 1044000 h 2088000"/>
              <a:gd name="connsiteX3" fmla="*/ 3814008 w 4641513"/>
              <a:gd name="connsiteY3" fmla="*/ 2087999 h 2088000"/>
              <a:gd name="connsiteX4" fmla="*/ 3814008 w 4641513"/>
              <a:gd name="connsiteY4" fmla="*/ 2088000 h 2088000"/>
              <a:gd name="connsiteX5" fmla="*/ 0 w 4641513"/>
              <a:gd name="connsiteY5" fmla="*/ 2088000 h 208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641513" h="2088000">
                <a:moveTo>
                  <a:pt x="0" y="0"/>
                </a:moveTo>
                <a:lnTo>
                  <a:pt x="3814008" y="0"/>
                </a:lnTo>
                <a:lnTo>
                  <a:pt x="4641513" y="1044000"/>
                </a:lnTo>
                <a:lnTo>
                  <a:pt x="3814008" y="2087999"/>
                </a:lnTo>
                <a:lnTo>
                  <a:pt x="3814008" y="2088000"/>
                </a:lnTo>
                <a:lnTo>
                  <a:pt x="0" y="20880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noAutofit/>
          </a:bodyPr>
          <a:lstStyle/>
          <a:p>
            <a:pPr algn="ctr">
              <a:lnSpc>
                <a:spcPct val="130000"/>
              </a:lnSpc>
            </a:pPr>
            <a:endParaRPr lang="en-US" sz="4000" b="0" i="0" dirty="0">
              <a:solidFill>
                <a:schemeClr val="accent3"/>
              </a:solidFill>
              <a:latin typeface="Helvetica Regular" pitchFamily="2" charset="0"/>
              <a:cs typeface="+mn-ea"/>
              <a:sym typeface="+mn-lt"/>
            </a:endParaRPr>
          </a:p>
        </p:txBody>
      </p:sp>
      <p:sp>
        <p:nvSpPr>
          <p:cNvPr id="92" name="标题 1"/>
          <p:cNvSpPr>
            <a:spLocks noGrp="1"/>
          </p:cNvSpPr>
          <p:nvPr>
            <p:ph type="title" hasCustomPrompt="1"/>
          </p:nvPr>
        </p:nvSpPr>
        <p:spPr>
          <a:xfrm>
            <a:off x="1091255" y="237834"/>
            <a:ext cx="8168208" cy="790865"/>
          </a:xfrm>
        </p:spPr>
        <p:txBody>
          <a:bodyPr wrap="square" lIns="0" tIns="0" rIns="0" bIns="0">
            <a:normAutofit/>
          </a:bodyPr>
          <a:lstStyle>
            <a:lvl1pPr>
              <a:defRPr sz="3600" b="1">
                <a:solidFill>
                  <a:schemeClr val="accent1"/>
                </a:solidFill>
                <a:latin typeface="Helvetica" pitchFamily="2" charset="0"/>
              </a:defRPr>
            </a:lvl1pPr>
          </a:lstStyle>
          <a:p>
            <a:r>
              <a:rPr lang="en-US" altLang="zh-CN" dirty="0"/>
              <a:t>Here</a:t>
            </a:r>
            <a:r>
              <a:rPr lang="zh-CN" altLang="en-US" dirty="0"/>
              <a:t> </a:t>
            </a:r>
            <a:r>
              <a:rPr lang="en-US" altLang="zh-CN" dirty="0"/>
              <a:t>is</a:t>
            </a:r>
            <a:r>
              <a:rPr lang="zh-CN" altLang="en-US" dirty="0"/>
              <a:t> </a:t>
            </a:r>
            <a:r>
              <a:rPr lang="en-US" altLang="zh-CN" dirty="0"/>
              <a:t>title</a:t>
            </a:r>
            <a:r>
              <a:rPr lang="zh-CN" altLang="en-US" dirty="0"/>
              <a:t> </a:t>
            </a:r>
            <a:r>
              <a:rPr lang="en-US" altLang="zh-CN" dirty="0"/>
              <a:t>(Helvetica</a:t>
            </a:r>
            <a:r>
              <a:rPr lang="zh-CN" altLang="en-US" dirty="0"/>
              <a:t> </a:t>
            </a:r>
            <a:r>
              <a:rPr lang="en-US" altLang="zh-CN" dirty="0"/>
              <a:t>/</a:t>
            </a:r>
            <a:r>
              <a:rPr lang="zh-CN" altLang="en-US" dirty="0"/>
              <a:t> </a:t>
            </a:r>
            <a:r>
              <a:rPr lang="en-US" altLang="zh-CN" dirty="0"/>
              <a:t>Arial</a:t>
            </a:r>
            <a:r>
              <a:rPr lang="zh-CN" altLang="en-US" dirty="0"/>
              <a:t> </a:t>
            </a:r>
            <a:r>
              <a:rPr lang="en-US" altLang="zh-CN" dirty="0"/>
              <a:t>36Pt)</a:t>
            </a:r>
            <a:endParaRPr lang="zh-CN" altLang="en-US" dirty="0"/>
          </a:p>
        </p:txBody>
      </p:sp>
      <p:pic>
        <p:nvPicPr>
          <p:cNvPr id="93" name="图片 9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44128" y="6420492"/>
            <a:ext cx="958362" cy="236837"/>
          </a:xfrm>
          <a:prstGeom prst="rect">
            <a:avLst/>
          </a:prstGeom>
        </p:spPr>
      </p:pic>
      <p:pic>
        <p:nvPicPr>
          <p:cNvPr id="97" name="图片 96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966201" y="381027"/>
            <a:ext cx="1552699" cy="49497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结束页 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占位符 6"/>
          <p:cNvSpPr>
            <a:spLocks noGrp="1"/>
          </p:cNvSpPr>
          <p:nvPr>
            <p:ph type="body" sz="quarter" idx="10" hasCustomPrompt="1"/>
          </p:nvPr>
        </p:nvSpPr>
        <p:spPr>
          <a:xfrm>
            <a:off x="3735420" y="2971800"/>
            <a:ext cx="7783479" cy="914400"/>
          </a:xfrm>
        </p:spPr>
        <p:txBody>
          <a:bodyPr anchor="ctr" anchorCtr="0">
            <a:normAutofit/>
          </a:bodyPr>
          <a:lstStyle>
            <a:lvl1pPr marL="0" indent="0" algn="ctr">
              <a:buNone/>
              <a:defRPr sz="5400" b="1">
                <a:solidFill>
                  <a:schemeClr val="accent1"/>
                </a:solidFill>
                <a:latin typeface="Helvetica" pitchFamily="2" charset="0"/>
              </a:defRPr>
            </a:lvl1pPr>
          </a:lstStyle>
          <a:p>
            <a:pPr lvl="0"/>
            <a:r>
              <a:rPr lang="en-US" altLang="zh-CN" dirty="0"/>
              <a:t>Here</a:t>
            </a:r>
            <a:r>
              <a:rPr lang="zh-CN" altLang="en-US" dirty="0"/>
              <a:t> </a:t>
            </a:r>
            <a:r>
              <a:rPr lang="en-US" altLang="zh-CN" dirty="0"/>
              <a:t>is</a:t>
            </a:r>
            <a:r>
              <a:rPr lang="zh-CN" altLang="en-US" dirty="0"/>
              <a:t> </a:t>
            </a:r>
            <a:r>
              <a:rPr lang="en-US" altLang="zh-CN" dirty="0"/>
              <a:t>text</a:t>
            </a:r>
            <a:r>
              <a:rPr lang="zh-CN" altLang="en-US" dirty="0"/>
              <a:t> </a:t>
            </a:r>
            <a:endParaRPr lang="en-US" altLang="zh-CN" dirty="0"/>
          </a:p>
          <a:p>
            <a:pPr lvl="0"/>
            <a:r>
              <a:rPr lang="en-US" altLang="zh-CN" dirty="0"/>
              <a:t>(Helvetica</a:t>
            </a:r>
            <a:r>
              <a:rPr lang="zh-CN" altLang="en-US" dirty="0"/>
              <a:t> </a:t>
            </a:r>
            <a:r>
              <a:rPr lang="en-US" altLang="zh-CN" dirty="0"/>
              <a:t>/</a:t>
            </a:r>
            <a:r>
              <a:rPr lang="zh-CN" altLang="en-US" dirty="0"/>
              <a:t> </a:t>
            </a:r>
            <a:r>
              <a:rPr lang="en-US" altLang="zh-CN" dirty="0"/>
              <a:t>Arial</a:t>
            </a:r>
            <a:r>
              <a:rPr lang="zh-CN" altLang="en-US" dirty="0"/>
              <a:t> </a:t>
            </a:r>
            <a:r>
              <a:rPr lang="en-US" altLang="zh-CN" dirty="0"/>
              <a:t>36Pt)</a:t>
            </a:r>
            <a:endParaRPr lang="zh-CN" altLang="en-US" dirty="0"/>
          </a:p>
        </p:txBody>
      </p:sp>
      <p:sp>
        <p:nvSpPr>
          <p:cNvPr id="6" name="箭头: 五边形 5"/>
          <p:cNvSpPr/>
          <p:nvPr userDrawn="1"/>
        </p:nvSpPr>
        <p:spPr>
          <a:xfrm rot="16200000">
            <a:off x="10605854" y="5156200"/>
            <a:ext cx="2879387" cy="3403600"/>
          </a:xfrm>
          <a:prstGeom prst="homePlate">
            <a:avLst>
              <a:gd name="adj" fmla="val 10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0" i="0" dirty="0">
              <a:latin typeface="Helvetica Regular" pitchFamily="2" charset="0"/>
            </a:endParaRPr>
          </a:p>
        </p:txBody>
      </p:sp>
      <p:sp>
        <p:nvSpPr>
          <p:cNvPr id="8" name="箭头: 五边形 7"/>
          <p:cNvSpPr/>
          <p:nvPr userDrawn="1"/>
        </p:nvSpPr>
        <p:spPr>
          <a:xfrm>
            <a:off x="-2680781" y="0"/>
            <a:ext cx="5753100" cy="9620654"/>
          </a:xfrm>
          <a:prstGeom prst="homePlate">
            <a:avLst>
              <a:gd name="adj" fmla="val 50862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0" i="0" dirty="0">
              <a:latin typeface="Helvetica Regular" pitchFamily="2" charset="0"/>
            </a:endParaRPr>
          </a:p>
        </p:txBody>
      </p:sp>
      <p:sp>
        <p:nvSpPr>
          <p:cNvPr id="5" name="箭头: 五边形 4"/>
          <p:cNvSpPr/>
          <p:nvPr userDrawn="1"/>
        </p:nvSpPr>
        <p:spPr>
          <a:xfrm rot="5400000">
            <a:off x="7310335" y="-1872573"/>
            <a:ext cx="2616740" cy="4241259"/>
          </a:xfrm>
          <a:prstGeom prst="homePlate">
            <a:avLst>
              <a:gd name="adj" fmla="val 10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0" i="0" dirty="0">
              <a:latin typeface="Helvetica Regular" pitchFamily="2" charset="0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结束页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椭圆 5"/>
          <p:cNvSpPr/>
          <p:nvPr userDrawn="1"/>
        </p:nvSpPr>
        <p:spPr>
          <a:xfrm>
            <a:off x="-2319371" y="4211980"/>
            <a:ext cx="5113371" cy="5113371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0" i="0" dirty="0">
              <a:latin typeface="Helvetica Regular" pitchFamily="2" charset="0"/>
              <a:cs typeface="+mn-ea"/>
              <a:sym typeface="+mn-lt"/>
            </a:endParaRPr>
          </a:p>
        </p:txBody>
      </p:sp>
      <p:sp>
        <p:nvSpPr>
          <p:cNvPr id="7" name="椭圆 6"/>
          <p:cNvSpPr/>
          <p:nvPr userDrawn="1"/>
        </p:nvSpPr>
        <p:spPr>
          <a:xfrm>
            <a:off x="10560051" y="-2647819"/>
            <a:ext cx="4418254" cy="4418254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0" i="0" dirty="0">
              <a:latin typeface="Helvetica Regular" pitchFamily="2" charset="0"/>
              <a:cs typeface="+mn-ea"/>
              <a:sym typeface="+mn-lt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0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60400" y="217487"/>
            <a:ext cx="10858500" cy="811213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60400" y="1130300"/>
            <a:ext cx="10858500" cy="5003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604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0" i="0">
                <a:solidFill>
                  <a:schemeClr val="tx1">
                    <a:tint val="75000"/>
                  </a:schemeClr>
                </a:solidFill>
                <a:latin typeface="Helvetica Regular" pitchFamily="2" charset="0"/>
              </a:defRPr>
            </a:lvl1pPr>
          </a:lstStyle>
          <a:p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0" i="0">
                <a:solidFill>
                  <a:schemeClr val="tx1">
                    <a:tint val="75000"/>
                  </a:schemeClr>
                </a:solidFill>
                <a:latin typeface="Helvetica Regular" pitchFamily="2" charset="0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775700" y="635634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 i="0">
                <a:solidFill>
                  <a:schemeClr val="tx1">
                    <a:tint val="75000"/>
                  </a:schemeClr>
                </a:solidFill>
                <a:latin typeface="Helvetica Regular" pitchFamily="2" charset="0"/>
              </a:defRPr>
            </a:lvl1pPr>
          </a:lstStyle>
          <a:p>
            <a:fld id="{2515AB8F-1C56-49E9-90C8-78D22B0C1B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椭圆 6"/>
          <p:cNvSpPr/>
          <p:nvPr userDrawn="1"/>
        </p:nvSpPr>
        <p:spPr>
          <a:xfrm>
            <a:off x="4749800" y="-4572000"/>
            <a:ext cx="1168400" cy="811213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0" i="0" dirty="0">
              <a:latin typeface="Helvetica Regular" pitchFamily="2" charset="0"/>
            </a:endParaRPr>
          </a:p>
        </p:txBody>
      </p:sp>
      <p:sp>
        <p:nvSpPr>
          <p:cNvPr id="8" name="椭圆 7"/>
          <p:cNvSpPr/>
          <p:nvPr userDrawn="1"/>
        </p:nvSpPr>
        <p:spPr>
          <a:xfrm>
            <a:off x="4572000" y="9093200"/>
            <a:ext cx="1168400" cy="811213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0" i="0" dirty="0">
              <a:latin typeface="Helvetica Regular" pitchFamily="2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b="0" i="0" kern="1200">
          <a:solidFill>
            <a:schemeClr val="tx1"/>
          </a:solidFill>
          <a:latin typeface="Helvetica Regular" pitchFamily="2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b="0" i="0" kern="1200">
          <a:solidFill>
            <a:schemeClr val="tx1"/>
          </a:solidFill>
          <a:latin typeface="Helvetica Regular" pitchFamily="2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b="0" i="0" kern="1200">
          <a:solidFill>
            <a:schemeClr val="tx1"/>
          </a:solidFill>
          <a:latin typeface="Helvetica Regular" pitchFamily="2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b="0" i="0" kern="1200">
          <a:solidFill>
            <a:schemeClr val="tx1"/>
          </a:solidFill>
          <a:latin typeface="Helvetica Regular" pitchFamily="2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b="0" i="0" kern="1200">
          <a:solidFill>
            <a:schemeClr val="tx1"/>
          </a:solidFill>
          <a:latin typeface="Helvetica Regular" pitchFamily="2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4.xml"/><Relationship Id="rId7" Type="http://schemas.openxmlformats.org/officeDocument/2006/relationships/slideLayout" Target="../slideLayouts/slideLayout11.xml"/><Relationship Id="rId6" Type="http://schemas.openxmlformats.org/officeDocument/2006/relationships/image" Target="../media/image7.jpeg"/><Relationship Id="rId5" Type="http://schemas.openxmlformats.org/officeDocument/2006/relationships/image" Target="../media/image6.jpeg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image" Target="../media/image5.jpe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11.xml"/><Relationship Id="rId2" Type="http://schemas.openxmlformats.org/officeDocument/2006/relationships/image" Target="../media/image9.png"/><Relationship Id="rId1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.xml"/><Relationship Id="rId3" Type="http://schemas.openxmlformats.org/officeDocument/2006/relationships/slideLayout" Target="../slideLayouts/slideLayout11.xml"/><Relationship Id="rId2" Type="http://schemas.openxmlformats.org/officeDocument/2006/relationships/hyperlink" Target="https://www.cs.cornell.edu/courses/cs5150/2022sp/" TargetMode="External"/><Relationship Id="rId1" Type="http://schemas.openxmlformats.org/officeDocument/2006/relationships/hyperlink" Target="https://www.bilibili.com/video/BV16g411M7r2?p=1" TargetMode="Externa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1.xml"/><Relationship Id="rId1" Type="http://schemas.openxmlformats.org/officeDocument/2006/relationships/tags" Target="../tags/tag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1.xml"/><Relationship Id="rId1" Type="http://schemas.openxmlformats.org/officeDocument/2006/relationships/image" Target="../media/image10.jpe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0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1.xml"/><Relationship Id="rId1" Type="http://schemas.openxmlformats.org/officeDocument/2006/relationships/image" Target="../media/image11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0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1.xml"/><Relationship Id="rId1" Type="http://schemas.openxmlformats.org/officeDocument/2006/relationships/image" Target="../media/image12.png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1"/>
          <p:cNvSpPr txBox="1"/>
          <p:nvPr/>
        </p:nvSpPr>
        <p:spPr>
          <a:xfrm>
            <a:off x="3791712" y="1239205"/>
            <a:ext cx="8191129" cy="2189795"/>
          </a:xfrm>
          <a:prstGeom prst="rect">
            <a:avLst/>
          </a:prstGeom>
        </p:spPr>
        <p:txBody>
          <a:bodyPr lIns="0" rIns="0" anchor="ctr" anchorCtr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9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lnSpc>
                <a:spcPct val="100000"/>
              </a:lnSpc>
              <a:buNone/>
            </a:pPr>
            <a:r>
              <a:rPr lang="en-US" sz="4000" b="1" dirty="0">
                <a:solidFill>
                  <a:schemeClr val="accent1"/>
                </a:solidFill>
                <a:latin typeface="Helvetica" pitchFamily="2" charset="0"/>
                <a:cs typeface="Arial" panose="020B0604020202090204" pitchFamily="34" charset="0"/>
              </a:rPr>
              <a:t>B09S0061 </a:t>
            </a:r>
            <a:r>
              <a:rPr lang="zh-CN" altLang="en-US" sz="4000" b="1" dirty="0">
                <a:solidFill>
                  <a:schemeClr val="accent1"/>
                </a:solidFill>
                <a:latin typeface="Helvetica" pitchFamily="2" charset="0"/>
                <a:cs typeface="Arial" panose="020B0604020202090204" pitchFamily="34" charset="0"/>
                <a:sym typeface="+mn-lt"/>
              </a:rPr>
              <a:t>软件工程</a:t>
            </a:r>
            <a:endParaRPr lang="zh-CN" altLang="en-US" sz="4000" b="1" dirty="0">
              <a:solidFill>
                <a:schemeClr val="accent1"/>
              </a:solidFill>
              <a:latin typeface="Helvetica" pitchFamily="2" charset="0"/>
              <a:cs typeface="Arial" panose="020B0604020202090204" pitchFamily="34" charset="0"/>
              <a:sym typeface="+mn-lt"/>
            </a:endParaRPr>
          </a:p>
          <a:p>
            <a:pPr marL="0" indent="0" algn="r">
              <a:lnSpc>
                <a:spcPct val="100000"/>
              </a:lnSpc>
              <a:buNone/>
            </a:pPr>
            <a:r>
              <a:rPr lang="zh-CN" altLang="en-US" sz="4000" b="1" dirty="0">
                <a:solidFill>
                  <a:schemeClr val="accent1"/>
                </a:solidFill>
                <a:latin typeface="Helvetica" pitchFamily="2" charset="0"/>
                <a:cs typeface="Arial" panose="020B0604020202090204" pitchFamily="34" charset="0"/>
                <a:sym typeface="+mn-lt"/>
              </a:rPr>
              <a:t>第</a:t>
            </a:r>
            <a:r>
              <a:rPr lang="en-US" altLang="zh-CN" sz="4000" b="1" dirty="0">
                <a:solidFill>
                  <a:schemeClr val="accent1"/>
                </a:solidFill>
                <a:latin typeface="Helvetica" pitchFamily="2" charset="0"/>
                <a:cs typeface="Arial" panose="020B0604020202090204" pitchFamily="34" charset="0"/>
                <a:sym typeface="+mn-lt"/>
              </a:rPr>
              <a:t> 1 </a:t>
            </a:r>
            <a:r>
              <a:rPr lang="zh-CN" altLang="en-US" sz="4000" b="1" dirty="0">
                <a:solidFill>
                  <a:schemeClr val="accent1"/>
                </a:solidFill>
                <a:latin typeface="Helvetica" pitchFamily="2" charset="0"/>
                <a:cs typeface="Arial" panose="020B0604020202090204" pitchFamily="34" charset="0"/>
                <a:sym typeface="+mn-lt"/>
              </a:rPr>
              <a:t>讲</a:t>
            </a:r>
            <a:endParaRPr lang="zh-CN" altLang="en-US" sz="4000" b="1" dirty="0">
              <a:solidFill>
                <a:schemeClr val="accent1"/>
              </a:solidFill>
              <a:latin typeface="Helvetica" pitchFamily="2" charset="0"/>
              <a:cs typeface="Arial" panose="020B0604020202090204" pitchFamily="34" charset="0"/>
              <a:sym typeface="+mn-lt"/>
            </a:endParaRPr>
          </a:p>
        </p:txBody>
      </p:sp>
      <p:sp>
        <p:nvSpPr>
          <p:cNvPr id="64" name="矩形 63"/>
          <p:cNvSpPr/>
          <p:nvPr/>
        </p:nvSpPr>
        <p:spPr>
          <a:xfrm>
            <a:off x="8750859" y="4819809"/>
            <a:ext cx="3003067" cy="650875"/>
          </a:xfrm>
          <a:prstGeom prst="rect">
            <a:avLst/>
          </a:prstGeom>
        </p:spPr>
        <p:txBody>
          <a:bodyPr wrap="square" lIns="0" rIns="0">
            <a:spAutoFit/>
          </a:bodyPr>
          <a:lstStyle/>
          <a:p>
            <a:pPr algn="r">
              <a:lnSpc>
                <a:spcPct val="130000"/>
              </a:lnSpc>
            </a:pPr>
            <a:r>
              <a:rPr lang="en-US" altLang="zh-CN" sz="2800" dirty="0">
                <a:solidFill>
                  <a:schemeClr val="accent1"/>
                </a:solidFill>
                <a:latin typeface="Helvetica" pitchFamily="2" charset="0"/>
                <a:cs typeface="Arial" panose="020B0604020202090204" pitchFamily="34" charset="0"/>
                <a:sym typeface="+mn-lt"/>
              </a:rPr>
              <a:t>2026/03/05</a:t>
            </a:r>
            <a:endParaRPr lang="zh-CN" altLang="en-US" sz="2800" dirty="0">
              <a:solidFill>
                <a:schemeClr val="accent1"/>
              </a:solidFill>
              <a:latin typeface="Helvetica" pitchFamily="2" charset="0"/>
              <a:cs typeface="Arial" panose="020B0604020202090204" pitchFamily="34" charset="0"/>
              <a:sym typeface="+mn-lt"/>
            </a:endParaRPr>
          </a:p>
        </p:txBody>
      </p:sp>
      <p:sp>
        <p:nvSpPr>
          <p:cNvPr id="67" name="矩形 66"/>
          <p:cNvSpPr/>
          <p:nvPr/>
        </p:nvSpPr>
        <p:spPr>
          <a:xfrm>
            <a:off x="5002654" y="4381010"/>
            <a:ext cx="6751272" cy="6508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30000"/>
              </a:lnSpc>
            </a:pPr>
            <a:r>
              <a:rPr lang="zh-CN" altLang="en-US" sz="2800" dirty="0">
                <a:solidFill>
                  <a:schemeClr val="accent1"/>
                </a:solidFill>
                <a:latin typeface="Helvetica" pitchFamily="2" charset="0"/>
                <a:cs typeface="Arial" panose="020B0604020202090204" pitchFamily="34" charset="0"/>
                <a:sym typeface="+mn-lt"/>
              </a:rPr>
              <a:t>授课教师：刘光迟</a:t>
            </a:r>
            <a:endParaRPr lang="zh-CN" altLang="en-US" sz="2800" dirty="0">
              <a:solidFill>
                <a:schemeClr val="accent1"/>
              </a:solidFill>
              <a:latin typeface="Helvetica" pitchFamily="2" charset="0"/>
              <a:cs typeface="Arial" panose="020B0604020202090204" pitchFamily="34" charset="0"/>
              <a:sym typeface="+mn-lt"/>
            </a:endParaRPr>
          </a:p>
        </p:txBody>
      </p:sp>
      <p:cxnSp>
        <p:nvCxnSpPr>
          <p:cNvPr id="3" name="直接连接符 2"/>
          <p:cNvCxnSpPr/>
          <p:nvPr/>
        </p:nvCxnSpPr>
        <p:spPr>
          <a:xfrm>
            <a:off x="11842946" y="4575127"/>
            <a:ext cx="0" cy="752777"/>
          </a:xfrm>
          <a:prstGeom prst="line">
            <a:avLst/>
          </a:prstGeom>
          <a:ln w="50800" cmpd="thickThin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1335087" y="3977885"/>
            <a:ext cx="9521825" cy="644144"/>
          </a:xfrm>
          <a:prstGeom prst="rect">
            <a:avLst/>
          </a:prstGeom>
        </p:spPr>
        <p:txBody>
          <a:bodyPr wrap="square">
            <a:normAutofit lnSpcReduction="10000"/>
          </a:bodyPr>
          <a:lstStyle/>
          <a:p>
            <a:pPr algn="ctr"/>
            <a:r>
              <a:rPr lang="zh-CN" altLang="en-US" sz="4000" b="1" dirty="0">
                <a:solidFill>
                  <a:schemeClr val="accent1"/>
                </a:solidFill>
                <a:latin typeface="Helvetica" pitchFamily="2" charset="0"/>
                <a:cs typeface="+mn-ea"/>
                <a:sym typeface="+mn-lt"/>
              </a:rPr>
              <a:t>课程介绍与教学大纲</a:t>
            </a:r>
            <a:endParaRPr lang="zh-CN" altLang="en-US" sz="4000" b="1" dirty="0">
              <a:solidFill>
                <a:schemeClr val="accent1"/>
              </a:solidFill>
              <a:latin typeface="Helvetica" pitchFamily="2" charset="0"/>
              <a:cs typeface="+mn-ea"/>
              <a:sym typeface="+mn-lt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4819048" y="1319889"/>
            <a:ext cx="2553904" cy="2646878"/>
            <a:chOff x="5865211" y="1319889"/>
            <a:chExt cx="2553904" cy="2646878"/>
          </a:xfrm>
        </p:grpSpPr>
        <p:sp>
          <p:nvSpPr>
            <p:cNvPr id="2" name="文本框 1"/>
            <p:cNvSpPr txBox="1"/>
            <p:nvPr/>
          </p:nvSpPr>
          <p:spPr>
            <a:xfrm>
              <a:off x="5865211" y="1319889"/>
              <a:ext cx="2553904" cy="264687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6600" dirty="0">
                  <a:solidFill>
                    <a:schemeClr val="accent1"/>
                  </a:solidFill>
                  <a:latin typeface="Helvetica" pitchFamily="2" charset="0"/>
                  <a:cs typeface="+mn-ea"/>
                  <a:sym typeface="+mn-lt"/>
                </a:rPr>
                <a:t>01</a:t>
              </a:r>
              <a:endParaRPr lang="zh-CN" altLang="en-US" sz="16600" dirty="0">
                <a:solidFill>
                  <a:schemeClr val="accent1"/>
                </a:solidFill>
                <a:latin typeface="Helvetica" pitchFamily="2" charset="0"/>
                <a:cs typeface="+mn-ea"/>
                <a:sym typeface="+mn-lt"/>
              </a:endParaRPr>
            </a:p>
          </p:txBody>
        </p:sp>
        <p:sp>
          <p:nvSpPr>
            <p:cNvPr id="3" name="文本框 2"/>
            <p:cNvSpPr txBox="1"/>
            <p:nvPr/>
          </p:nvSpPr>
          <p:spPr>
            <a:xfrm>
              <a:off x="5865211" y="2574748"/>
              <a:ext cx="2553904" cy="460375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algn="dist"/>
              <a:r>
                <a:rPr lang="zh-CN" altLang="en-US" sz="2400" dirty="0">
                  <a:solidFill>
                    <a:schemeClr val="accent1"/>
                  </a:solidFill>
                  <a:latin typeface="Helvetica" pitchFamily="2" charset="0"/>
                  <a:cs typeface="Arial" panose="020B0604020202090204" pitchFamily="34" charset="0"/>
                  <a:sym typeface="+mn-lt"/>
                </a:rPr>
                <a:t>第一部分</a:t>
              </a:r>
              <a:r>
                <a:rPr lang="en-US" altLang="zh-CN" sz="2400" dirty="0">
                  <a:solidFill>
                    <a:schemeClr val="accent1"/>
                  </a:solidFill>
                  <a:latin typeface="Helvetica" pitchFamily="2" charset="0"/>
                  <a:cs typeface="Arial" panose="020B0604020202090204" pitchFamily="34" charset="0"/>
                  <a:sym typeface="+mn-lt"/>
                </a:rPr>
                <a:t> </a:t>
              </a:r>
              <a:endParaRPr lang="zh-CN" altLang="en-US" sz="2400" dirty="0">
                <a:solidFill>
                  <a:schemeClr val="accent1"/>
                </a:solidFill>
                <a:latin typeface="Helvetica" pitchFamily="2" charset="0"/>
                <a:cs typeface="Arial" panose="020B0604020202090204" pitchFamily="34" charset="0"/>
                <a:sym typeface="+mn-lt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091255" y="0"/>
            <a:ext cx="8168208" cy="790865"/>
          </a:xfrm>
        </p:spPr>
        <p:txBody>
          <a:bodyPr/>
          <a:lstStyle/>
          <a:p>
            <a:r>
              <a:rPr lang="zh-CN" altLang="en-US" dirty="0">
                <a:ea typeface="+mn-ea"/>
                <a:cs typeface="+mn-ea"/>
                <a:sym typeface="+mn-lt"/>
              </a:rPr>
              <a:t>关于授课教师</a:t>
            </a:r>
            <a:endParaRPr lang="zh-CN" altLang="en-US" dirty="0">
              <a:ea typeface="+mn-ea"/>
              <a:cs typeface="+mn-ea"/>
              <a:sym typeface="+mn-lt"/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>
          <a:xfrm>
            <a:off x="8746825" y="6356349"/>
            <a:ext cx="2743200" cy="365125"/>
          </a:xfrm>
        </p:spPr>
        <p:txBody>
          <a:bodyPr/>
          <a:lstStyle/>
          <a:p>
            <a:fld id="{2515AB8F-1C56-49E9-90C8-78D22B0C1B97}" type="slidenum">
              <a:rPr lang="zh-CN" altLang="en-US" smtClean="0">
                <a:cs typeface="+mn-ea"/>
                <a:sym typeface="+mn-lt"/>
              </a:rPr>
            </a:fld>
            <a:endParaRPr lang="zh-CN" altLang="en-US">
              <a:cs typeface="+mn-ea"/>
              <a:sym typeface="+mn-lt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015160" y="2139333"/>
            <a:ext cx="9710858" cy="21228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zh-CN" altLang="en-US" sz="1600" dirty="0">
                <a:cs typeface="Arial" panose="020B0604020202090204" pitchFamily="34" charset="0"/>
              </a:rPr>
              <a:t>职业经历</a:t>
            </a:r>
            <a:endParaRPr lang="zh-CN" altLang="en-US" sz="1600" dirty="0">
              <a:cs typeface="Arial" panose="020B0604020202090204" pitchFamily="34" charset="0"/>
            </a:endParaRPr>
          </a:p>
          <a:p>
            <a:pPr>
              <a:defRPr/>
            </a:pPr>
            <a:r>
              <a:rPr lang="en-US" altLang="zh-CN" sz="1600" dirty="0">
                <a:cs typeface="Arial" panose="020B0604020202090204" pitchFamily="34" charset="0"/>
              </a:rPr>
              <a:t>2023 </a:t>
            </a:r>
            <a:r>
              <a:rPr lang="zh-CN" altLang="en-US" sz="1600" dirty="0">
                <a:cs typeface="Arial" panose="020B0604020202090204" pitchFamily="34" charset="0"/>
              </a:rPr>
              <a:t>年</a:t>
            </a:r>
            <a:r>
              <a:rPr lang="en-US" altLang="zh-CN" sz="1600" dirty="0">
                <a:cs typeface="Arial" panose="020B0604020202090204" pitchFamily="34" charset="0"/>
              </a:rPr>
              <a:t> 7 </a:t>
            </a:r>
            <a:r>
              <a:rPr lang="zh-CN" altLang="en-US" sz="1600" dirty="0">
                <a:cs typeface="Arial" panose="020B0604020202090204" pitchFamily="34" charset="0"/>
              </a:rPr>
              <a:t>月</a:t>
            </a:r>
            <a:r>
              <a:rPr lang="en-US" altLang="zh-CN" sz="1600" dirty="0">
                <a:cs typeface="Arial" panose="020B0604020202090204" pitchFamily="34" charset="0"/>
              </a:rPr>
              <a:t> - </a:t>
            </a:r>
            <a:r>
              <a:rPr lang="zh-CN" altLang="en-US" sz="1600" dirty="0">
                <a:cs typeface="Arial" panose="020B0604020202090204" pitchFamily="34" charset="0"/>
              </a:rPr>
              <a:t>至今：中国</a:t>
            </a:r>
            <a:r>
              <a:rPr lang="en-US" altLang="zh-CN" sz="1600" dirty="0">
                <a:cs typeface="Arial" panose="020B0604020202090204" pitchFamily="34" charset="0"/>
              </a:rPr>
              <a:t> </a:t>
            </a:r>
            <a:r>
              <a:rPr lang="zh-CN" altLang="en-US" sz="1600" dirty="0">
                <a:cs typeface="Arial" panose="020B0604020202090204" pitchFamily="34" charset="0"/>
              </a:rPr>
              <a:t>东南大学</a:t>
            </a:r>
            <a:r>
              <a:rPr lang="en-US" altLang="zh-CN" sz="1600" dirty="0">
                <a:cs typeface="Arial" panose="020B0604020202090204" pitchFamily="34" charset="0"/>
              </a:rPr>
              <a:t> </a:t>
            </a:r>
            <a:r>
              <a:rPr lang="zh-CN" altLang="en-US" sz="1600" dirty="0">
                <a:cs typeface="Arial" panose="020B0604020202090204" pitchFamily="34" charset="0"/>
              </a:rPr>
              <a:t>教授</a:t>
            </a:r>
            <a:endParaRPr lang="zh-CN" altLang="en-US" sz="1600" dirty="0">
              <a:cs typeface="Arial" panose="020B0604020202090204" pitchFamily="34" charset="0"/>
            </a:endParaRPr>
          </a:p>
          <a:p>
            <a:pPr>
              <a:defRPr/>
            </a:pPr>
            <a:r>
              <a:rPr lang="en-US" altLang="zh-CN" sz="1600" dirty="0">
                <a:cs typeface="Arial" panose="020B0604020202090204" pitchFamily="34" charset="0"/>
              </a:rPr>
              <a:t>2022 </a:t>
            </a:r>
            <a:r>
              <a:rPr lang="zh-CN" altLang="en-US" sz="1600" dirty="0">
                <a:cs typeface="Arial" panose="020B0604020202090204" pitchFamily="34" charset="0"/>
              </a:rPr>
              <a:t>年</a:t>
            </a:r>
            <a:r>
              <a:rPr lang="en-US" altLang="zh-CN" sz="1600" dirty="0">
                <a:cs typeface="Arial" panose="020B0604020202090204" pitchFamily="34" charset="0"/>
              </a:rPr>
              <a:t> 8 </a:t>
            </a:r>
            <a:r>
              <a:rPr lang="zh-CN" altLang="en-US" sz="1600" dirty="0">
                <a:cs typeface="Arial" panose="020B0604020202090204" pitchFamily="34" charset="0"/>
              </a:rPr>
              <a:t>月</a:t>
            </a:r>
            <a:r>
              <a:rPr lang="en-US" altLang="zh-CN" sz="1600" dirty="0">
                <a:cs typeface="Arial" panose="020B0604020202090204" pitchFamily="34" charset="0"/>
              </a:rPr>
              <a:t> - 2023 </a:t>
            </a:r>
            <a:r>
              <a:rPr lang="zh-CN" altLang="en-US" sz="1600" dirty="0">
                <a:cs typeface="Arial" panose="020B0604020202090204" pitchFamily="34" charset="0"/>
              </a:rPr>
              <a:t>年</a:t>
            </a:r>
            <a:r>
              <a:rPr lang="en-US" altLang="zh-CN" sz="1600" dirty="0">
                <a:cs typeface="Arial" panose="020B0604020202090204" pitchFamily="34" charset="0"/>
              </a:rPr>
              <a:t> 6 </a:t>
            </a:r>
            <a:r>
              <a:rPr lang="zh-CN" altLang="en-US" sz="1600" dirty="0">
                <a:cs typeface="Arial" panose="020B0604020202090204" pitchFamily="34" charset="0"/>
              </a:rPr>
              <a:t>月：美国</a:t>
            </a:r>
            <a:r>
              <a:rPr lang="en-US" altLang="zh-CN" sz="1600" dirty="0">
                <a:cs typeface="Arial" panose="020B0604020202090204" pitchFamily="34" charset="0"/>
              </a:rPr>
              <a:t> </a:t>
            </a:r>
            <a:r>
              <a:rPr lang="zh-CN" altLang="en-US" sz="1600" dirty="0">
                <a:cs typeface="Arial" panose="020B0604020202090204" pitchFamily="34" charset="0"/>
              </a:rPr>
              <a:t>肯尼索州立大学</a:t>
            </a:r>
            <a:r>
              <a:rPr lang="en-US" altLang="zh-CN" sz="1600" dirty="0">
                <a:cs typeface="Arial" panose="020B0604020202090204" pitchFamily="34" charset="0"/>
              </a:rPr>
              <a:t> </a:t>
            </a:r>
            <a:r>
              <a:rPr lang="zh-CN" altLang="en-US" sz="1600" dirty="0">
                <a:cs typeface="Arial" panose="020B0604020202090204" pitchFamily="34" charset="0"/>
              </a:rPr>
              <a:t>助理教授</a:t>
            </a:r>
            <a:endParaRPr lang="zh-CN" altLang="en-US" sz="1600" dirty="0">
              <a:cs typeface="Arial" panose="020B0604020202090204" pitchFamily="34" charset="0"/>
            </a:endParaRPr>
          </a:p>
          <a:p>
            <a:pPr>
              <a:defRPr/>
            </a:pPr>
            <a:r>
              <a:rPr lang="en-US" altLang="zh-CN" sz="1600" dirty="0">
                <a:cs typeface="Arial" panose="020B0604020202090204" pitchFamily="34" charset="0"/>
              </a:rPr>
              <a:t>2017 </a:t>
            </a:r>
            <a:r>
              <a:rPr lang="zh-CN" altLang="en-US" sz="1600" dirty="0">
                <a:cs typeface="Arial" panose="020B0604020202090204" pitchFamily="34" charset="0"/>
              </a:rPr>
              <a:t>年</a:t>
            </a:r>
            <a:r>
              <a:rPr lang="en-US" altLang="zh-CN" sz="1600" dirty="0">
                <a:cs typeface="Arial" panose="020B0604020202090204" pitchFamily="34" charset="0"/>
              </a:rPr>
              <a:t> 6 </a:t>
            </a:r>
            <a:r>
              <a:rPr lang="zh-CN" altLang="en-US" sz="1600" dirty="0">
                <a:cs typeface="Arial" panose="020B0604020202090204" pitchFamily="34" charset="0"/>
              </a:rPr>
              <a:t>月</a:t>
            </a:r>
            <a:r>
              <a:rPr lang="en-US" altLang="zh-CN" sz="1600" dirty="0">
                <a:cs typeface="Arial" panose="020B0604020202090204" pitchFamily="34" charset="0"/>
              </a:rPr>
              <a:t> - 2022 </a:t>
            </a:r>
            <a:r>
              <a:rPr lang="zh-CN" altLang="en-US" sz="1600" dirty="0">
                <a:cs typeface="Arial" panose="020B0604020202090204" pitchFamily="34" charset="0"/>
              </a:rPr>
              <a:t>年</a:t>
            </a:r>
            <a:r>
              <a:rPr lang="en-US" altLang="zh-CN" sz="1600" dirty="0">
                <a:cs typeface="Arial" panose="020B0604020202090204" pitchFamily="34" charset="0"/>
              </a:rPr>
              <a:t> 7 </a:t>
            </a:r>
            <a:r>
              <a:rPr lang="zh-CN" altLang="en-US" sz="1600" dirty="0">
                <a:cs typeface="Arial" panose="020B0604020202090204" pitchFamily="34" charset="0"/>
              </a:rPr>
              <a:t>月：美国</a:t>
            </a:r>
            <a:r>
              <a:rPr lang="en-US" altLang="zh-CN" sz="1600" dirty="0">
                <a:cs typeface="Arial" panose="020B0604020202090204" pitchFamily="34" charset="0"/>
              </a:rPr>
              <a:t> Stratifyd </a:t>
            </a:r>
            <a:r>
              <a:rPr lang="zh-CN" altLang="en-US" sz="1600" dirty="0">
                <a:cs typeface="Arial" panose="020B0604020202090204" pitchFamily="34" charset="0"/>
              </a:rPr>
              <a:t>公司</a:t>
            </a:r>
            <a:r>
              <a:rPr lang="en-US" altLang="zh-CN" sz="1600" dirty="0">
                <a:cs typeface="Arial" panose="020B0604020202090204" pitchFamily="34" charset="0"/>
              </a:rPr>
              <a:t> </a:t>
            </a:r>
            <a:r>
              <a:rPr lang="zh-CN" altLang="en-US" sz="1600" dirty="0">
                <a:cs typeface="Arial" panose="020B0604020202090204" pitchFamily="34" charset="0"/>
              </a:rPr>
              <a:t>研究科学家</a:t>
            </a:r>
            <a:r>
              <a:rPr lang="en-US" altLang="zh-CN" sz="1600" dirty="0">
                <a:cs typeface="Arial" panose="020B0604020202090204" pitchFamily="34" charset="0"/>
              </a:rPr>
              <a:t> / </a:t>
            </a:r>
            <a:r>
              <a:rPr lang="zh-CN" altLang="en-US" sz="1600" dirty="0">
                <a:cs typeface="Arial" panose="020B0604020202090204" pitchFamily="34" charset="0"/>
              </a:rPr>
              <a:t>研究高级总监</a:t>
            </a:r>
            <a:endParaRPr lang="zh-CN" altLang="en-US" sz="1600" dirty="0">
              <a:cs typeface="Arial" panose="020B0604020202090204" pitchFamily="34" charset="0"/>
            </a:endParaRPr>
          </a:p>
          <a:p>
            <a:pPr>
              <a:defRPr/>
            </a:pPr>
            <a:r>
              <a:rPr lang="en-US" altLang="zh-CN" sz="1600" dirty="0">
                <a:cs typeface="Arial" panose="020B0604020202090204" pitchFamily="34" charset="0"/>
              </a:rPr>
              <a:t>Stratifyd</a:t>
            </a:r>
            <a:r>
              <a:rPr lang="zh-CN" altLang="en-US" sz="1600" dirty="0">
                <a:cs typeface="Arial" panose="020B0604020202090204" pitchFamily="34" charset="0"/>
              </a:rPr>
              <a:t>：初创型</a:t>
            </a:r>
            <a:r>
              <a:rPr lang="en-US" altLang="zh-CN" sz="1600" dirty="0">
                <a:cs typeface="Arial" panose="020B0604020202090204" pitchFamily="34" charset="0"/>
              </a:rPr>
              <a:t> SaaS </a:t>
            </a:r>
            <a:r>
              <a:rPr lang="zh-CN" altLang="en-US" sz="1600" dirty="0">
                <a:cs typeface="Arial" panose="020B0604020202090204" pitchFamily="34" charset="0"/>
              </a:rPr>
              <a:t>企业，主营社交媒体数据分析系统</a:t>
            </a:r>
            <a:endParaRPr lang="zh-CN" altLang="en-US" sz="1600" dirty="0">
              <a:cs typeface="Arial" panose="020B0604020202090204" pitchFamily="34" charset="0"/>
            </a:endParaRPr>
          </a:p>
          <a:p>
            <a:pPr>
              <a:defRPr/>
            </a:pPr>
            <a:endParaRPr lang="zh-CN" altLang="en-US" sz="1600" dirty="0">
              <a:cs typeface="Arial" panose="020B0604020202090204" pitchFamily="34" charset="0"/>
            </a:endParaRPr>
          </a:p>
          <a:p>
            <a:pPr>
              <a:defRPr/>
            </a:pPr>
            <a:r>
              <a:rPr lang="zh-CN" altLang="en-US" dirty="0"/>
              <a:t>研究方向</a:t>
            </a:r>
            <a:endParaRPr lang="zh-CN" altLang="en-US" dirty="0"/>
          </a:p>
          <a:p>
            <a:pPr>
              <a:defRPr/>
            </a:pPr>
            <a:r>
              <a:rPr lang="zh-CN" altLang="en-US" dirty="0"/>
              <a:t>社会计算与信息安全、网络空间安全</a:t>
            </a:r>
            <a:r>
              <a:rPr lang="en-US" dirty="0"/>
              <a:t>    </a:t>
            </a:r>
            <a:endParaRPr lang="en-US" dirty="0"/>
          </a:p>
        </p:txBody>
      </p:sp>
      <p:sp>
        <p:nvSpPr>
          <p:cNvPr id="9" name="矩形 6"/>
          <p:cNvSpPr/>
          <p:nvPr/>
        </p:nvSpPr>
        <p:spPr>
          <a:xfrm>
            <a:off x="1015160" y="790865"/>
            <a:ext cx="7826258" cy="1603509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r>
              <a:rPr lang="zh-CN" altLang="en-US" sz="2000" b="1" dirty="0">
                <a:solidFill>
                  <a:schemeClr val="accent1"/>
                </a:solidFill>
                <a:latin typeface="Helvetica" pitchFamily="2" charset="0"/>
                <a:cs typeface="+mn-ea"/>
                <a:sym typeface="+mn-lt"/>
              </a:rPr>
              <a:t>刘光迟</a:t>
            </a:r>
            <a:r>
              <a:rPr lang="en-US" altLang="zh-CN" sz="2000" b="1" dirty="0">
                <a:solidFill>
                  <a:schemeClr val="accent1"/>
                </a:solidFill>
                <a:latin typeface="Helvetica" pitchFamily="2" charset="0"/>
                <a:cs typeface="+mn-ea"/>
                <a:sym typeface="+mn-lt"/>
              </a:rPr>
              <a:t> </a:t>
            </a:r>
            <a:r>
              <a:rPr lang="zh-CN" altLang="en-US" sz="2000" b="1" dirty="0">
                <a:solidFill>
                  <a:schemeClr val="accent1"/>
                </a:solidFill>
                <a:latin typeface="Helvetica" pitchFamily="2" charset="0"/>
                <a:cs typeface="+mn-ea"/>
                <a:sym typeface="+mn-lt"/>
              </a:rPr>
              <a:t>教授、博士生导师</a:t>
            </a:r>
            <a:endParaRPr lang="zh-CN" altLang="en-US" sz="2000" b="1" dirty="0">
              <a:solidFill>
                <a:schemeClr val="accent1"/>
              </a:solidFill>
              <a:latin typeface="Helvetica" pitchFamily="2" charset="0"/>
              <a:cs typeface="+mn-ea"/>
              <a:sym typeface="+mn-lt"/>
            </a:endParaRPr>
          </a:p>
          <a:p>
            <a:r>
              <a:rPr lang="zh-CN" altLang="en-US" sz="2000" dirty="0">
                <a:latin typeface="Helvetica" pitchFamily="2" charset="0"/>
                <a:cs typeface="+mn-ea"/>
              </a:rPr>
              <a:t>九龙湖校区</a:t>
            </a:r>
            <a:r>
              <a:rPr lang="en-US" altLang="zh-CN" sz="2000" dirty="0">
                <a:latin typeface="Helvetica" pitchFamily="2" charset="0"/>
                <a:cs typeface="+mn-ea"/>
              </a:rPr>
              <a:t> </a:t>
            </a:r>
            <a:r>
              <a:rPr lang="zh-CN" altLang="en-US" sz="2000" dirty="0">
                <a:latin typeface="Helvetica" pitchFamily="2" charset="0"/>
                <a:cs typeface="+mn-ea"/>
              </a:rPr>
              <a:t>计算机科学与技术学院</a:t>
            </a:r>
            <a:r>
              <a:rPr lang="en-US" altLang="zh-CN" sz="2000" dirty="0">
                <a:latin typeface="Helvetica" pitchFamily="2" charset="0"/>
                <a:cs typeface="+mn-ea"/>
              </a:rPr>
              <a:t> 160 </a:t>
            </a:r>
            <a:r>
              <a:rPr lang="zh-CN" altLang="en-US" sz="2000" dirty="0">
                <a:latin typeface="Helvetica" pitchFamily="2" charset="0"/>
                <a:cs typeface="+mn-ea"/>
              </a:rPr>
              <a:t>室</a:t>
            </a:r>
            <a:endParaRPr lang="zh-CN" altLang="en-US" sz="2000" dirty="0">
              <a:latin typeface="Helvetica" pitchFamily="2" charset="0"/>
              <a:cs typeface="+mn-ea"/>
            </a:endParaRPr>
          </a:p>
          <a:p>
            <a:r>
              <a:rPr lang="zh-CN" altLang="en-US" sz="2000" dirty="0">
                <a:latin typeface="Helvetica" pitchFamily="2" charset="0"/>
                <a:cs typeface="+mn-ea"/>
              </a:rPr>
              <a:t>邮箱：</a:t>
            </a:r>
            <a:r>
              <a:rPr lang="en-US" altLang="zh-CN" sz="2000" dirty="0">
                <a:latin typeface="Helvetica" pitchFamily="2" charset="0"/>
                <a:cs typeface="+mn-ea"/>
              </a:rPr>
              <a:t>gc-liu@seu.edu.cn</a:t>
            </a:r>
            <a:endParaRPr lang="en-US" altLang="zh-CN" sz="2000" dirty="0">
              <a:latin typeface="Helvetica" pitchFamily="2" charset="0"/>
              <a:cs typeface="+mn-ea"/>
            </a:endParaRPr>
          </a:p>
          <a:p>
            <a:r>
              <a:rPr lang="zh-CN" altLang="en-US" sz="2000" dirty="0">
                <a:latin typeface="Helvetica" pitchFamily="2" charset="0"/>
                <a:cs typeface="+mn-ea"/>
                <a:sym typeface="+mn-lt"/>
              </a:rPr>
              <a:t>更多信息：</a:t>
            </a:r>
            <a:r>
              <a:rPr lang="en-US" altLang="zh-CN" sz="2000" dirty="0">
                <a:latin typeface="Helvetica" pitchFamily="2" charset="0"/>
                <a:cs typeface="+mn-ea"/>
                <a:sym typeface="+mn-lt"/>
              </a:rPr>
              <a:t>https://gc-liu.github.io/</a:t>
            </a:r>
            <a:endParaRPr lang="en-US" altLang="zh-CN" sz="2000" dirty="0">
              <a:latin typeface="Helvetica" pitchFamily="2" charset="0"/>
              <a:cs typeface="+mn-ea"/>
              <a:sym typeface="+mn-l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091255" y="-2300"/>
            <a:ext cx="8168208" cy="790865"/>
          </a:xfrm>
        </p:spPr>
        <p:txBody>
          <a:bodyPr/>
          <a:lstStyle/>
          <a:p>
            <a:r>
              <a:rPr lang="zh-CN" altLang="en-US" dirty="0">
                <a:ea typeface="+mn-ea"/>
                <a:cs typeface="+mn-ea"/>
                <a:sym typeface="+mn-lt"/>
              </a:rPr>
              <a:t>教学团队</a:t>
            </a:r>
            <a:endParaRPr lang="zh-CN" altLang="en-US" dirty="0">
              <a:ea typeface="+mn-ea"/>
              <a:cs typeface="+mn-ea"/>
              <a:sym typeface="+mn-lt"/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>
          <a:xfrm>
            <a:off x="8746825" y="6356349"/>
            <a:ext cx="2743200" cy="365125"/>
          </a:xfrm>
        </p:spPr>
        <p:txBody>
          <a:bodyPr/>
          <a:lstStyle/>
          <a:p>
            <a:fld id="{2515AB8F-1C56-49E9-90C8-78D22B0C1B97}" type="slidenum">
              <a:rPr lang="zh-CN" altLang="en-US" smtClean="0">
                <a:cs typeface="+mn-ea"/>
                <a:sym typeface="+mn-lt"/>
              </a:rPr>
            </a:fld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9" name="矩形 6"/>
          <p:cNvSpPr/>
          <p:nvPr/>
        </p:nvSpPr>
        <p:spPr>
          <a:xfrm>
            <a:off x="2704110" y="1155714"/>
            <a:ext cx="1153188" cy="1603509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r>
              <a:rPr lang="zh-CN" altLang="en-US" sz="2000" b="1" dirty="0">
                <a:solidFill>
                  <a:schemeClr val="accent1"/>
                </a:solidFill>
                <a:latin typeface="Helvetica" pitchFamily="2" charset="0"/>
                <a:cs typeface="+mn-ea"/>
                <a:sym typeface="+mn-lt"/>
              </a:rPr>
              <a:t>刘光迟</a:t>
            </a:r>
            <a:endParaRPr lang="en-US" altLang="zh-CN" sz="2000" b="1" dirty="0">
              <a:solidFill>
                <a:schemeClr val="accent1"/>
              </a:solidFill>
              <a:latin typeface="Helvetica" pitchFamily="2" charset="0"/>
              <a:cs typeface="+mn-ea"/>
              <a:sym typeface="+mn-lt"/>
            </a:endParaRPr>
          </a:p>
        </p:txBody>
      </p:sp>
      <p:sp>
        <p:nvSpPr>
          <p:cNvPr id="4" name="矩形 6"/>
          <p:cNvSpPr/>
          <p:nvPr/>
        </p:nvSpPr>
        <p:spPr>
          <a:xfrm>
            <a:off x="1020678" y="607753"/>
            <a:ext cx="1683431" cy="457456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r>
              <a:rPr lang="zh-CN" altLang="en-US" sz="2400" b="1" dirty="0">
                <a:solidFill>
                  <a:srgbClr val="515223"/>
                </a:solidFill>
                <a:latin typeface="Helvetica" pitchFamily="2" charset="0"/>
                <a:cs typeface="+mn-ea"/>
              </a:rPr>
              <a:t>授课教师</a:t>
            </a:r>
            <a:endParaRPr lang="zh-CN" altLang="en-US" sz="2400" b="1" dirty="0">
              <a:solidFill>
                <a:srgbClr val="515223"/>
              </a:solidFill>
              <a:latin typeface="Helvetica" pitchFamily="2" charset="0"/>
              <a:cs typeface="+mn-ea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0605" y="1152525"/>
            <a:ext cx="1508125" cy="1454150"/>
          </a:xfrm>
          <a:prstGeom prst="rect">
            <a:avLst/>
          </a:prstGeom>
        </p:spPr>
      </p:pic>
      <p:sp>
        <p:nvSpPr>
          <p:cNvPr id="7" name="矩形 6"/>
          <p:cNvSpPr/>
          <p:nvPr/>
        </p:nvSpPr>
        <p:spPr>
          <a:xfrm>
            <a:off x="1020678" y="2676100"/>
            <a:ext cx="4557867" cy="457456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r>
              <a:rPr lang="zh-CN" altLang="en-US" sz="2400" b="1" dirty="0">
                <a:solidFill>
                  <a:srgbClr val="515223"/>
                </a:solidFill>
                <a:latin typeface="Helvetica" pitchFamily="2" charset="0"/>
                <a:cs typeface="+mn-ea"/>
              </a:rPr>
              <a:t>助教</a:t>
            </a:r>
            <a:endParaRPr lang="zh-CN" altLang="en-US" sz="2400" b="1" dirty="0">
              <a:solidFill>
                <a:srgbClr val="515223"/>
              </a:solidFill>
              <a:latin typeface="Helvetica" pitchFamily="2" charset="0"/>
              <a:cs typeface="+mn-ea"/>
            </a:endParaRPr>
          </a:p>
        </p:txBody>
      </p:sp>
      <p:sp>
        <p:nvSpPr>
          <p:cNvPr id="12" name="矩形 6"/>
          <p:cNvSpPr/>
          <p:nvPr>
            <p:custDataLst>
              <p:tags r:id="rId2"/>
            </p:custDataLst>
          </p:nvPr>
        </p:nvSpPr>
        <p:spPr>
          <a:xfrm>
            <a:off x="2144424" y="3266092"/>
            <a:ext cx="3617975" cy="136366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r>
              <a:rPr lang="zh-CN" altLang="en-US" sz="2000" b="1" dirty="0">
                <a:solidFill>
                  <a:schemeClr val="accent1"/>
                </a:solidFill>
                <a:latin typeface="Helvetica" pitchFamily="2" charset="0"/>
                <a:cs typeface="+mn-ea"/>
                <a:sym typeface="+mn-lt"/>
              </a:rPr>
              <a:t>湛中伟</a:t>
            </a:r>
            <a:endParaRPr lang="zh-CN" altLang="en-US" sz="2000" b="1" dirty="0">
              <a:solidFill>
                <a:schemeClr val="accent1"/>
              </a:solidFill>
              <a:latin typeface="Helvetica" pitchFamily="2" charset="0"/>
              <a:cs typeface="+mn-ea"/>
              <a:sym typeface="+mn-lt"/>
            </a:endParaRPr>
          </a:p>
          <a:p>
            <a:r>
              <a:rPr lang="zh-CN" altLang="en-US" sz="2000" dirty="0">
                <a:latin typeface="Helvetica" pitchFamily="2" charset="0"/>
                <a:cs typeface="+mn-ea"/>
              </a:rPr>
              <a:t>邮箱：</a:t>
            </a:r>
            <a:endParaRPr lang="zh-CN" altLang="en-US" sz="2000" dirty="0">
              <a:latin typeface="Helvetica" pitchFamily="2" charset="0"/>
              <a:cs typeface="+mn-ea"/>
            </a:endParaRPr>
          </a:p>
          <a:p>
            <a:r>
              <a:rPr lang="en-US" altLang="en-US" sz="2000" dirty="0">
                <a:latin typeface="Helvetica" pitchFamily="2" charset="0"/>
                <a:cs typeface="+mn-ea"/>
              </a:rPr>
              <a:t>2802470925@qq.com</a:t>
            </a:r>
            <a:endParaRPr lang="en-US" altLang="en-US" sz="2000" dirty="0">
              <a:latin typeface="Helvetica" pitchFamily="2" charset="0"/>
              <a:cs typeface="+mn-ea"/>
            </a:endParaRPr>
          </a:p>
        </p:txBody>
      </p:sp>
      <p:sp>
        <p:nvSpPr>
          <p:cNvPr id="20" name="矩形 6"/>
          <p:cNvSpPr/>
          <p:nvPr>
            <p:custDataLst>
              <p:tags r:id="rId3"/>
            </p:custDataLst>
          </p:nvPr>
        </p:nvSpPr>
        <p:spPr>
          <a:xfrm>
            <a:off x="6085840" y="3256908"/>
            <a:ext cx="3617975" cy="1378715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r>
              <a:rPr lang="zh-CN" altLang="en-US" sz="2000" b="1" dirty="0">
                <a:solidFill>
                  <a:schemeClr val="accent1"/>
                </a:solidFill>
                <a:latin typeface="Helvetica" pitchFamily="2" charset="0"/>
                <a:cs typeface="+mn-ea"/>
                <a:sym typeface="+mn-lt"/>
              </a:rPr>
              <a:t>马子焓</a:t>
            </a:r>
            <a:br>
              <a:rPr lang="en-US" sz="2000" dirty="0">
                <a:latin typeface="Helvetica" pitchFamily="2" charset="0"/>
                <a:cs typeface="+mn-ea"/>
              </a:rPr>
            </a:br>
            <a:r>
              <a:rPr lang="zh-CN" altLang="en-US" sz="2000" dirty="0">
                <a:latin typeface="Helvetica" pitchFamily="2" charset="0"/>
                <a:cs typeface="+mn-ea"/>
              </a:rPr>
              <a:t>邮箱：</a:t>
            </a:r>
            <a:r>
              <a:rPr lang="en-US" sz="2000" dirty="0">
                <a:latin typeface="Helvetica" pitchFamily="2" charset="0"/>
                <a:cs typeface="+mn-ea"/>
              </a:rPr>
              <a:t> </a:t>
            </a:r>
            <a:endParaRPr lang="en-US" sz="2000" dirty="0">
              <a:latin typeface="Helvetica" pitchFamily="2" charset="0"/>
              <a:cs typeface="+mn-ea"/>
            </a:endParaRPr>
          </a:p>
          <a:p>
            <a:r>
              <a:rPr lang="en-US" sz="2000" dirty="0" err="1">
                <a:latin typeface="Helvetica" pitchFamily="2" charset="0"/>
                <a:cs typeface="+mn-ea"/>
              </a:rPr>
              <a:t>zihan_ma@seu.edu.cn</a:t>
            </a:r>
            <a:endParaRPr lang="en-US" sz="2000" dirty="0">
              <a:latin typeface="Helvetica" pitchFamily="2" charset="0"/>
              <a:cs typeface="+mn-ea"/>
            </a:endParaRPr>
          </a:p>
        </p:txBody>
      </p:sp>
      <p:pic>
        <p:nvPicPr>
          <p:cNvPr id="10" name="Picture 9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75530" y="3251200"/>
            <a:ext cx="1153160" cy="1485900"/>
          </a:xfrm>
          <a:prstGeom prst="rect">
            <a:avLst/>
          </a:prstGeom>
        </p:spPr>
      </p:pic>
      <p:pic>
        <p:nvPicPr>
          <p:cNvPr id="8" name="Picture 7" descr="6cf83f3bf6a444e330a2edff3ea4f98f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0445" y="3349625"/>
            <a:ext cx="1012825" cy="146621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091255" y="-2300"/>
            <a:ext cx="8168208" cy="790865"/>
          </a:xfrm>
        </p:spPr>
        <p:txBody>
          <a:bodyPr/>
          <a:lstStyle/>
          <a:p>
            <a:r>
              <a:rPr lang="zh-CN" altLang="en-US" dirty="0">
                <a:ea typeface="+mn-ea"/>
                <a:cs typeface="+mn-ea"/>
                <a:sym typeface="+mn-lt"/>
              </a:rPr>
              <a:t>加入课程交流群</a:t>
            </a:r>
            <a:endParaRPr lang="zh-CN" altLang="en-US" dirty="0">
              <a:ea typeface="+mn-ea"/>
              <a:cs typeface="+mn-ea"/>
              <a:sym typeface="+mn-lt"/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>
          <a:xfrm>
            <a:off x="8746825" y="6356349"/>
            <a:ext cx="2743200" cy="365125"/>
          </a:xfrm>
        </p:spPr>
        <p:txBody>
          <a:bodyPr/>
          <a:lstStyle/>
          <a:p>
            <a:fld id="{2515AB8F-1C56-49E9-90C8-78D22B0C1B97}" type="slidenum">
              <a:rPr lang="zh-CN" altLang="en-US" smtClean="0">
                <a:cs typeface="+mn-ea"/>
                <a:sym typeface="+mn-lt"/>
              </a:rPr>
            </a:fld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8" name="文本框 34"/>
          <p:cNvSpPr txBox="1"/>
          <p:nvPr/>
        </p:nvSpPr>
        <p:spPr>
          <a:xfrm>
            <a:off x="766195" y="5900158"/>
            <a:ext cx="375455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600" dirty="0">
                <a:solidFill>
                  <a:srgbClr val="C00000"/>
                </a:solidFill>
                <a:latin typeface="Helvetica Regular" pitchFamily="2" charset="0"/>
              </a:rPr>
              <a:t>课程沟通</a:t>
            </a:r>
            <a:r>
              <a:rPr kumimoji="1" lang="en-US" altLang="zh-CN" sz="1600" dirty="0">
                <a:solidFill>
                  <a:srgbClr val="C00000"/>
                </a:solidFill>
                <a:latin typeface="Helvetica Regular" pitchFamily="2" charset="0"/>
              </a:rPr>
              <a:t>QQ</a:t>
            </a:r>
            <a:r>
              <a:rPr kumimoji="1" lang="zh-CN" altLang="en-US" sz="1600" dirty="0">
                <a:solidFill>
                  <a:srgbClr val="C00000"/>
                </a:solidFill>
                <a:latin typeface="Helvetica Regular" pitchFamily="2" charset="0"/>
              </a:rPr>
              <a:t>群：加群请注明 姓名</a:t>
            </a:r>
            <a:r>
              <a:rPr kumimoji="1" lang="en-US" altLang="zh-CN" sz="1600" dirty="0">
                <a:solidFill>
                  <a:srgbClr val="C00000"/>
                </a:solidFill>
                <a:latin typeface="Helvetica Regular" pitchFamily="2" charset="0"/>
              </a:rPr>
              <a:t>_</a:t>
            </a:r>
            <a:r>
              <a:rPr kumimoji="1" lang="zh-CN" altLang="en-US" sz="1600" dirty="0">
                <a:solidFill>
                  <a:srgbClr val="C00000"/>
                </a:solidFill>
                <a:latin typeface="Helvetica Regular" pitchFamily="2" charset="0"/>
              </a:rPr>
              <a:t>学号</a:t>
            </a:r>
            <a:endParaRPr kumimoji="1" lang="zh-CN" altLang="en-US" sz="1600" dirty="0">
              <a:solidFill>
                <a:srgbClr val="C00000"/>
              </a:solidFill>
              <a:latin typeface="Helvetica Regular" pitchFamily="2" charset="0"/>
            </a:endParaRPr>
          </a:p>
        </p:txBody>
      </p:sp>
      <p:sp>
        <p:nvSpPr>
          <p:cNvPr id="16" name="文本框 34"/>
          <p:cNvSpPr txBox="1"/>
          <p:nvPr/>
        </p:nvSpPr>
        <p:spPr>
          <a:xfrm>
            <a:off x="4989376" y="3429000"/>
            <a:ext cx="346761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600" dirty="0">
                <a:solidFill>
                  <a:srgbClr val="C00000"/>
                </a:solidFill>
                <a:latin typeface="Helvetica Regular" pitchFamily="2" charset="0"/>
              </a:rPr>
              <a:t>作业提交至 微助教 </a:t>
            </a:r>
            <a:r>
              <a:rPr kumimoji="1" lang="en-US" altLang="zh-CN" sz="1600" dirty="0">
                <a:solidFill>
                  <a:srgbClr val="C00000"/>
                </a:solidFill>
                <a:latin typeface="Helvetica Regular" pitchFamily="2" charset="0"/>
              </a:rPr>
              <a:t>App</a:t>
            </a:r>
            <a:endParaRPr kumimoji="1" lang="en-US" altLang="zh-CN" sz="1600" dirty="0">
              <a:solidFill>
                <a:srgbClr val="C00000"/>
              </a:solidFill>
              <a:latin typeface="Helvetica Regular" pitchFamily="2" charset="0"/>
            </a:endParaRPr>
          </a:p>
          <a:p>
            <a:r>
              <a:rPr kumimoji="1" lang="zh-CN" altLang="en-US" sz="1600" dirty="0">
                <a:solidFill>
                  <a:srgbClr val="C00000"/>
                </a:solidFill>
                <a:latin typeface="Helvetica Regular" pitchFamily="2" charset="0"/>
              </a:rPr>
              <a:t>请在系统中完整填写你的学号和姓名</a:t>
            </a:r>
            <a:endParaRPr kumimoji="1" lang="zh-CN" altLang="en-US" sz="1600" dirty="0">
              <a:solidFill>
                <a:srgbClr val="C00000"/>
              </a:solidFill>
              <a:latin typeface="Helvetica Regular" pitchFamily="2" charset="0"/>
            </a:endParaRPr>
          </a:p>
        </p:txBody>
      </p:sp>
      <p:pic>
        <p:nvPicPr>
          <p:cNvPr id="4" name="Picture 3" descr="Screenshot 2026-03-04 at 14.43.3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00525" y="1028700"/>
            <a:ext cx="6362065" cy="2159635"/>
          </a:xfrm>
          <a:prstGeom prst="rect">
            <a:avLst/>
          </a:prstGeom>
        </p:spPr>
      </p:pic>
      <p:pic>
        <p:nvPicPr>
          <p:cNvPr id="5" name="Picture 4" descr="Screenshot 2026-03-04 at 14.52.5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105" y="1028700"/>
            <a:ext cx="2858770" cy="31826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课程</a:t>
            </a:r>
            <a:r>
              <a:rPr lang="zh-CN" altLang="en-US" dirty="0">
                <a:sym typeface="+mn-ea"/>
              </a:rPr>
              <a:t>涵盖</a:t>
            </a:r>
            <a:r>
              <a:rPr lang="zh-CN" altLang="en-US" dirty="0"/>
              <a:t>内容</a:t>
            </a:r>
            <a:r>
              <a:rPr lang="en-US" baseline="30000" dirty="0"/>
              <a:t>[1,2,3]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8702548" y="6387385"/>
            <a:ext cx="2743200" cy="365125"/>
          </a:xfrm>
        </p:spPr>
        <p:txBody>
          <a:bodyPr/>
          <a:lstStyle/>
          <a:p>
            <a:fld id="{2515AB8F-1C56-49E9-90C8-78D22B0C1B97}" type="slidenum">
              <a:rPr lang="zh-CN" altLang="en-US" smtClean="0"/>
            </a:fld>
            <a:endParaRPr lang="zh-CN" altLang="en-US" dirty="0"/>
          </a:p>
        </p:txBody>
      </p:sp>
      <p:grpSp>
        <p:nvGrpSpPr>
          <p:cNvPr id="4" name="组合 2"/>
          <p:cNvGrpSpPr/>
          <p:nvPr/>
        </p:nvGrpSpPr>
        <p:grpSpPr>
          <a:xfrm>
            <a:off x="1002348" y="1188617"/>
            <a:ext cx="4498836" cy="1481058"/>
            <a:chOff x="1026732" y="2360338"/>
            <a:chExt cx="4498836" cy="1481058"/>
          </a:xfrm>
        </p:grpSpPr>
        <p:sp>
          <p:nvSpPr>
            <p:cNvPr id="5" name="文本框 13"/>
            <p:cNvSpPr txBox="1"/>
            <p:nvPr/>
          </p:nvSpPr>
          <p:spPr>
            <a:xfrm>
              <a:off x="2548688" y="2360338"/>
              <a:ext cx="2681022" cy="6508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zh-CN" altLang="en-US" sz="2800" b="1" dirty="0">
                  <a:solidFill>
                    <a:schemeClr val="accent1"/>
                  </a:solidFill>
                  <a:latin typeface="Helvetica" pitchFamily="2" charset="0"/>
                  <a:cs typeface="+mn-ea"/>
                  <a:sym typeface="+mn-lt"/>
                </a:rPr>
                <a:t>课程导论</a:t>
              </a:r>
              <a:endParaRPr lang="zh-CN" altLang="en-US" sz="2800" b="1" dirty="0">
                <a:solidFill>
                  <a:schemeClr val="accent1"/>
                </a:solidFill>
                <a:latin typeface="Helvetica" pitchFamily="2" charset="0"/>
                <a:cs typeface="+mn-ea"/>
                <a:sym typeface="+mn-lt"/>
              </a:endParaRPr>
            </a:p>
          </p:txBody>
        </p:sp>
        <p:sp>
          <p:nvSpPr>
            <p:cNvPr id="6" name="椭圆 160"/>
            <p:cNvSpPr/>
            <p:nvPr/>
          </p:nvSpPr>
          <p:spPr>
            <a:xfrm>
              <a:off x="1026732" y="2539881"/>
              <a:ext cx="1301515" cy="1301515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zh-CN" sz="4400" b="1" dirty="0">
                  <a:solidFill>
                    <a:schemeClr val="bg1"/>
                  </a:solidFill>
                  <a:latin typeface="Helvetica" pitchFamily="2" charset="0"/>
                  <a:cs typeface="+mn-ea"/>
                  <a:sym typeface="+mn-lt"/>
                </a:rPr>
                <a:t>01</a:t>
              </a:r>
              <a:endParaRPr lang="zh-CN" altLang="en-US" sz="4400" b="1" dirty="0">
                <a:solidFill>
                  <a:schemeClr val="bg1"/>
                </a:solidFill>
                <a:latin typeface="Helvetica" pitchFamily="2" charset="0"/>
                <a:cs typeface="+mn-ea"/>
                <a:sym typeface="+mn-lt"/>
              </a:endParaRPr>
            </a:p>
          </p:txBody>
        </p:sp>
        <p:sp>
          <p:nvSpPr>
            <p:cNvPr id="7" name="文本框 1"/>
            <p:cNvSpPr txBox="1"/>
            <p:nvPr/>
          </p:nvSpPr>
          <p:spPr>
            <a:xfrm>
              <a:off x="2548688" y="3101249"/>
              <a:ext cx="2976880" cy="42989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kumimoji="1" lang="zh-CN" altLang="en-US" sz="2200" dirty="0">
                  <a:latin typeface="Helvetica Regular" pitchFamily="2" charset="0"/>
                </a:rPr>
                <a:t>过程、专业术语、工具</a:t>
              </a:r>
              <a:endParaRPr kumimoji="1" lang="zh-CN" altLang="en-US" sz="2200" dirty="0">
                <a:latin typeface="Helvetica Regular" pitchFamily="2" charset="0"/>
              </a:endParaRPr>
            </a:p>
          </p:txBody>
        </p:sp>
      </p:grpSp>
      <p:grpSp>
        <p:nvGrpSpPr>
          <p:cNvPr id="8" name="组合 22"/>
          <p:cNvGrpSpPr/>
          <p:nvPr/>
        </p:nvGrpSpPr>
        <p:grpSpPr>
          <a:xfrm>
            <a:off x="1002347" y="2900163"/>
            <a:ext cx="5617794" cy="1301515"/>
            <a:chOff x="1026732" y="2539881"/>
            <a:chExt cx="5617794" cy="1301515"/>
          </a:xfrm>
        </p:grpSpPr>
        <p:sp>
          <p:nvSpPr>
            <p:cNvPr id="9" name="文本框 24"/>
            <p:cNvSpPr txBox="1"/>
            <p:nvPr/>
          </p:nvSpPr>
          <p:spPr>
            <a:xfrm>
              <a:off x="2550045" y="2539881"/>
              <a:ext cx="3496793" cy="6508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zh-CN" altLang="en-US" sz="2800" b="1" dirty="0">
                  <a:solidFill>
                    <a:schemeClr val="accent1"/>
                  </a:solidFill>
                  <a:latin typeface="Helvetica" pitchFamily="2" charset="0"/>
                  <a:cs typeface="+mn-ea"/>
                  <a:sym typeface="+mn-lt"/>
                </a:rPr>
                <a:t>设计环节</a:t>
              </a:r>
              <a:endParaRPr lang="zh-CN" altLang="en-US" sz="2800" b="1" dirty="0">
                <a:solidFill>
                  <a:schemeClr val="accent1"/>
                </a:solidFill>
                <a:latin typeface="Helvetica" pitchFamily="2" charset="0"/>
                <a:cs typeface="+mn-ea"/>
                <a:sym typeface="+mn-lt"/>
              </a:endParaRPr>
            </a:p>
          </p:txBody>
        </p:sp>
        <p:sp>
          <p:nvSpPr>
            <p:cNvPr id="10" name="椭圆 25"/>
            <p:cNvSpPr/>
            <p:nvPr/>
          </p:nvSpPr>
          <p:spPr>
            <a:xfrm>
              <a:off x="1026732" y="2539881"/>
              <a:ext cx="1301515" cy="1301515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zh-CN" sz="4400" b="1" dirty="0">
                  <a:solidFill>
                    <a:schemeClr val="bg1"/>
                  </a:solidFill>
                  <a:latin typeface="Helvetica" pitchFamily="2" charset="0"/>
                  <a:cs typeface="+mn-ea"/>
                  <a:sym typeface="+mn-lt"/>
                </a:rPr>
                <a:t>03</a:t>
              </a:r>
              <a:endParaRPr lang="zh-CN" altLang="en-US" sz="4400" b="1" dirty="0">
                <a:solidFill>
                  <a:schemeClr val="bg1"/>
                </a:solidFill>
                <a:latin typeface="Helvetica" pitchFamily="2" charset="0"/>
                <a:cs typeface="+mn-ea"/>
                <a:sym typeface="+mn-lt"/>
              </a:endParaRPr>
            </a:p>
          </p:txBody>
        </p:sp>
        <p:sp>
          <p:nvSpPr>
            <p:cNvPr id="11" name="文本框 26"/>
            <p:cNvSpPr txBox="1"/>
            <p:nvPr/>
          </p:nvSpPr>
          <p:spPr>
            <a:xfrm>
              <a:off x="2550046" y="3280792"/>
              <a:ext cx="4094480" cy="42989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kumimoji="1" lang="zh-CN" altLang="en-US" sz="2200" dirty="0">
                  <a:latin typeface="Helvetica Regular" pitchFamily="2" charset="0"/>
                </a:rPr>
                <a:t>用户界面、系统设计、程序设计</a:t>
              </a:r>
              <a:endParaRPr kumimoji="1" lang="zh-CN" altLang="en-US" sz="2200" dirty="0">
                <a:latin typeface="Helvetica Regular" pitchFamily="2" charset="0"/>
              </a:endParaRPr>
            </a:p>
          </p:txBody>
        </p:sp>
      </p:grpSp>
      <p:grpSp>
        <p:nvGrpSpPr>
          <p:cNvPr id="12" name="组合 3"/>
          <p:cNvGrpSpPr/>
          <p:nvPr/>
        </p:nvGrpSpPr>
        <p:grpSpPr>
          <a:xfrm>
            <a:off x="6849540" y="1188617"/>
            <a:ext cx="4340112" cy="1301515"/>
            <a:chOff x="7657903" y="3280792"/>
            <a:chExt cx="4340112" cy="1301515"/>
          </a:xfrm>
        </p:grpSpPr>
        <p:sp>
          <p:nvSpPr>
            <p:cNvPr id="13" name="文本框 28"/>
            <p:cNvSpPr txBox="1"/>
            <p:nvPr/>
          </p:nvSpPr>
          <p:spPr>
            <a:xfrm>
              <a:off x="7657903" y="3280792"/>
              <a:ext cx="3350293" cy="6508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zh-CN" altLang="en-US" sz="2800" b="1" dirty="0">
                  <a:solidFill>
                    <a:schemeClr val="accent1"/>
                  </a:solidFill>
                  <a:latin typeface="Helvetica" pitchFamily="2" charset="0"/>
                  <a:cs typeface="+mn-ea"/>
                  <a:sym typeface="+mn-lt"/>
                </a:rPr>
                <a:t>需求工程</a:t>
              </a:r>
              <a:endParaRPr lang="zh-CN" altLang="en-US" sz="2800" b="1" dirty="0">
                <a:solidFill>
                  <a:schemeClr val="accent1"/>
                </a:solidFill>
                <a:latin typeface="Helvetica" pitchFamily="2" charset="0"/>
                <a:cs typeface="+mn-ea"/>
                <a:sym typeface="+mn-lt"/>
              </a:endParaRPr>
            </a:p>
          </p:txBody>
        </p:sp>
        <p:sp>
          <p:nvSpPr>
            <p:cNvPr id="14" name="椭圆 29"/>
            <p:cNvSpPr/>
            <p:nvPr/>
          </p:nvSpPr>
          <p:spPr>
            <a:xfrm>
              <a:off x="10696500" y="3280792"/>
              <a:ext cx="1301515" cy="1301515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zh-CN" sz="4400" b="1" dirty="0">
                  <a:solidFill>
                    <a:schemeClr val="bg1"/>
                  </a:solidFill>
                  <a:latin typeface="Helvetica" pitchFamily="2" charset="0"/>
                  <a:cs typeface="+mn-ea"/>
                  <a:sym typeface="+mn-lt"/>
                </a:rPr>
                <a:t>02</a:t>
              </a:r>
              <a:endParaRPr lang="zh-CN" altLang="en-US" sz="4400" b="1" dirty="0">
                <a:solidFill>
                  <a:schemeClr val="bg1"/>
                </a:solidFill>
                <a:latin typeface="Helvetica" pitchFamily="2" charset="0"/>
                <a:cs typeface="+mn-ea"/>
                <a:sym typeface="+mn-lt"/>
              </a:endParaRPr>
            </a:p>
          </p:txBody>
        </p:sp>
        <p:sp>
          <p:nvSpPr>
            <p:cNvPr id="15" name="文本框 30"/>
            <p:cNvSpPr txBox="1"/>
            <p:nvPr/>
          </p:nvSpPr>
          <p:spPr>
            <a:xfrm>
              <a:off x="7657904" y="4021703"/>
              <a:ext cx="1579880" cy="42989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kumimoji="1" lang="zh-CN" altLang="en-US" sz="2200" dirty="0">
                  <a:latin typeface="Helvetica Regular" pitchFamily="2" charset="0"/>
                </a:rPr>
                <a:t>分析、建模</a:t>
              </a:r>
              <a:endParaRPr kumimoji="1" lang="zh-CN" altLang="en-US" sz="2200" dirty="0">
                <a:latin typeface="Helvetica Regular" pitchFamily="2" charset="0"/>
              </a:endParaRPr>
            </a:p>
          </p:txBody>
        </p:sp>
      </p:grpSp>
      <p:grpSp>
        <p:nvGrpSpPr>
          <p:cNvPr id="16" name="组合 31"/>
          <p:cNvGrpSpPr/>
          <p:nvPr/>
        </p:nvGrpSpPr>
        <p:grpSpPr>
          <a:xfrm>
            <a:off x="6849540" y="2800361"/>
            <a:ext cx="4340111" cy="1301515"/>
            <a:chOff x="7657904" y="3280792"/>
            <a:chExt cx="4340111" cy="1301515"/>
          </a:xfrm>
        </p:grpSpPr>
        <p:sp>
          <p:nvSpPr>
            <p:cNvPr id="17" name="文本框 32"/>
            <p:cNvSpPr txBox="1"/>
            <p:nvPr/>
          </p:nvSpPr>
          <p:spPr>
            <a:xfrm>
              <a:off x="7657904" y="3280792"/>
              <a:ext cx="2681022" cy="6508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zh-CN" altLang="en-US" sz="2800" b="1" dirty="0">
                  <a:solidFill>
                    <a:schemeClr val="accent1"/>
                  </a:solidFill>
                  <a:latin typeface="Helvetica" pitchFamily="2" charset="0"/>
                  <a:cs typeface="+mn-ea"/>
                  <a:sym typeface="+mn-lt"/>
                </a:rPr>
                <a:t>软件测试</a:t>
              </a:r>
              <a:endParaRPr lang="zh-CN" altLang="en-US" sz="2800" b="1" dirty="0">
                <a:solidFill>
                  <a:schemeClr val="accent1"/>
                </a:solidFill>
                <a:latin typeface="Helvetica" pitchFamily="2" charset="0"/>
                <a:cs typeface="+mn-ea"/>
                <a:sym typeface="+mn-lt"/>
              </a:endParaRPr>
            </a:p>
          </p:txBody>
        </p:sp>
        <p:sp>
          <p:nvSpPr>
            <p:cNvPr id="18" name="椭圆 33"/>
            <p:cNvSpPr/>
            <p:nvPr/>
          </p:nvSpPr>
          <p:spPr>
            <a:xfrm>
              <a:off x="10696500" y="3280792"/>
              <a:ext cx="1301515" cy="1301515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zh-CN" sz="4400" b="1" dirty="0">
                  <a:solidFill>
                    <a:schemeClr val="bg1"/>
                  </a:solidFill>
                  <a:latin typeface="Helvetica" pitchFamily="2" charset="0"/>
                  <a:cs typeface="+mn-ea"/>
                  <a:sym typeface="+mn-lt"/>
                </a:rPr>
                <a:t>04</a:t>
              </a:r>
              <a:endParaRPr lang="zh-CN" altLang="en-US" sz="4400" b="1" dirty="0">
                <a:solidFill>
                  <a:schemeClr val="bg1"/>
                </a:solidFill>
                <a:latin typeface="Helvetica" pitchFamily="2" charset="0"/>
                <a:cs typeface="+mn-ea"/>
                <a:sym typeface="+mn-lt"/>
              </a:endParaRPr>
            </a:p>
          </p:txBody>
        </p:sp>
        <p:sp>
          <p:nvSpPr>
            <p:cNvPr id="19" name="文本框 34"/>
            <p:cNvSpPr txBox="1"/>
            <p:nvPr/>
          </p:nvSpPr>
          <p:spPr>
            <a:xfrm>
              <a:off x="7657904" y="4021703"/>
              <a:ext cx="2697480" cy="42989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kumimoji="1" lang="zh-CN" altLang="en-US" sz="2200" dirty="0">
                  <a:latin typeface="Helvetica Regular" pitchFamily="2" charset="0"/>
                </a:rPr>
                <a:t>单元测试、集成测试</a:t>
              </a:r>
              <a:endParaRPr kumimoji="1" lang="zh-CN" altLang="en-US" sz="2200" dirty="0">
                <a:latin typeface="Helvetica Regular" pitchFamily="2" charset="0"/>
              </a:endParaRPr>
            </a:p>
          </p:txBody>
        </p:sp>
      </p:grpSp>
      <p:grpSp>
        <p:nvGrpSpPr>
          <p:cNvPr id="20" name="组合 22"/>
          <p:cNvGrpSpPr/>
          <p:nvPr/>
        </p:nvGrpSpPr>
        <p:grpSpPr>
          <a:xfrm>
            <a:off x="1002347" y="4432166"/>
            <a:ext cx="5617794" cy="1301515"/>
            <a:chOff x="1026732" y="2539881"/>
            <a:chExt cx="5617794" cy="1301515"/>
          </a:xfrm>
        </p:grpSpPr>
        <p:sp>
          <p:nvSpPr>
            <p:cNvPr id="21" name="文本框 24"/>
            <p:cNvSpPr txBox="1"/>
            <p:nvPr/>
          </p:nvSpPr>
          <p:spPr>
            <a:xfrm>
              <a:off x="2550045" y="2539881"/>
              <a:ext cx="3496793" cy="6508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zh-CN" altLang="en-US" sz="2800" b="1" dirty="0">
                  <a:solidFill>
                    <a:schemeClr val="accent1"/>
                  </a:solidFill>
                  <a:latin typeface="Helvetica" pitchFamily="2" charset="0"/>
                  <a:cs typeface="+mn-ea"/>
                  <a:sym typeface="+mn-lt"/>
                </a:rPr>
                <a:t>项目管理</a:t>
              </a:r>
              <a:endParaRPr lang="zh-CN" altLang="en-US" sz="2800" b="1" dirty="0">
                <a:solidFill>
                  <a:schemeClr val="accent1"/>
                </a:solidFill>
                <a:latin typeface="Helvetica" pitchFamily="2" charset="0"/>
                <a:cs typeface="+mn-ea"/>
                <a:sym typeface="+mn-lt"/>
              </a:endParaRPr>
            </a:p>
          </p:txBody>
        </p:sp>
        <p:sp>
          <p:nvSpPr>
            <p:cNvPr id="22" name="椭圆 25"/>
            <p:cNvSpPr/>
            <p:nvPr/>
          </p:nvSpPr>
          <p:spPr>
            <a:xfrm>
              <a:off x="1026732" y="2539881"/>
              <a:ext cx="1301515" cy="1301515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zh-CN" sz="4400" b="1" dirty="0">
                  <a:solidFill>
                    <a:schemeClr val="bg1"/>
                  </a:solidFill>
                  <a:latin typeface="Helvetica" pitchFamily="2" charset="0"/>
                  <a:cs typeface="+mn-ea"/>
                  <a:sym typeface="+mn-lt"/>
                </a:rPr>
                <a:t>05</a:t>
              </a:r>
              <a:endParaRPr lang="zh-CN" altLang="en-US" sz="4400" b="1" dirty="0">
                <a:solidFill>
                  <a:schemeClr val="bg1"/>
                </a:solidFill>
                <a:latin typeface="Helvetica" pitchFamily="2" charset="0"/>
                <a:cs typeface="+mn-ea"/>
                <a:sym typeface="+mn-lt"/>
              </a:endParaRPr>
            </a:p>
          </p:txBody>
        </p:sp>
        <p:sp>
          <p:nvSpPr>
            <p:cNvPr id="23" name="文本框 26"/>
            <p:cNvSpPr txBox="1"/>
            <p:nvPr/>
          </p:nvSpPr>
          <p:spPr>
            <a:xfrm>
              <a:off x="2550046" y="3280792"/>
              <a:ext cx="4094480" cy="42989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kumimoji="1" lang="zh-CN" altLang="en-US" sz="2200" dirty="0">
                  <a:latin typeface="Helvetica Regular" pitchFamily="2" charset="0"/>
                </a:rPr>
                <a:t>法律规范、风险管控、质量保证</a:t>
              </a:r>
              <a:endParaRPr kumimoji="1" lang="zh-CN" altLang="en-US" sz="2200" dirty="0">
                <a:latin typeface="Helvetica Regular" pitchFamily="2" charset="0"/>
              </a:endParaRPr>
            </a:p>
          </p:txBody>
        </p:sp>
      </p:grpSp>
      <p:sp>
        <p:nvSpPr>
          <p:cNvPr id="25" name="TextBox 24"/>
          <p:cNvSpPr txBox="1"/>
          <p:nvPr/>
        </p:nvSpPr>
        <p:spPr>
          <a:xfrm>
            <a:off x="1438656" y="5964169"/>
            <a:ext cx="11867916" cy="9848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2">
              <a:defRPr/>
            </a:pPr>
            <a:endParaRPr lang="en-US" sz="1600" dirty="0">
              <a:cs typeface="Arial" panose="020B0604020202090204" pitchFamily="34" charset="0"/>
            </a:endParaRPr>
          </a:p>
          <a:p>
            <a:pPr lvl="1">
              <a:defRPr/>
            </a:pPr>
            <a:r>
              <a:rPr lang="en-US" sz="1050" dirty="0">
                <a:cs typeface="Arial" panose="020B0604020202090204" pitchFamily="34" charset="0"/>
              </a:rPr>
              <a:t>[1] Software Engineering, Yue Chen, et al. Zhejiang University </a:t>
            </a:r>
            <a:r>
              <a:rPr lang="en-US" sz="1050" dirty="0">
                <a:cs typeface="Arial" panose="020B0604020202090204" pitchFamily="34" charset="0"/>
                <a:hlinkClick r:id="rId1"/>
              </a:rPr>
              <a:t>https://www.bilibili.com/video/BV16g411M7r2?p=1</a:t>
            </a:r>
            <a:endParaRPr lang="en-US" sz="1050" dirty="0">
              <a:cs typeface="Arial" panose="020B0604020202090204" pitchFamily="34" charset="0"/>
            </a:endParaRPr>
          </a:p>
          <a:p>
            <a:pPr lvl="1">
              <a:defRPr/>
            </a:pPr>
            <a:r>
              <a:rPr lang="en-US" sz="1050" dirty="0">
                <a:cs typeface="Arial" panose="020B0604020202090204" pitchFamily="34" charset="0"/>
              </a:rPr>
              <a:t>[2] Software Engineering, Curran Muhlberger, et al. Cornell University, </a:t>
            </a:r>
            <a:r>
              <a:rPr lang="en-US" sz="1050" dirty="0">
                <a:cs typeface="Arial" panose="020B0604020202090204" pitchFamily="34" charset="0"/>
                <a:hlinkClick r:id="rId2"/>
              </a:rPr>
              <a:t>https://www.cs.cornell.edu/courses/cs5150/2022sp/</a:t>
            </a:r>
            <a:endParaRPr lang="en-US" sz="1050" dirty="0">
              <a:cs typeface="Arial" panose="020B0604020202090204" pitchFamily="34" charset="0"/>
            </a:endParaRPr>
          </a:p>
          <a:p>
            <a:pPr lvl="1">
              <a:defRPr/>
            </a:pPr>
            <a:r>
              <a:rPr lang="en-US" sz="1050" dirty="0">
                <a:cs typeface="Arial" panose="020B0604020202090204" pitchFamily="34" charset="0"/>
              </a:rPr>
              <a:t>[3]</a:t>
            </a:r>
            <a:r>
              <a:rPr lang="zh-CN" altLang="en-US" sz="1050" dirty="0">
                <a:cs typeface="Arial" panose="020B0604020202090204" pitchFamily="34" charset="0"/>
              </a:rPr>
              <a:t>伊恩</a:t>
            </a:r>
            <a:r>
              <a:rPr lang="en-US" altLang="zh-CN" sz="1050" dirty="0">
                <a:cs typeface="Arial" panose="020B0604020202090204" pitchFamily="34" charset="0"/>
              </a:rPr>
              <a:t>·</a:t>
            </a:r>
            <a:r>
              <a:rPr lang="zh-CN" altLang="en-US" sz="1050" dirty="0">
                <a:cs typeface="Arial" panose="020B0604020202090204" pitchFamily="34" charset="0"/>
              </a:rPr>
              <a:t>萨默维尔</a:t>
            </a:r>
            <a:r>
              <a:rPr lang="en-US" sz="1050" dirty="0">
                <a:cs typeface="Arial" panose="020B0604020202090204" pitchFamily="34" charset="0"/>
              </a:rPr>
              <a:t>(Ian Sommerville).</a:t>
            </a:r>
            <a:r>
              <a:rPr lang="zh-CN" altLang="en-US" sz="1050" dirty="0">
                <a:cs typeface="Arial" panose="020B0604020202090204" pitchFamily="34" charset="0"/>
              </a:rPr>
              <a:t>软件工程</a:t>
            </a:r>
            <a:r>
              <a:rPr lang="en-US" sz="1050" dirty="0">
                <a:cs typeface="Arial" panose="020B0604020202090204" pitchFamily="34" charset="0"/>
              </a:rPr>
              <a:t>(</a:t>
            </a:r>
            <a:r>
              <a:rPr lang="zh-CN" altLang="en-US" sz="1050" dirty="0">
                <a:cs typeface="Arial" panose="020B0604020202090204" pitchFamily="34" charset="0"/>
              </a:rPr>
              <a:t>原书第</a:t>
            </a:r>
            <a:r>
              <a:rPr lang="en-US" sz="1050" dirty="0">
                <a:cs typeface="Arial" panose="020B0604020202090204" pitchFamily="34" charset="0"/>
              </a:rPr>
              <a:t>10</a:t>
            </a:r>
            <a:r>
              <a:rPr lang="zh-CN" altLang="en-US" sz="1050" dirty="0">
                <a:cs typeface="Arial" panose="020B0604020202090204" pitchFamily="34" charset="0"/>
              </a:rPr>
              <a:t>版</a:t>
            </a:r>
            <a:r>
              <a:rPr lang="en-US" sz="1050" dirty="0">
                <a:cs typeface="Arial" panose="020B0604020202090204" pitchFamily="34" charset="0"/>
              </a:rPr>
              <a:t>)</a:t>
            </a:r>
            <a:r>
              <a:rPr lang="zh-CN" altLang="en-US" sz="1050" dirty="0">
                <a:cs typeface="Arial" panose="020B0604020202090204" pitchFamily="34" charset="0"/>
              </a:rPr>
              <a:t>，机械工业出版社</a:t>
            </a:r>
            <a:r>
              <a:rPr lang="en-US" sz="1050" dirty="0">
                <a:cs typeface="Arial" panose="020B0604020202090204" pitchFamily="34" charset="0"/>
              </a:rPr>
              <a:t> (2018-02</a:t>
            </a:r>
            <a:r>
              <a:rPr lang="zh-CN" altLang="en-US" sz="1050" dirty="0">
                <a:cs typeface="Arial" panose="020B0604020202090204" pitchFamily="34" charset="0"/>
              </a:rPr>
              <a:t>出版</a:t>
            </a:r>
            <a:r>
              <a:rPr lang="en-US" sz="1050" dirty="0">
                <a:cs typeface="Arial" panose="020B0604020202090204" pitchFamily="34" charset="0"/>
              </a:rPr>
              <a:t>)</a:t>
            </a:r>
            <a:endParaRPr lang="en-US" sz="1050" dirty="0">
              <a:cs typeface="Arial" panose="020B0604020202090204" pitchFamily="34" charset="0"/>
            </a:endParaRPr>
          </a:p>
          <a:p>
            <a:pPr lvl="1">
              <a:defRPr/>
            </a:pPr>
            <a:endParaRPr lang="en-US" sz="1050" dirty="0">
              <a:cs typeface="Arial" panose="020B0604020202090204" pitchFamily="3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Calender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5AB8F-1C56-49E9-90C8-78D22B0C1B97}" type="slidenum">
              <a:rPr lang="zh-CN" altLang="en-US" smtClean="0"/>
            </a:fld>
            <a:endParaRPr lang="zh-CN" altLang="en-US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3670935" y="1626235"/>
          <a:ext cx="7903845" cy="396875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20800"/>
                <a:gridCol w="1486535"/>
                <a:gridCol w="4462145"/>
                <a:gridCol w="634365"/>
              </a:tblGrid>
              <a:tr h="441325"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kern="1200" dirty="0">
                          <a:solidFill>
                            <a:schemeClr val="bg1"/>
                          </a:solidFill>
                          <a:latin typeface="Helvetica" pitchFamily="2" charset="0"/>
                          <a:ea typeface="+mn-ea"/>
                          <a:cs typeface="+mn-ea"/>
                        </a:rPr>
                        <a:t>Week #</a:t>
                      </a:r>
                      <a:endParaRPr lang="en-US" sz="1800" b="1" kern="1200" dirty="0">
                        <a:solidFill>
                          <a:schemeClr val="bg1"/>
                        </a:solidFill>
                        <a:latin typeface="Helvetica" pitchFamily="2" charset="0"/>
                        <a:ea typeface="+mn-ea"/>
                        <a:cs typeface="+mn-ea"/>
                      </a:endParaRPr>
                    </a:p>
                  </a:txBody>
                  <a:tcPr marL="68580" marR="68580" marT="0" marB="0">
                    <a:solidFill>
                      <a:srgbClr val="51522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kern="1200" dirty="0">
                          <a:solidFill>
                            <a:schemeClr val="bg1"/>
                          </a:solidFill>
                          <a:latin typeface="Helvetica" pitchFamily="2" charset="0"/>
                          <a:ea typeface="+mn-ea"/>
                          <a:cs typeface="+mn-ea"/>
                        </a:rPr>
                        <a:t>Date</a:t>
                      </a:r>
                      <a:endParaRPr lang="en-US" sz="1800" b="1" kern="1200" dirty="0">
                        <a:solidFill>
                          <a:schemeClr val="bg1"/>
                        </a:solidFill>
                        <a:latin typeface="Helvetica" pitchFamily="2" charset="0"/>
                        <a:ea typeface="+mn-ea"/>
                        <a:cs typeface="+mn-ea"/>
                      </a:endParaRPr>
                    </a:p>
                  </a:txBody>
                  <a:tcPr marL="68580" marR="68580" marT="0" marB="0">
                    <a:solidFill>
                      <a:srgbClr val="51522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kern="1200" dirty="0">
                          <a:solidFill>
                            <a:schemeClr val="bg1"/>
                          </a:solidFill>
                          <a:latin typeface="Helvetica" pitchFamily="2" charset="0"/>
                          <a:ea typeface="+mn-ea"/>
                          <a:cs typeface="+mn-ea"/>
                        </a:rPr>
                        <a:t>Topic</a:t>
                      </a:r>
                      <a:endParaRPr lang="en-US" sz="1800" b="1" kern="1200" dirty="0">
                        <a:solidFill>
                          <a:schemeClr val="bg1"/>
                        </a:solidFill>
                        <a:latin typeface="Helvetica" pitchFamily="2" charset="0"/>
                        <a:ea typeface="+mn-ea"/>
                        <a:cs typeface="+mn-ea"/>
                      </a:endParaRPr>
                    </a:p>
                  </a:txBody>
                  <a:tcPr marL="68580" marR="68580" marT="0" marB="0">
                    <a:solidFill>
                      <a:srgbClr val="51522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kern="1200" dirty="0">
                          <a:solidFill>
                            <a:schemeClr val="bg1"/>
                          </a:solidFill>
                          <a:latin typeface="Helvetica" pitchFamily="2" charset="0"/>
                          <a:ea typeface="+mn-ea"/>
                          <a:cs typeface="+mn-ea"/>
                        </a:rPr>
                        <a:t>Lab</a:t>
                      </a:r>
                      <a:endParaRPr lang="en-US" sz="1800" b="1" kern="1200" dirty="0">
                        <a:solidFill>
                          <a:schemeClr val="bg1"/>
                        </a:solidFill>
                        <a:latin typeface="Helvetica" pitchFamily="2" charset="0"/>
                        <a:ea typeface="+mn-ea"/>
                        <a:cs typeface="+mn-ea"/>
                      </a:endParaRPr>
                    </a:p>
                  </a:txBody>
                  <a:tcPr marL="68580" marR="68580" marT="0" marB="0">
                    <a:solidFill>
                      <a:srgbClr val="515223"/>
                    </a:solidFill>
                  </a:tcPr>
                </a:tc>
              </a:tr>
              <a:tr h="26924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 dirty="0">
                          <a:effectLst/>
                        </a:rPr>
                        <a:t>1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3.5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zh-CN" altLang="en-US" sz="1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课程导论与教学大纲</a:t>
                      </a:r>
                      <a:endParaRPr lang="zh-CN" alt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 dirty="0">
                          <a:effectLst/>
                        </a:rPr>
                        <a:t> 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</a:tr>
              <a:tr h="24447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 dirty="0">
                          <a:effectLst/>
                        </a:rPr>
                        <a:t>2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altLang="zh-CN" sz="1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3.12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zh-CN" altLang="en-US" sz="1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软件过程</a:t>
                      </a:r>
                      <a:r>
                        <a:rPr lang="en-US" altLang="zh-CN" sz="1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/ </a:t>
                      </a:r>
                      <a:r>
                        <a:rPr lang="zh-CN" altLang="en-US" sz="1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项目管理</a:t>
                      </a:r>
                      <a:endParaRPr lang="zh-CN" alt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 dirty="0">
                          <a:effectLst/>
                        </a:rPr>
                        <a:t> 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</a:tr>
              <a:tr h="27940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 dirty="0">
                          <a:effectLst/>
                        </a:rPr>
                        <a:t>3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3.19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项目管理</a:t>
                      </a:r>
                      <a:r>
                        <a:rPr lang="en-US" altLang="zh-CN" sz="1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/ </a:t>
                      </a:r>
                      <a:r>
                        <a:rPr lang="zh-CN" altLang="en-US" sz="1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需求工程</a:t>
                      </a:r>
                      <a:endParaRPr lang="zh-CN" alt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</a:tr>
              <a:tr h="29273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 dirty="0">
                          <a:effectLst/>
                        </a:rPr>
                        <a:t>4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3.26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zh-CN" altLang="en-US" sz="1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需求工程</a:t>
                      </a:r>
                      <a:endParaRPr lang="zh-CN" alt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 dirty="0">
                          <a:effectLst/>
                        </a:rPr>
                        <a:t> 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</a:tr>
              <a:tr h="24447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>
                          <a:effectLst/>
                        </a:rPr>
                        <a:t>5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4.2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zh-CN" altLang="en-US" sz="1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用户界面</a:t>
                      </a:r>
                      <a:r>
                        <a:rPr lang="en-US" altLang="zh-CN" sz="1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/ </a:t>
                      </a:r>
                      <a:r>
                        <a:rPr lang="zh-CN" altLang="en-US" sz="1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用户体验</a:t>
                      </a:r>
                      <a:endParaRPr lang="zh-CN" alt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 dirty="0">
                          <a:effectLst/>
                        </a:rPr>
                        <a:t> 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</a:tr>
              <a:tr h="25527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 dirty="0">
                          <a:effectLst/>
                        </a:rPr>
                        <a:t>6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  <a:sym typeface="+mn-ea"/>
                        </a:rPr>
                        <a:t>4.9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zh-CN" altLang="en-US" sz="1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建模与架构设计 </a:t>
                      </a:r>
                      <a:endParaRPr lang="zh-CN" alt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 dirty="0">
                          <a:effectLst/>
                        </a:rPr>
                        <a:t>Lab 1</a:t>
                      </a:r>
                      <a:endParaRPr lang="en-US" sz="1400" dirty="0">
                        <a:effectLst/>
                      </a:endParaRPr>
                    </a:p>
                  </a:txBody>
                  <a:tcPr marL="68580" marR="68580" marT="0" marB="0"/>
                </a:tc>
              </a:tr>
              <a:tr h="22796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>
                          <a:solidFill>
                            <a:schemeClr val="tx1"/>
                          </a:solidFill>
                          <a:effectLst/>
                        </a:rPr>
                        <a:t>7</a:t>
                      </a:r>
                      <a:endParaRPr lang="en-US" sz="14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4.16</a:t>
                      </a:r>
                      <a:endParaRPr lang="en-US" sz="1400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建模与架构设计</a:t>
                      </a:r>
                      <a:endParaRPr lang="zh-CN" alt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</a:tr>
              <a:tr h="24511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>
                          <a:effectLst/>
                        </a:rPr>
                        <a:t>8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4.23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zh-CN" altLang="en-US" sz="1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程序开发</a:t>
                      </a:r>
                      <a:endParaRPr lang="zh-CN" alt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</a:tr>
              <a:tr h="24511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>
                          <a:effectLst/>
                        </a:rPr>
                        <a:t>9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4.30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zh-CN" altLang="en-US" sz="1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程序开发</a:t>
                      </a:r>
                      <a:endParaRPr lang="zh-CN" alt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  <a:sym typeface="+mn-ea"/>
                        </a:rPr>
                        <a:t>Lab 2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</a:tr>
              <a:tr h="24447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>
                          <a:effectLst/>
                        </a:rPr>
                        <a:t>10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5.7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zh-CN" altLang="en-US" sz="1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程序开发</a:t>
                      </a:r>
                      <a:endParaRPr lang="zh-CN" alt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</a:tr>
              <a:tr h="24447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>
                          <a:solidFill>
                            <a:schemeClr val="tx1"/>
                          </a:solidFill>
                          <a:effectLst/>
                        </a:rPr>
                        <a:t>11</a:t>
                      </a:r>
                      <a:endParaRPr lang="en-US" sz="14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5.14</a:t>
                      </a:r>
                      <a:endParaRPr lang="en-US" sz="14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4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软件</a:t>
                      </a:r>
                      <a:r>
                        <a:rPr lang="zh-CN" altLang="en-US" sz="1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测试</a:t>
                      </a:r>
                      <a:endParaRPr lang="zh-CN" alt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  <a:sym typeface="+mn-ea"/>
                        </a:rPr>
                        <a:t>Lab 3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</a:tr>
              <a:tr h="24447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>
                          <a:effectLst/>
                        </a:rPr>
                        <a:t>12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5.21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zh-CN" altLang="en-US" sz="1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软件测试</a:t>
                      </a:r>
                      <a:endParaRPr lang="zh-CN" alt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</a:tr>
              <a:tr h="24574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>
                          <a:effectLst/>
                        </a:rPr>
                        <a:t>13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5.28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l" defTabSz="914400" rtl="0" eaLnBrk="1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zh-CN" altLang="en-US" sz="1400" kern="1200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版本控制</a:t>
                      </a:r>
                      <a:r>
                        <a:rPr lang="en-US" altLang="zh-CN" sz="1400" kern="1200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/</a:t>
                      </a:r>
                      <a:r>
                        <a:rPr lang="zh-CN" altLang="en-US" sz="1400" kern="1200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法律法规与职业素养</a:t>
                      </a:r>
                      <a:endParaRPr lang="zh-CN" altLang="en-US" sz="1400" kern="1200" dirty="0">
                        <a:solidFill>
                          <a:schemeClr val="dk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  <a:sym typeface="+mn-ea"/>
                        </a:rPr>
                        <a:t>Lab 4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</a:tr>
              <a:tr h="24447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>
                          <a:effectLst/>
                        </a:rPr>
                        <a:t>14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6.4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zh-CN" altLang="en-US" sz="1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  <a:sym typeface="+mn-ea"/>
                        </a:rPr>
                        <a:t>课程复习</a:t>
                      </a:r>
                      <a:endParaRPr lang="zh-CN" alt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 dirty="0">
                          <a:effectLst/>
                        </a:rPr>
                        <a:t> 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109093" y="1072184"/>
            <a:ext cx="3257940" cy="50774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800" dirty="0"/>
              <a:t>课堂授课</a:t>
            </a:r>
            <a:endParaRPr lang="zh-CN" altLang="en-US" sz="1800" dirty="0"/>
          </a:p>
          <a:p>
            <a:r>
              <a:rPr lang="en-US" altLang="zh-CN" sz="1800" dirty="0"/>
              <a:t>1-12 </a:t>
            </a:r>
            <a:r>
              <a:rPr lang="zh-CN" altLang="en-US" sz="1800" dirty="0"/>
              <a:t>周</a:t>
            </a:r>
            <a:r>
              <a:rPr lang="en-US" altLang="zh-CN" sz="1800" dirty="0"/>
              <a:t> </a:t>
            </a:r>
            <a:r>
              <a:rPr lang="zh-CN" altLang="en-US" sz="1800" dirty="0"/>
              <a:t>周四</a:t>
            </a:r>
            <a:r>
              <a:rPr lang="en-US" altLang="zh-CN" sz="1800" dirty="0"/>
              <a:t> 6-8 </a:t>
            </a:r>
            <a:r>
              <a:rPr lang="zh-CN" altLang="en-US" sz="1800" dirty="0"/>
              <a:t>节（</a:t>
            </a:r>
            <a:r>
              <a:rPr lang="en-US" altLang="zh-CN" sz="1800" dirty="0"/>
              <a:t>14:00-16:35</a:t>
            </a:r>
            <a:r>
              <a:rPr lang="zh-CN" altLang="en-US" sz="1800" dirty="0"/>
              <a:t>）</a:t>
            </a:r>
            <a:endParaRPr lang="zh-CN" altLang="en-US" sz="1800" dirty="0"/>
          </a:p>
          <a:p>
            <a:endParaRPr lang="zh-CN" altLang="en-US" sz="1800" dirty="0"/>
          </a:p>
          <a:p>
            <a:r>
              <a:rPr lang="en-US" altLang="zh-CN" dirty="0">
                <a:sym typeface="+mn-ea"/>
              </a:rPr>
              <a:t>13-14 </a:t>
            </a:r>
            <a:r>
              <a:rPr lang="zh-CN" altLang="en-US" dirty="0">
                <a:sym typeface="+mn-ea"/>
              </a:rPr>
              <a:t>周</a:t>
            </a:r>
            <a:r>
              <a:rPr lang="en-US" altLang="zh-CN" dirty="0">
                <a:sym typeface="+mn-ea"/>
              </a:rPr>
              <a:t> </a:t>
            </a:r>
            <a:r>
              <a:rPr lang="zh-CN" altLang="en-US" dirty="0">
                <a:sym typeface="+mn-ea"/>
              </a:rPr>
              <a:t>周四</a:t>
            </a:r>
            <a:r>
              <a:rPr lang="en-US" altLang="zh-CN" dirty="0">
                <a:sym typeface="+mn-ea"/>
              </a:rPr>
              <a:t> 6-7 </a:t>
            </a:r>
            <a:r>
              <a:rPr lang="zh-CN" altLang="en-US" dirty="0">
                <a:sym typeface="+mn-ea"/>
              </a:rPr>
              <a:t>节（</a:t>
            </a:r>
            <a:r>
              <a:rPr lang="en-US" altLang="zh-CN" dirty="0">
                <a:sym typeface="+mn-ea"/>
              </a:rPr>
              <a:t>14:00-15:35</a:t>
            </a:r>
            <a:r>
              <a:rPr lang="zh-CN" altLang="en-US" dirty="0">
                <a:sym typeface="+mn-ea"/>
              </a:rPr>
              <a:t>）</a:t>
            </a:r>
            <a:endParaRPr lang="zh-CN" altLang="en-US" sz="1800" dirty="0"/>
          </a:p>
          <a:p>
            <a:endParaRPr lang="zh-CN" altLang="en-US" sz="1800" dirty="0"/>
          </a:p>
          <a:p>
            <a:r>
              <a:rPr lang="zh-CN" altLang="en-US" sz="1800" dirty="0"/>
              <a:t>地点：</a:t>
            </a:r>
            <a:r>
              <a:rPr lang="en-US" altLang="zh-CN" sz="1800" dirty="0"/>
              <a:t>J4-101</a:t>
            </a:r>
            <a:endParaRPr lang="en-US" altLang="zh-CN" sz="1800" dirty="0"/>
          </a:p>
          <a:p>
            <a:endParaRPr lang="en-US" altLang="zh-CN" sz="1800" dirty="0"/>
          </a:p>
          <a:p>
            <a:endParaRPr lang="en-US" altLang="zh-CN" sz="1800" dirty="0"/>
          </a:p>
          <a:p>
            <a:endParaRPr lang="en-US" altLang="zh-CN" sz="1800" dirty="0"/>
          </a:p>
          <a:p>
            <a:r>
              <a:rPr lang="zh-CN" altLang="en-US" sz="1800" dirty="0"/>
              <a:t>实验课</a:t>
            </a:r>
            <a:endParaRPr lang="zh-CN" altLang="en-US" sz="1800" dirty="0"/>
          </a:p>
          <a:p>
            <a:r>
              <a:rPr lang="en-US" altLang="zh-CN" sz="1800" dirty="0"/>
              <a:t>6，9，11，13 </a:t>
            </a:r>
            <a:r>
              <a:rPr lang="zh-CN" altLang="en-US" sz="1800" dirty="0"/>
              <a:t>周</a:t>
            </a:r>
            <a:r>
              <a:rPr lang="en-US" altLang="zh-CN" sz="1800" dirty="0"/>
              <a:t> </a:t>
            </a:r>
            <a:r>
              <a:rPr lang="zh-CN" altLang="en-US" sz="1800" dirty="0"/>
              <a:t>，周四</a:t>
            </a:r>
            <a:r>
              <a:rPr lang="en-US" altLang="zh-CN" sz="1800" dirty="0"/>
              <a:t> 9-12 </a:t>
            </a:r>
            <a:r>
              <a:rPr lang="zh-CN" altLang="en-US" sz="1800" dirty="0"/>
              <a:t>节（</a:t>
            </a:r>
            <a:r>
              <a:rPr lang="en-US" altLang="zh-CN" sz="1800" dirty="0"/>
              <a:t>16:40-20:35）</a:t>
            </a:r>
            <a:endParaRPr lang="en-US" altLang="zh-CN" sz="1800" dirty="0"/>
          </a:p>
          <a:p>
            <a:endParaRPr lang="zh-CN" altLang="en-US" sz="1800" dirty="0"/>
          </a:p>
          <a:p>
            <a:r>
              <a:rPr lang="zh-CN" altLang="en-US" sz="1800" dirty="0"/>
              <a:t>地点：</a:t>
            </a:r>
            <a:r>
              <a:rPr lang="en-US" altLang="zh-CN" sz="1800" dirty="0"/>
              <a:t>J4-101</a:t>
            </a:r>
            <a:endParaRPr lang="en-US" altLang="zh-CN" sz="1800" dirty="0"/>
          </a:p>
          <a:p>
            <a:r>
              <a:rPr lang="zh-CN" altLang="en-US" sz="1800" dirty="0"/>
              <a:t>实验课需</a:t>
            </a:r>
            <a:r>
              <a:rPr lang="zh-CN" altLang="en-US" sz="1800" dirty="0">
                <a:solidFill>
                  <a:srgbClr val="FF0000"/>
                </a:solidFill>
              </a:rPr>
              <a:t>自备笔记本电脑</a:t>
            </a:r>
            <a:endParaRPr lang="zh-CN" altLang="en-US" sz="1800" dirty="0">
              <a:solidFill>
                <a:srgbClr val="FF0000"/>
              </a:solidFill>
            </a:endParaRPr>
          </a:p>
          <a:p>
            <a:endParaRPr lang="zh-CN" altLang="en-US" sz="18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成绩评定标准</a:t>
            </a:r>
            <a:endParaRPr lang="zh-CN" alt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5AB8F-1C56-49E9-90C8-78D22B0C1B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1240570" y="1148832"/>
            <a:ext cx="10573057" cy="31692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zh-CN" altLang="en-US" sz="2000" dirty="0">
                <a:cs typeface="Arial" panose="020B0604020202090204" pitchFamily="34" charset="0"/>
              </a:rPr>
              <a:t>出勤与课堂问答：</a:t>
            </a:r>
            <a:r>
              <a:rPr lang="en-US" altLang="zh-CN" sz="2000" dirty="0">
                <a:cs typeface="Arial" panose="020B0604020202090204" pitchFamily="34" charset="0"/>
              </a:rPr>
              <a:t>30%</a:t>
            </a:r>
            <a:endParaRPr lang="en-US" altLang="zh-CN" sz="2000" dirty="0">
              <a:cs typeface="Arial" panose="020B0604020202090204" pitchFamily="34" charset="0"/>
            </a:endParaRPr>
          </a:p>
          <a:p>
            <a:pPr>
              <a:defRPr/>
            </a:pPr>
            <a:r>
              <a:rPr lang="zh-CN" altLang="en-US" sz="2000" dirty="0">
                <a:cs typeface="Arial" panose="020B0604020202090204" pitchFamily="34" charset="0"/>
              </a:rPr>
              <a:t>随机抽取学生回答问题</a:t>
            </a:r>
            <a:endParaRPr lang="zh-CN" altLang="en-US" sz="2000" dirty="0">
              <a:cs typeface="Arial" panose="020B0604020202090204" pitchFamily="34" charset="0"/>
            </a:endParaRPr>
          </a:p>
          <a:p>
            <a:pPr>
              <a:defRPr/>
            </a:pPr>
            <a:r>
              <a:rPr lang="zh-CN" altLang="en-US" sz="2000" dirty="0">
                <a:cs typeface="Arial" panose="020B0604020202090204" pitchFamily="34" charset="0"/>
              </a:rPr>
              <a:t>缺勤或回答不达标将扣分（辅修学生除外）</a:t>
            </a:r>
            <a:endParaRPr lang="zh-CN" altLang="en-US" sz="2000" dirty="0">
              <a:cs typeface="Arial" panose="020B0604020202090204" pitchFamily="34" charset="0"/>
            </a:endParaRPr>
          </a:p>
          <a:p>
            <a:pPr>
              <a:defRPr/>
            </a:pPr>
            <a:r>
              <a:rPr lang="zh-CN" altLang="en-US" sz="2000" dirty="0">
                <a:cs typeface="Arial" panose="020B0604020202090204" pitchFamily="34" charset="0"/>
              </a:rPr>
              <a:t>布置</a:t>
            </a:r>
            <a:r>
              <a:rPr lang="en-US" altLang="zh-CN" sz="2000" dirty="0">
                <a:cs typeface="Arial" panose="020B0604020202090204" pitchFamily="34" charset="0"/>
              </a:rPr>
              <a:t> 4 </a:t>
            </a:r>
            <a:r>
              <a:rPr lang="zh-CN" altLang="en-US" sz="2000" dirty="0">
                <a:cs typeface="Arial" panose="020B0604020202090204" pitchFamily="34" charset="0"/>
              </a:rPr>
              <a:t>次课后作业，成绩单独核算</a:t>
            </a:r>
            <a:endParaRPr lang="en-US" altLang="zh-CN" sz="2000" dirty="0">
              <a:cs typeface="Arial" panose="020B0604020202090204" pitchFamily="34" charset="0"/>
            </a:endParaRPr>
          </a:p>
          <a:p>
            <a:pPr>
              <a:defRPr/>
            </a:pPr>
            <a:endParaRPr lang="zh-CN" altLang="en-US" sz="2000" dirty="0">
              <a:cs typeface="Arial" panose="020B0604020202090204" pitchFamily="34" charset="0"/>
            </a:endParaRPr>
          </a:p>
          <a:p>
            <a:pPr>
              <a:defRPr/>
            </a:pPr>
            <a:r>
              <a:rPr lang="zh-CN" altLang="en-US" sz="2000" dirty="0">
                <a:cs typeface="Arial" panose="020B0604020202090204" pitchFamily="34" charset="0"/>
              </a:rPr>
              <a:t>期末考试：</a:t>
            </a:r>
            <a:r>
              <a:rPr lang="en-US" altLang="zh-CN" sz="2000" dirty="0">
                <a:cs typeface="Arial" panose="020B0604020202090204" pitchFamily="34" charset="0"/>
              </a:rPr>
              <a:t>40%</a:t>
            </a:r>
            <a:endParaRPr lang="en-US" altLang="zh-CN" sz="2000" dirty="0">
              <a:cs typeface="Arial" panose="020B0604020202090204" pitchFamily="34" charset="0"/>
            </a:endParaRPr>
          </a:p>
          <a:p>
            <a:pPr>
              <a:defRPr/>
            </a:pPr>
            <a:r>
              <a:rPr lang="zh-CN" altLang="en-US" sz="2000" dirty="0">
                <a:cs typeface="Arial" panose="020B0604020202090204" pitchFamily="34" charset="0"/>
              </a:rPr>
              <a:t>考察核心概念与理解程度</a:t>
            </a:r>
            <a:endParaRPr lang="zh-CN" altLang="en-US" sz="2000" dirty="0">
              <a:cs typeface="Arial" panose="020B0604020202090204" pitchFamily="34" charset="0"/>
            </a:endParaRPr>
          </a:p>
          <a:p>
            <a:pPr>
              <a:defRPr/>
            </a:pPr>
            <a:r>
              <a:rPr lang="zh-CN" altLang="en-US" sz="2000" dirty="0">
                <a:cs typeface="Arial" panose="020B0604020202090204" pitchFamily="34" charset="0"/>
              </a:rPr>
              <a:t>题型包含单选、判断、简答题</a:t>
            </a:r>
            <a:endParaRPr lang="zh-CN" altLang="en-US" sz="2000" dirty="0">
              <a:cs typeface="Arial" panose="020B0604020202090204" pitchFamily="34" charset="0"/>
            </a:endParaRPr>
          </a:p>
          <a:p>
            <a:pPr>
              <a:defRPr/>
            </a:pPr>
            <a:r>
              <a:rPr lang="zh-CN" altLang="en-US" sz="2000" dirty="0">
                <a:cs typeface="Arial" panose="020B0604020202090204" pitchFamily="34" charset="0"/>
              </a:rPr>
              <a:t>闭卷考试，成绩单独核算</a:t>
            </a:r>
            <a:r>
              <a:rPr lang="en-US" sz="2000" dirty="0">
                <a:cs typeface="Arial" panose="020B0604020202090204" pitchFamily="34" charset="0"/>
              </a:rPr>
              <a:t>	</a:t>
            </a:r>
            <a:endParaRPr lang="en-US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lvl="1">
              <a:defRPr/>
            </a:pPr>
            <a:r>
              <a:rPr lang="en-US" sz="1600" b="0" kern="0" dirty="0">
                <a:effectLst/>
              </a:rPr>
              <a:t>	</a:t>
            </a:r>
            <a:r>
              <a:rPr lang="en-US" sz="2000" dirty="0">
                <a:cs typeface="Arial" panose="020B0604020202090204" pitchFamily="34" charset="0"/>
              </a:rPr>
              <a:t>	</a:t>
            </a:r>
            <a:endParaRPr lang="en-US" sz="1600" dirty="0">
              <a:cs typeface="Arial" panose="020B0604020202090204" pitchFamily="34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Grading Scale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5AB8F-1C56-49E9-90C8-78D22B0C1B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1240570" y="1148832"/>
            <a:ext cx="10951430" cy="31997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2000" dirty="0">
                <a:cs typeface="Arial" panose="020B0604020202090204" pitchFamily="34" charset="0"/>
              </a:rPr>
              <a:t>	</a:t>
            </a:r>
            <a:endParaRPr lang="en-US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>
              <a:defRPr/>
            </a:pPr>
            <a:r>
              <a:rPr lang="zh-CN" altLang="en-US" b="0" kern="0" dirty="0">
                <a:effectLst/>
              </a:rPr>
              <a:t>课程项目：</a:t>
            </a:r>
            <a:r>
              <a:rPr lang="en-US" altLang="zh-CN" b="0" kern="0" dirty="0">
                <a:effectLst/>
              </a:rPr>
              <a:t>30%</a:t>
            </a:r>
            <a:endParaRPr lang="en-US" altLang="zh-CN" b="0" kern="0" dirty="0">
              <a:effectLst/>
            </a:endParaRPr>
          </a:p>
          <a:p>
            <a:pPr>
              <a:defRPr/>
            </a:pPr>
            <a:r>
              <a:rPr lang="zh-CN" altLang="en-US" b="0" kern="0" dirty="0">
                <a:effectLst/>
              </a:rPr>
              <a:t>完成一项工业级项目，例如基于云平台开发</a:t>
            </a:r>
            <a:r>
              <a:rPr lang="en-US" altLang="zh-CN" b="0" kern="0" dirty="0">
                <a:effectLst/>
              </a:rPr>
              <a:t> SaaS </a:t>
            </a:r>
            <a:r>
              <a:rPr lang="zh-CN" altLang="en-US" b="0" kern="0" dirty="0">
                <a:effectLst/>
              </a:rPr>
              <a:t>应用</a:t>
            </a:r>
            <a:endParaRPr lang="zh-CN" altLang="en-US" b="0" kern="0" dirty="0">
              <a:effectLst/>
            </a:endParaRPr>
          </a:p>
          <a:p>
            <a:pPr>
              <a:defRPr/>
            </a:pPr>
            <a:r>
              <a:rPr lang="zh-CN" altLang="en-US" b="0" kern="0" dirty="0">
                <a:effectLst/>
              </a:rPr>
              <a:t>每组</a:t>
            </a:r>
            <a:r>
              <a:rPr lang="en-US" altLang="zh-CN" b="0" kern="0" dirty="0">
                <a:effectLst/>
              </a:rPr>
              <a:t> 4~6 </a:t>
            </a:r>
            <a:r>
              <a:rPr lang="zh-CN" altLang="en-US" b="0" kern="0" dirty="0">
                <a:effectLst/>
              </a:rPr>
              <a:t>名学生，需在</a:t>
            </a:r>
            <a:r>
              <a:rPr lang="en-US" altLang="zh-CN" b="0" kern="0" dirty="0">
                <a:effectLst/>
              </a:rPr>
              <a:t> QQ </a:t>
            </a:r>
            <a:r>
              <a:rPr lang="zh-CN" altLang="en-US" b="0" kern="0" dirty="0">
                <a:effectLst/>
              </a:rPr>
              <a:t>群在线文档中填报项目名称、团队名称、成员信息</a:t>
            </a:r>
            <a:endParaRPr lang="zh-CN" altLang="en-US" b="0" kern="0" dirty="0">
              <a:effectLst/>
            </a:endParaRPr>
          </a:p>
          <a:p>
            <a:pPr>
              <a:defRPr/>
            </a:pPr>
            <a:r>
              <a:rPr lang="zh-CN" altLang="en-US" b="0" kern="0" dirty="0">
                <a:effectLst/>
              </a:rPr>
              <a:t>遵循课堂所学开发流程，体现个人贡献</a:t>
            </a:r>
            <a:endParaRPr lang="zh-CN" altLang="en-US" b="0" kern="0" dirty="0">
              <a:effectLst/>
            </a:endParaRPr>
          </a:p>
          <a:p>
            <a:pPr>
              <a:defRPr/>
            </a:pPr>
            <a:r>
              <a:rPr lang="zh-CN" altLang="en-US" b="0" kern="0" dirty="0">
                <a:effectLst/>
              </a:rPr>
              <a:t>配套</a:t>
            </a:r>
            <a:r>
              <a:rPr lang="en-US" altLang="zh-CN" b="0" kern="0" dirty="0">
                <a:effectLst/>
              </a:rPr>
              <a:t> 4 </a:t>
            </a:r>
            <a:r>
              <a:rPr lang="zh-CN" altLang="en-US" b="0" kern="0" dirty="0">
                <a:effectLst/>
              </a:rPr>
              <a:t>次实验课，按流程同步沟通项目进展：</a:t>
            </a:r>
            <a:endParaRPr lang="zh-CN" altLang="en-US" b="0" kern="0" dirty="0">
              <a:effectLst/>
            </a:endParaRPr>
          </a:p>
          <a:p>
            <a:pPr>
              <a:defRPr/>
            </a:pPr>
            <a:r>
              <a:rPr lang="zh-CN" altLang="en-US" b="0" kern="0" dirty="0">
                <a:effectLst/>
              </a:rPr>
              <a:t>需求分析、系统设计、程序开发、软件测试</a:t>
            </a:r>
            <a:endParaRPr lang="zh-CN" altLang="en-US" b="0" kern="0" dirty="0">
              <a:effectLst/>
            </a:endParaRPr>
          </a:p>
          <a:p>
            <a:pPr>
              <a:defRPr/>
            </a:pPr>
            <a:r>
              <a:rPr lang="zh-CN" altLang="en-US" b="0" kern="0" dirty="0">
                <a:effectLst/>
              </a:rPr>
              <a:t>最终成果需提交：报告文档（</a:t>
            </a:r>
            <a:r>
              <a:rPr lang="en-US" altLang="zh-CN" b="0" kern="0" dirty="0">
                <a:effectLst/>
              </a:rPr>
              <a:t>PDF </a:t>
            </a:r>
            <a:r>
              <a:rPr lang="zh-CN" altLang="en-US" b="0" kern="0" dirty="0">
                <a:effectLst/>
              </a:rPr>
              <a:t>格式）、源代码（</a:t>
            </a:r>
            <a:r>
              <a:rPr lang="en-US" altLang="zh-CN" b="0" kern="0" dirty="0">
                <a:effectLst/>
              </a:rPr>
              <a:t>GitHub/Gitee </a:t>
            </a:r>
            <a:r>
              <a:rPr lang="zh-CN" altLang="en-US" b="0" kern="0" dirty="0">
                <a:effectLst/>
              </a:rPr>
              <a:t>链接）、演示视频</a:t>
            </a:r>
            <a:endParaRPr lang="zh-CN" altLang="en-US" b="0" kern="0" dirty="0">
              <a:effectLst/>
            </a:endParaRPr>
          </a:p>
          <a:p>
            <a:pPr>
              <a:defRPr/>
            </a:pPr>
            <a:r>
              <a:rPr lang="zh-CN" altLang="en-US" b="0" kern="0" dirty="0">
                <a:effectLst/>
              </a:rPr>
              <a:t>需涵盖软件开发流程的核心环节（后续详细说明）</a:t>
            </a:r>
            <a:endParaRPr lang="zh-CN" altLang="en-US" b="0" kern="0" dirty="0">
              <a:effectLst/>
            </a:endParaRPr>
          </a:p>
          <a:p>
            <a:pPr>
              <a:defRPr/>
            </a:pPr>
            <a:r>
              <a:rPr lang="zh-CN" altLang="en-US" b="0" kern="0" dirty="0">
                <a:effectLst/>
              </a:rPr>
              <a:t>成绩按小组核算</a:t>
            </a:r>
            <a:endParaRPr lang="zh-CN" altLang="en-US" b="0" kern="0" dirty="0">
              <a:effectLst/>
            </a:endParaRPr>
          </a:p>
          <a:p>
            <a:pPr lvl="1">
              <a:defRPr/>
            </a:pPr>
            <a:r>
              <a:rPr lang="en-US" sz="1600" b="0" kern="0" dirty="0">
                <a:effectLst/>
              </a:rPr>
              <a:t>	</a:t>
            </a:r>
            <a:r>
              <a:rPr lang="en-US" sz="2000" dirty="0">
                <a:cs typeface="Arial" panose="020B0604020202090204" pitchFamily="34" charset="0"/>
              </a:rPr>
              <a:t>	</a:t>
            </a:r>
            <a:endParaRPr lang="en-US" sz="1600" dirty="0">
              <a:cs typeface="Arial" panose="020B0604020202090204" pitchFamily="34" charset="0"/>
            </a:endParaRPr>
          </a:p>
        </p:txBody>
      </p:sp>
      <p:sp>
        <p:nvSpPr>
          <p:cNvPr id="5" name="Rectangle 4"/>
          <p:cNvSpPr/>
          <p:nvPr/>
        </p:nvSpPr>
        <p:spPr bwMode="auto">
          <a:xfrm>
            <a:off x="2522002" y="4782887"/>
            <a:ext cx="1838325" cy="74612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1" hangingPunct="1">
              <a:defRPr/>
            </a:pPr>
            <a:endParaRPr 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90204" pitchFamily="34" charset="0"/>
              <a:ea typeface="MS PGothic" panose="020B0600070205080204" charset="-128"/>
            </a:endParaRPr>
          </a:p>
        </p:txBody>
      </p:sp>
      <p:sp>
        <p:nvSpPr>
          <p:cNvPr id="6" name="Rectangle 5"/>
          <p:cNvSpPr/>
          <p:nvPr/>
        </p:nvSpPr>
        <p:spPr bwMode="auto">
          <a:xfrm>
            <a:off x="7798852" y="4784474"/>
            <a:ext cx="1839913" cy="744538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1" hangingPunct="1">
              <a:defRPr/>
            </a:pPr>
            <a:endParaRPr 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90204" pitchFamily="34" charset="0"/>
              <a:ea typeface="MS PGothic" panose="020B0600070205080204" charset="-128"/>
            </a:endParaRPr>
          </a:p>
        </p:txBody>
      </p:sp>
      <p:sp>
        <p:nvSpPr>
          <p:cNvPr id="7" name="TextBox 2"/>
          <p:cNvSpPr txBox="1">
            <a:spLocks noChangeArrowheads="1"/>
          </p:cNvSpPr>
          <p:nvPr/>
        </p:nvSpPr>
        <p:spPr bwMode="auto">
          <a:xfrm>
            <a:off x="2715744" y="5220598"/>
            <a:ext cx="1451113" cy="3067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90204" pitchFamily="34" charset="0"/>
                <a:ea typeface="MS PGothic" panose="020B0600070205080204" charset="-128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90204" pitchFamily="34" charset="0"/>
                <a:ea typeface="MS PGothic" panose="020B0600070205080204" charset="-128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90204" pitchFamily="34" charset="0"/>
                <a:ea typeface="MS PGothic" panose="020B0600070205080204" charset="-128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90204" pitchFamily="34" charset="0"/>
                <a:ea typeface="MS PGothic" panose="020B0600070205080204" charset="-128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90204" pitchFamily="34" charset="0"/>
                <a:ea typeface="MS PGothic" panose="020B060007020508020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90204" pitchFamily="34" charset="0"/>
                <a:ea typeface="MS PGothic" panose="020B060007020508020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90204" pitchFamily="34" charset="0"/>
                <a:ea typeface="MS PGothic" panose="020B060007020508020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90204" pitchFamily="34" charset="0"/>
                <a:ea typeface="MS PGothic" panose="020B060007020508020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90204" pitchFamily="34" charset="0"/>
                <a:ea typeface="MS PGothic" panose="020B0600070205080204" charset="-128"/>
              </a:defRPr>
            </a:lvl9pPr>
          </a:lstStyle>
          <a:p>
            <a:pPr algn="ctr"/>
            <a:r>
              <a:rPr lang="zh-CN" altLang="en-US" sz="1400" b="0"/>
              <a:t>本地计算机</a:t>
            </a:r>
            <a:endParaRPr lang="zh-CN" altLang="en-US" sz="1400" b="0"/>
          </a:p>
        </p:txBody>
      </p:sp>
      <p:sp>
        <p:nvSpPr>
          <p:cNvPr id="8" name="TextBox 7"/>
          <p:cNvSpPr txBox="1">
            <a:spLocks noChangeArrowheads="1"/>
          </p:cNvSpPr>
          <p:nvPr/>
        </p:nvSpPr>
        <p:spPr bwMode="auto">
          <a:xfrm>
            <a:off x="7841615" y="5221605"/>
            <a:ext cx="1753870" cy="3067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90204" pitchFamily="34" charset="0"/>
                <a:ea typeface="MS PGothic" panose="020B0600070205080204" charset="-128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90204" pitchFamily="34" charset="0"/>
                <a:ea typeface="MS PGothic" panose="020B0600070205080204" charset="-128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90204" pitchFamily="34" charset="0"/>
                <a:ea typeface="MS PGothic" panose="020B0600070205080204" charset="-128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90204" pitchFamily="34" charset="0"/>
                <a:ea typeface="MS PGothic" panose="020B0600070205080204" charset="-128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90204" pitchFamily="34" charset="0"/>
                <a:ea typeface="MS PGothic" panose="020B060007020508020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90204" pitchFamily="34" charset="0"/>
                <a:ea typeface="MS PGothic" panose="020B060007020508020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90204" pitchFamily="34" charset="0"/>
                <a:ea typeface="MS PGothic" panose="020B060007020508020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90204" pitchFamily="34" charset="0"/>
                <a:ea typeface="MS PGothic" panose="020B060007020508020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90204" pitchFamily="34" charset="0"/>
                <a:ea typeface="MS PGothic" panose="020B0600070205080204" charset="-128"/>
              </a:defRPr>
            </a:lvl9pPr>
          </a:lstStyle>
          <a:p>
            <a:pPr algn="ctr"/>
            <a:r>
              <a:rPr lang="zh-CN" altLang="en-US" sz="1400" b="0" dirty="0"/>
              <a:t>云端</a:t>
            </a:r>
            <a:r>
              <a:rPr lang="en-US" altLang="en-US" sz="1400" b="0" dirty="0"/>
              <a:t> </a:t>
            </a:r>
            <a:endParaRPr lang="en-US" altLang="en-US" sz="1400" b="0" dirty="0"/>
          </a:p>
        </p:txBody>
      </p:sp>
      <p:sp>
        <p:nvSpPr>
          <p:cNvPr id="9" name="TextBox 8"/>
          <p:cNvSpPr txBox="1">
            <a:spLocks noChangeArrowheads="1"/>
          </p:cNvSpPr>
          <p:nvPr/>
        </p:nvSpPr>
        <p:spPr bwMode="auto">
          <a:xfrm>
            <a:off x="3003978" y="4912797"/>
            <a:ext cx="874644" cy="306705"/>
          </a:xfrm>
          <a:prstGeom prst="rect">
            <a:avLst/>
          </a:prstGeom>
          <a:noFill/>
          <a:ln w="9525">
            <a:solidFill>
              <a:srgbClr val="FFC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90204" pitchFamily="34" charset="0"/>
                <a:ea typeface="MS PGothic" panose="020B0600070205080204" charset="-128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90204" pitchFamily="34" charset="0"/>
                <a:ea typeface="MS PGothic" panose="020B0600070205080204" charset="-128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90204" pitchFamily="34" charset="0"/>
                <a:ea typeface="MS PGothic" panose="020B0600070205080204" charset="-128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90204" pitchFamily="34" charset="0"/>
                <a:ea typeface="MS PGothic" panose="020B0600070205080204" charset="-128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90204" pitchFamily="34" charset="0"/>
                <a:ea typeface="MS PGothic" panose="020B060007020508020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90204" pitchFamily="34" charset="0"/>
                <a:ea typeface="MS PGothic" panose="020B060007020508020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90204" pitchFamily="34" charset="0"/>
                <a:ea typeface="MS PGothic" panose="020B060007020508020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90204" pitchFamily="34" charset="0"/>
                <a:ea typeface="MS PGothic" panose="020B060007020508020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90204" pitchFamily="34" charset="0"/>
                <a:ea typeface="MS PGothic" panose="020B0600070205080204" charset="-128"/>
              </a:defRPr>
            </a:lvl9pPr>
          </a:lstStyle>
          <a:p>
            <a:pPr algn="ctr"/>
            <a:r>
              <a:rPr lang="zh-CN" altLang="en-US" sz="1400" b="0">
                <a:solidFill>
                  <a:schemeClr val="tx2"/>
                </a:solidFill>
              </a:rPr>
              <a:t>终端</a:t>
            </a:r>
            <a:endParaRPr lang="zh-CN" altLang="en-US" sz="1400" b="0">
              <a:solidFill>
                <a:schemeClr val="tx2"/>
              </a:solidFill>
            </a:endParaRPr>
          </a:p>
        </p:txBody>
      </p:sp>
      <p:cxnSp>
        <p:nvCxnSpPr>
          <p:cNvPr id="10" name="Straight Arrow Connector 9"/>
          <p:cNvCxnSpPr>
            <a:cxnSpLocks noChangeShapeType="1"/>
          </p:cNvCxnSpPr>
          <p:nvPr/>
        </p:nvCxnSpPr>
        <p:spPr bwMode="auto">
          <a:xfrm>
            <a:off x="4596865" y="5066834"/>
            <a:ext cx="3054350" cy="0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1" name="Straight Arrow Connector 13"/>
          <p:cNvCxnSpPr>
            <a:cxnSpLocks noChangeShapeType="1"/>
          </p:cNvCxnSpPr>
          <p:nvPr/>
        </p:nvCxnSpPr>
        <p:spPr bwMode="auto">
          <a:xfrm flipH="1">
            <a:off x="4596865" y="5220792"/>
            <a:ext cx="3054350" cy="0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2" name="TextBox 17"/>
          <p:cNvSpPr txBox="1">
            <a:spLocks noChangeArrowheads="1"/>
          </p:cNvSpPr>
          <p:nvPr/>
        </p:nvSpPr>
        <p:spPr bwMode="auto">
          <a:xfrm>
            <a:off x="8281588" y="4916052"/>
            <a:ext cx="874644" cy="306705"/>
          </a:xfrm>
          <a:prstGeom prst="rect">
            <a:avLst/>
          </a:prstGeom>
          <a:noFill/>
          <a:ln w="9525">
            <a:solidFill>
              <a:srgbClr val="FFC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90204" pitchFamily="34" charset="0"/>
                <a:ea typeface="MS PGothic" panose="020B0600070205080204" charset="-128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90204" pitchFamily="34" charset="0"/>
                <a:ea typeface="MS PGothic" panose="020B0600070205080204" charset="-128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90204" pitchFamily="34" charset="0"/>
                <a:ea typeface="MS PGothic" panose="020B0600070205080204" charset="-128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90204" pitchFamily="34" charset="0"/>
                <a:ea typeface="MS PGothic" panose="020B0600070205080204" charset="-128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90204" pitchFamily="34" charset="0"/>
                <a:ea typeface="MS PGothic" panose="020B060007020508020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90204" pitchFamily="34" charset="0"/>
                <a:ea typeface="MS PGothic" panose="020B060007020508020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90204" pitchFamily="34" charset="0"/>
                <a:ea typeface="MS PGothic" panose="020B060007020508020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90204" pitchFamily="34" charset="0"/>
                <a:ea typeface="MS PGothic" panose="020B060007020508020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90204" pitchFamily="34" charset="0"/>
                <a:ea typeface="MS PGothic" panose="020B0600070205080204" charset="-128"/>
              </a:defRPr>
            </a:lvl9pPr>
          </a:lstStyle>
          <a:p>
            <a:pPr algn="ctr"/>
            <a:r>
              <a:rPr lang="zh-CN" altLang="en-US" sz="1400" b="0">
                <a:solidFill>
                  <a:schemeClr val="tx2"/>
                </a:solidFill>
              </a:rPr>
              <a:t>服务</a:t>
            </a:r>
            <a:endParaRPr lang="zh-CN" altLang="en-US" sz="1400" b="0">
              <a:solidFill>
                <a:schemeClr val="tx2"/>
              </a:solidFill>
            </a:endParaRPr>
          </a:p>
        </p:txBody>
      </p:sp>
      <p:sp>
        <p:nvSpPr>
          <p:cNvPr id="13" name="TextBox 18"/>
          <p:cNvSpPr txBox="1">
            <a:spLocks noChangeArrowheads="1"/>
          </p:cNvSpPr>
          <p:nvPr/>
        </p:nvSpPr>
        <p:spPr bwMode="auto">
          <a:xfrm>
            <a:off x="4725936" y="4758897"/>
            <a:ext cx="2708341" cy="3067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90204" pitchFamily="34" charset="0"/>
                <a:ea typeface="MS PGothic" panose="020B0600070205080204" charset="-128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90204" pitchFamily="34" charset="0"/>
                <a:ea typeface="MS PGothic" panose="020B0600070205080204" charset="-128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90204" pitchFamily="34" charset="0"/>
                <a:ea typeface="MS PGothic" panose="020B0600070205080204" charset="-128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90204" pitchFamily="34" charset="0"/>
                <a:ea typeface="MS PGothic" panose="020B0600070205080204" charset="-128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90204" pitchFamily="34" charset="0"/>
                <a:ea typeface="MS PGothic" panose="020B060007020508020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90204" pitchFamily="34" charset="0"/>
                <a:ea typeface="MS PGothic" panose="020B060007020508020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90204" pitchFamily="34" charset="0"/>
                <a:ea typeface="MS PGothic" panose="020B060007020508020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90204" pitchFamily="34" charset="0"/>
                <a:ea typeface="MS PGothic" panose="020B060007020508020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90204" pitchFamily="34" charset="0"/>
                <a:ea typeface="MS PGothic" panose="020B0600070205080204" charset="-128"/>
              </a:defRPr>
            </a:lvl9pPr>
          </a:lstStyle>
          <a:p>
            <a:pPr algn="ctr"/>
            <a:r>
              <a:rPr lang="zh-CN" altLang="en-US" sz="1400" b="0"/>
              <a:t>输入</a:t>
            </a:r>
            <a:r>
              <a:rPr lang="en-US" altLang="en-US" sz="1400" b="0"/>
              <a:t>(</a:t>
            </a:r>
            <a:r>
              <a:rPr lang="zh-CN" altLang="en-US" sz="1400" b="0"/>
              <a:t>文本、图片、查询指令</a:t>
            </a:r>
            <a:r>
              <a:rPr lang="en-US" altLang="en-US" sz="1400" b="0"/>
              <a:t>)</a:t>
            </a:r>
            <a:endParaRPr lang="en-US" altLang="en-US" sz="1400" b="0"/>
          </a:p>
        </p:txBody>
      </p:sp>
      <p:sp>
        <p:nvSpPr>
          <p:cNvPr id="14" name="TextBox 19"/>
          <p:cNvSpPr txBox="1">
            <a:spLocks noChangeArrowheads="1"/>
          </p:cNvSpPr>
          <p:nvPr/>
        </p:nvSpPr>
        <p:spPr bwMode="auto">
          <a:xfrm>
            <a:off x="4243887" y="5223852"/>
            <a:ext cx="3597966" cy="3067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90204" pitchFamily="34" charset="0"/>
                <a:ea typeface="MS PGothic" panose="020B0600070205080204" charset="-128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90204" pitchFamily="34" charset="0"/>
                <a:ea typeface="MS PGothic" panose="020B0600070205080204" charset="-128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90204" pitchFamily="34" charset="0"/>
                <a:ea typeface="MS PGothic" panose="020B0600070205080204" charset="-128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90204" pitchFamily="34" charset="0"/>
                <a:ea typeface="MS PGothic" panose="020B0600070205080204" charset="-128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90204" pitchFamily="34" charset="0"/>
                <a:ea typeface="MS PGothic" panose="020B060007020508020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90204" pitchFamily="34" charset="0"/>
                <a:ea typeface="MS PGothic" panose="020B060007020508020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90204" pitchFamily="34" charset="0"/>
                <a:ea typeface="MS PGothic" panose="020B060007020508020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90204" pitchFamily="34" charset="0"/>
                <a:ea typeface="MS PGothic" panose="020B060007020508020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90204" pitchFamily="34" charset="0"/>
                <a:ea typeface="MS PGothic" panose="020B0600070205080204" charset="-128"/>
              </a:defRPr>
            </a:lvl9pPr>
          </a:lstStyle>
          <a:p>
            <a:pPr algn="ctr"/>
            <a:r>
              <a:rPr lang="zh-CN" altLang="en-US" sz="1400" b="0" dirty="0"/>
              <a:t>输出</a:t>
            </a:r>
            <a:r>
              <a:rPr lang="en-US" altLang="en-US" sz="1400" b="0" dirty="0"/>
              <a:t> (</a:t>
            </a:r>
            <a:r>
              <a:rPr lang="zh-CN" altLang="en-US" sz="1400" b="0" dirty="0"/>
              <a:t>情感分析结果、分类结果、业务结果</a:t>
            </a:r>
            <a:r>
              <a:rPr lang="en-US" altLang="en-US" sz="1400" b="0" dirty="0"/>
              <a:t>)</a:t>
            </a:r>
            <a:endParaRPr lang="en-US" altLang="en-US" sz="1400" b="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1335087" y="3977885"/>
            <a:ext cx="9521825" cy="644144"/>
          </a:xfrm>
          <a:prstGeom prst="rect">
            <a:avLst/>
          </a:prstGeom>
        </p:spPr>
        <p:txBody>
          <a:bodyPr wrap="square">
            <a:normAutofit lnSpcReduction="10000"/>
          </a:bodyPr>
          <a:lstStyle/>
          <a:p>
            <a:pPr algn="ctr"/>
            <a:r>
              <a:rPr lang="zh-CN" altLang="en-US" sz="4000" b="1" dirty="0">
                <a:solidFill>
                  <a:schemeClr val="accent1"/>
                </a:solidFill>
                <a:latin typeface="Helvetica" pitchFamily="2" charset="0"/>
                <a:cs typeface="+mn-ea"/>
                <a:sym typeface="+mn-lt"/>
              </a:rPr>
              <a:t>课前须知</a:t>
            </a:r>
            <a:endParaRPr lang="zh-CN" altLang="en-US" sz="4000" b="1" dirty="0">
              <a:solidFill>
                <a:schemeClr val="accent1"/>
              </a:solidFill>
              <a:latin typeface="Helvetica" pitchFamily="2" charset="0"/>
              <a:cs typeface="+mn-ea"/>
              <a:sym typeface="+mn-lt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4819048" y="1319889"/>
            <a:ext cx="2553904" cy="2646878"/>
            <a:chOff x="5865211" y="1319889"/>
            <a:chExt cx="2553904" cy="2646878"/>
          </a:xfrm>
        </p:grpSpPr>
        <p:sp>
          <p:nvSpPr>
            <p:cNvPr id="2" name="文本框 1"/>
            <p:cNvSpPr txBox="1"/>
            <p:nvPr/>
          </p:nvSpPr>
          <p:spPr>
            <a:xfrm>
              <a:off x="5865211" y="1319889"/>
              <a:ext cx="2553904" cy="264687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6600" dirty="0">
                  <a:solidFill>
                    <a:schemeClr val="accent1"/>
                  </a:solidFill>
                  <a:latin typeface="Helvetica" pitchFamily="2" charset="0"/>
                  <a:cs typeface="+mn-ea"/>
                  <a:sym typeface="+mn-lt"/>
                </a:rPr>
                <a:t>02</a:t>
              </a:r>
              <a:endParaRPr lang="zh-CN" altLang="en-US" sz="16600" dirty="0">
                <a:solidFill>
                  <a:schemeClr val="accent1"/>
                </a:solidFill>
                <a:latin typeface="Helvetica" pitchFamily="2" charset="0"/>
                <a:cs typeface="+mn-ea"/>
                <a:sym typeface="+mn-lt"/>
              </a:endParaRPr>
            </a:p>
          </p:txBody>
        </p:sp>
        <p:sp>
          <p:nvSpPr>
            <p:cNvPr id="3" name="文本框 2"/>
            <p:cNvSpPr txBox="1"/>
            <p:nvPr/>
          </p:nvSpPr>
          <p:spPr>
            <a:xfrm>
              <a:off x="5865211" y="2574748"/>
              <a:ext cx="2553904" cy="460375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algn="dist"/>
              <a:r>
                <a:rPr lang="zh-CN" altLang="en-US" sz="2400" dirty="0">
                  <a:solidFill>
                    <a:schemeClr val="accent1"/>
                  </a:solidFill>
                  <a:latin typeface="Helvetica" pitchFamily="2" charset="0"/>
                  <a:cs typeface="Arial" panose="020B0604020202090204" pitchFamily="34" charset="0"/>
                  <a:sym typeface="+mn-lt"/>
                </a:rPr>
                <a:t>第二部分</a:t>
              </a:r>
              <a:r>
                <a:rPr lang="en-US" altLang="zh-CN" sz="2400" dirty="0">
                  <a:solidFill>
                    <a:schemeClr val="accent1"/>
                  </a:solidFill>
                  <a:latin typeface="Helvetica" pitchFamily="2" charset="0"/>
                  <a:cs typeface="Arial" panose="020B0604020202090204" pitchFamily="34" charset="0"/>
                  <a:sym typeface="+mn-lt"/>
                </a:rPr>
                <a:t> </a:t>
              </a:r>
              <a:endParaRPr lang="zh-CN" altLang="en-US" sz="2400" dirty="0">
                <a:solidFill>
                  <a:schemeClr val="accent1"/>
                </a:solidFill>
                <a:latin typeface="Helvetica" pitchFamily="2" charset="0"/>
                <a:cs typeface="Arial" panose="020B0604020202090204" pitchFamily="34" charset="0"/>
                <a:sym typeface="+mn-lt"/>
              </a:endParaRP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从本课程能学到什么</a:t>
            </a:r>
            <a:endParaRPr lang="zh-CN" alt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5AB8F-1C56-49E9-90C8-78D22B0C1B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1091255" y="1482694"/>
            <a:ext cx="10734985" cy="39693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zh-CN" altLang="en-US" b="1" dirty="0"/>
              <a:t>管理科学，即与人相关的学问</a:t>
            </a:r>
            <a:endParaRPr lang="zh-CN" altLang="en-US" b="1" dirty="0"/>
          </a:p>
          <a:p>
            <a:pPr marL="742950" lvl="1" indent="-285750">
              <a:buFont typeface="Arial" panose="020B0604020202090204" pitchFamily="34" charset="0"/>
              <a:buChar char="•"/>
              <a:defRPr/>
            </a:pPr>
            <a:r>
              <a:rPr lang="zh-CN" altLang="en-US" dirty="0"/>
              <a:t>初看浅显，无硬核知识（算法、公式、证明等）</a:t>
            </a:r>
            <a:endParaRPr lang="zh-CN" altLang="en-US" dirty="0"/>
          </a:p>
          <a:p>
            <a:pPr marL="742950" lvl="1" indent="-285750">
              <a:buFont typeface="Arial" panose="020B0604020202090204" pitchFamily="34" charset="0"/>
              <a:buChar char="•"/>
              <a:defRPr/>
            </a:pPr>
            <a:r>
              <a:rPr lang="zh-CN" altLang="en-US" dirty="0"/>
              <a:t>却是整个职业生涯的核心能力</a:t>
            </a:r>
            <a:endParaRPr lang="zh-CN" altLang="en-US" dirty="0"/>
          </a:p>
          <a:p>
            <a:pPr marL="742950" lvl="1" indent="-285750">
              <a:buFont typeface="Arial" panose="020B0604020202090204" pitchFamily="34" charset="0"/>
              <a:buChar char="•"/>
              <a:defRPr/>
            </a:pPr>
            <a:r>
              <a:rPr lang="zh-CN" altLang="en-US" dirty="0"/>
              <a:t>实践出真知</a:t>
            </a:r>
            <a:endParaRPr lang="zh-CN" altLang="en-US" dirty="0"/>
          </a:p>
          <a:p>
            <a:pPr>
              <a:defRPr/>
            </a:pPr>
            <a:endParaRPr lang="zh-CN" altLang="en-US" dirty="0"/>
          </a:p>
          <a:p>
            <a:pPr>
              <a:defRPr/>
            </a:pPr>
            <a:r>
              <a:rPr lang="zh-CN" altLang="en-US" b="1" dirty="0"/>
              <a:t>重战略，而非重战术</a:t>
            </a:r>
            <a:endParaRPr lang="zh-CN" altLang="en-US" b="1" dirty="0"/>
          </a:p>
          <a:p>
            <a:pPr marL="742950" lvl="1" indent="-285750">
              <a:buFont typeface="Arial" panose="020B0604020202090204" pitchFamily="34" charset="0"/>
              <a:buChar char="•"/>
              <a:defRPr/>
            </a:pPr>
            <a:r>
              <a:rPr lang="zh-CN" altLang="en-US" dirty="0"/>
              <a:t>道：</a:t>
            </a:r>
            <a:r>
              <a:rPr lang="en-US" altLang="zh-CN" dirty="0"/>
              <a:t>“</a:t>
            </a:r>
            <a:r>
              <a:rPr lang="zh-CN" altLang="en-US" dirty="0"/>
              <a:t>他强由他强，清风拂山岗。他横任他横，明月照大江</a:t>
            </a:r>
            <a:r>
              <a:rPr lang="en-US" altLang="zh-CN" dirty="0"/>
              <a:t>”——</a:t>
            </a:r>
            <a:r>
              <a:rPr lang="zh-CN" altLang="en-US" dirty="0"/>
              <a:t>《九阳真经》，《倚天屠龙记》</a:t>
            </a:r>
            <a:endParaRPr lang="zh-CN" altLang="en-US" dirty="0"/>
          </a:p>
          <a:p>
            <a:pPr marL="742950" lvl="1" indent="-285750">
              <a:buFont typeface="Arial" panose="020B0604020202090204" pitchFamily="34" charset="0"/>
              <a:buChar char="•"/>
              <a:defRPr/>
            </a:pPr>
            <a:r>
              <a:rPr lang="zh-CN" altLang="en-US" dirty="0"/>
              <a:t>术：</a:t>
            </a:r>
            <a:r>
              <a:rPr lang="en-US" altLang="zh-CN" dirty="0"/>
              <a:t>“</a:t>
            </a:r>
            <a:r>
              <a:rPr lang="zh-CN" altLang="en-US" dirty="0"/>
              <a:t>若要伤他，势须自他右腿</a:t>
            </a:r>
            <a:r>
              <a:rPr lang="en-US" altLang="zh-CN" dirty="0"/>
              <a:t>‘</a:t>
            </a:r>
            <a:r>
              <a:rPr lang="zh-CN" altLang="en-US" dirty="0"/>
              <a:t>风市</a:t>
            </a:r>
            <a:r>
              <a:rPr lang="en-US" altLang="zh-CN" dirty="0"/>
              <a:t>’</a:t>
            </a:r>
            <a:r>
              <a:rPr lang="zh-CN" altLang="en-US" dirty="0"/>
              <a:t>穴与</a:t>
            </a:r>
            <a:r>
              <a:rPr lang="en-US" altLang="zh-CN" dirty="0"/>
              <a:t>‘</a:t>
            </a:r>
            <a:r>
              <a:rPr lang="zh-CN" altLang="en-US" dirty="0"/>
              <a:t>伏兔</a:t>
            </a:r>
            <a:r>
              <a:rPr lang="en-US" altLang="zh-CN" dirty="0"/>
              <a:t>’</a:t>
            </a:r>
            <a:r>
              <a:rPr lang="zh-CN" altLang="en-US" dirty="0"/>
              <a:t>两穴之间入手</a:t>
            </a:r>
            <a:r>
              <a:rPr lang="en-US" altLang="zh-CN" dirty="0"/>
              <a:t>”—— </a:t>
            </a:r>
            <a:r>
              <a:rPr lang="zh-CN" altLang="en-US" dirty="0"/>
              <a:t>王语嫣，《天龙八部》</a:t>
            </a:r>
            <a:endParaRPr lang="zh-CN" altLang="en-US" dirty="0"/>
          </a:p>
          <a:p>
            <a:pPr marL="742950" lvl="1" indent="-285750">
              <a:buFont typeface="Arial" panose="020B0604020202090204" pitchFamily="34" charset="0"/>
              <a:buChar char="•"/>
              <a:defRPr/>
            </a:pPr>
            <a:r>
              <a:rPr lang="zh-CN" altLang="en-US" dirty="0"/>
              <a:t>得意忘形：不拘泥于形式，牢记核心原则</a:t>
            </a:r>
            <a:endParaRPr lang="zh-CN" altLang="en-US" dirty="0"/>
          </a:p>
          <a:p>
            <a:pPr>
              <a:defRPr/>
            </a:pPr>
            <a:endParaRPr lang="zh-CN" altLang="en-US" dirty="0"/>
          </a:p>
          <a:p>
            <a:pPr>
              <a:defRPr/>
            </a:pPr>
            <a:r>
              <a:rPr lang="zh-CN" altLang="en-US" b="1" dirty="0"/>
              <a:t>团队协作</a:t>
            </a:r>
            <a:endParaRPr lang="zh-CN" altLang="en-US" b="1" dirty="0"/>
          </a:p>
          <a:p>
            <a:pPr marL="742950" lvl="1" indent="-285750">
              <a:buFont typeface="Arial" panose="020B0604020202090204" pitchFamily="34" charset="0"/>
              <a:buChar char="•"/>
              <a:defRPr/>
            </a:pPr>
            <a:r>
              <a:rPr lang="zh-CN" altLang="en-US" dirty="0"/>
              <a:t>学会和光同尘：你从来都不是一个人，也不该孤身前行</a:t>
            </a:r>
            <a:endParaRPr lang="zh-CN" altLang="en-US" dirty="0"/>
          </a:p>
          <a:p>
            <a:pPr marL="742950" lvl="1" indent="-285750">
              <a:buFont typeface="Arial" panose="020B0604020202090204" pitchFamily="34" charset="0"/>
              <a:buChar char="•"/>
              <a:defRPr/>
            </a:pPr>
            <a:r>
              <a:rPr lang="zh-CN" altLang="en-US" dirty="0"/>
              <a:t>学会与不同背景（教育、文化、目标等）的人沟通</a:t>
            </a:r>
            <a:endParaRPr lang="zh-CN" altLang="en-US" dirty="0"/>
          </a:p>
          <a:p>
            <a:pPr marL="742950" lvl="1" indent="-285750">
              <a:buFont typeface="Arial" panose="020B0604020202090204" pitchFamily="34" charset="0"/>
              <a:buChar char="•"/>
              <a:defRPr/>
            </a:pPr>
            <a:r>
              <a:rPr lang="zh-CN" altLang="en-US" dirty="0"/>
              <a:t>懂得妥协与坚守底线：能落地交付的产品，才是成功的产品</a:t>
            </a:r>
            <a:endParaRPr lang="zh-CN" alt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091255" y="237834"/>
            <a:ext cx="8168208" cy="790865"/>
          </a:xfrm>
        </p:spPr>
        <p:txBody>
          <a:bodyPr/>
          <a:lstStyle/>
          <a:p>
            <a:r>
              <a:rPr lang="zh-CN" altLang="en-US" dirty="0">
                <a:ea typeface="+mn-ea"/>
                <a:cs typeface="+mn-ea"/>
                <a:sym typeface="+mn-lt"/>
              </a:rPr>
              <a:t>软件工程师的真实工作日常</a:t>
            </a:r>
            <a:endParaRPr lang="zh-CN" altLang="en-US" dirty="0">
              <a:ea typeface="+mn-ea"/>
              <a:cs typeface="+mn-ea"/>
              <a:sym typeface="+mn-lt"/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>
          <a:xfrm>
            <a:off x="8746825" y="6356349"/>
            <a:ext cx="2743200" cy="365125"/>
          </a:xfrm>
        </p:spPr>
        <p:txBody>
          <a:bodyPr/>
          <a:lstStyle/>
          <a:p>
            <a:fld id="{2515AB8F-1C56-49E9-90C8-78D22B0C1B97}" type="slidenum">
              <a:rPr lang="zh-CN" altLang="en-US" smtClean="0">
                <a:latin typeface="Helvetica" pitchFamily="2" charset="0"/>
                <a:cs typeface="+mn-ea"/>
                <a:sym typeface="+mn-lt"/>
              </a:rPr>
            </a:fld>
            <a:endParaRPr lang="zh-CN" altLang="en-US" dirty="0">
              <a:latin typeface="Helvetica" pitchFamily="2" charset="0"/>
              <a:cs typeface="+mn-ea"/>
              <a:sym typeface="+mn-lt"/>
            </a:endParaRPr>
          </a:p>
        </p:txBody>
      </p:sp>
      <p:sp>
        <p:nvSpPr>
          <p:cNvPr id="12" name="îŝḻíďê"/>
          <p:cNvSpPr txBox="1"/>
          <p:nvPr/>
        </p:nvSpPr>
        <p:spPr>
          <a:xfrm flipH="1">
            <a:off x="1091253" y="1934408"/>
            <a:ext cx="4116080" cy="1381816"/>
          </a:xfrm>
          <a:prstGeom prst="rect">
            <a:avLst/>
          </a:prstGeom>
          <a:noFill/>
          <a:scene3d>
            <a:camera prst="perspectiveLeft">
              <a:rot lat="0" lon="0" rev="0"/>
            </a:camera>
            <a:lightRig rig="threePt" dir="t"/>
          </a:scene3d>
        </p:spPr>
        <p:txBody>
          <a:bodyPr wrap="square" lIns="91440" tIns="45720" rIns="91440" bIns="4572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>
              <a:lnSpc>
                <a:spcPct val="120000"/>
              </a:lnSpc>
            </a:pPr>
            <a:r>
              <a:rPr lang="zh-CN" altLang="en-US" sz="2200" dirty="0">
                <a:latin typeface="Helvetica" pitchFamily="2" charset="0"/>
                <a:cs typeface="+mn-ea"/>
                <a:sym typeface="+mn-lt"/>
              </a:rPr>
              <a:t>编码</a:t>
            </a:r>
            <a:endParaRPr lang="zh-CN" altLang="en-US" sz="2200" dirty="0">
              <a:latin typeface="Helvetica" pitchFamily="2" charset="0"/>
              <a:cs typeface="+mn-ea"/>
              <a:sym typeface="+mn-lt"/>
            </a:endParaRPr>
          </a:p>
          <a:p>
            <a:pPr>
              <a:lnSpc>
                <a:spcPct val="120000"/>
              </a:lnSpc>
            </a:pPr>
            <a:r>
              <a:rPr lang="zh-CN" altLang="en-US" sz="2200" dirty="0">
                <a:latin typeface="Helvetica" pitchFamily="2" charset="0"/>
                <a:cs typeface="+mn-ea"/>
                <a:sym typeface="+mn-lt"/>
              </a:rPr>
              <a:t>建模</a:t>
            </a:r>
            <a:endParaRPr lang="zh-CN" altLang="en-US" sz="2200" dirty="0">
              <a:latin typeface="Helvetica" pitchFamily="2" charset="0"/>
              <a:cs typeface="+mn-ea"/>
              <a:sym typeface="+mn-lt"/>
            </a:endParaRPr>
          </a:p>
          <a:p>
            <a:pPr>
              <a:lnSpc>
                <a:spcPct val="120000"/>
              </a:lnSpc>
            </a:pPr>
            <a:r>
              <a:rPr lang="zh-CN" altLang="en-US" sz="2200" dirty="0">
                <a:latin typeface="Helvetica" pitchFamily="2" charset="0"/>
                <a:cs typeface="+mn-ea"/>
                <a:sym typeface="+mn-lt"/>
              </a:rPr>
              <a:t>算法设计</a:t>
            </a:r>
            <a:endParaRPr lang="zh-CN" altLang="en-US" sz="2200" dirty="0">
              <a:latin typeface="Helvetica" pitchFamily="2" charset="0"/>
              <a:cs typeface="+mn-ea"/>
              <a:sym typeface="+mn-lt"/>
            </a:endParaRPr>
          </a:p>
          <a:p>
            <a:pPr>
              <a:lnSpc>
                <a:spcPct val="120000"/>
              </a:lnSpc>
            </a:pPr>
            <a:endParaRPr lang="zh-CN" altLang="en-US" sz="2200" dirty="0">
              <a:latin typeface="Helvetica" pitchFamily="2" charset="0"/>
              <a:cs typeface="+mn-ea"/>
              <a:sym typeface="+mn-lt"/>
            </a:endParaRPr>
          </a:p>
        </p:txBody>
      </p:sp>
      <p:sp>
        <p:nvSpPr>
          <p:cNvPr id="13" name="iṥ1íďe"/>
          <p:cNvSpPr/>
          <p:nvPr/>
        </p:nvSpPr>
        <p:spPr>
          <a:xfrm flipH="1">
            <a:off x="1383884" y="1277893"/>
            <a:ext cx="4116081" cy="610863"/>
          </a:xfrm>
          <a:prstGeom prst="rect">
            <a:avLst/>
          </a:prstGeom>
          <a:scene3d>
            <a:camera prst="perspectiveLeft">
              <a:rot lat="0" lon="0" rev="0"/>
            </a:camera>
            <a:lightRig rig="threePt" dir="t"/>
          </a:scene3d>
        </p:spPr>
        <p:txBody>
          <a:bodyPr wrap="square" lIns="91440" tIns="45720" rIns="91440" bIns="45720" anchor="t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>
              <a:lnSpc>
                <a:spcPct val="130000"/>
              </a:lnSpc>
            </a:pPr>
            <a:r>
              <a:rPr lang="zh-CN" altLang="en-US" sz="2200" b="1" dirty="0">
                <a:latin typeface="Helvetica" pitchFamily="2" charset="0"/>
                <a:cs typeface="+mn-ea"/>
                <a:sym typeface="+mn-lt"/>
              </a:rPr>
              <a:t>你以为的软件开发：</a:t>
            </a:r>
            <a:endParaRPr lang="zh-CN" altLang="en-US" sz="2200" b="1" dirty="0">
              <a:latin typeface="Helvetica" pitchFamily="2" charset="0"/>
              <a:cs typeface="+mn-ea"/>
              <a:sym typeface="+mn-lt"/>
            </a:endParaRPr>
          </a:p>
        </p:txBody>
      </p:sp>
      <p:sp>
        <p:nvSpPr>
          <p:cNvPr id="18" name="light-bulb-inside-circle_62843"/>
          <p:cNvSpPr>
            <a:spLocks noChangeAspect="1"/>
          </p:cNvSpPr>
          <p:nvPr/>
        </p:nvSpPr>
        <p:spPr bwMode="auto">
          <a:xfrm>
            <a:off x="879122" y="1308732"/>
            <a:ext cx="504762" cy="504000"/>
          </a:xfrm>
          <a:custGeom>
            <a:avLst/>
            <a:gdLst>
              <a:gd name="T0" fmla="*/ 472622 w 604011"/>
              <a:gd name="T1" fmla="*/ 472622 w 604011"/>
              <a:gd name="T2" fmla="*/ 472622 w 604011"/>
              <a:gd name="T3" fmla="*/ 472622 w 604011"/>
              <a:gd name="T4" fmla="*/ 472622 w 604011"/>
              <a:gd name="T5" fmla="*/ 472622 w 604011"/>
              <a:gd name="T6" fmla="*/ 472622 w 604011"/>
              <a:gd name="T7" fmla="*/ 472622 w 604011"/>
              <a:gd name="T8" fmla="*/ 472622 w 604011"/>
              <a:gd name="T9" fmla="*/ 472622 w 604011"/>
              <a:gd name="T10" fmla="*/ 472622 w 604011"/>
              <a:gd name="T11" fmla="*/ 472622 w 604011"/>
              <a:gd name="T12" fmla="*/ 472622 w 604011"/>
              <a:gd name="T13" fmla="*/ 472622 w 604011"/>
              <a:gd name="T14" fmla="*/ 472622 w 604011"/>
              <a:gd name="T15" fmla="*/ 472622 w 604011"/>
              <a:gd name="T16" fmla="*/ 472622 w 604011"/>
              <a:gd name="T17" fmla="*/ 472622 w 604011"/>
              <a:gd name="T18" fmla="*/ 472622 w 604011"/>
              <a:gd name="T19" fmla="*/ 472622 w 604011"/>
              <a:gd name="T20" fmla="*/ 472622 w 604011"/>
              <a:gd name="T21" fmla="*/ 472622 w 604011"/>
              <a:gd name="T22" fmla="*/ 472622 w 604011"/>
              <a:gd name="T23" fmla="*/ 472622 w 604011"/>
              <a:gd name="T24" fmla="*/ 472622 w 604011"/>
              <a:gd name="T25" fmla="*/ 472622 w 604011"/>
              <a:gd name="T26" fmla="*/ 472622 w 604011"/>
              <a:gd name="T27" fmla="*/ 472622 w 604011"/>
              <a:gd name="T28" fmla="*/ 472622 w 604011"/>
              <a:gd name="T29" fmla="*/ 472622 w 604011"/>
              <a:gd name="T30" fmla="*/ 472622 w 604011"/>
              <a:gd name="T31" fmla="*/ 472622 w 604011"/>
              <a:gd name="T32" fmla="*/ 472622 w 604011"/>
              <a:gd name="T33" fmla="*/ 472622 w 604011"/>
              <a:gd name="T34" fmla="*/ 472622 w 604011"/>
              <a:gd name="T35" fmla="*/ 472622 w 604011"/>
              <a:gd name="T36" fmla="*/ 472622 w 604011"/>
              <a:gd name="T37" fmla="*/ 472622 w 604011"/>
              <a:gd name="T38" fmla="*/ 472622 w 604011"/>
              <a:gd name="T39" fmla="*/ 472622 w 604011"/>
              <a:gd name="T40" fmla="*/ 472622 w 604011"/>
              <a:gd name="T41" fmla="*/ 472622 w 604011"/>
              <a:gd name="T42" fmla="*/ 472622 w 604011"/>
              <a:gd name="T43" fmla="*/ 472622 w 604011"/>
              <a:gd name="T44" fmla="*/ 472622 w 604011"/>
              <a:gd name="T45" fmla="*/ 472622 w 604011"/>
              <a:gd name="T46" fmla="*/ 472622 w 604011"/>
              <a:gd name="T47" fmla="*/ 472622 w 604011"/>
              <a:gd name="T48" fmla="*/ 472622 w 604011"/>
              <a:gd name="T49" fmla="*/ 472622 w 604011"/>
              <a:gd name="T50" fmla="*/ 472622 w 604011"/>
              <a:gd name="T51" fmla="*/ 472622 w 604011"/>
              <a:gd name="T52" fmla="*/ 472622 w 604011"/>
              <a:gd name="T53" fmla="*/ 472622 w 604011"/>
              <a:gd name="T54" fmla="*/ 472622 w 604011"/>
              <a:gd name="T55" fmla="*/ 472622 w 604011"/>
              <a:gd name="T56" fmla="*/ 472622 w 604011"/>
              <a:gd name="T57" fmla="*/ 472622 w 604011"/>
              <a:gd name="T58" fmla="*/ 472622 w 604011"/>
              <a:gd name="T59" fmla="*/ 472622 w 604011"/>
              <a:gd name="T60" fmla="*/ 472622 w 604011"/>
              <a:gd name="T61" fmla="*/ 472622 w 604011"/>
              <a:gd name="T62" fmla="*/ 472622 w 604011"/>
              <a:gd name="T63" fmla="*/ 472622 w 604011"/>
              <a:gd name="T64" fmla="*/ 472622 w 604011"/>
              <a:gd name="T65" fmla="*/ 472622 w 60401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</a:cxnLst>
            <a:rect l="0" t="0" r="r" b="b"/>
            <a:pathLst>
              <a:path w="6027" h="6027">
                <a:moveTo>
                  <a:pt x="3013" y="0"/>
                </a:moveTo>
                <a:cubicBezTo>
                  <a:pt x="1349" y="0"/>
                  <a:pt x="0" y="1349"/>
                  <a:pt x="0" y="3013"/>
                </a:cubicBezTo>
                <a:cubicBezTo>
                  <a:pt x="0" y="4678"/>
                  <a:pt x="1349" y="6027"/>
                  <a:pt x="3013" y="6027"/>
                </a:cubicBezTo>
                <a:cubicBezTo>
                  <a:pt x="4678" y="6027"/>
                  <a:pt x="6027" y="4678"/>
                  <a:pt x="6027" y="3013"/>
                </a:cubicBezTo>
                <a:cubicBezTo>
                  <a:pt x="6027" y="1349"/>
                  <a:pt x="4678" y="0"/>
                  <a:pt x="3013" y="0"/>
                </a:cubicBezTo>
                <a:close/>
                <a:moveTo>
                  <a:pt x="2873" y="1426"/>
                </a:moveTo>
                <a:lnTo>
                  <a:pt x="2873" y="1040"/>
                </a:lnTo>
                <a:cubicBezTo>
                  <a:pt x="2873" y="962"/>
                  <a:pt x="2936" y="899"/>
                  <a:pt x="3013" y="899"/>
                </a:cubicBezTo>
                <a:cubicBezTo>
                  <a:pt x="3091" y="899"/>
                  <a:pt x="3154" y="962"/>
                  <a:pt x="3154" y="1040"/>
                </a:cubicBezTo>
                <a:lnTo>
                  <a:pt x="3154" y="1426"/>
                </a:lnTo>
                <a:lnTo>
                  <a:pt x="3154" y="1426"/>
                </a:lnTo>
                <a:cubicBezTo>
                  <a:pt x="3154" y="1503"/>
                  <a:pt x="3091" y="1566"/>
                  <a:pt x="3013" y="1566"/>
                </a:cubicBezTo>
                <a:cubicBezTo>
                  <a:pt x="2936" y="1566"/>
                  <a:pt x="2873" y="1503"/>
                  <a:pt x="2873" y="1426"/>
                </a:cubicBezTo>
                <a:lnTo>
                  <a:pt x="2873" y="1426"/>
                </a:lnTo>
                <a:close/>
                <a:moveTo>
                  <a:pt x="1688" y="2678"/>
                </a:moveTo>
                <a:cubicBezTo>
                  <a:pt x="1676" y="2746"/>
                  <a:pt x="1617" y="2794"/>
                  <a:pt x="1550" y="2794"/>
                </a:cubicBezTo>
                <a:cubicBezTo>
                  <a:pt x="1542" y="2794"/>
                  <a:pt x="1534" y="2793"/>
                  <a:pt x="1525" y="2792"/>
                </a:cubicBezTo>
                <a:lnTo>
                  <a:pt x="1145" y="2725"/>
                </a:lnTo>
                <a:cubicBezTo>
                  <a:pt x="1069" y="2711"/>
                  <a:pt x="1018" y="2639"/>
                  <a:pt x="1031" y="2563"/>
                </a:cubicBezTo>
                <a:cubicBezTo>
                  <a:pt x="1045" y="2486"/>
                  <a:pt x="1117" y="2435"/>
                  <a:pt x="1194" y="2449"/>
                </a:cubicBezTo>
                <a:lnTo>
                  <a:pt x="1574" y="2516"/>
                </a:lnTo>
                <a:cubicBezTo>
                  <a:pt x="1650" y="2529"/>
                  <a:pt x="1701" y="2602"/>
                  <a:pt x="1688" y="2678"/>
                </a:cubicBezTo>
                <a:close/>
                <a:moveTo>
                  <a:pt x="1951" y="1864"/>
                </a:moveTo>
                <a:lnTo>
                  <a:pt x="1702" y="1568"/>
                </a:lnTo>
                <a:cubicBezTo>
                  <a:pt x="1653" y="1508"/>
                  <a:pt x="1660" y="1420"/>
                  <a:pt x="1720" y="1370"/>
                </a:cubicBezTo>
                <a:cubicBezTo>
                  <a:pt x="1779" y="1320"/>
                  <a:pt x="1867" y="1328"/>
                  <a:pt x="1917" y="1387"/>
                </a:cubicBezTo>
                <a:lnTo>
                  <a:pt x="2166" y="1683"/>
                </a:lnTo>
                <a:cubicBezTo>
                  <a:pt x="2215" y="1743"/>
                  <a:pt x="2208" y="1831"/>
                  <a:pt x="2148" y="1881"/>
                </a:cubicBezTo>
                <a:cubicBezTo>
                  <a:pt x="2122" y="1903"/>
                  <a:pt x="2090" y="1914"/>
                  <a:pt x="2058" y="1914"/>
                </a:cubicBezTo>
                <a:cubicBezTo>
                  <a:pt x="2018" y="1914"/>
                  <a:pt x="1978" y="1897"/>
                  <a:pt x="1951" y="1864"/>
                </a:cubicBezTo>
                <a:close/>
                <a:moveTo>
                  <a:pt x="3762" y="3693"/>
                </a:moveTo>
                <a:cubicBezTo>
                  <a:pt x="3644" y="3867"/>
                  <a:pt x="3522" y="4046"/>
                  <a:pt x="3514" y="4288"/>
                </a:cubicBezTo>
                <a:cubicBezTo>
                  <a:pt x="3512" y="4348"/>
                  <a:pt x="3470" y="4397"/>
                  <a:pt x="3413" y="4410"/>
                </a:cubicBezTo>
                <a:cubicBezTo>
                  <a:pt x="3466" y="4426"/>
                  <a:pt x="3503" y="4474"/>
                  <a:pt x="3503" y="4532"/>
                </a:cubicBezTo>
                <a:cubicBezTo>
                  <a:pt x="3503" y="4583"/>
                  <a:pt x="3474" y="4626"/>
                  <a:pt x="3431" y="4647"/>
                </a:cubicBezTo>
                <a:cubicBezTo>
                  <a:pt x="3474" y="4668"/>
                  <a:pt x="3503" y="4712"/>
                  <a:pt x="3503" y="4762"/>
                </a:cubicBezTo>
                <a:cubicBezTo>
                  <a:pt x="3503" y="4833"/>
                  <a:pt x="3446" y="4891"/>
                  <a:pt x="3375" y="4891"/>
                </a:cubicBezTo>
                <a:lnTo>
                  <a:pt x="3297" y="4891"/>
                </a:lnTo>
                <a:cubicBezTo>
                  <a:pt x="3273" y="5025"/>
                  <a:pt x="3155" y="5127"/>
                  <a:pt x="3013" y="5127"/>
                </a:cubicBezTo>
                <a:cubicBezTo>
                  <a:pt x="2872" y="5127"/>
                  <a:pt x="2754" y="5025"/>
                  <a:pt x="2730" y="4891"/>
                </a:cubicBezTo>
                <a:lnTo>
                  <a:pt x="2652" y="4891"/>
                </a:lnTo>
                <a:cubicBezTo>
                  <a:pt x="2581" y="4891"/>
                  <a:pt x="2523" y="4833"/>
                  <a:pt x="2523" y="4762"/>
                </a:cubicBezTo>
                <a:cubicBezTo>
                  <a:pt x="2523" y="4712"/>
                  <a:pt x="2553" y="4668"/>
                  <a:pt x="2596" y="4647"/>
                </a:cubicBezTo>
                <a:cubicBezTo>
                  <a:pt x="2553" y="4626"/>
                  <a:pt x="2523" y="4583"/>
                  <a:pt x="2523" y="4532"/>
                </a:cubicBezTo>
                <a:cubicBezTo>
                  <a:pt x="2523" y="4474"/>
                  <a:pt x="2562" y="4425"/>
                  <a:pt x="2614" y="4409"/>
                </a:cubicBezTo>
                <a:cubicBezTo>
                  <a:pt x="2558" y="4397"/>
                  <a:pt x="2515" y="4348"/>
                  <a:pt x="2513" y="4288"/>
                </a:cubicBezTo>
                <a:cubicBezTo>
                  <a:pt x="2506" y="4046"/>
                  <a:pt x="2383" y="3866"/>
                  <a:pt x="2265" y="3693"/>
                </a:cubicBezTo>
                <a:cubicBezTo>
                  <a:pt x="2123" y="3485"/>
                  <a:pt x="1976" y="3270"/>
                  <a:pt x="1976" y="2891"/>
                </a:cubicBezTo>
                <a:cubicBezTo>
                  <a:pt x="1976" y="2348"/>
                  <a:pt x="2442" y="1906"/>
                  <a:pt x="3013" y="1906"/>
                </a:cubicBezTo>
                <a:cubicBezTo>
                  <a:pt x="3585" y="1906"/>
                  <a:pt x="4050" y="2348"/>
                  <a:pt x="4050" y="2891"/>
                </a:cubicBezTo>
                <a:cubicBezTo>
                  <a:pt x="4050" y="3270"/>
                  <a:pt x="3904" y="3485"/>
                  <a:pt x="3762" y="3693"/>
                </a:cubicBezTo>
                <a:close/>
                <a:moveTo>
                  <a:pt x="4076" y="1864"/>
                </a:moveTo>
                <a:cubicBezTo>
                  <a:pt x="4048" y="1897"/>
                  <a:pt x="4009" y="1914"/>
                  <a:pt x="3969" y="1914"/>
                </a:cubicBezTo>
                <a:cubicBezTo>
                  <a:pt x="3937" y="1914"/>
                  <a:pt x="3905" y="1903"/>
                  <a:pt x="3879" y="1881"/>
                </a:cubicBezTo>
                <a:cubicBezTo>
                  <a:pt x="3819" y="1831"/>
                  <a:pt x="3812" y="1743"/>
                  <a:pt x="3861" y="1683"/>
                </a:cubicBezTo>
                <a:lnTo>
                  <a:pt x="4110" y="1387"/>
                </a:lnTo>
                <a:cubicBezTo>
                  <a:pt x="4159" y="1328"/>
                  <a:pt x="4248" y="1320"/>
                  <a:pt x="4307" y="1370"/>
                </a:cubicBezTo>
                <a:cubicBezTo>
                  <a:pt x="4366" y="1420"/>
                  <a:pt x="4374" y="1508"/>
                  <a:pt x="4324" y="1568"/>
                </a:cubicBezTo>
                <a:lnTo>
                  <a:pt x="4076" y="1864"/>
                </a:lnTo>
                <a:close/>
                <a:moveTo>
                  <a:pt x="4882" y="2725"/>
                </a:moveTo>
                <a:lnTo>
                  <a:pt x="4501" y="2792"/>
                </a:lnTo>
                <a:cubicBezTo>
                  <a:pt x="4493" y="2793"/>
                  <a:pt x="4485" y="2794"/>
                  <a:pt x="4477" y="2794"/>
                </a:cubicBezTo>
                <a:cubicBezTo>
                  <a:pt x="4410" y="2794"/>
                  <a:pt x="4351" y="2746"/>
                  <a:pt x="4339" y="2678"/>
                </a:cubicBezTo>
                <a:cubicBezTo>
                  <a:pt x="4325" y="2602"/>
                  <a:pt x="4376" y="2529"/>
                  <a:pt x="4453" y="2516"/>
                </a:cubicBezTo>
                <a:lnTo>
                  <a:pt x="4833" y="2449"/>
                </a:lnTo>
                <a:cubicBezTo>
                  <a:pt x="4909" y="2435"/>
                  <a:pt x="4982" y="2486"/>
                  <a:pt x="4996" y="2563"/>
                </a:cubicBezTo>
                <a:cubicBezTo>
                  <a:pt x="5009" y="2639"/>
                  <a:pt x="4958" y="2711"/>
                  <a:pt x="4882" y="2725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zh-CN" altLang="en-US">
              <a:latin typeface="Helvetica" pitchFamily="2" charset="0"/>
              <a:cs typeface="+mn-ea"/>
              <a:sym typeface="+mn-lt"/>
            </a:endParaRPr>
          </a:p>
        </p:txBody>
      </p:sp>
      <p:sp>
        <p:nvSpPr>
          <p:cNvPr id="4" name="light-bulb_62830"/>
          <p:cNvSpPr>
            <a:spLocks noChangeAspect="1"/>
          </p:cNvSpPr>
          <p:nvPr/>
        </p:nvSpPr>
        <p:spPr bwMode="auto">
          <a:xfrm>
            <a:off x="879122" y="3885035"/>
            <a:ext cx="504163" cy="504000"/>
          </a:xfrm>
          <a:custGeom>
            <a:avLst/>
            <a:gdLst>
              <a:gd name="connsiteX0" fmla="*/ 291327 w 608430"/>
              <a:gd name="connsiteY0" fmla="*/ 232337 h 608239"/>
              <a:gd name="connsiteX1" fmla="*/ 296219 w 608430"/>
              <a:gd name="connsiteY1" fmla="*/ 235039 h 608239"/>
              <a:gd name="connsiteX2" fmla="*/ 304232 w 608430"/>
              <a:gd name="connsiteY2" fmla="*/ 238780 h 608239"/>
              <a:gd name="connsiteX3" fmla="*/ 312246 w 608430"/>
              <a:gd name="connsiteY3" fmla="*/ 235039 h 608239"/>
              <a:gd name="connsiteX4" fmla="*/ 317241 w 608430"/>
              <a:gd name="connsiteY4" fmla="*/ 232337 h 608239"/>
              <a:gd name="connsiteX5" fmla="*/ 323173 w 608430"/>
              <a:gd name="connsiteY5" fmla="*/ 235454 h 608239"/>
              <a:gd name="connsiteX6" fmla="*/ 325359 w 608430"/>
              <a:gd name="connsiteY6" fmla="*/ 242936 h 608239"/>
              <a:gd name="connsiteX7" fmla="*/ 304232 w 608430"/>
              <a:gd name="connsiteY7" fmla="*/ 363165 h 608239"/>
              <a:gd name="connsiteX8" fmla="*/ 283106 w 608430"/>
              <a:gd name="connsiteY8" fmla="*/ 243040 h 608239"/>
              <a:gd name="connsiteX9" fmla="*/ 285499 w 608430"/>
              <a:gd name="connsiteY9" fmla="*/ 235454 h 608239"/>
              <a:gd name="connsiteX10" fmla="*/ 291327 w 608430"/>
              <a:gd name="connsiteY10" fmla="*/ 232337 h 608239"/>
              <a:gd name="connsiteX11" fmla="*/ 304233 w 608430"/>
              <a:gd name="connsiteY11" fmla="*/ 124019 h 608239"/>
              <a:gd name="connsiteX12" fmla="*/ 408192 w 608430"/>
              <a:gd name="connsiteY12" fmla="*/ 220890 h 608239"/>
              <a:gd name="connsiteX13" fmla="*/ 375724 w 608430"/>
              <a:gd name="connsiteY13" fmla="*/ 308406 h 608239"/>
              <a:gd name="connsiteX14" fmla="*/ 338366 w 608430"/>
              <a:gd name="connsiteY14" fmla="*/ 389063 h 608239"/>
              <a:gd name="connsiteX15" fmla="*/ 320779 w 608430"/>
              <a:gd name="connsiteY15" fmla="*/ 389063 h 608239"/>
              <a:gd name="connsiteX16" fmla="*/ 345858 w 608430"/>
              <a:gd name="connsiteY16" fmla="*/ 246459 h 608239"/>
              <a:gd name="connsiteX17" fmla="*/ 345962 w 608430"/>
              <a:gd name="connsiteY17" fmla="*/ 246147 h 608239"/>
              <a:gd name="connsiteX18" fmla="*/ 338990 w 608430"/>
              <a:gd name="connsiteY18" fmla="*/ 221825 h 608239"/>
              <a:gd name="connsiteX19" fmla="*/ 317241 w 608430"/>
              <a:gd name="connsiteY19" fmla="*/ 211535 h 608239"/>
              <a:gd name="connsiteX20" fmla="*/ 304233 w 608430"/>
              <a:gd name="connsiteY20" fmla="*/ 214965 h 608239"/>
              <a:gd name="connsiteX21" fmla="*/ 291329 w 608430"/>
              <a:gd name="connsiteY21" fmla="*/ 211535 h 608239"/>
              <a:gd name="connsiteX22" fmla="*/ 269788 w 608430"/>
              <a:gd name="connsiteY22" fmla="*/ 221929 h 608239"/>
              <a:gd name="connsiteX23" fmla="*/ 262503 w 608430"/>
              <a:gd name="connsiteY23" fmla="*/ 246147 h 608239"/>
              <a:gd name="connsiteX24" fmla="*/ 262607 w 608430"/>
              <a:gd name="connsiteY24" fmla="*/ 246459 h 608239"/>
              <a:gd name="connsiteX25" fmla="*/ 287687 w 608430"/>
              <a:gd name="connsiteY25" fmla="*/ 389063 h 608239"/>
              <a:gd name="connsiteX26" fmla="*/ 270204 w 608430"/>
              <a:gd name="connsiteY26" fmla="*/ 389063 h 608239"/>
              <a:gd name="connsiteX27" fmla="*/ 232845 w 608430"/>
              <a:gd name="connsiteY27" fmla="*/ 308303 h 608239"/>
              <a:gd name="connsiteX28" fmla="*/ 200377 w 608430"/>
              <a:gd name="connsiteY28" fmla="*/ 220890 h 608239"/>
              <a:gd name="connsiteX29" fmla="*/ 304233 w 608430"/>
              <a:gd name="connsiteY29" fmla="*/ 124019 h 608239"/>
              <a:gd name="connsiteX30" fmla="*/ 304195 w 608430"/>
              <a:gd name="connsiteY30" fmla="*/ 89961 h 608239"/>
              <a:gd name="connsiteX31" fmla="*/ 166184 w 608430"/>
              <a:gd name="connsiteY31" fmla="*/ 220907 h 608239"/>
              <a:gd name="connsiteX32" fmla="*/ 204590 w 608430"/>
              <a:gd name="connsiteY32" fmla="*/ 327535 h 608239"/>
              <a:gd name="connsiteX33" fmla="*/ 237688 w 608430"/>
              <a:gd name="connsiteY33" fmla="*/ 406623 h 608239"/>
              <a:gd name="connsiteX34" fmla="*/ 251114 w 608430"/>
              <a:gd name="connsiteY34" fmla="*/ 422731 h 608239"/>
              <a:gd name="connsiteX35" fmla="*/ 239041 w 608430"/>
              <a:gd name="connsiteY35" fmla="*/ 438944 h 608239"/>
              <a:gd name="connsiteX36" fmla="*/ 248720 w 608430"/>
              <a:gd name="connsiteY36" fmla="*/ 454325 h 608239"/>
              <a:gd name="connsiteX37" fmla="*/ 239041 w 608430"/>
              <a:gd name="connsiteY37" fmla="*/ 469602 h 608239"/>
              <a:gd name="connsiteX38" fmla="*/ 256110 w 608430"/>
              <a:gd name="connsiteY38" fmla="*/ 486646 h 608239"/>
              <a:gd name="connsiteX39" fmla="*/ 266518 w 608430"/>
              <a:gd name="connsiteY39" fmla="*/ 486646 h 608239"/>
              <a:gd name="connsiteX40" fmla="*/ 304195 w 608430"/>
              <a:gd name="connsiteY40" fmla="*/ 518135 h 608239"/>
              <a:gd name="connsiteX41" fmla="*/ 341977 w 608430"/>
              <a:gd name="connsiteY41" fmla="*/ 486646 h 608239"/>
              <a:gd name="connsiteX42" fmla="*/ 352385 w 608430"/>
              <a:gd name="connsiteY42" fmla="*/ 486646 h 608239"/>
              <a:gd name="connsiteX43" fmla="*/ 369454 w 608430"/>
              <a:gd name="connsiteY43" fmla="*/ 469602 h 608239"/>
              <a:gd name="connsiteX44" fmla="*/ 359774 w 608430"/>
              <a:gd name="connsiteY44" fmla="*/ 454325 h 608239"/>
              <a:gd name="connsiteX45" fmla="*/ 369454 w 608430"/>
              <a:gd name="connsiteY45" fmla="*/ 438944 h 608239"/>
              <a:gd name="connsiteX46" fmla="*/ 357485 w 608430"/>
              <a:gd name="connsiteY46" fmla="*/ 422731 h 608239"/>
              <a:gd name="connsiteX47" fmla="*/ 370911 w 608430"/>
              <a:gd name="connsiteY47" fmla="*/ 406623 h 608239"/>
              <a:gd name="connsiteX48" fmla="*/ 403905 w 608430"/>
              <a:gd name="connsiteY48" fmla="*/ 327535 h 608239"/>
              <a:gd name="connsiteX49" fmla="*/ 442206 w 608430"/>
              <a:gd name="connsiteY49" fmla="*/ 220907 h 608239"/>
              <a:gd name="connsiteX50" fmla="*/ 304195 w 608430"/>
              <a:gd name="connsiteY50" fmla="*/ 89961 h 608239"/>
              <a:gd name="connsiteX51" fmla="*/ 341872 w 608430"/>
              <a:gd name="connsiteY51" fmla="*/ 65 h 608239"/>
              <a:gd name="connsiteX52" fmla="*/ 347077 w 608430"/>
              <a:gd name="connsiteY52" fmla="*/ 3598 h 608239"/>
              <a:gd name="connsiteX53" fmla="*/ 401719 w 608430"/>
              <a:gd name="connsiteY53" fmla="*/ 46416 h 608239"/>
              <a:gd name="connsiteX54" fmla="*/ 443351 w 608430"/>
              <a:gd name="connsiteY54" fmla="*/ 34776 h 608239"/>
              <a:gd name="connsiteX55" fmla="*/ 449700 w 608430"/>
              <a:gd name="connsiteY55" fmla="*/ 34984 h 608239"/>
              <a:gd name="connsiteX56" fmla="*/ 453239 w 608430"/>
              <a:gd name="connsiteY56" fmla="*/ 40284 h 608239"/>
              <a:gd name="connsiteX57" fmla="*/ 515479 w 608430"/>
              <a:gd name="connsiteY57" fmla="*/ 103471 h 608239"/>
              <a:gd name="connsiteX58" fmla="*/ 529946 w 608430"/>
              <a:gd name="connsiteY58" fmla="*/ 102744 h 608239"/>
              <a:gd name="connsiteX59" fmla="*/ 535879 w 608430"/>
              <a:gd name="connsiteY59" fmla="*/ 105134 h 608239"/>
              <a:gd name="connsiteX60" fmla="*/ 537336 w 608430"/>
              <a:gd name="connsiteY60" fmla="*/ 111369 h 608239"/>
              <a:gd name="connsiteX61" fmla="*/ 539314 w 608430"/>
              <a:gd name="connsiteY61" fmla="*/ 167905 h 608239"/>
              <a:gd name="connsiteX62" fmla="*/ 587191 w 608430"/>
              <a:gd name="connsiteY62" fmla="*/ 198251 h 608239"/>
              <a:gd name="connsiteX63" fmla="*/ 591770 w 608430"/>
              <a:gd name="connsiteY63" fmla="*/ 202616 h 608239"/>
              <a:gd name="connsiteX64" fmla="*/ 590938 w 608430"/>
              <a:gd name="connsiteY64" fmla="*/ 208852 h 608239"/>
              <a:gd name="connsiteX65" fmla="*/ 605821 w 608430"/>
              <a:gd name="connsiteY65" fmla="*/ 310076 h 608239"/>
              <a:gd name="connsiteX66" fmla="*/ 608423 w 608430"/>
              <a:gd name="connsiteY66" fmla="*/ 315896 h 608239"/>
              <a:gd name="connsiteX67" fmla="*/ 605301 w 608430"/>
              <a:gd name="connsiteY67" fmla="*/ 321300 h 608239"/>
              <a:gd name="connsiteX68" fmla="*/ 582403 w 608430"/>
              <a:gd name="connsiteY68" fmla="*/ 420029 h 608239"/>
              <a:gd name="connsiteX69" fmla="*/ 582715 w 608430"/>
              <a:gd name="connsiteY69" fmla="*/ 426369 h 608239"/>
              <a:gd name="connsiteX70" fmla="*/ 577719 w 608430"/>
              <a:gd name="connsiteY70" fmla="*/ 430318 h 608239"/>
              <a:gd name="connsiteX71" fmla="*/ 527865 w 608430"/>
              <a:gd name="connsiteY71" fmla="*/ 456507 h 608239"/>
              <a:gd name="connsiteX72" fmla="*/ 521412 w 608430"/>
              <a:gd name="connsiteY72" fmla="*/ 511796 h 608239"/>
              <a:gd name="connsiteX73" fmla="*/ 521620 w 608430"/>
              <a:gd name="connsiteY73" fmla="*/ 513666 h 608239"/>
              <a:gd name="connsiteX74" fmla="*/ 514751 w 608430"/>
              <a:gd name="connsiteY74" fmla="*/ 520526 h 608239"/>
              <a:gd name="connsiteX75" fmla="*/ 513502 w 608430"/>
              <a:gd name="connsiteY75" fmla="*/ 520422 h 608239"/>
              <a:gd name="connsiteX76" fmla="*/ 490396 w 608430"/>
              <a:gd name="connsiteY76" fmla="*/ 518239 h 608239"/>
              <a:gd name="connsiteX77" fmla="*/ 432110 w 608430"/>
              <a:gd name="connsiteY77" fmla="*/ 576749 h 608239"/>
              <a:gd name="connsiteX78" fmla="*/ 428155 w 608430"/>
              <a:gd name="connsiteY78" fmla="*/ 581738 h 608239"/>
              <a:gd name="connsiteX79" fmla="*/ 421806 w 608430"/>
              <a:gd name="connsiteY79" fmla="*/ 581426 h 608239"/>
              <a:gd name="connsiteX80" fmla="*/ 377052 w 608430"/>
              <a:gd name="connsiteY80" fmla="*/ 566461 h 608239"/>
              <a:gd name="connsiteX81" fmla="*/ 323242 w 608430"/>
              <a:gd name="connsiteY81" fmla="*/ 605017 h 608239"/>
              <a:gd name="connsiteX82" fmla="*/ 321889 w 608430"/>
              <a:gd name="connsiteY82" fmla="*/ 606576 h 608239"/>
              <a:gd name="connsiteX83" fmla="*/ 320120 w 608430"/>
              <a:gd name="connsiteY83" fmla="*/ 607615 h 608239"/>
              <a:gd name="connsiteX84" fmla="*/ 320016 w 608430"/>
              <a:gd name="connsiteY84" fmla="*/ 607719 h 608239"/>
              <a:gd name="connsiteX85" fmla="*/ 319703 w 608430"/>
              <a:gd name="connsiteY85" fmla="*/ 607823 h 608239"/>
              <a:gd name="connsiteX86" fmla="*/ 317830 w 608430"/>
              <a:gd name="connsiteY86" fmla="*/ 608135 h 608239"/>
              <a:gd name="connsiteX87" fmla="*/ 317414 w 608430"/>
              <a:gd name="connsiteY87" fmla="*/ 608239 h 608239"/>
              <a:gd name="connsiteX88" fmla="*/ 315852 w 608430"/>
              <a:gd name="connsiteY88" fmla="*/ 608031 h 608239"/>
              <a:gd name="connsiteX89" fmla="*/ 315124 w 608430"/>
              <a:gd name="connsiteY89" fmla="*/ 607823 h 608239"/>
              <a:gd name="connsiteX90" fmla="*/ 313771 w 608430"/>
              <a:gd name="connsiteY90" fmla="*/ 607096 h 608239"/>
              <a:gd name="connsiteX91" fmla="*/ 313667 w 608430"/>
              <a:gd name="connsiteY91" fmla="*/ 607096 h 608239"/>
              <a:gd name="connsiteX92" fmla="*/ 311897 w 608430"/>
              <a:gd name="connsiteY92" fmla="*/ 605537 h 608239"/>
              <a:gd name="connsiteX93" fmla="*/ 261210 w 608430"/>
              <a:gd name="connsiteY93" fmla="*/ 572488 h 608239"/>
              <a:gd name="connsiteX94" fmla="*/ 214374 w 608430"/>
              <a:gd name="connsiteY94" fmla="*/ 592546 h 608239"/>
              <a:gd name="connsiteX95" fmla="*/ 208025 w 608430"/>
              <a:gd name="connsiteY95" fmla="*/ 593585 h 608239"/>
              <a:gd name="connsiteX96" fmla="*/ 203549 w 608430"/>
              <a:gd name="connsiteY96" fmla="*/ 589117 h 608239"/>
              <a:gd name="connsiteX97" fmla="*/ 146825 w 608430"/>
              <a:gd name="connsiteY97" fmla="*/ 536114 h 608239"/>
              <a:gd name="connsiteX98" fmla="*/ 115497 w 608430"/>
              <a:gd name="connsiteY98" fmla="*/ 540999 h 608239"/>
              <a:gd name="connsiteX99" fmla="*/ 109252 w 608430"/>
              <a:gd name="connsiteY99" fmla="*/ 539752 h 608239"/>
              <a:gd name="connsiteX100" fmla="*/ 106754 w 608430"/>
              <a:gd name="connsiteY100" fmla="*/ 533828 h 608239"/>
              <a:gd name="connsiteX101" fmla="*/ 94889 w 608430"/>
              <a:gd name="connsiteY101" fmla="*/ 479163 h 608239"/>
              <a:gd name="connsiteX102" fmla="*/ 42745 w 608430"/>
              <a:gd name="connsiteY102" fmla="*/ 458586 h 608239"/>
              <a:gd name="connsiteX103" fmla="*/ 37332 w 608430"/>
              <a:gd name="connsiteY103" fmla="*/ 455260 h 608239"/>
              <a:gd name="connsiteX104" fmla="*/ 37020 w 608430"/>
              <a:gd name="connsiteY104" fmla="*/ 448817 h 608239"/>
              <a:gd name="connsiteX105" fmla="*/ 45243 w 608430"/>
              <a:gd name="connsiteY105" fmla="*/ 392489 h 608239"/>
              <a:gd name="connsiteX106" fmla="*/ 3818 w 608430"/>
              <a:gd name="connsiteY106" fmla="*/ 353309 h 608239"/>
              <a:gd name="connsiteX107" fmla="*/ 71 w 608430"/>
              <a:gd name="connsiteY107" fmla="*/ 348113 h 608239"/>
              <a:gd name="connsiteX108" fmla="*/ 2153 w 608430"/>
              <a:gd name="connsiteY108" fmla="*/ 342189 h 608239"/>
              <a:gd name="connsiteX109" fmla="*/ 30359 w 608430"/>
              <a:gd name="connsiteY109" fmla="*/ 292304 h 608239"/>
              <a:gd name="connsiteX110" fmla="*/ 6108 w 608430"/>
              <a:gd name="connsiteY110" fmla="*/ 240341 h 608239"/>
              <a:gd name="connsiteX111" fmla="*/ 4547 w 608430"/>
              <a:gd name="connsiteY111" fmla="*/ 234210 h 608239"/>
              <a:gd name="connsiteX112" fmla="*/ 8710 w 608430"/>
              <a:gd name="connsiteY112" fmla="*/ 229325 h 608239"/>
              <a:gd name="connsiteX113" fmla="*/ 52944 w 608430"/>
              <a:gd name="connsiteY113" fmla="*/ 193887 h 608239"/>
              <a:gd name="connsiteX114" fmla="*/ 48989 w 608430"/>
              <a:gd name="connsiteY114" fmla="*/ 137351 h 608239"/>
              <a:gd name="connsiteX115" fmla="*/ 49822 w 608430"/>
              <a:gd name="connsiteY115" fmla="*/ 131011 h 608239"/>
              <a:gd name="connsiteX116" fmla="*/ 55442 w 608430"/>
              <a:gd name="connsiteY116" fmla="*/ 127998 h 608239"/>
              <a:gd name="connsiteX117" fmla="*/ 124656 w 608430"/>
              <a:gd name="connsiteY117" fmla="*/ 58159 h 608239"/>
              <a:gd name="connsiteX118" fmla="*/ 127674 w 608430"/>
              <a:gd name="connsiteY118" fmla="*/ 52443 h 608239"/>
              <a:gd name="connsiteX119" fmla="*/ 133919 w 608430"/>
              <a:gd name="connsiteY119" fmla="*/ 51612 h 608239"/>
              <a:gd name="connsiteX120" fmla="*/ 170139 w 608430"/>
              <a:gd name="connsiteY120" fmla="*/ 58991 h 608239"/>
              <a:gd name="connsiteX121" fmla="*/ 225614 w 608430"/>
              <a:gd name="connsiteY121" fmla="*/ 10250 h 608239"/>
              <a:gd name="connsiteX122" fmla="*/ 230402 w 608430"/>
              <a:gd name="connsiteY122" fmla="*/ 6092 h 608239"/>
              <a:gd name="connsiteX123" fmla="*/ 236543 w 608430"/>
              <a:gd name="connsiteY123" fmla="*/ 7651 h 608239"/>
              <a:gd name="connsiteX124" fmla="*/ 285357 w 608430"/>
              <a:gd name="connsiteY124" fmla="*/ 31346 h 608239"/>
              <a:gd name="connsiteX125" fmla="*/ 335836 w 608430"/>
              <a:gd name="connsiteY125" fmla="*/ 2247 h 608239"/>
              <a:gd name="connsiteX126" fmla="*/ 341872 w 608430"/>
              <a:gd name="connsiteY126" fmla="*/ 65 h 6082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</a:cxnLst>
            <a:rect l="l" t="t" r="r" b="b"/>
            <a:pathLst>
              <a:path w="608430" h="608239">
                <a:moveTo>
                  <a:pt x="291327" y="232337"/>
                </a:moveTo>
                <a:cubicBezTo>
                  <a:pt x="293617" y="232337"/>
                  <a:pt x="295386" y="234000"/>
                  <a:pt x="296219" y="235039"/>
                </a:cubicBezTo>
                <a:cubicBezTo>
                  <a:pt x="298196" y="237429"/>
                  <a:pt x="301110" y="238780"/>
                  <a:pt x="304232" y="238780"/>
                </a:cubicBezTo>
                <a:cubicBezTo>
                  <a:pt x="307354" y="238780"/>
                  <a:pt x="310268" y="237429"/>
                  <a:pt x="312246" y="235039"/>
                </a:cubicBezTo>
                <a:cubicBezTo>
                  <a:pt x="313078" y="234000"/>
                  <a:pt x="314848" y="232337"/>
                  <a:pt x="317241" y="232337"/>
                </a:cubicBezTo>
                <a:cubicBezTo>
                  <a:pt x="319219" y="232337"/>
                  <a:pt x="321508" y="233480"/>
                  <a:pt x="323173" y="235454"/>
                </a:cubicBezTo>
                <a:cubicBezTo>
                  <a:pt x="324214" y="236701"/>
                  <a:pt x="325983" y="239299"/>
                  <a:pt x="325359" y="242936"/>
                </a:cubicBezTo>
                <a:lnTo>
                  <a:pt x="304232" y="363165"/>
                </a:lnTo>
                <a:lnTo>
                  <a:pt x="283106" y="243040"/>
                </a:lnTo>
                <a:cubicBezTo>
                  <a:pt x="282585" y="239299"/>
                  <a:pt x="284667" y="236494"/>
                  <a:pt x="285499" y="235454"/>
                </a:cubicBezTo>
                <a:cubicBezTo>
                  <a:pt x="287164" y="233584"/>
                  <a:pt x="289454" y="232337"/>
                  <a:pt x="291327" y="232337"/>
                </a:cubicBezTo>
                <a:close/>
                <a:moveTo>
                  <a:pt x="304233" y="124019"/>
                </a:moveTo>
                <a:cubicBezTo>
                  <a:pt x="361572" y="124019"/>
                  <a:pt x="408192" y="167465"/>
                  <a:pt x="408192" y="220890"/>
                </a:cubicBezTo>
                <a:cubicBezTo>
                  <a:pt x="408192" y="260802"/>
                  <a:pt x="393103" y="282838"/>
                  <a:pt x="375724" y="308406"/>
                </a:cubicBezTo>
                <a:cubicBezTo>
                  <a:pt x="361260" y="329610"/>
                  <a:pt x="343673" y="355283"/>
                  <a:pt x="338366" y="389063"/>
                </a:cubicBezTo>
                <a:lnTo>
                  <a:pt x="320779" y="389063"/>
                </a:lnTo>
                <a:lnTo>
                  <a:pt x="345858" y="246459"/>
                </a:lnTo>
                <a:cubicBezTo>
                  <a:pt x="345962" y="246355"/>
                  <a:pt x="345962" y="246251"/>
                  <a:pt x="345962" y="246147"/>
                </a:cubicBezTo>
                <a:cubicBezTo>
                  <a:pt x="347315" y="237416"/>
                  <a:pt x="344713" y="228581"/>
                  <a:pt x="338990" y="221825"/>
                </a:cubicBezTo>
                <a:cubicBezTo>
                  <a:pt x="333371" y="215381"/>
                  <a:pt x="325254" y="211535"/>
                  <a:pt x="317241" y="211535"/>
                </a:cubicBezTo>
                <a:cubicBezTo>
                  <a:pt x="312662" y="211535"/>
                  <a:pt x="308187" y="212783"/>
                  <a:pt x="304233" y="214965"/>
                </a:cubicBezTo>
                <a:cubicBezTo>
                  <a:pt x="300278" y="212783"/>
                  <a:pt x="295804" y="211535"/>
                  <a:pt x="291329" y="211535"/>
                </a:cubicBezTo>
                <a:cubicBezTo>
                  <a:pt x="283316" y="211535"/>
                  <a:pt x="275511" y="215277"/>
                  <a:pt x="269788" y="221929"/>
                </a:cubicBezTo>
                <a:cubicBezTo>
                  <a:pt x="263856" y="228685"/>
                  <a:pt x="261254" y="237520"/>
                  <a:pt x="262503" y="246147"/>
                </a:cubicBezTo>
                <a:cubicBezTo>
                  <a:pt x="262607" y="246251"/>
                  <a:pt x="262607" y="246355"/>
                  <a:pt x="262607" y="246459"/>
                </a:cubicBezTo>
                <a:lnTo>
                  <a:pt x="287687" y="389063"/>
                </a:lnTo>
                <a:lnTo>
                  <a:pt x="270204" y="389063"/>
                </a:lnTo>
                <a:cubicBezTo>
                  <a:pt x="264897" y="355283"/>
                  <a:pt x="247310" y="329506"/>
                  <a:pt x="232845" y="308303"/>
                </a:cubicBezTo>
                <a:cubicBezTo>
                  <a:pt x="215362" y="282838"/>
                  <a:pt x="200377" y="260802"/>
                  <a:pt x="200377" y="220890"/>
                </a:cubicBezTo>
                <a:cubicBezTo>
                  <a:pt x="200377" y="167465"/>
                  <a:pt x="246998" y="124019"/>
                  <a:pt x="304233" y="124019"/>
                </a:cubicBezTo>
                <a:close/>
                <a:moveTo>
                  <a:pt x="304195" y="89961"/>
                </a:moveTo>
                <a:cubicBezTo>
                  <a:pt x="228112" y="89961"/>
                  <a:pt x="166184" y="148783"/>
                  <a:pt x="166184" y="220907"/>
                </a:cubicBezTo>
                <a:cubicBezTo>
                  <a:pt x="166184" y="271311"/>
                  <a:pt x="185751" y="299891"/>
                  <a:pt x="204590" y="327535"/>
                </a:cubicBezTo>
                <a:cubicBezTo>
                  <a:pt x="220410" y="350503"/>
                  <a:pt x="236647" y="374406"/>
                  <a:pt x="237688" y="406623"/>
                </a:cubicBezTo>
                <a:cubicBezTo>
                  <a:pt x="237896" y="414521"/>
                  <a:pt x="243620" y="421068"/>
                  <a:pt x="251114" y="422731"/>
                </a:cubicBezTo>
                <a:cubicBezTo>
                  <a:pt x="244141" y="424810"/>
                  <a:pt x="239041" y="431357"/>
                  <a:pt x="239041" y="438944"/>
                </a:cubicBezTo>
                <a:cubicBezTo>
                  <a:pt x="239041" y="445699"/>
                  <a:pt x="242996" y="451519"/>
                  <a:pt x="248720" y="454325"/>
                </a:cubicBezTo>
                <a:cubicBezTo>
                  <a:pt x="242996" y="457027"/>
                  <a:pt x="239041" y="462847"/>
                  <a:pt x="239041" y="469602"/>
                </a:cubicBezTo>
                <a:cubicBezTo>
                  <a:pt x="239041" y="479059"/>
                  <a:pt x="246639" y="486646"/>
                  <a:pt x="256110" y="486646"/>
                </a:cubicBezTo>
                <a:lnTo>
                  <a:pt x="266518" y="486646"/>
                </a:lnTo>
                <a:cubicBezTo>
                  <a:pt x="269745" y="504521"/>
                  <a:pt x="285357" y="518135"/>
                  <a:pt x="304195" y="518135"/>
                </a:cubicBezTo>
                <a:cubicBezTo>
                  <a:pt x="323034" y="518135"/>
                  <a:pt x="338750" y="504521"/>
                  <a:pt x="341977" y="486646"/>
                </a:cubicBezTo>
                <a:lnTo>
                  <a:pt x="352385" y="486646"/>
                </a:lnTo>
                <a:cubicBezTo>
                  <a:pt x="361752" y="486646"/>
                  <a:pt x="369454" y="479059"/>
                  <a:pt x="369454" y="469602"/>
                </a:cubicBezTo>
                <a:cubicBezTo>
                  <a:pt x="369454" y="462847"/>
                  <a:pt x="365499" y="457027"/>
                  <a:pt x="359774" y="454325"/>
                </a:cubicBezTo>
                <a:cubicBezTo>
                  <a:pt x="365499" y="451519"/>
                  <a:pt x="369454" y="445699"/>
                  <a:pt x="369454" y="438944"/>
                </a:cubicBezTo>
                <a:cubicBezTo>
                  <a:pt x="369454" y="431357"/>
                  <a:pt x="364354" y="424914"/>
                  <a:pt x="357485" y="422731"/>
                </a:cubicBezTo>
                <a:cubicBezTo>
                  <a:pt x="364978" y="421172"/>
                  <a:pt x="370599" y="414625"/>
                  <a:pt x="370911" y="406623"/>
                </a:cubicBezTo>
                <a:cubicBezTo>
                  <a:pt x="371848" y="374406"/>
                  <a:pt x="388084" y="350607"/>
                  <a:pt x="403905" y="327535"/>
                </a:cubicBezTo>
                <a:cubicBezTo>
                  <a:pt x="422743" y="299891"/>
                  <a:pt x="442206" y="271311"/>
                  <a:pt x="442206" y="220907"/>
                </a:cubicBezTo>
                <a:cubicBezTo>
                  <a:pt x="442206" y="148783"/>
                  <a:pt x="380278" y="89961"/>
                  <a:pt x="304195" y="89961"/>
                </a:cubicBezTo>
                <a:close/>
                <a:moveTo>
                  <a:pt x="341872" y="65"/>
                </a:moveTo>
                <a:cubicBezTo>
                  <a:pt x="344058" y="273"/>
                  <a:pt x="346036" y="1624"/>
                  <a:pt x="347077" y="3598"/>
                </a:cubicBezTo>
                <a:cubicBezTo>
                  <a:pt x="363001" y="33217"/>
                  <a:pt x="379862" y="46416"/>
                  <a:pt x="401719" y="46416"/>
                </a:cubicBezTo>
                <a:cubicBezTo>
                  <a:pt x="413480" y="46416"/>
                  <a:pt x="427115" y="42674"/>
                  <a:pt x="443351" y="34776"/>
                </a:cubicBezTo>
                <a:cubicBezTo>
                  <a:pt x="445329" y="33841"/>
                  <a:pt x="447723" y="33945"/>
                  <a:pt x="449700" y="34984"/>
                </a:cubicBezTo>
                <a:cubicBezTo>
                  <a:pt x="451678" y="36127"/>
                  <a:pt x="453031" y="38102"/>
                  <a:pt x="453239" y="40284"/>
                </a:cubicBezTo>
                <a:cubicBezTo>
                  <a:pt x="458131" y="85180"/>
                  <a:pt x="476241" y="103471"/>
                  <a:pt x="515479" y="103471"/>
                </a:cubicBezTo>
                <a:cubicBezTo>
                  <a:pt x="519955" y="103471"/>
                  <a:pt x="524846" y="103263"/>
                  <a:pt x="529946" y="102744"/>
                </a:cubicBezTo>
                <a:cubicBezTo>
                  <a:pt x="532132" y="102536"/>
                  <a:pt x="534422" y="103471"/>
                  <a:pt x="535879" y="105134"/>
                </a:cubicBezTo>
                <a:cubicBezTo>
                  <a:pt x="537336" y="106901"/>
                  <a:pt x="537856" y="109187"/>
                  <a:pt x="537336" y="111369"/>
                </a:cubicBezTo>
                <a:cubicBezTo>
                  <a:pt x="530883" y="136416"/>
                  <a:pt x="531508" y="154291"/>
                  <a:pt x="539314" y="167905"/>
                </a:cubicBezTo>
                <a:cubicBezTo>
                  <a:pt x="547120" y="181415"/>
                  <a:pt x="562315" y="190977"/>
                  <a:pt x="587191" y="198251"/>
                </a:cubicBezTo>
                <a:cubicBezTo>
                  <a:pt x="589272" y="198875"/>
                  <a:pt x="591042" y="200434"/>
                  <a:pt x="591770" y="202616"/>
                </a:cubicBezTo>
                <a:cubicBezTo>
                  <a:pt x="592499" y="204695"/>
                  <a:pt x="592187" y="206981"/>
                  <a:pt x="590938" y="208852"/>
                </a:cubicBezTo>
                <a:cubicBezTo>
                  <a:pt x="561483" y="251046"/>
                  <a:pt x="565542" y="278482"/>
                  <a:pt x="605821" y="310076"/>
                </a:cubicBezTo>
                <a:cubicBezTo>
                  <a:pt x="607486" y="311531"/>
                  <a:pt x="608527" y="313609"/>
                  <a:pt x="608423" y="315896"/>
                </a:cubicBezTo>
                <a:cubicBezTo>
                  <a:pt x="608319" y="318078"/>
                  <a:pt x="607174" y="320156"/>
                  <a:pt x="605301" y="321300"/>
                </a:cubicBezTo>
                <a:cubicBezTo>
                  <a:pt x="563044" y="349048"/>
                  <a:pt x="556591" y="376692"/>
                  <a:pt x="582403" y="420029"/>
                </a:cubicBezTo>
                <a:cubicBezTo>
                  <a:pt x="583548" y="421900"/>
                  <a:pt x="583652" y="424290"/>
                  <a:pt x="582715" y="426369"/>
                </a:cubicBezTo>
                <a:cubicBezTo>
                  <a:pt x="581778" y="428343"/>
                  <a:pt x="580009" y="429902"/>
                  <a:pt x="577719" y="430318"/>
                </a:cubicBezTo>
                <a:cubicBezTo>
                  <a:pt x="552428" y="435410"/>
                  <a:pt x="536607" y="443724"/>
                  <a:pt x="527865" y="456507"/>
                </a:cubicBezTo>
                <a:cubicBezTo>
                  <a:pt x="519122" y="469186"/>
                  <a:pt x="517144" y="486750"/>
                  <a:pt x="521412" y="511796"/>
                </a:cubicBezTo>
                <a:cubicBezTo>
                  <a:pt x="521620" y="512419"/>
                  <a:pt x="521620" y="513043"/>
                  <a:pt x="521620" y="513666"/>
                </a:cubicBezTo>
                <a:cubicBezTo>
                  <a:pt x="521620" y="517512"/>
                  <a:pt x="518602" y="520526"/>
                  <a:pt x="514751" y="520526"/>
                </a:cubicBezTo>
                <a:cubicBezTo>
                  <a:pt x="514334" y="520526"/>
                  <a:pt x="513918" y="520526"/>
                  <a:pt x="513502" y="520422"/>
                </a:cubicBezTo>
                <a:cubicBezTo>
                  <a:pt x="505071" y="518967"/>
                  <a:pt x="497265" y="518239"/>
                  <a:pt x="490396" y="518239"/>
                </a:cubicBezTo>
                <a:cubicBezTo>
                  <a:pt x="456986" y="518239"/>
                  <a:pt x="440125" y="535179"/>
                  <a:pt x="432110" y="576749"/>
                </a:cubicBezTo>
                <a:cubicBezTo>
                  <a:pt x="431694" y="578932"/>
                  <a:pt x="430237" y="580803"/>
                  <a:pt x="428155" y="581738"/>
                </a:cubicBezTo>
                <a:cubicBezTo>
                  <a:pt x="426178" y="582673"/>
                  <a:pt x="423784" y="582569"/>
                  <a:pt x="421806" y="581426"/>
                </a:cubicBezTo>
                <a:cubicBezTo>
                  <a:pt x="404425" y="571345"/>
                  <a:pt x="389854" y="566461"/>
                  <a:pt x="377052" y="566461"/>
                </a:cubicBezTo>
                <a:cubicBezTo>
                  <a:pt x="357381" y="566461"/>
                  <a:pt x="340311" y="578724"/>
                  <a:pt x="323242" y="605017"/>
                </a:cubicBezTo>
                <a:cubicBezTo>
                  <a:pt x="322826" y="605641"/>
                  <a:pt x="322409" y="606160"/>
                  <a:pt x="321889" y="606576"/>
                </a:cubicBezTo>
                <a:cubicBezTo>
                  <a:pt x="321369" y="606992"/>
                  <a:pt x="320744" y="607408"/>
                  <a:pt x="320120" y="607615"/>
                </a:cubicBezTo>
                <a:cubicBezTo>
                  <a:pt x="320016" y="607719"/>
                  <a:pt x="320016" y="607719"/>
                  <a:pt x="320016" y="607719"/>
                </a:cubicBezTo>
                <a:cubicBezTo>
                  <a:pt x="319911" y="607719"/>
                  <a:pt x="319807" y="607719"/>
                  <a:pt x="319703" y="607823"/>
                </a:cubicBezTo>
                <a:cubicBezTo>
                  <a:pt x="319079" y="608031"/>
                  <a:pt x="318454" y="608135"/>
                  <a:pt x="317830" y="608135"/>
                </a:cubicBezTo>
                <a:cubicBezTo>
                  <a:pt x="317622" y="608239"/>
                  <a:pt x="317518" y="608239"/>
                  <a:pt x="317414" y="608239"/>
                </a:cubicBezTo>
                <a:cubicBezTo>
                  <a:pt x="316893" y="608239"/>
                  <a:pt x="316373" y="608135"/>
                  <a:pt x="315852" y="608031"/>
                </a:cubicBezTo>
                <a:cubicBezTo>
                  <a:pt x="315540" y="607927"/>
                  <a:pt x="315332" y="607927"/>
                  <a:pt x="315124" y="607823"/>
                </a:cubicBezTo>
                <a:cubicBezTo>
                  <a:pt x="314603" y="607615"/>
                  <a:pt x="314187" y="607408"/>
                  <a:pt x="313771" y="607096"/>
                </a:cubicBezTo>
                <a:cubicBezTo>
                  <a:pt x="313771" y="607096"/>
                  <a:pt x="313667" y="607096"/>
                  <a:pt x="313667" y="607096"/>
                </a:cubicBezTo>
                <a:cubicBezTo>
                  <a:pt x="313042" y="606680"/>
                  <a:pt x="312418" y="606160"/>
                  <a:pt x="311897" y="605537"/>
                </a:cubicBezTo>
                <a:cubicBezTo>
                  <a:pt x="294516" y="582985"/>
                  <a:pt x="278383" y="572488"/>
                  <a:pt x="261210" y="572488"/>
                </a:cubicBezTo>
                <a:cubicBezTo>
                  <a:pt x="247575" y="572488"/>
                  <a:pt x="232276" y="579036"/>
                  <a:pt x="214374" y="592546"/>
                </a:cubicBezTo>
                <a:cubicBezTo>
                  <a:pt x="212604" y="593897"/>
                  <a:pt x="210210" y="594313"/>
                  <a:pt x="208025" y="593585"/>
                </a:cubicBezTo>
                <a:cubicBezTo>
                  <a:pt x="205943" y="592962"/>
                  <a:pt x="204278" y="591195"/>
                  <a:pt x="203549" y="589117"/>
                </a:cubicBezTo>
                <a:cubicBezTo>
                  <a:pt x="191996" y="552015"/>
                  <a:pt x="175031" y="536114"/>
                  <a:pt x="146825" y="536114"/>
                </a:cubicBezTo>
                <a:cubicBezTo>
                  <a:pt x="137666" y="536114"/>
                  <a:pt x="127466" y="537777"/>
                  <a:pt x="115497" y="540999"/>
                </a:cubicBezTo>
                <a:cubicBezTo>
                  <a:pt x="113311" y="541622"/>
                  <a:pt x="111022" y="541103"/>
                  <a:pt x="109252" y="539752"/>
                </a:cubicBezTo>
                <a:cubicBezTo>
                  <a:pt x="107483" y="538297"/>
                  <a:pt x="106546" y="536114"/>
                  <a:pt x="106754" y="533828"/>
                </a:cubicBezTo>
                <a:cubicBezTo>
                  <a:pt x="108628" y="508262"/>
                  <a:pt x="104881" y="490803"/>
                  <a:pt x="94889" y="479163"/>
                </a:cubicBezTo>
                <a:cubicBezTo>
                  <a:pt x="85001" y="467419"/>
                  <a:pt x="68348" y="460872"/>
                  <a:pt x="42745" y="458586"/>
                </a:cubicBezTo>
                <a:cubicBezTo>
                  <a:pt x="40455" y="458482"/>
                  <a:pt x="38477" y="457131"/>
                  <a:pt x="37332" y="455260"/>
                </a:cubicBezTo>
                <a:cubicBezTo>
                  <a:pt x="36187" y="453286"/>
                  <a:pt x="36083" y="450895"/>
                  <a:pt x="37020" y="448817"/>
                </a:cubicBezTo>
                <a:cubicBezTo>
                  <a:pt x="47845" y="425226"/>
                  <a:pt x="50447" y="407350"/>
                  <a:pt x="45243" y="392489"/>
                </a:cubicBezTo>
                <a:cubicBezTo>
                  <a:pt x="40038" y="377524"/>
                  <a:pt x="26924" y="365052"/>
                  <a:pt x="3818" y="353309"/>
                </a:cubicBezTo>
                <a:cubicBezTo>
                  <a:pt x="1841" y="352270"/>
                  <a:pt x="384" y="350399"/>
                  <a:pt x="71" y="348113"/>
                </a:cubicBezTo>
                <a:cubicBezTo>
                  <a:pt x="-241" y="345930"/>
                  <a:pt x="488" y="343748"/>
                  <a:pt x="2153" y="342189"/>
                </a:cubicBezTo>
                <a:cubicBezTo>
                  <a:pt x="20784" y="324002"/>
                  <a:pt x="29734" y="308205"/>
                  <a:pt x="30359" y="292304"/>
                </a:cubicBezTo>
                <a:cubicBezTo>
                  <a:pt x="30983" y="276404"/>
                  <a:pt x="23281" y="259879"/>
                  <a:pt x="6108" y="240341"/>
                </a:cubicBezTo>
                <a:cubicBezTo>
                  <a:pt x="4651" y="238679"/>
                  <a:pt x="4027" y="236392"/>
                  <a:pt x="4547" y="234210"/>
                </a:cubicBezTo>
                <a:cubicBezTo>
                  <a:pt x="5067" y="232027"/>
                  <a:pt x="6629" y="230261"/>
                  <a:pt x="8710" y="229325"/>
                </a:cubicBezTo>
                <a:cubicBezTo>
                  <a:pt x="32649" y="219556"/>
                  <a:pt x="46700" y="208228"/>
                  <a:pt x="52944" y="193887"/>
                </a:cubicBezTo>
                <a:cubicBezTo>
                  <a:pt x="59293" y="179545"/>
                  <a:pt x="58044" y="161566"/>
                  <a:pt x="48989" y="137351"/>
                </a:cubicBezTo>
                <a:cubicBezTo>
                  <a:pt x="48261" y="135272"/>
                  <a:pt x="48573" y="132882"/>
                  <a:pt x="49822" y="131011"/>
                </a:cubicBezTo>
                <a:cubicBezTo>
                  <a:pt x="51071" y="129141"/>
                  <a:pt x="53153" y="128101"/>
                  <a:pt x="55442" y="127998"/>
                </a:cubicBezTo>
                <a:cubicBezTo>
                  <a:pt x="105922" y="127478"/>
                  <a:pt x="124656" y="108563"/>
                  <a:pt x="124656" y="58159"/>
                </a:cubicBezTo>
                <a:cubicBezTo>
                  <a:pt x="124656" y="55873"/>
                  <a:pt x="125801" y="53794"/>
                  <a:pt x="127674" y="52443"/>
                </a:cubicBezTo>
                <a:cubicBezTo>
                  <a:pt x="129444" y="51196"/>
                  <a:pt x="131838" y="50885"/>
                  <a:pt x="133919" y="51612"/>
                </a:cubicBezTo>
                <a:cubicBezTo>
                  <a:pt x="147970" y="56600"/>
                  <a:pt x="159731" y="58991"/>
                  <a:pt x="170139" y="58991"/>
                </a:cubicBezTo>
                <a:cubicBezTo>
                  <a:pt x="195015" y="58991"/>
                  <a:pt x="212084" y="44025"/>
                  <a:pt x="225614" y="10250"/>
                </a:cubicBezTo>
                <a:cubicBezTo>
                  <a:pt x="226447" y="8171"/>
                  <a:pt x="228216" y="6612"/>
                  <a:pt x="230402" y="6092"/>
                </a:cubicBezTo>
                <a:cubicBezTo>
                  <a:pt x="232588" y="5573"/>
                  <a:pt x="234878" y="6196"/>
                  <a:pt x="236543" y="7651"/>
                </a:cubicBezTo>
                <a:cubicBezTo>
                  <a:pt x="254861" y="23656"/>
                  <a:pt x="270785" y="31346"/>
                  <a:pt x="285357" y="31346"/>
                </a:cubicBezTo>
                <a:cubicBezTo>
                  <a:pt x="301593" y="31346"/>
                  <a:pt x="317622" y="22097"/>
                  <a:pt x="335836" y="2247"/>
                </a:cubicBezTo>
                <a:cubicBezTo>
                  <a:pt x="337397" y="584"/>
                  <a:pt x="339687" y="-247"/>
                  <a:pt x="341872" y="65"/>
                </a:cubicBezTo>
                <a:close/>
              </a:path>
            </a:pathLst>
          </a:custGeom>
          <a:solidFill>
            <a:srgbClr val="EAB905"/>
          </a:solidFill>
          <a:ln>
            <a:noFill/>
          </a:ln>
          <a:scene3d>
            <a:camera prst="perspectiveRight">
              <a:rot lat="0" lon="21594000" rev="0"/>
            </a:camera>
            <a:lightRig rig="threePt" dir="t"/>
          </a:scene3d>
        </p:spPr>
        <p:txBody>
          <a:bodyPr>
            <a:normAutofit/>
          </a:bodyPr>
          <a:lstStyle/>
          <a:p>
            <a:pPr>
              <a:lnSpc>
                <a:spcPct val="130000"/>
              </a:lnSpc>
            </a:pPr>
            <a:endParaRPr lang="zh-CN" altLang="en-US">
              <a:solidFill>
                <a:srgbClr val="EAB905"/>
              </a:solidFill>
              <a:latin typeface="Helvetica" pitchFamily="2" charset="0"/>
              <a:cs typeface="+mn-ea"/>
              <a:sym typeface="+mn-lt"/>
            </a:endParaRPr>
          </a:p>
        </p:txBody>
      </p:sp>
      <p:sp>
        <p:nvSpPr>
          <p:cNvPr id="7" name="iṥ1íďe"/>
          <p:cNvSpPr/>
          <p:nvPr/>
        </p:nvSpPr>
        <p:spPr>
          <a:xfrm flipH="1">
            <a:off x="1383285" y="3862969"/>
            <a:ext cx="4116081" cy="610863"/>
          </a:xfrm>
          <a:prstGeom prst="rect">
            <a:avLst/>
          </a:prstGeom>
          <a:scene3d>
            <a:camera prst="perspectiveLeft">
              <a:rot lat="0" lon="0" rev="0"/>
            </a:camera>
            <a:lightRig rig="threePt" dir="t"/>
          </a:scene3d>
        </p:spPr>
        <p:txBody>
          <a:bodyPr wrap="square" lIns="91440" tIns="45720" rIns="91440" bIns="45720" anchor="t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>
              <a:lnSpc>
                <a:spcPct val="130000"/>
              </a:lnSpc>
            </a:pPr>
            <a:r>
              <a:rPr lang="zh-CN" altLang="en-US" sz="2200" dirty="0">
                <a:latin typeface="Helvetica" pitchFamily="2" charset="0"/>
                <a:cs typeface="+mn-ea"/>
                <a:sym typeface="+mn-lt"/>
              </a:rPr>
              <a:t>实际的软件开发</a:t>
            </a:r>
            <a:endParaRPr lang="zh-CN" altLang="en-US" sz="2200" b="1" dirty="0">
              <a:latin typeface="Helvetica" pitchFamily="2" charset="0"/>
              <a:cs typeface="+mn-ea"/>
              <a:sym typeface="+mn-lt"/>
            </a:endParaRPr>
          </a:p>
        </p:txBody>
      </p:sp>
      <p:sp>
        <p:nvSpPr>
          <p:cNvPr id="8" name="îŝḻíďê"/>
          <p:cNvSpPr txBox="1"/>
          <p:nvPr/>
        </p:nvSpPr>
        <p:spPr>
          <a:xfrm flipH="1">
            <a:off x="1131200" y="4473831"/>
            <a:ext cx="4523366" cy="1564061"/>
          </a:xfrm>
          <a:prstGeom prst="rect">
            <a:avLst/>
          </a:prstGeom>
          <a:noFill/>
          <a:scene3d>
            <a:camera prst="perspectiveLeft">
              <a:rot lat="0" lon="0" rev="0"/>
            </a:camera>
            <a:lightRig rig="threePt" dir="t"/>
          </a:scene3d>
        </p:spPr>
        <p:txBody>
          <a:bodyPr wrap="square" lIns="91440" tIns="45720" rIns="91440" bIns="45720">
            <a:normAutofit lnSpcReduction="10000"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>
              <a:lnSpc>
                <a:spcPct val="120000"/>
              </a:lnSpc>
            </a:pPr>
            <a:r>
              <a:rPr lang="zh-CN" altLang="en-US" sz="2200" dirty="0">
                <a:latin typeface="Helvetica" pitchFamily="2" charset="0"/>
                <a:cs typeface="+mn-ea"/>
                <a:sym typeface="+mn-lt"/>
              </a:rPr>
              <a:t>文档撰写</a:t>
            </a:r>
            <a:endParaRPr lang="zh-CN" altLang="en-US" sz="2200" dirty="0">
              <a:latin typeface="Helvetica" pitchFamily="2" charset="0"/>
              <a:cs typeface="+mn-ea"/>
              <a:sym typeface="+mn-lt"/>
            </a:endParaRPr>
          </a:p>
          <a:p>
            <a:pPr>
              <a:lnSpc>
                <a:spcPct val="120000"/>
              </a:lnSpc>
            </a:pPr>
            <a:r>
              <a:rPr lang="zh-CN" altLang="en-US" sz="2200" dirty="0">
                <a:latin typeface="Helvetica" pitchFamily="2" charset="0"/>
                <a:cs typeface="+mn-ea"/>
                <a:sym typeface="+mn-lt"/>
              </a:rPr>
              <a:t>会议沟通</a:t>
            </a:r>
            <a:endParaRPr lang="zh-CN" altLang="en-US" sz="2200" dirty="0">
              <a:latin typeface="Helvetica" pitchFamily="2" charset="0"/>
              <a:cs typeface="+mn-ea"/>
              <a:sym typeface="+mn-lt"/>
            </a:endParaRPr>
          </a:p>
          <a:p>
            <a:pPr>
              <a:lnSpc>
                <a:spcPct val="120000"/>
              </a:lnSpc>
            </a:pPr>
            <a:r>
              <a:rPr lang="zh-CN" altLang="en-US" sz="2200" dirty="0">
                <a:latin typeface="Helvetica" pitchFamily="2" charset="0"/>
                <a:cs typeface="+mn-ea"/>
                <a:sym typeface="+mn-lt"/>
              </a:rPr>
              <a:t>代码评审</a:t>
            </a:r>
            <a:r>
              <a:rPr lang="en-US" altLang="zh-CN" sz="2200" dirty="0">
                <a:latin typeface="Helvetica" pitchFamily="2" charset="0"/>
                <a:cs typeface="+mn-ea"/>
                <a:sym typeface="+mn-lt"/>
              </a:rPr>
              <a:t> / </a:t>
            </a:r>
            <a:r>
              <a:rPr lang="zh-CN" altLang="en-US" sz="2200" dirty="0">
                <a:latin typeface="Helvetica" pitchFamily="2" charset="0"/>
                <a:cs typeface="+mn-ea"/>
                <a:sym typeface="+mn-lt"/>
              </a:rPr>
              <a:t>审批</a:t>
            </a:r>
            <a:r>
              <a:rPr lang="en-US" altLang="zh-CN" sz="2200" dirty="0">
                <a:latin typeface="Helvetica" pitchFamily="2" charset="0"/>
                <a:cs typeface="+mn-ea"/>
                <a:sym typeface="+mn-lt"/>
              </a:rPr>
              <a:t> / </a:t>
            </a:r>
            <a:r>
              <a:rPr lang="zh-CN" altLang="en-US" sz="2200" dirty="0">
                <a:latin typeface="Helvetica" pitchFamily="2" charset="0"/>
                <a:cs typeface="+mn-ea"/>
                <a:sym typeface="+mn-lt"/>
              </a:rPr>
              <a:t>集成</a:t>
            </a:r>
            <a:endParaRPr lang="zh-CN" altLang="en-US" sz="2200" dirty="0">
              <a:latin typeface="Helvetica" pitchFamily="2" charset="0"/>
              <a:cs typeface="+mn-ea"/>
              <a:sym typeface="+mn-lt"/>
            </a:endParaRPr>
          </a:p>
          <a:p>
            <a:pPr>
              <a:lnSpc>
                <a:spcPct val="120000"/>
              </a:lnSpc>
            </a:pPr>
            <a:r>
              <a:rPr lang="zh-CN" altLang="en-US" sz="2200" dirty="0">
                <a:latin typeface="Helvetica" pitchFamily="2" charset="0"/>
                <a:cs typeface="+mn-ea"/>
                <a:sym typeface="+mn-lt"/>
              </a:rPr>
              <a:t>基础代码复用</a:t>
            </a:r>
            <a:endParaRPr lang="zh-CN" altLang="en-US" sz="2200" dirty="0">
              <a:latin typeface="Helvetica" pitchFamily="2" charset="0"/>
              <a:cs typeface="+mn-ea"/>
              <a:sym typeface="+mn-lt"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07941" y="1594720"/>
            <a:ext cx="6175073" cy="4551911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课程总体目标</a:t>
            </a:r>
            <a:endParaRPr lang="zh-CN" alt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5AB8F-1C56-49E9-90C8-78D22B0C1B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1091255" y="1742155"/>
            <a:ext cx="10734985" cy="34150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zh-CN" altLang="en-US" b="1" dirty="0"/>
              <a:t>成为一名优秀的软件工程师</a:t>
            </a:r>
            <a:endParaRPr lang="zh-CN" altLang="en-US" b="1" dirty="0"/>
          </a:p>
          <a:p>
            <a:pPr marL="742950" lvl="1" indent="-285750">
              <a:buFont typeface="Arial" panose="020B0604020202090204" pitchFamily="34" charset="0"/>
              <a:buChar char="•"/>
              <a:defRPr/>
            </a:pPr>
            <a:r>
              <a:rPr lang="zh-CN" altLang="en-US" dirty="0"/>
              <a:t>你可能是顶尖的程序员、数学家、竞赛选手，但未必是一名优秀的软件工程师</a:t>
            </a:r>
            <a:endParaRPr lang="zh-CN" altLang="en-US" dirty="0"/>
          </a:p>
          <a:p>
            <a:pPr>
              <a:defRPr/>
            </a:pPr>
            <a:endParaRPr lang="zh-CN" altLang="en-US" dirty="0"/>
          </a:p>
          <a:p>
            <a:pPr>
              <a:defRPr/>
            </a:pPr>
            <a:r>
              <a:rPr lang="zh-CN" altLang="en-US" b="1" dirty="0"/>
              <a:t>树立持续学习与思考的意识</a:t>
            </a:r>
            <a:endParaRPr lang="zh-CN" altLang="en-US" b="1" dirty="0"/>
          </a:p>
          <a:p>
            <a:pPr marL="742950" lvl="1" indent="-285750">
              <a:buFont typeface="Arial" panose="020B0604020202090204" pitchFamily="34" charset="0"/>
              <a:buChar char="•"/>
              <a:defRPr/>
            </a:pPr>
            <a:r>
              <a:rPr lang="zh-CN" altLang="en-US" dirty="0"/>
              <a:t>本课程所学内容有限，且会快速更新迭代</a:t>
            </a:r>
            <a:endParaRPr lang="zh-CN" altLang="en-US" dirty="0"/>
          </a:p>
          <a:p>
            <a:pPr marL="742950" lvl="1" indent="-285750">
              <a:buFont typeface="Arial" panose="020B0604020202090204" pitchFamily="34" charset="0"/>
              <a:buChar char="•"/>
              <a:defRPr/>
            </a:pPr>
            <a:r>
              <a:rPr lang="zh-CN" altLang="en-US" dirty="0"/>
              <a:t>学会立足全局思考，跳出技术本身灵活思考</a:t>
            </a:r>
            <a:endParaRPr lang="zh-CN" altLang="en-US" dirty="0"/>
          </a:p>
          <a:p>
            <a:pPr marL="742950" lvl="1" indent="-285750">
              <a:buFont typeface="Arial" panose="020B0604020202090204" pitchFamily="34" charset="0"/>
              <a:buChar char="•"/>
              <a:defRPr/>
            </a:pPr>
            <a:r>
              <a:rPr lang="zh-CN" altLang="en-US" dirty="0"/>
              <a:t>做有价值的事</a:t>
            </a:r>
            <a:endParaRPr lang="zh-CN" altLang="en-US" dirty="0"/>
          </a:p>
          <a:p>
            <a:pPr>
              <a:defRPr/>
            </a:pPr>
            <a:endParaRPr lang="zh-CN" altLang="en-US" dirty="0"/>
          </a:p>
          <a:p>
            <a:pPr>
              <a:defRPr/>
            </a:pPr>
            <a:r>
              <a:rPr lang="zh-CN" altLang="en-US" b="1" dirty="0"/>
              <a:t>肩负重任，心怀使命</a:t>
            </a:r>
            <a:endParaRPr lang="zh-CN" altLang="en-US" b="1" dirty="0"/>
          </a:p>
          <a:p>
            <a:pPr marL="742950" lvl="1" indent="-285750">
              <a:buFont typeface="Arial" panose="020B0604020202090204" pitchFamily="34" charset="0"/>
              <a:buChar char="•"/>
              <a:defRPr/>
            </a:pPr>
            <a:r>
              <a:rPr lang="zh-CN" altLang="en-US" dirty="0"/>
              <a:t>身处第四次工业革命浪潮</a:t>
            </a:r>
            <a:endParaRPr lang="zh-CN" altLang="en-US" dirty="0"/>
          </a:p>
          <a:p>
            <a:pPr marL="742950" lvl="1" indent="-285750">
              <a:buFont typeface="Arial" panose="020B0604020202090204" pitchFamily="34" charset="0"/>
              <a:buChar char="•"/>
              <a:defRPr/>
            </a:pPr>
            <a:r>
              <a:rPr lang="zh-CN" altLang="en-US" dirty="0"/>
              <a:t>立足中国，打造优秀产品</a:t>
            </a:r>
            <a:endParaRPr lang="zh-CN" altLang="en-US" dirty="0"/>
          </a:p>
          <a:p>
            <a:pPr marL="742950" lvl="1" indent="-285750">
              <a:buFont typeface="Arial" panose="020B0604020202090204" pitchFamily="34" charset="0"/>
              <a:buChar char="•"/>
              <a:defRPr/>
            </a:pPr>
            <a:r>
              <a:rPr lang="zh-CN" altLang="en-US" dirty="0"/>
              <a:t>让中国的信息技术产品与服务走向世界</a:t>
            </a:r>
            <a:endParaRPr lang="zh-CN" altLang="en-US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4819048" y="1319889"/>
            <a:ext cx="2553904" cy="2646878"/>
            <a:chOff x="5865211" y="1319889"/>
            <a:chExt cx="2553904" cy="2646878"/>
          </a:xfrm>
        </p:grpSpPr>
        <p:sp>
          <p:nvSpPr>
            <p:cNvPr id="2" name="文本框 1"/>
            <p:cNvSpPr txBox="1"/>
            <p:nvPr/>
          </p:nvSpPr>
          <p:spPr>
            <a:xfrm>
              <a:off x="5865211" y="1319889"/>
              <a:ext cx="2553904" cy="264687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6600" dirty="0">
                  <a:solidFill>
                    <a:schemeClr val="accent1"/>
                  </a:solidFill>
                  <a:latin typeface="Helvetica" pitchFamily="2" charset="0"/>
                  <a:cs typeface="+mn-ea"/>
                  <a:sym typeface="+mn-lt"/>
                </a:rPr>
                <a:t>03</a:t>
              </a:r>
              <a:endParaRPr lang="zh-CN" altLang="en-US" sz="16600" dirty="0">
                <a:solidFill>
                  <a:schemeClr val="accent1"/>
                </a:solidFill>
                <a:latin typeface="Helvetica" pitchFamily="2" charset="0"/>
                <a:cs typeface="+mn-ea"/>
                <a:sym typeface="+mn-lt"/>
              </a:endParaRPr>
            </a:p>
          </p:txBody>
        </p:sp>
        <p:sp>
          <p:nvSpPr>
            <p:cNvPr id="3" name="文本框 2"/>
            <p:cNvSpPr txBox="1"/>
            <p:nvPr/>
          </p:nvSpPr>
          <p:spPr>
            <a:xfrm>
              <a:off x="5865211" y="2574748"/>
              <a:ext cx="2553904" cy="460375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algn="dist"/>
              <a:r>
                <a:rPr lang="zh-CN" altLang="en-US" sz="2400" dirty="0">
                  <a:solidFill>
                    <a:schemeClr val="accent1"/>
                  </a:solidFill>
                  <a:latin typeface="Helvetica" pitchFamily="2" charset="0"/>
                  <a:cs typeface="Arial" panose="020B0604020202090204" pitchFamily="34" charset="0"/>
                  <a:sym typeface="+mn-lt"/>
                </a:rPr>
                <a:t>第三部分</a:t>
              </a:r>
              <a:r>
                <a:rPr lang="en-US" altLang="zh-CN" sz="2400" dirty="0">
                  <a:solidFill>
                    <a:schemeClr val="accent1"/>
                  </a:solidFill>
                  <a:latin typeface="Helvetica" pitchFamily="2" charset="0"/>
                  <a:cs typeface="Arial" panose="020B0604020202090204" pitchFamily="34" charset="0"/>
                  <a:sym typeface="+mn-lt"/>
                </a:rPr>
                <a:t> </a:t>
              </a:r>
              <a:endParaRPr lang="zh-CN" altLang="en-US" sz="2400" dirty="0">
                <a:solidFill>
                  <a:schemeClr val="accent1"/>
                </a:solidFill>
                <a:latin typeface="Helvetica" pitchFamily="2" charset="0"/>
                <a:cs typeface="Arial" panose="020B0604020202090204" pitchFamily="34" charset="0"/>
                <a:sym typeface="+mn-lt"/>
              </a:endParaRPr>
            </a:p>
          </p:txBody>
        </p:sp>
      </p:grpSp>
      <p:sp>
        <p:nvSpPr>
          <p:cNvPr id="5" name="矩形 6"/>
          <p:cNvSpPr/>
          <p:nvPr/>
        </p:nvSpPr>
        <p:spPr>
          <a:xfrm>
            <a:off x="1335087" y="3977885"/>
            <a:ext cx="9521825" cy="644144"/>
          </a:xfrm>
          <a:prstGeom prst="rect">
            <a:avLst/>
          </a:prstGeom>
        </p:spPr>
        <p:txBody>
          <a:bodyPr wrap="square">
            <a:normAutofit lnSpcReduction="10000"/>
          </a:bodyPr>
          <a:lstStyle/>
          <a:p>
            <a:pPr algn="ctr"/>
            <a:r>
              <a:rPr lang="zh-CN" altLang="en-US" sz="4000" b="1" dirty="0">
                <a:solidFill>
                  <a:schemeClr val="accent1"/>
                </a:solidFill>
                <a:latin typeface="Helvetica" pitchFamily="2" charset="0"/>
                <a:cs typeface="+mn-ea"/>
                <a:sym typeface="+mn-lt"/>
              </a:rPr>
              <a:t>课程核心内容概述</a:t>
            </a:r>
            <a:endParaRPr lang="zh-CN" altLang="en-US" sz="4000" b="1" dirty="0">
              <a:solidFill>
                <a:schemeClr val="accent1"/>
              </a:solidFill>
              <a:latin typeface="Helvetica" pitchFamily="2" charset="0"/>
              <a:cs typeface="+mn-ea"/>
              <a:sym typeface="+mn-lt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专业术语：项目</a:t>
            </a:r>
            <a:r>
              <a:rPr lang="zh-CN" altLang="en-US" dirty="0"/>
              <a:t>干系人</a:t>
            </a:r>
            <a:r>
              <a:rPr lang="en-US" altLang="zh-CN" b="0" dirty="0"/>
              <a:t>（</a:t>
            </a:r>
            <a:r>
              <a:rPr lang="en-US" altLang="zh-CN" b="0" dirty="0"/>
              <a:t>Stakeholder）</a:t>
            </a:r>
            <a:endParaRPr lang="en-US" altLang="zh-CN" b="0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5AB8F-1C56-49E9-90C8-78D22B0C1B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890087" y="921483"/>
            <a:ext cx="11155610" cy="34766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zh-CN" altLang="en-US" sz="2000" dirty="0"/>
              <a:t>项目</a:t>
            </a:r>
            <a:r>
              <a:rPr lang="zh-CN" altLang="en-US" sz="2000" dirty="0">
                <a:sym typeface="+mn-ea"/>
              </a:rPr>
              <a:t>干</a:t>
            </a:r>
            <a:r>
              <a:rPr lang="zh-CN" altLang="en-US" sz="2000" dirty="0"/>
              <a:t>系人指参与项目的各类</a:t>
            </a:r>
            <a:r>
              <a:rPr lang="zh-CN" altLang="en-US" sz="2000" dirty="0"/>
              <a:t>利益角色</a:t>
            </a:r>
            <a:endParaRPr lang="zh-CN" altLang="en-US" sz="2000" dirty="0"/>
          </a:p>
          <a:p>
            <a:pPr>
              <a:defRPr/>
            </a:pPr>
            <a:endParaRPr lang="zh-CN" altLang="en-US" sz="2000" dirty="0"/>
          </a:p>
          <a:p>
            <a:pPr>
              <a:defRPr/>
            </a:pPr>
            <a:r>
              <a:rPr lang="zh-CN" altLang="en-US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客户（</a:t>
            </a:r>
            <a:r>
              <a:rPr lang="en-US" altLang="zh-CN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Client</a:t>
            </a:r>
            <a:r>
              <a:rPr lang="zh-CN" altLang="en-US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，</a:t>
            </a:r>
            <a:r>
              <a:rPr lang="zh-CN" altLang="en-US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  <a:sym typeface="+mn-ea"/>
              </a:rPr>
              <a:t>甲方</a:t>
            </a:r>
            <a:r>
              <a:rPr lang="en-US" altLang="zh-CN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  <a:sym typeface="+mn-ea"/>
              </a:rPr>
              <a:t>/</a:t>
            </a:r>
            <a:r>
              <a:rPr lang="zh-CN" altLang="en-US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  <a:sym typeface="+mn-ea"/>
              </a:rPr>
              <a:t>委托方</a:t>
            </a:r>
            <a:r>
              <a:rPr lang="zh-CN" altLang="en-US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）</a:t>
            </a:r>
            <a:endParaRPr lang="zh-CN" altLang="en-US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>
              <a:defRPr/>
            </a:pPr>
            <a:r>
              <a:rPr lang="en-US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	</a:t>
            </a:r>
            <a:r>
              <a:rPr lang="zh-CN" altLang="en-US" sz="2000" dirty="0"/>
              <a:t>提供资源，换取软件产品</a:t>
            </a:r>
            <a:endParaRPr lang="zh-CN" altLang="en-US" sz="2000" dirty="0"/>
          </a:p>
          <a:p>
            <a:pPr marL="457200" lvl="1" indent="457200">
              <a:defRPr/>
            </a:pPr>
            <a:r>
              <a:rPr lang="zh-CN" altLang="en-US" sz="2000" dirty="0"/>
              <a:t>承担项目失败的风险</a:t>
            </a:r>
            <a:endParaRPr lang="zh-CN" altLang="en-US" sz="2000" dirty="0"/>
          </a:p>
          <a:p>
            <a:pPr marL="457200" lvl="1" indent="457200">
              <a:defRPr/>
            </a:pPr>
            <a:r>
              <a:rPr lang="zh-CN" altLang="en-US" sz="2000" dirty="0"/>
              <a:t>制定需求与工作优先级</a:t>
            </a:r>
            <a:endParaRPr lang="zh-CN" altLang="en-US" sz="2000" dirty="0"/>
          </a:p>
          <a:p>
            <a:pPr marL="457200" lvl="1" indent="457200">
              <a:defRPr/>
            </a:pPr>
            <a:r>
              <a:rPr lang="zh-CN" altLang="en-US" sz="2000" dirty="0"/>
              <a:t>甲方满意度是衡量项目成功的首要标准</a:t>
            </a:r>
            <a:endParaRPr lang="zh-CN" altLang="en-US" sz="2000" dirty="0"/>
          </a:p>
          <a:p>
            <a:pPr>
              <a:defRPr/>
            </a:pPr>
            <a:r>
              <a:rPr lang="zh-CN" altLang="en-US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开发人员（</a:t>
            </a:r>
            <a:r>
              <a:rPr lang="en-US" altLang="zh-CN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Developer</a:t>
            </a:r>
            <a:r>
              <a:rPr lang="zh-CN" altLang="en-US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，程序员）</a:t>
            </a:r>
            <a:r>
              <a:rPr lang="en-US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	</a:t>
            </a:r>
            <a:endParaRPr lang="en-US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lvl="1" indent="457200">
              <a:defRPr/>
            </a:pPr>
            <a:r>
              <a:rPr lang="zh-CN" altLang="en-US" sz="2000" dirty="0"/>
              <a:t>属于项目关系人，但并非核心</a:t>
            </a:r>
            <a:r>
              <a:rPr lang="zh-CN" altLang="en-US" sz="2000" dirty="0"/>
              <a:t>关系人</a:t>
            </a:r>
            <a:endParaRPr lang="zh-CN" altLang="en-US" sz="2000" dirty="0"/>
          </a:p>
          <a:p>
            <a:pPr lvl="1" indent="457200">
              <a:defRPr/>
            </a:pPr>
            <a:r>
              <a:rPr lang="zh-CN" altLang="en-US" sz="2000" dirty="0"/>
              <a:t>是企业的高成本资源</a:t>
            </a:r>
            <a:endParaRPr lang="zh-CN" altLang="en-US" sz="2000" dirty="0"/>
          </a:p>
          <a:p>
            <a:pPr lvl="1" indent="457200">
              <a:defRPr/>
            </a:pPr>
            <a:r>
              <a:rPr lang="zh-CN" altLang="en-US" sz="2000" dirty="0"/>
              <a:t>需履行专业胜任、保密、合规的职责</a:t>
            </a:r>
            <a:r>
              <a:rPr lang="en-US" sz="2000" dirty="0"/>
              <a:t> </a:t>
            </a:r>
            <a:endParaRPr lang="en-US" sz="2000" dirty="0"/>
          </a:p>
        </p:txBody>
      </p:sp>
      <p:sp>
        <p:nvSpPr>
          <p:cNvPr id="4" name="TextBox 3"/>
          <p:cNvSpPr txBox="1"/>
          <p:nvPr/>
        </p:nvSpPr>
        <p:spPr>
          <a:xfrm>
            <a:off x="890086" y="4397790"/>
            <a:ext cx="10734985" cy="13220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zh-CN" altLang="en-US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顾客</a:t>
            </a:r>
            <a:r>
              <a:rPr lang="en-US" altLang="zh-CN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 </a:t>
            </a:r>
            <a:r>
              <a:rPr lang="zh-CN" altLang="en-US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（</a:t>
            </a:r>
            <a:r>
              <a:rPr lang="en-US" altLang="zh-CN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Customer</a:t>
            </a:r>
            <a:r>
              <a:rPr lang="zh-CN" altLang="en-US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）</a:t>
            </a:r>
            <a:endParaRPr lang="zh-CN" altLang="en-US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marL="457200" lvl="1" indent="457200">
              <a:defRPr/>
            </a:pPr>
            <a:r>
              <a:rPr lang="zh-CN" altLang="en-US" sz="2000" dirty="0"/>
              <a:t>购买软件，或为企业选定软件产品的主体</a:t>
            </a:r>
            <a:endParaRPr lang="zh-CN" altLang="en-US" sz="2000" dirty="0"/>
          </a:p>
          <a:p>
            <a:pPr algn="l">
              <a:buClrTx/>
              <a:buSzTx/>
              <a:buFontTx/>
              <a:defRPr/>
            </a:pPr>
            <a:r>
              <a:rPr lang="zh-CN" altLang="en-US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用户</a:t>
            </a:r>
            <a:r>
              <a:rPr lang="en-US" altLang="zh-CN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 </a:t>
            </a:r>
            <a:r>
              <a:rPr lang="zh-CN" altLang="en-US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（</a:t>
            </a:r>
            <a:r>
              <a:rPr lang="en-US" altLang="zh-CN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User</a:t>
            </a:r>
            <a:r>
              <a:rPr lang="zh-CN" altLang="en-US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）</a:t>
            </a:r>
            <a:endParaRPr lang="zh-CN" altLang="en-US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marL="457200" lvl="1" indent="457200">
              <a:defRPr/>
            </a:pPr>
            <a:r>
              <a:rPr lang="zh-CN" altLang="en-US" sz="2000" dirty="0"/>
              <a:t>实际使用、操作软件的主体</a:t>
            </a:r>
            <a:endParaRPr lang="zh-CN" altLang="en-US" sz="2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软件开发流程</a:t>
            </a:r>
            <a:endParaRPr lang="zh-CN" alt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5AB8F-1C56-49E9-90C8-78D22B0C1B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1208405" y="1755140"/>
            <a:ext cx="4500245" cy="295973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indent="0" fontAlgn="auto">
              <a:lnSpc>
                <a:spcPct val="150000"/>
              </a:lnSpc>
            </a:pPr>
            <a:r>
              <a:rPr lang="zh-CN" altLang="en-US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可行性分析与规划</a:t>
            </a:r>
            <a:endParaRPr lang="zh-CN" altLang="en-US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indent="0" fontAlgn="auto">
              <a:lnSpc>
                <a:spcPct val="150000"/>
              </a:lnSpc>
            </a:pPr>
            <a:r>
              <a:rPr lang="zh-CN" altLang="en-US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需求工程</a:t>
            </a:r>
            <a:endParaRPr lang="zh-CN" altLang="en-US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indent="0" fontAlgn="auto">
              <a:lnSpc>
                <a:spcPct val="150000"/>
              </a:lnSpc>
            </a:pPr>
            <a:r>
              <a:rPr lang="zh-CN" altLang="en-US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用户界面</a:t>
            </a:r>
            <a:r>
              <a:rPr lang="en-US" altLang="zh-CN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 / </a:t>
            </a:r>
            <a:r>
              <a:rPr lang="zh-CN" altLang="en-US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用户体验设计</a:t>
            </a:r>
            <a:endParaRPr lang="zh-CN" altLang="en-US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indent="0" fontAlgn="auto">
              <a:lnSpc>
                <a:spcPct val="150000"/>
              </a:lnSpc>
            </a:pPr>
            <a:r>
              <a:rPr lang="zh-CN" altLang="en-US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系统设计</a:t>
            </a:r>
            <a:endParaRPr lang="zh-CN" altLang="en-US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indent="0" fontAlgn="auto">
              <a:lnSpc>
                <a:spcPct val="150000"/>
              </a:lnSpc>
            </a:pPr>
            <a:r>
              <a:rPr lang="zh-CN" altLang="en-US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程序开发（编码环节）</a:t>
            </a:r>
            <a:endParaRPr lang="zh-CN" altLang="en-US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indent="0" fontAlgn="auto">
              <a:lnSpc>
                <a:spcPct val="150000"/>
              </a:lnSpc>
            </a:pPr>
            <a:r>
              <a:rPr lang="zh-CN" altLang="en-US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验收与发布</a:t>
            </a:r>
            <a:endParaRPr lang="zh-CN" altLang="en-US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indent="0" fontAlgn="auto">
              <a:lnSpc>
                <a:spcPct val="150000"/>
              </a:lnSpc>
            </a:pPr>
            <a:r>
              <a:rPr lang="zh-CN" altLang="en-US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运行与维护</a:t>
            </a:r>
            <a:endParaRPr lang="zh-CN" altLang="en-US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708938" y="1755228"/>
            <a:ext cx="5656386" cy="10147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dirty="0">
                <a:latin typeface="Helvetica" pitchFamily="2" charset="0"/>
                <a:cs typeface="Arial" panose="020B0604020202090204" pitchFamily="34" charset="0"/>
              </a:rPr>
              <a:t>各环节在开发周期中可能反复进行</a:t>
            </a:r>
            <a:endParaRPr lang="zh-CN" altLang="en-US" sz="2000" dirty="0">
              <a:latin typeface="Helvetica" pitchFamily="2" charset="0"/>
              <a:cs typeface="Arial" panose="020B0604020202090204" pitchFamily="34" charset="0"/>
            </a:endParaRPr>
          </a:p>
          <a:p>
            <a:r>
              <a:rPr lang="zh-CN" altLang="en-US" sz="2000" dirty="0">
                <a:latin typeface="Helvetica" pitchFamily="2" charset="0"/>
                <a:cs typeface="Arial" panose="020B0604020202090204" pitchFamily="34" charset="0"/>
              </a:rPr>
              <a:t>需明确区分各环节的核心目标</a:t>
            </a:r>
            <a:endParaRPr lang="zh-CN" altLang="en-US" sz="2000" dirty="0">
              <a:latin typeface="Helvetica" pitchFamily="2" charset="0"/>
              <a:cs typeface="Arial" panose="020B0604020202090204" pitchFamily="34" charset="0"/>
            </a:endParaRPr>
          </a:p>
          <a:p>
            <a:endParaRPr lang="zh-CN" altLang="en-US" sz="2000" dirty="0">
              <a:latin typeface="Helvetica" pitchFamily="2" charset="0"/>
              <a:cs typeface="Arial" panose="020B0604020202090204" pitchFamily="34" charset="0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1091565" y="1755140"/>
            <a:ext cx="4500245" cy="3317875"/>
          </a:xfrm>
          <a:prstGeom prst="roundRect">
            <a:avLst>
              <a:gd name="adj" fmla="val 3927"/>
            </a:avLst>
          </a:pr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930165" y="5685553"/>
            <a:ext cx="11193517" cy="7067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dirty="0">
                <a:latin typeface="Helvetica" pitchFamily="2" charset="0"/>
                <a:cs typeface="Arial" panose="020B0604020202090204" pitchFamily="34" charset="0"/>
                <a:sym typeface="+mn-ea"/>
              </a:rPr>
              <a:t>以上是本课程的核心授课内容，也需在项目报告中完整体现</a:t>
            </a:r>
            <a:endParaRPr lang="zh-CN" altLang="en-US" sz="2000" dirty="0">
              <a:latin typeface="Helvetica" pitchFamily="2" charset="0"/>
              <a:cs typeface="Arial" panose="020B0604020202090204" pitchFamily="34" charset="0"/>
            </a:endParaRPr>
          </a:p>
          <a:p>
            <a:r>
              <a:rPr lang="en-US" sz="2000" u="sng" dirty="0">
                <a:solidFill>
                  <a:srgbClr val="C00000"/>
                </a:solidFill>
                <a:latin typeface="Helvetica" pitchFamily="2" charset="0"/>
                <a:cs typeface="Arial" panose="020B0604020202090204" pitchFamily="34" charset="0"/>
              </a:rPr>
              <a:t> </a:t>
            </a:r>
            <a:endParaRPr lang="en-US" sz="2000" u="sng" dirty="0">
              <a:solidFill>
                <a:srgbClr val="C00000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可行性分析</a:t>
            </a:r>
            <a:endParaRPr lang="zh-CN" alt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5AB8F-1C56-49E9-90C8-78D22B0C1B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601980" y="1550670"/>
            <a:ext cx="11307445" cy="28613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zh-CN" altLang="en-US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可行性分析是项目启动决策前的必要环节，核心需明确：</a:t>
            </a:r>
            <a:endParaRPr lang="zh-CN" altLang="en-US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lvl="1"/>
            <a:r>
              <a:rPr lang="zh-CN" altLang="en-US" sz="2000" dirty="0"/>
              <a:t>拟立项项目的范围</a:t>
            </a:r>
            <a:r>
              <a:rPr lang="en-US" altLang="zh-CN" sz="2000" dirty="0"/>
              <a:t>（Scope）</a:t>
            </a:r>
            <a:r>
              <a:rPr lang="zh-CN" altLang="en-US" sz="2000" dirty="0"/>
              <a:t>是什么？</a:t>
            </a:r>
            <a:r>
              <a:rPr lang="en-US" altLang="zh-CN" sz="2000" dirty="0"/>
              <a:t>（</a:t>
            </a:r>
            <a:r>
              <a:rPr lang="zh-CN" altLang="en-US" sz="2000" dirty="0"/>
              <a:t>哪些功能</a:t>
            </a:r>
            <a:r>
              <a:rPr lang="en-US" altLang="zh-CN" sz="2000" dirty="0"/>
              <a:t>，</a:t>
            </a:r>
            <a:r>
              <a:rPr lang="zh-CN" altLang="en-US" sz="2000" dirty="0"/>
              <a:t>给谁用</a:t>
            </a:r>
            <a:r>
              <a:rPr lang="en-US" altLang="zh-CN" sz="2000" dirty="0"/>
              <a:t>，</a:t>
            </a:r>
            <a:r>
              <a:rPr lang="zh-CN" altLang="en-US" sz="2000" dirty="0"/>
              <a:t>在什么环境用</a:t>
            </a:r>
            <a:r>
              <a:rPr lang="en-US" altLang="zh-CN" sz="2000" dirty="0"/>
              <a:t>？</a:t>
            </a:r>
            <a:r>
              <a:rPr lang="zh-CN" altLang="en-US" sz="2000" dirty="0"/>
              <a:t>交付形式是什么</a:t>
            </a:r>
            <a:r>
              <a:rPr lang="en-US" altLang="zh-CN" sz="2000" dirty="0"/>
              <a:t>？）</a:t>
            </a:r>
            <a:endParaRPr lang="zh-CN" altLang="en-US" sz="2000" dirty="0"/>
          </a:p>
          <a:p>
            <a:pPr lvl="1"/>
            <a:r>
              <a:rPr lang="zh-CN" altLang="en-US" sz="2000" dirty="0"/>
              <a:t>项目在技术层面是否可行？</a:t>
            </a:r>
            <a:endParaRPr lang="zh-CN" altLang="en-US" sz="2000" dirty="0"/>
          </a:p>
          <a:p>
            <a:pPr lvl="1"/>
            <a:r>
              <a:rPr lang="zh-CN" altLang="en-US" sz="2000" dirty="0"/>
              <a:t>项目预计能带来哪些收益？</a:t>
            </a:r>
            <a:endParaRPr lang="zh-CN" altLang="en-US" sz="2000" dirty="0"/>
          </a:p>
          <a:p>
            <a:pPr lvl="1"/>
            <a:r>
              <a:rPr lang="zh-CN" altLang="en-US" sz="2000" dirty="0"/>
              <a:t>项目的成本投入是多少？</a:t>
            </a:r>
            <a:endParaRPr lang="zh-CN" altLang="en-US" sz="2000" dirty="0"/>
          </a:p>
          <a:p>
            <a:pPr lvl="1"/>
            <a:r>
              <a:rPr lang="zh-CN" altLang="en-US" sz="2000" dirty="0"/>
              <a:t>项目所需资源是否可获取？</a:t>
            </a:r>
            <a:endParaRPr lang="zh-CN" altLang="en-US" sz="2000" dirty="0"/>
          </a:p>
          <a:p>
            <a:pPr lvl="1"/>
            <a:r>
              <a:rPr lang="zh-CN" altLang="en-US" sz="2000" dirty="0"/>
              <a:t>项目存在哪些风险，如何管控？</a:t>
            </a:r>
            <a:endParaRPr lang="zh-CN" altLang="en-US" sz="2000" dirty="0"/>
          </a:p>
          <a:p>
            <a:pPr algn="l">
              <a:lnSpc>
                <a:spcPct val="150000"/>
              </a:lnSpc>
              <a:buClrTx/>
              <a:buSzTx/>
              <a:buFontTx/>
            </a:pPr>
            <a:endParaRPr lang="zh-CN" altLang="en-US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5968" y="4497514"/>
            <a:ext cx="8229601" cy="3987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  <a:sym typeface="+mn-ea"/>
              </a:rPr>
              <a:t>可行性分析的最终结果，决定项目是否启动</a:t>
            </a:r>
            <a:endParaRPr lang="zh-CN" altLang="en-US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需求工程</a:t>
            </a:r>
            <a:endParaRPr lang="zh-CN" alt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5AB8F-1C56-49E9-90C8-78D22B0C1B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1025677" y="1320730"/>
            <a:ext cx="10615449" cy="40925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dirty="0">
                <a:solidFill>
                  <a:schemeClr val="tx1"/>
                </a:solidFill>
                <a:latin typeface="Helvetica" pitchFamily="2" charset="0"/>
                <a:cs typeface="Arial" panose="020B0604020202090204" pitchFamily="34" charset="0"/>
              </a:rPr>
              <a:t>需求从甲方视角定义系统的核心功能，通过与甲方、顾客、用户沟通，明确系统的功能、约束条件与目标。</a:t>
            </a:r>
            <a:endParaRPr lang="zh-CN" altLang="en-US" sz="2000" dirty="0">
              <a:solidFill>
                <a:schemeClr val="tx1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endParaRPr lang="zh-CN" altLang="en-US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r>
              <a:rPr lang="zh-CN" altLang="en-US" sz="2000" dirty="0">
                <a:solidFill>
                  <a:schemeClr val="tx1"/>
                </a:solidFill>
                <a:latin typeface="Helvetica" pitchFamily="2" charset="0"/>
                <a:cs typeface="Arial" panose="020B0604020202090204" pitchFamily="34" charset="0"/>
              </a:rPr>
              <a:t>该环节通常分为三个阶段：</a:t>
            </a:r>
            <a:endParaRPr lang="zh-CN" altLang="en-US" sz="2000" dirty="0">
              <a:solidFill>
                <a:schemeClr val="tx1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lvl="1"/>
            <a:r>
              <a:rPr lang="zh-CN" altLang="en-US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需求分析</a:t>
            </a:r>
            <a:endParaRPr lang="zh-CN" altLang="en-US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lvl="1"/>
            <a:r>
              <a:rPr lang="zh-CN" altLang="en-US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需求定义</a:t>
            </a:r>
            <a:endParaRPr lang="zh-CN" altLang="en-US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lvl="1"/>
            <a:r>
              <a:rPr lang="zh-CN" altLang="en-US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需求规格说明</a:t>
            </a:r>
            <a:endParaRPr lang="zh-CN" altLang="en-US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endParaRPr lang="zh-CN" altLang="en-US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endParaRPr lang="zh-CN" altLang="en-US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endParaRPr lang="zh-CN" altLang="en-US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endParaRPr lang="zh-CN" altLang="en-US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r>
              <a:rPr lang="zh-CN" altLang="en-US" sz="2000" dirty="0">
                <a:solidFill>
                  <a:schemeClr val="tx1"/>
                </a:solidFill>
                <a:latin typeface="Helvetica" pitchFamily="2" charset="0"/>
                <a:cs typeface="Arial" panose="020B0604020202090204" pitchFamily="34" charset="0"/>
              </a:rPr>
              <a:t>需求既可通过独立的调研工作梳理，也可在开发过程中逐步完善。需求未达成共识、定义不清晰，是软件项目失败的最主要原因之一。</a:t>
            </a:r>
            <a:endParaRPr lang="zh-CN" altLang="en-US" sz="2000" dirty="0">
              <a:solidFill>
                <a:schemeClr val="tx1"/>
              </a:solidFill>
              <a:latin typeface="Helvetica" pitchFamily="2" charset="0"/>
              <a:cs typeface="Arial" panose="020B0604020202090204" pitchFamily="34" charset="0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85790" y="2636520"/>
            <a:ext cx="5363845" cy="1461135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用户界面</a:t>
            </a:r>
            <a:r>
              <a:rPr lang="en-US" altLang="zh-CN" dirty="0"/>
              <a:t> / </a:t>
            </a:r>
            <a:r>
              <a:rPr lang="zh-CN" altLang="en-US" dirty="0"/>
              <a:t>用户体验设计</a:t>
            </a:r>
            <a:endParaRPr lang="zh-CN" alt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5AB8F-1C56-49E9-90C8-78D22B0C1B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902970" y="1384300"/>
            <a:ext cx="10615295" cy="271208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lang="zh-CN" altLang="en-US" sz="2000" b="1" dirty="0"/>
              <a:t>易用性是现代应用与软件系统的核心要求，这需要优秀的界面设计作为支撑。</a:t>
            </a:r>
            <a:endParaRPr lang="zh-CN" altLang="en-US" sz="2000" b="1" dirty="0"/>
          </a:p>
          <a:p>
            <a:endParaRPr lang="zh-CN" altLang="en-US" sz="2000" dirty="0"/>
          </a:p>
          <a:p>
            <a:endParaRPr lang="zh-CN" altLang="en-US" sz="2000" dirty="0"/>
          </a:p>
          <a:p>
            <a:r>
              <a:rPr lang="zh-CN" altLang="en-US" sz="2000" b="1" dirty="0"/>
              <a:t>用户界面需结合用户测试持续优化，这要求开发过程具备迭代性：</a:t>
            </a:r>
            <a:endParaRPr lang="zh-CN" altLang="en-US" sz="2000" b="1" dirty="0"/>
          </a:p>
          <a:p>
            <a:r>
              <a:rPr lang="zh-CN" altLang="en-US" sz="2000" dirty="0"/>
              <a:t>设计界面</a:t>
            </a:r>
            <a:r>
              <a:rPr lang="en-US" altLang="en-US" sz="2000" dirty="0"/>
              <a:t>→</a:t>
            </a:r>
            <a:r>
              <a:rPr lang="zh-CN" altLang="en-US" sz="2000" dirty="0"/>
              <a:t>用户测试</a:t>
            </a:r>
            <a:r>
              <a:rPr lang="en-US" altLang="en-US" sz="2000" dirty="0"/>
              <a:t>→</a:t>
            </a:r>
            <a:r>
              <a:rPr lang="zh-CN" altLang="en-US" sz="2000" dirty="0"/>
              <a:t>修改界面</a:t>
            </a:r>
            <a:r>
              <a:rPr lang="en-US" altLang="en-US" sz="2000" dirty="0"/>
              <a:t>→</a:t>
            </a:r>
            <a:r>
              <a:rPr lang="zh-CN" altLang="en-US" sz="2000" dirty="0"/>
              <a:t>反复迭代</a:t>
            </a:r>
            <a:endParaRPr lang="zh-CN" altLang="en-US" sz="2000" dirty="0"/>
          </a:p>
          <a:p>
            <a:endParaRPr lang="zh-CN" altLang="en-US" sz="2000" dirty="0"/>
          </a:p>
          <a:p>
            <a:endParaRPr lang="zh-CN" altLang="en-US" sz="2000" dirty="0"/>
          </a:p>
          <a:p>
            <a:r>
              <a:rPr lang="zh-CN" altLang="en-US" sz="2000" b="1" dirty="0"/>
              <a:t>以产品为导向，而非以技术为导向</a:t>
            </a:r>
            <a:endParaRPr lang="zh-CN" altLang="en-US" sz="2000" b="1" dirty="0"/>
          </a:p>
          <a:p>
            <a:r>
              <a:rPr lang="zh-CN" altLang="en-US" sz="2000" dirty="0"/>
              <a:t>产品失败的原因有很多，但体验糟糕的产品，必然会失败。</a:t>
            </a:r>
            <a:endParaRPr lang="zh-CN" altLang="en-US" sz="2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系统设计</a:t>
            </a:r>
            <a:endParaRPr lang="zh-CN" alt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5AB8F-1C56-49E9-90C8-78D22B0C1B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884510" y="1453928"/>
            <a:ext cx="13453243" cy="28613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dirty="0"/>
              <a:t>系统设计从开发人员的视角描述产品架构，</a:t>
            </a:r>
            <a:endParaRPr lang="zh-CN" altLang="en-US" sz="2000" dirty="0"/>
          </a:p>
          <a:p>
            <a:pPr marL="800100" lvl="1" indent="-342900">
              <a:buFont typeface="Arial" panose="020B0604020202090204" pitchFamily="34" charset="0"/>
              <a:buChar char="•"/>
            </a:pPr>
            <a:r>
              <a:rPr lang="zh-CN" altLang="en-US" sz="2000" dirty="0"/>
              <a:t>核心是搭建匹配需求的软硬件系统架构</a:t>
            </a:r>
            <a:endParaRPr lang="zh-CN" altLang="en-US" sz="2000" dirty="0"/>
          </a:p>
          <a:p>
            <a:pPr marL="800100" lvl="1" indent="-342900">
              <a:buFont typeface="Arial" panose="020B0604020202090204" pitchFamily="34" charset="0"/>
              <a:buChar char="•"/>
            </a:pPr>
            <a:r>
              <a:rPr lang="zh-CN" altLang="en-US" sz="2000" dirty="0"/>
              <a:t>安全与性能是系统设计的核心考量因素</a:t>
            </a:r>
            <a:endParaRPr lang="zh-CN" altLang="en-US" sz="2000" dirty="0"/>
          </a:p>
          <a:p>
            <a:pPr indent="457200"/>
            <a:endParaRPr lang="zh-CN" altLang="en-US" sz="2000" dirty="0"/>
          </a:p>
          <a:p>
            <a:r>
              <a:rPr lang="zh-CN" altLang="en-US" sz="2000" dirty="0"/>
              <a:t>建模工具</a:t>
            </a:r>
            <a:endParaRPr lang="zh-CN" altLang="en-US" sz="2000" dirty="0"/>
          </a:p>
          <a:p>
            <a:pPr marL="800100" lvl="1" indent="-342900">
              <a:buFont typeface="Arial" panose="020B0604020202090204" pitchFamily="34" charset="0"/>
              <a:buChar char="•"/>
            </a:pPr>
            <a:r>
              <a:rPr lang="zh-CN" altLang="en-US" sz="2000" dirty="0"/>
              <a:t>建模是表达需求、系统设计、程序设计的常用方式</a:t>
            </a:r>
            <a:endParaRPr lang="zh-CN" altLang="en-US" sz="2000" dirty="0"/>
          </a:p>
          <a:p>
            <a:pPr marL="800100" lvl="1" indent="-342900">
              <a:buFont typeface="Arial" panose="020B0604020202090204" pitchFamily="34" charset="0"/>
              <a:buChar char="•"/>
            </a:pPr>
            <a:r>
              <a:rPr lang="zh-CN" altLang="en-US" sz="2000" dirty="0"/>
              <a:t>本课程将讲解统一建模语言（</a:t>
            </a:r>
            <a:r>
              <a:rPr lang="en-US" altLang="zh-CN" sz="2000" dirty="0"/>
              <a:t>UML</a:t>
            </a:r>
            <a:r>
              <a:rPr lang="zh-CN" altLang="en-US" sz="2000" dirty="0"/>
              <a:t>）的核心概念</a:t>
            </a:r>
            <a:endParaRPr lang="zh-CN" altLang="en-US" sz="2000" dirty="0"/>
          </a:p>
          <a:p>
            <a:endParaRPr lang="zh-CN" altLang="en-US" sz="2000" dirty="0"/>
          </a:p>
          <a:p>
            <a:endParaRPr lang="zh-CN" altLang="en-US" sz="2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程序开发</a:t>
            </a:r>
            <a:endParaRPr lang="zh-CN" alt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5AB8F-1C56-49E9-90C8-78D22B0C1B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1091255" y="1648710"/>
            <a:ext cx="10596247" cy="13220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dirty="0"/>
              <a:t>基于系统设计与界面设计方案，开发满足需求的程序，核心包含：</a:t>
            </a:r>
            <a:endParaRPr lang="zh-CN" altLang="en-US" sz="2000" dirty="0"/>
          </a:p>
          <a:p>
            <a:pPr marL="800100" lvl="1" indent="-342900">
              <a:buFont typeface="Arial" panose="020B0604020202090204" pitchFamily="34" charset="0"/>
              <a:buChar char="•"/>
            </a:pPr>
            <a:r>
              <a:rPr lang="zh-CN" altLang="en-US" sz="2000" dirty="0"/>
              <a:t>程序设计（设计模式）</a:t>
            </a:r>
            <a:endParaRPr lang="zh-CN" altLang="en-US" sz="2000" dirty="0"/>
          </a:p>
          <a:p>
            <a:pPr marL="800100" lvl="1" indent="-342900">
              <a:buFont typeface="Arial" panose="020B0604020202090204" pitchFamily="34" charset="0"/>
              <a:buChar char="•"/>
            </a:pPr>
            <a:r>
              <a:rPr lang="zh-CN" altLang="en-US" sz="2000" dirty="0"/>
              <a:t>代码实现</a:t>
            </a:r>
            <a:endParaRPr lang="zh-CN" altLang="en-US" sz="2000" dirty="0"/>
          </a:p>
          <a:p>
            <a:pPr marL="800100" lvl="1" indent="-342900">
              <a:buFont typeface="Arial" panose="020B0604020202090204" pitchFamily="34" charset="0"/>
              <a:buChar char="•"/>
            </a:pPr>
            <a:r>
              <a:rPr lang="zh-CN" altLang="en-US" sz="2000" dirty="0"/>
              <a:t>测试验证</a:t>
            </a:r>
            <a:endParaRPr lang="zh-CN" altLang="en-US" sz="2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软件测试</a:t>
            </a:r>
            <a:endParaRPr lang="zh-CN" alt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5AB8F-1C56-49E9-90C8-78D22B0C1B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1013460" y="1372870"/>
            <a:ext cx="10687685" cy="28613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dirty="0">
                <a:solidFill>
                  <a:srgbClr val="515223"/>
                </a:solidFill>
              </a:rPr>
              <a:t>用户测试</a:t>
            </a:r>
            <a:endParaRPr lang="zh-CN" altLang="en-US" sz="2000" dirty="0">
              <a:solidFill>
                <a:srgbClr val="515223"/>
              </a:solidFill>
            </a:endParaRPr>
          </a:p>
          <a:p>
            <a:pPr marL="800100" lvl="1" indent="-342900">
              <a:buFont typeface="Arial" panose="020B0604020202090204" pitchFamily="34" charset="0"/>
              <a:buChar char="•"/>
            </a:pPr>
            <a:r>
              <a:rPr lang="zh-CN" altLang="en-US" sz="2000" dirty="0"/>
              <a:t>由用户测试不同版本的界面，根据用户体验反馈，优化需求或设计方案。</a:t>
            </a:r>
            <a:endParaRPr lang="zh-CN" altLang="en-US" sz="2000" dirty="0"/>
          </a:p>
          <a:p>
            <a:endParaRPr lang="zh-CN" altLang="en-US" sz="2000" dirty="0"/>
          </a:p>
          <a:p>
            <a:r>
              <a:rPr lang="zh-CN" altLang="en-US" sz="2000" dirty="0">
                <a:solidFill>
                  <a:srgbClr val="515223"/>
                </a:solidFill>
              </a:rPr>
              <a:t>程序测试</a:t>
            </a:r>
            <a:endParaRPr lang="zh-CN" altLang="en-US" sz="2000" dirty="0">
              <a:solidFill>
                <a:srgbClr val="515223"/>
              </a:solidFill>
            </a:endParaRPr>
          </a:p>
          <a:p>
            <a:pPr marL="800100" lvl="1" indent="-342900">
              <a:buFont typeface="Arial" panose="020B0604020202090204" pitchFamily="34" charset="0"/>
              <a:buChar char="•"/>
            </a:pPr>
            <a:r>
              <a:rPr lang="zh-CN" altLang="en-US" sz="2000" dirty="0"/>
              <a:t>开发团队依据设计方案，对程序模块进行单独测试（单元测试）或联合测试（系统测试），排查程序漏洞。</a:t>
            </a:r>
            <a:endParaRPr lang="zh-CN" altLang="en-US" sz="2000" dirty="0"/>
          </a:p>
          <a:p>
            <a:endParaRPr lang="zh-CN" altLang="en-US" sz="2000" dirty="0"/>
          </a:p>
          <a:p>
            <a:r>
              <a:rPr lang="zh-CN" altLang="en-US" sz="2000" dirty="0">
                <a:solidFill>
                  <a:srgbClr val="515223"/>
                </a:solidFill>
              </a:rPr>
              <a:t>验收测试</a:t>
            </a:r>
            <a:endParaRPr lang="zh-CN" altLang="en-US" sz="2000" dirty="0">
              <a:solidFill>
                <a:srgbClr val="515223"/>
              </a:solidFill>
            </a:endParaRPr>
          </a:p>
          <a:p>
            <a:pPr marL="800100" lvl="1" indent="-342900">
              <a:buFont typeface="Arial" panose="020B0604020202090204" pitchFamily="34" charset="0"/>
              <a:buChar char="•"/>
            </a:pPr>
            <a:r>
              <a:rPr lang="zh-CN" altLang="en-US" sz="2000" dirty="0"/>
              <a:t>由甲方依据需求文档，对系统最终版本或核心模块进行测试。</a:t>
            </a:r>
            <a:endParaRPr lang="zh-CN" altLang="en-US" sz="2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验收与发布</a:t>
            </a:r>
            <a:endParaRPr lang="zh-CN" alt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5AB8F-1C56-49E9-90C8-78D22B0C1B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937260" y="1593850"/>
            <a:ext cx="9968230" cy="17532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rgbClr val="515223"/>
                </a:solidFill>
                <a:effectLst/>
              </a:rPr>
              <a:t>验收测试</a:t>
            </a:r>
            <a:endParaRPr lang="zh-CN" altLang="en-US" b="1" dirty="0">
              <a:solidFill>
                <a:srgbClr val="515223"/>
              </a:solidFill>
              <a:effectLst/>
            </a:endParaRPr>
          </a:p>
          <a:p>
            <a:pPr marL="742950" lvl="1" indent="-285750">
              <a:buFont typeface="Arial" panose="020B0604020202090204" pitchFamily="34" charset="0"/>
              <a:buChar char="•"/>
            </a:pPr>
            <a:r>
              <a:rPr lang="zh-CN" altLang="en-US" dirty="0">
                <a:effectLst/>
              </a:rPr>
              <a:t>由甲方依据需求文档对系统进行测试，这也是需求工程至关重要的原因。</a:t>
            </a:r>
            <a:endParaRPr lang="zh-CN" altLang="en-US" dirty="0">
              <a:effectLst/>
            </a:endParaRPr>
          </a:p>
          <a:p>
            <a:endParaRPr lang="zh-CN" altLang="en-US" dirty="0">
              <a:effectLst/>
            </a:endParaRPr>
          </a:p>
          <a:p>
            <a:endParaRPr lang="zh-CN" altLang="en-US" dirty="0">
              <a:effectLst/>
            </a:endParaRPr>
          </a:p>
          <a:p>
            <a:r>
              <a:rPr lang="zh-CN" altLang="en-US" b="1" dirty="0">
                <a:solidFill>
                  <a:srgbClr val="515223"/>
                </a:solidFill>
                <a:effectLst/>
              </a:rPr>
              <a:t>交付与发布</a:t>
            </a:r>
            <a:endParaRPr lang="zh-CN" altLang="en-US" b="1" dirty="0">
              <a:solidFill>
                <a:srgbClr val="515223"/>
              </a:solidFill>
              <a:effectLst/>
            </a:endParaRPr>
          </a:p>
          <a:p>
            <a:pPr marL="742950" lvl="1" indent="-285750">
              <a:buFont typeface="Arial" panose="020B0604020202090204" pitchFamily="34" charset="0"/>
              <a:buChar char="•"/>
            </a:pPr>
            <a:r>
              <a:rPr lang="zh-CN" altLang="en-US" dirty="0">
                <a:effectLst/>
              </a:rPr>
              <a:t>验收测试通过后，将系统交付给甲方，正式投入生产使用或面向市场推广。</a:t>
            </a:r>
            <a:endParaRPr lang="zh-CN" altLang="en-US" dirty="0">
              <a:effectLst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运行与维护</a:t>
            </a:r>
            <a:endParaRPr lang="zh-CN" alt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5AB8F-1C56-49E9-90C8-78D22B0C1B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1091565" y="1434465"/>
            <a:ext cx="8578850" cy="318135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lang="zh-CN" altLang="en-US" sz="2000" dirty="0"/>
              <a:t>运行：将系统投入实际业务场景使用</a:t>
            </a:r>
            <a:endParaRPr lang="zh-CN" altLang="en-US" sz="2000" dirty="0"/>
          </a:p>
          <a:p>
            <a:endParaRPr lang="zh-CN" altLang="en-US" sz="2000" dirty="0"/>
          </a:p>
          <a:p>
            <a:r>
              <a:rPr lang="zh-CN" altLang="en-US" sz="2000" dirty="0"/>
              <a:t>维护：发现并修复系统运行中的问题与漏洞</a:t>
            </a:r>
            <a:endParaRPr lang="zh-CN" altLang="en-US" sz="2000" dirty="0"/>
          </a:p>
          <a:p>
            <a:endParaRPr lang="zh-CN" altLang="en-US" sz="2000" dirty="0"/>
          </a:p>
          <a:p>
            <a:r>
              <a:rPr lang="zh-CN" altLang="en-US" sz="2000" dirty="0"/>
              <a:t>迭代升级：根据需求变化完善功能，适配技术环境的更新</a:t>
            </a:r>
            <a:endParaRPr lang="zh-CN" altLang="en-US" sz="2000" dirty="0"/>
          </a:p>
          <a:p>
            <a:endParaRPr lang="zh-CN" altLang="en-US" sz="2000" dirty="0"/>
          </a:p>
          <a:p>
            <a:r>
              <a:rPr lang="zh-CN" altLang="en-US" sz="2000" dirty="0"/>
              <a:t>下线：终止系统的服务与使用</a:t>
            </a:r>
            <a:endParaRPr lang="zh-CN" altLang="en-US" sz="2000" dirty="0"/>
          </a:p>
          <a:p>
            <a:endParaRPr lang="zh-CN" altLang="en-US" sz="2000" dirty="0"/>
          </a:p>
          <a:p>
            <a:r>
              <a:rPr lang="zh-CN" altLang="en-US" sz="2000" dirty="0"/>
              <a:t>以上全流程也被称为软件生命周期</a:t>
            </a:r>
            <a:endParaRPr lang="zh-CN" altLang="en-US" sz="2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1335087" y="3977885"/>
            <a:ext cx="9521825" cy="644144"/>
          </a:xfrm>
          <a:prstGeom prst="rect">
            <a:avLst/>
          </a:prstGeom>
        </p:spPr>
        <p:txBody>
          <a:bodyPr wrap="square">
            <a:normAutofit lnSpcReduction="10000"/>
          </a:bodyPr>
          <a:lstStyle/>
          <a:p>
            <a:pPr algn="ctr"/>
            <a:r>
              <a:rPr lang="zh-CN" altLang="en-US" sz="4000" b="1" dirty="0">
                <a:solidFill>
                  <a:schemeClr val="accent1"/>
                </a:solidFill>
                <a:latin typeface="Helvetica" pitchFamily="2" charset="0"/>
                <a:cs typeface="+mn-ea"/>
                <a:sym typeface="+mn-lt"/>
              </a:rPr>
              <a:t>拓展知识</a:t>
            </a:r>
            <a:endParaRPr lang="zh-CN" altLang="en-US" sz="4000" b="1" dirty="0">
              <a:solidFill>
                <a:schemeClr val="accent1"/>
              </a:solidFill>
              <a:latin typeface="Helvetica" pitchFamily="2" charset="0"/>
              <a:cs typeface="+mn-ea"/>
              <a:sym typeface="+mn-lt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4819048" y="1319889"/>
            <a:ext cx="2553904" cy="2646878"/>
            <a:chOff x="5865211" y="1319889"/>
            <a:chExt cx="2553904" cy="2646878"/>
          </a:xfrm>
        </p:grpSpPr>
        <p:sp>
          <p:nvSpPr>
            <p:cNvPr id="2" name="文本框 1"/>
            <p:cNvSpPr txBox="1"/>
            <p:nvPr/>
          </p:nvSpPr>
          <p:spPr>
            <a:xfrm>
              <a:off x="5865211" y="1319889"/>
              <a:ext cx="2553904" cy="264687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6600" dirty="0">
                  <a:solidFill>
                    <a:schemeClr val="accent1"/>
                  </a:solidFill>
                  <a:latin typeface="Helvetica" pitchFamily="2" charset="0"/>
                  <a:cs typeface="+mn-ea"/>
                  <a:sym typeface="+mn-lt"/>
                </a:rPr>
                <a:t>04</a:t>
              </a:r>
              <a:endParaRPr lang="zh-CN" altLang="en-US" sz="16600" dirty="0">
                <a:solidFill>
                  <a:schemeClr val="accent1"/>
                </a:solidFill>
                <a:latin typeface="Helvetica" pitchFamily="2" charset="0"/>
                <a:cs typeface="+mn-ea"/>
                <a:sym typeface="+mn-lt"/>
              </a:endParaRPr>
            </a:p>
          </p:txBody>
        </p:sp>
        <p:sp>
          <p:nvSpPr>
            <p:cNvPr id="3" name="文本框 2"/>
            <p:cNvSpPr txBox="1"/>
            <p:nvPr/>
          </p:nvSpPr>
          <p:spPr>
            <a:xfrm>
              <a:off x="5865211" y="2574748"/>
              <a:ext cx="2553904" cy="460375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algn="dist"/>
              <a:r>
                <a:rPr lang="zh-CN" altLang="en-US" sz="2400" dirty="0">
                  <a:solidFill>
                    <a:schemeClr val="accent1"/>
                  </a:solidFill>
                  <a:latin typeface="Helvetica" pitchFamily="2" charset="0"/>
                  <a:cs typeface="Arial" panose="020B0604020202090204" pitchFamily="34" charset="0"/>
                  <a:sym typeface="+mn-lt"/>
                </a:rPr>
                <a:t>第四部分</a:t>
              </a:r>
              <a:r>
                <a:rPr lang="en-US" altLang="zh-CN" sz="2400" dirty="0">
                  <a:solidFill>
                    <a:schemeClr val="accent1"/>
                  </a:solidFill>
                  <a:latin typeface="Helvetica" pitchFamily="2" charset="0"/>
                  <a:cs typeface="Arial" panose="020B0604020202090204" pitchFamily="34" charset="0"/>
                  <a:sym typeface="+mn-lt"/>
                </a:rPr>
                <a:t> </a:t>
              </a:r>
              <a:endParaRPr lang="zh-CN" altLang="en-US" sz="2400" dirty="0">
                <a:solidFill>
                  <a:schemeClr val="accent1"/>
                </a:solidFill>
                <a:latin typeface="Helvetica" pitchFamily="2" charset="0"/>
                <a:cs typeface="Arial" panose="020B0604020202090204" pitchFamily="34" charset="0"/>
                <a:sym typeface="+mn-lt"/>
              </a:endParaRPr>
            </a:p>
          </p:txBody>
        </p:sp>
      </p:grp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多样性</a:t>
            </a:r>
            <a:endParaRPr lang="zh-CN" alt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5AB8F-1C56-49E9-90C8-78D22B0C1B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255905" y="1461770"/>
            <a:ext cx="11570335" cy="1938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endParaRPr lang="en-US" sz="2000" dirty="0"/>
          </a:p>
          <a:p>
            <a:pPr>
              <a:defRPr/>
            </a:pPr>
            <a:r>
              <a:rPr lang="en-US" sz="2000" dirty="0"/>
              <a:t>	</a:t>
            </a:r>
            <a:r>
              <a:rPr lang="zh-CN" altLang="en-US" sz="2000" dirty="0"/>
              <a:t>软件需满足不同场景、不同人群的多样化需求，项目的多样性要求开发人员具备综合的能力。</a:t>
            </a:r>
            <a:endParaRPr lang="zh-CN" altLang="en-US" sz="2000" dirty="0"/>
          </a:p>
          <a:p>
            <a:pPr marL="457200" lvl="1" indent="457200">
              <a:defRPr/>
            </a:pPr>
            <a:endParaRPr lang="zh-CN" altLang="en-US" sz="2000" dirty="0"/>
          </a:p>
          <a:p>
            <a:pPr marL="457200" lvl="1" indent="457200">
              <a:defRPr/>
            </a:pPr>
            <a:r>
              <a:rPr lang="zh-CN" altLang="en-US" sz="2000" dirty="0"/>
              <a:t>软件开发没有放之四海而皆准的</a:t>
            </a:r>
            <a:r>
              <a:rPr lang="en-US" altLang="zh-CN" sz="2000" dirty="0"/>
              <a:t> “</a:t>
            </a:r>
            <a:r>
              <a:rPr lang="zh-CN" altLang="en-US" sz="2000" dirty="0"/>
              <a:t>最优方法</a:t>
            </a:r>
            <a:r>
              <a:rPr lang="en-US" altLang="zh-CN" sz="2000" dirty="0"/>
              <a:t>”</a:t>
            </a:r>
            <a:r>
              <a:rPr lang="zh-CN" altLang="en-US" sz="2000" dirty="0"/>
              <a:t>，核心需平衡功能、时间、成本三大要素。</a:t>
            </a:r>
            <a:endParaRPr lang="zh-CN" altLang="en-US" sz="2000" dirty="0"/>
          </a:p>
          <a:p>
            <a:pPr marL="457200" lvl="1" indent="457200">
              <a:defRPr/>
            </a:pPr>
            <a:endParaRPr lang="zh-CN" altLang="en-US" sz="2000" dirty="0"/>
          </a:p>
          <a:p>
            <a:pPr marL="457200" lvl="1" indent="457200">
              <a:defRPr/>
            </a:pPr>
            <a:r>
              <a:rPr lang="zh-CN" altLang="en-US" sz="2000" dirty="0"/>
              <a:t>软件工程师需掌握多种开发方法与工具，并根据具体项目需求灵活选择。</a:t>
            </a:r>
            <a:endParaRPr lang="zh-CN" altLang="en-US" sz="2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项目风险</a:t>
            </a:r>
            <a:endParaRPr lang="zh-CN" alt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5AB8F-1C56-49E9-90C8-78D22B0C1B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696661" y="1130951"/>
            <a:ext cx="10734985" cy="3784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zh-CN" altLang="en-US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绝大多数软件开发项目都会遭遇各类问题（以</a:t>
            </a:r>
            <a:r>
              <a:rPr lang="en-US" altLang="zh-CN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 DeepSeek </a:t>
            </a:r>
            <a:r>
              <a:rPr lang="zh-CN" altLang="en-US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与</a:t>
            </a:r>
            <a:r>
              <a:rPr lang="en-US" altLang="zh-CN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 ChatGPT </a:t>
            </a:r>
            <a:r>
              <a:rPr lang="zh-CN" altLang="en-US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的开发为例）。</a:t>
            </a:r>
            <a:r>
              <a:rPr lang="en-US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	</a:t>
            </a:r>
            <a:endParaRPr lang="en-US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>
              <a:defRPr/>
            </a:pPr>
            <a:endParaRPr lang="en-US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>
              <a:defRPr/>
            </a:pPr>
            <a:r>
              <a:rPr lang="zh-CN" altLang="en-US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常见问题：</a:t>
            </a:r>
            <a:endParaRPr lang="zh-CN" altLang="en-US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lvl="1">
              <a:defRPr/>
            </a:pPr>
            <a:r>
              <a:rPr lang="zh-CN" altLang="en-US" sz="2000" dirty="0">
                <a:solidFill>
                  <a:schemeClr val="tx1"/>
                </a:solidFill>
                <a:latin typeface="Helvetica" pitchFamily="2" charset="0"/>
                <a:cs typeface="Arial" panose="020B0604020202090204" pitchFamily="34" charset="0"/>
              </a:rPr>
              <a:t>功能未达预期</a:t>
            </a:r>
            <a:endParaRPr lang="zh-CN" altLang="en-US" sz="2000" dirty="0">
              <a:solidFill>
                <a:schemeClr val="tx1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lvl="1">
              <a:defRPr/>
            </a:pPr>
            <a:r>
              <a:rPr lang="zh-CN" altLang="en-US" sz="2000" dirty="0">
                <a:solidFill>
                  <a:schemeClr val="tx1"/>
                </a:solidFill>
                <a:latin typeface="Helvetica" pitchFamily="2" charset="0"/>
                <a:cs typeface="Arial" panose="020B0604020202090204" pitchFamily="34" charset="0"/>
              </a:rPr>
              <a:t>超出预算</a:t>
            </a:r>
            <a:endParaRPr lang="zh-CN" altLang="en-US" sz="2000" dirty="0">
              <a:solidFill>
                <a:schemeClr val="tx1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lvl="1">
              <a:defRPr/>
            </a:pPr>
            <a:r>
              <a:rPr lang="zh-CN" altLang="en-US" sz="2000" dirty="0">
                <a:solidFill>
                  <a:schemeClr val="tx1"/>
                </a:solidFill>
                <a:latin typeface="Helvetica" pitchFamily="2" charset="0"/>
                <a:cs typeface="Arial" panose="020B0604020202090204" pitchFamily="34" charset="0"/>
              </a:rPr>
              <a:t>交付延期</a:t>
            </a:r>
            <a:endParaRPr lang="zh-CN" altLang="en-US" sz="2000" dirty="0">
              <a:solidFill>
                <a:schemeClr val="tx1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>
              <a:defRPr/>
            </a:pPr>
            <a:r>
              <a:rPr lang="zh-CN" altLang="en-US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核心矛盾：</a:t>
            </a:r>
            <a:endParaRPr lang="zh-CN" altLang="en-US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lvl="1">
              <a:defRPr/>
            </a:pPr>
            <a:r>
              <a:rPr lang="zh-CN" altLang="en-US" sz="2000" dirty="0">
                <a:solidFill>
                  <a:schemeClr val="tx1"/>
                </a:solidFill>
                <a:latin typeface="Helvetica" pitchFamily="2" charset="0"/>
                <a:cs typeface="Arial" panose="020B0604020202090204" pitchFamily="34" charset="0"/>
              </a:rPr>
              <a:t>所有软件项目都需要在功能、成本、时间之间做权衡，</a:t>
            </a:r>
            <a:endParaRPr lang="zh-CN" altLang="en-US" sz="2000" dirty="0">
              <a:solidFill>
                <a:schemeClr val="tx1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lvl="1">
              <a:defRPr/>
            </a:pPr>
            <a:r>
              <a:rPr lang="zh-CN" altLang="en-US" sz="2000" dirty="0">
                <a:solidFill>
                  <a:schemeClr val="tx1"/>
                </a:solidFill>
                <a:latin typeface="Helvetica" pitchFamily="2" charset="0"/>
                <a:cs typeface="Arial" panose="020B0604020202090204" pitchFamily="34" charset="0"/>
              </a:rPr>
              <a:t>新增功能会带来开发、测试、维护等环节的额外成本。</a:t>
            </a:r>
            <a:endParaRPr lang="zh-CN" altLang="en-US" sz="2000" dirty="0">
              <a:solidFill>
                <a:schemeClr val="tx1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>
              <a:defRPr/>
            </a:pPr>
            <a:r>
              <a:rPr lang="zh-CN" altLang="en-US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风险后果：</a:t>
            </a:r>
            <a:endParaRPr lang="zh-CN" altLang="en-US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lvl="1" algn="l">
              <a:buClrTx/>
              <a:buSzTx/>
              <a:buNone/>
              <a:defRPr/>
            </a:pPr>
            <a:r>
              <a:rPr lang="zh-CN" altLang="en-US" sz="2000" dirty="0">
                <a:latin typeface="Helvetica" pitchFamily="2" charset="0"/>
                <a:cs typeface="Arial" panose="020B0604020202090204" pitchFamily="34" charset="0"/>
              </a:rPr>
              <a:t>项目失败可能导致企业破产、管理者被追责，甚至给用户与社会带来不良影响。</a:t>
            </a:r>
            <a:endParaRPr lang="zh-CN" altLang="en-US" sz="2000" dirty="0">
              <a:latin typeface="Helvetica" pitchFamily="2" charset="0"/>
              <a:cs typeface="Arial" panose="020B0604020202090204" pitchFamily="34" charset="0"/>
            </a:endParaRPr>
          </a:p>
          <a:p>
            <a:pPr lvl="1">
              <a:defRPr/>
            </a:pPr>
            <a:endParaRPr lang="en-US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风险管控：有效沟通</a:t>
            </a:r>
            <a:endParaRPr lang="zh-CN" alt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5AB8F-1C56-49E9-90C8-78D22B0C1B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920988" y="1536889"/>
            <a:ext cx="11271012" cy="3784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zh-CN" altLang="en-US" sz="2000" dirty="0"/>
              <a:t>约半数交付的软件产品从未被实际使用，</a:t>
            </a:r>
            <a:endParaRPr lang="zh-CN" altLang="en-US" sz="2000" dirty="0"/>
          </a:p>
          <a:p>
            <a:pPr>
              <a:defRPr/>
            </a:pPr>
            <a:r>
              <a:rPr lang="zh-CN" altLang="en-US" sz="2000" dirty="0"/>
              <a:t>核心原因是开发人员做出了</a:t>
            </a:r>
            <a:r>
              <a:rPr lang="en-US" altLang="zh-CN" sz="2000" dirty="0"/>
              <a:t> “</a:t>
            </a:r>
            <a:r>
              <a:rPr lang="zh-CN" altLang="en-US" sz="2000" dirty="0"/>
              <a:t>不符合需求的产品</a:t>
            </a:r>
            <a:r>
              <a:rPr lang="en-US" altLang="zh-CN" sz="2000" dirty="0"/>
              <a:t>”</a:t>
            </a:r>
            <a:r>
              <a:rPr lang="zh-CN" altLang="en-US" sz="2000" dirty="0"/>
              <a:t>，未满足甲方的核心诉求。</a:t>
            </a:r>
            <a:endParaRPr lang="zh-CN" altLang="en-US" sz="2000" dirty="0"/>
          </a:p>
          <a:p>
            <a:pPr>
              <a:defRPr/>
            </a:pPr>
            <a:endParaRPr lang="zh-CN" altLang="en-US" sz="2000" dirty="0"/>
          </a:p>
          <a:p>
            <a:pPr>
              <a:defRPr/>
            </a:pPr>
            <a:endParaRPr lang="zh-CN" altLang="en-US" sz="2000" dirty="0"/>
          </a:p>
          <a:p>
            <a:pPr>
              <a:defRPr/>
            </a:pPr>
            <a:r>
              <a:rPr lang="zh-CN" altLang="en-US" sz="2000" dirty="0"/>
              <a:t>软件开发团队必须做到：</a:t>
            </a:r>
            <a:endParaRPr lang="zh-CN" altLang="en-US" sz="2000" dirty="0"/>
          </a:p>
          <a:p>
            <a:pPr marL="800100" lvl="1" indent="-342900">
              <a:buFont typeface="Arial" panose="020B0604020202090204" pitchFamily="34" charset="0"/>
              <a:buChar char="•"/>
              <a:defRPr/>
            </a:pPr>
            <a:r>
              <a:rPr lang="zh-CN" altLang="en-US" sz="2000" dirty="0"/>
              <a:t>理解甲方对软件产品的期望</a:t>
            </a:r>
            <a:endParaRPr lang="zh-CN" altLang="en-US" sz="2000" dirty="0"/>
          </a:p>
          <a:p>
            <a:pPr marL="800100" lvl="1" indent="-342900">
              <a:buFont typeface="Arial" panose="020B0604020202090204" pitchFamily="34" charset="0"/>
              <a:buChar char="•"/>
              <a:defRPr/>
            </a:pPr>
            <a:r>
              <a:rPr lang="zh-CN" altLang="en-US" sz="2000" dirty="0"/>
              <a:t>理解甲方所在企业对甲方的工作要求</a:t>
            </a:r>
            <a:endParaRPr lang="zh-CN" altLang="en-US" sz="2000" dirty="0"/>
          </a:p>
          <a:p>
            <a:pPr marL="800100" lvl="1" indent="-342900">
              <a:buFont typeface="Arial" panose="020B0604020202090204" pitchFamily="34" charset="0"/>
              <a:buChar char="•"/>
              <a:defRPr/>
            </a:pPr>
            <a:r>
              <a:rPr lang="zh-CN" altLang="en-US" sz="2000" dirty="0"/>
              <a:t>理解顾客与用户对软件产品的需求</a:t>
            </a:r>
            <a:endParaRPr lang="zh-CN" altLang="en-US" sz="2000" dirty="0"/>
          </a:p>
          <a:p>
            <a:pPr>
              <a:defRPr/>
            </a:pPr>
            <a:endParaRPr lang="zh-CN" altLang="en-US" sz="2000" dirty="0"/>
          </a:p>
          <a:p>
            <a:pPr>
              <a:defRPr/>
            </a:pPr>
            <a:endParaRPr lang="zh-CN" altLang="en-US" sz="2000" dirty="0"/>
          </a:p>
          <a:p>
            <a:pPr>
              <a:defRPr/>
            </a:pPr>
            <a:r>
              <a:rPr lang="zh-CN" altLang="en-US" sz="2000" dirty="0"/>
              <a:t>开发人员可提供技术层面的专业建议，但项目的成功与否，始终以甲方满意度为标准。</a:t>
            </a:r>
            <a:endParaRPr lang="zh-CN" altLang="en-US" sz="2000" dirty="0"/>
          </a:p>
          <a:p>
            <a:pPr>
              <a:defRPr/>
            </a:pPr>
            <a:r>
              <a:rPr lang="zh-CN" altLang="en-US" sz="2000" dirty="0"/>
              <a:t>以产品为导向，而非以技术为导向！</a:t>
            </a:r>
            <a:endParaRPr lang="zh-CN" altLang="en-US" sz="2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风险管控：有效沟通</a:t>
            </a:r>
            <a:endParaRPr lang="zh-CN" alt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5AB8F-1C56-49E9-90C8-78D22B0C1B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885190" y="1417320"/>
            <a:ext cx="10257790" cy="333692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/>
            </a:pPr>
            <a:r>
              <a:rPr lang="zh-CN" altLang="en-US" sz="2000" b="1" dirty="0">
                <a:solidFill>
                  <a:schemeClr val="tx1"/>
                </a:solidFill>
                <a:latin typeface="Helvetica" pitchFamily="2" charset="0"/>
                <a:cs typeface="Arial" panose="020B0604020202090204" pitchFamily="34" charset="0"/>
              </a:rPr>
              <a:t>可行性分析：明确项目是否启动</a:t>
            </a:r>
            <a:endParaRPr lang="zh-CN" altLang="en-US" sz="2000" b="1" dirty="0">
              <a:solidFill>
                <a:schemeClr val="tx1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>
              <a:defRPr/>
            </a:pPr>
            <a:endParaRPr lang="zh-CN" altLang="en-US" sz="2000" b="1" dirty="0">
              <a:solidFill>
                <a:schemeClr val="tx1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>
              <a:defRPr/>
            </a:pPr>
            <a:r>
              <a:rPr lang="zh-CN" altLang="en-US" sz="2000" b="1" dirty="0">
                <a:solidFill>
                  <a:schemeClr val="tx1"/>
                </a:solidFill>
                <a:latin typeface="Helvetica" pitchFamily="2" charset="0"/>
                <a:cs typeface="Arial" panose="020B0604020202090204" pitchFamily="34" charset="0"/>
              </a:rPr>
              <a:t>需求与设计分离：区分甲方的需求诉求与开发人员的实现方案</a:t>
            </a:r>
            <a:endParaRPr lang="zh-CN" altLang="en-US" sz="2000" b="1" dirty="0">
              <a:solidFill>
                <a:schemeClr val="tx1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>
              <a:defRPr/>
            </a:pPr>
            <a:endParaRPr lang="zh-CN" altLang="en-US" sz="2000" b="1" dirty="0">
              <a:solidFill>
                <a:schemeClr val="tx1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>
              <a:defRPr/>
            </a:pPr>
            <a:r>
              <a:rPr lang="zh-CN" altLang="en-US" sz="2000" b="1" dirty="0">
                <a:solidFill>
                  <a:schemeClr val="tx1"/>
                </a:solidFill>
                <a:latin typeface="Helvetica" pitchFamily="2" charset="0"/>
                <a:cs typeface="Arial" panose="020B0604020202090204" pitchFamily="34" charset="0"/>
              </a:rPr>
              <a:t>里程碑与版本发布：向甲方同步项目进展、演示阶段性成果</a:t>
            </a:r>
            <a:endParaRPr lang="zh-CN" altLang="en-US" sz="2000" b="1" dirty="0">
              <a:solidFill>
                <a:schemeClr val="tx1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>
              <a:defRPr/>
            </a:pPr>
            <a:endParaRPr lang="zh-CN" altLang="en-US" sz="2000" b="1" dirty="0">
              <a:solidFill>
                <a:schemeClr val="tx1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>
              <a:defRPr/>
            </a:pPr>
            <a:r>
              <a:rPr lang="zh-CN" altLang="en-US" sz="2000" b="1" dirty="0">
                <a:solidFill>
                  <a:schemeClr val="tx1"/>
                </a:solidFill>
                <a:latin typeface="Helvetica" pitchFamily="2" charset="0"/>
                <a:cs typeface="Arial" panose="020B0604020202090204" pitchFamily="34" charset="0"/>
              </a:rPr>
              <a:t>验收与用户测试：让甲方验证产品是否满足需求</a:t>
            </a:r>
            <a:endParaRPr lang="zh-CN" altLang="en-US" sz="2000" b="1" dirty="0">
              <a:solidFill>
                <a:schemeClr val="tx1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>
              <a:defRPr/>
            </a:pPr>
            <a:endParaRPr lang="zh-CN" altLang="en-US" sz="2000" b="1" dirty="0">
              <a:solidFill>
                <a:schemeClr val="tx1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>
              <a:defRPr/>
            </a:pPr>
            <a:r>
              <a:rPr lang="zh-CN" altLang="en-US" sz="2000" b="1" dirty="0">
                <a:solidFill>
                  <a:schemeClr val="tx1"/>
                </a:solidFill>
                <a:latin typeface="Helvetica" pitchFamily="2" charset="0"/>
                <a:cs typeface="Arial" panose="020B0604020202090204" pitchFamily="34" charset="0"/>
              </a:rPr>
              <a:t>项目交付：确保甲方能长期独立操作、维护系统</a:t>
            </a:r>
            <a:endParaRPr lang="zh-CN" altLang="en-US" sz="2000" b="1" dirty="0">
              <a:solidFill>
                <a:schemeClr val="tx1"/>
              </a:solidFill>
              <a:latin typeface="Helvetica" pitchFamily="2" charset="0"/>
              <a:cs typeface="Arial" panose="020B0604020202090204" pitchFamily="34" charset="0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风险管控：提升项目透明度</a:t>
            </a:r>
            <a:endParaRPr lang="zh-CN" alt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5AB8F-1C56-49E9-90C8-78D22B0C1B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1066800" y="1280795"/>
            <a:ext cx="10300970" cy="3987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zh-CN" altLang="en-US" sz="2000" dirty="0">
                <a:sym typeface="+mn-ea"/>
              </a:rPr>
              <a:t>项目负责人需实时掌握项目进展</a:t>
            </a:r>
            <a:endParaRPr lang="en-US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66871" y="1788374"/>
            <a:ext cx="10874982" cy="3987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zh-CN" altLang="en-US" sz="2000" dirty="0">
                <a:sym typeface="+mn-ea"/>
              </a:rPr>
              <a:t>决定你职业发展的人，需了解你的工作贡献</a:t>
            </a:r>
            <a:endParaRPr lang="en-US" sz="2000" b="1" u="sng" dirty="0">
              <a:solidFill>
                <a:srgbClr val="C00000"/>
              </a:solidFill>
              <a:latin typeface="Helvetica" pitchFamily="2" charset="0"/>
              <a:cs typeface="Arial" panose="020B0604020202090204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66871" y="2361193"/>
            <a:ext cx="10359976" cy="25533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dirty="0"/>
              <a:t>管理者：</a:t>
            </a:r>
            <a:endParaRPr lang="zh-CN" altLang="en-US" sz="2000" dirty="0"/>
          </a:p>
          <a:p>
            <a:pPr marL="800100" lvl="1" indent="-342900">
              <a:buFont typeface="Arial" panose="020B0604020202090204" pitchFamily="34" charset="0"/>
              <a:buChar char="•"/>
            </a:pPr>
            <a:r>
              <a:rPr lang="zh-CN" altLang="en-US" sz="2000" dirty="0"/>
              <a:t>需通过团队反馈掌握项目进展与问题</a:t>
            </a:r>
            <a:endParaRPr lang="zh-CN" altLang="en-US" sz="2000" dirty="0"/>
          </a:p>
          <a:p>
            <a:endParaRPr lang="zh-CN" altLang="en-US" sz="2000" dirty="0"/>
          </a:p>
          <a:p>
            <a:r>
              <a:rPr lang="zh-CN" altLang="en-US" sz="2000" dirty="0"/>
              <a:t>开发人员：</a:t>
            </a:r>
            <a:endParaRPr lang="zh-CN" altLang="en-US" sz="2000" dirty="0"/>
          </a:p>
          <a:p>
            <a:pPr marL="800100" lvl="1" indent="-342900">
              <a:buFont typeface="Arial" panose="020B0604020202090204" pitchFamily="34" charset="0"/>
              <a:buChar char="•"/>
            </a:pPr>
            <a:r>
              <a:rPr lang="zh-CN" altLang="en-US" sz="2000" dirty="0"/>
              <a:t>难以客观评估项目进展</a:t>
            </a:r>
            <a:endParaRPr lang="zh-CN" altLang="en-US" sz="2000" dirty="0"/>
          </a:p>
          <a:p>
            <a:pPr marL="800100" lvl="1" indent="-342900">
              <a:buFont typeface="Arial" panose="020B0604020202090204" pitchFamily="34" charset="0"/>
              <a:buChar char="•"/>
            </a:pPr>
            <a:r>
              <a:rPr lang="zh-CN" altLang="en-US" sz="2000" dirty="0"/>
              <a:t>对工作成果往往保持谦逊</a:t>
            </a:r>
            <a:endParaRPr lang="zh-CN" altLang="en-US" sz="2000" dirty="0"/>
          </a:p>
          <a:p>
            <a:pPr marL="800100" lvl="1" indent="-342900">
              <a:buFont typeface="Arial" panose="020B0604020202090204" pitchFamily="34" charset="0"/>
              <a:buChar char="•"/>
            </a:pPr>
            <a:r>
              <a:rPr lang="zh-CN" altLang="en-US" sz="2000" dirty="0"/>
              <a:t>认为汇报工作是浪费时间</a:t>
            </a:r>
            <a:endParaRPr lang="zh-CN" altLang="en-US" sz="2000" dirty="0"/>
          </a:p>
          <a:p>
            <a:pPr marL="800100" lvl="1" indent="-342900">
              <a:buFont typeface="Arial" panose="020B0604020202090204" pitchFamily="34" charset="0"/>
              <a:buChar char="•"/>
            </a:pPr>
            <a:r>
              <a:rPr lang="zh-CN" altLang="en-US" sz="2000" dirty="0"/>
              <a:t>往往敏于行而讷于言</a:t>
            </a:r>
            <a:endParaRPr lang="zh-CN" altLang="en-US" sz="20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风险管控：缩短开发周期</a:t>
            </a:r>
            <a:endParaRPr lang="zh-CN" alt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5AB8F-1C56-49E9-90C8-78D22B0C1B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894080" y="1374775"/>
            <a:ext cx="9626600" cy="2245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dirty="0"/>
              <a:t>以周为单位，频繁交付可运行的软件版本，能最大程度降低项目风险：</a:t>
            </a:r>
            <a:endParaRPr lang="zh-CN" altLang="en-US" sz="2000" dirty="0"/>
          </a:p>
          <a:p>
            <a:pPr marL="800100" lvl="1" indent="-342900">
              <a:buFont typeface="Arial" panose="020B0604020202090204" pitchFamily="34" charset="0"/>
              <a:buChar char="•"/>
            </a:pPr>
            <a:r>
              <a:rPr lang="zh-CN" altLang="en-US" sz="2000" dirty="0"/>
              <a:t>让甲方、顾客、用户及时评估开发成果</a:t>
            </a:r>
            <a:endParaRPr lang="zh-CN" altLang="en-US" sz="2000" dirty="0"/>
          </a:p>
          <a:p>
            <a:pPr marL="800100" lvl="1" indent="-342900">
              <a:buFont typeface="Arial" panose="020B0604020202090204" pitchFamily="34" charset="0"/>
              <a:buChar char="•"/>
            </a:pPr>
            <a:r>
              <a:rPr lang="zh-CN" altLang="en-US" sz="2000" dirty="0"/>
              <a:t>便于根据实际情况调整项目方向</a:t>
            </a:r>
            <a:endParaRPr lang="zh-CN" altLang="en-US" sz="2000" dirty="0"/>
          </a:p>
          <a:p>
            <a:endParaRPr lang="zh-CN" altLang="en-US" sz="2000" dirty="0"/>
          </a:p>
          <a:p>
            <a:endParaRPr lang="zh-CN" altLang="en-US" sz="2000" dirty="0"/>
          </a:p>
          <a:p>
            <a:r>
              <a:rPr lang="zh-CN" altLang="en-US" sz="2000" dirty="0"/>
              <a:t>这也是敏捷开发的核心原则之一。</a:t>
            </a:r>
            <a:endParaRPr lang="zh-CN" altLang="en-US" sz="2000" dirty="0"/>
          </a:p>
          <a:p>
            <a:endParaRPr lang="en-US" sz="20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项目规模</a:t>
            </a:r>
            <a:endParaRPr lang="zh-CN" alt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5AB8F-1C56-49E9-90C8-78D22B0C1B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784361" y="1138990"/>
            <a:ext cx="10734985" cy="1938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dirty="0">
                <a:solidFill>
                  <a:srgbClr val="515223"/>
                </a:solidFill>
              </a:rPr>
              <a:t>系统层面</a:t>
            </a:r>
            <a:endParaRPr lang="zh-CN" altLang="en-US" sz="2000" dirty="0">
              <a:solidFill>
                <a:srgbClr val="515223"/>
              </a:solidFill>
            </a:endParaRPr>
          </a:p>
          <a:p>
            <a:r>
              <a:rPr lang="zh-CN" altLang="en-US" sz="2000" dirty="0"/>
              <a:t>大型、超大型系统的功能、成本、开发周期差异显著，需求也会多次迭代。</a:t>
            </a:r>
            <a:endParaRPr lang="zh-CN" altLang="en-US" sz="2000" dirty="0"/>
          </a:p>
          <a:p>
            <a:endParaRPr lang="zh-CN" altLang="en-US" sz="2000" dirty="0"/>
          </a:p>
          <a:p>
            <a:r>
              <a:rPr lang="zh-CN" altLang="en-US" sz="2000" dirty="0">
                <a:solidFill>
                  <a:srgbClr val="515223"/>
                </a:solidFill>
              </a:rPr>
              <a:t>人力资源层面</a:t>
            </a:r>
            <a:endParaRPr lang="zh-CN" altLang="en-US" sz="2000" dirty="0">
              <a:solidFill>
                <a:srgbClr val="515223"/>
              </a:solidFill>
            </a:endParaRPr>
          </a:p>
          <a:p>
            <a:r>
              <a:rPr lang="zh-CN" altLang="en-US" sz="2000" dirty="0"/>
              <a:t>项目人力投入可能达到</a:t>
            </a:r>
            <a:r>
              <a:rPr lang="en-US" altLang="zh-CN" sz="2000" dirty="0"/>
              <a:t> 100 </a:t>
            </a:r>
            <a:r>
              <a:rPr lang="zh-CN" altLang="en-US" sz="2000" dirty="0"/>
              <a:t>至</a:t>
            </a:r>
            <a:r>
              <a:rPr lang="en-US" altLang="zh-CN" sz="2000" dirty="0"/>
              <a:t> 10000 + </a:t>
            </a:r>
            <a:r>
              <a:rPr lang="zh-CN" altLang="en-US" sz="2000" dirty="0"/>
              <a:t>人年，</a:t>
            </a:r>
            <a:endParaRPr lang="zh-CN" altLang="en-US" sz="2000" dirty="0"/>
          </a:p>
          <a:p>
            <a:r>
              <a:rPr lang="zh-CN" altLang="en-US" sz="2000" dirty="0"/>
              <a:t>无人能掌握项目的全部细节，团队人员流动也较为频繁。</a:t>
            </a:r>
            <a:endParaRPr lang="zh-CN" altLang="en-US" sz="2000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03390" y="3187700"/>
            <a:ext cx="4715510" cy="2773045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项目管理</a:t>
            </a:r>
            <a:endParaRPr lang="zh-CN" alt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5AB8F-1C56-49E9-90C8-78D22B0C1B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1007745" y="1199515"/>
            <a:ext cx="8068310" cy="40925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dirty="0">
                <a:solidFill>
                  <a:srgbClr val="515223"/>
                </a:solidFill>
              </a:rPr>
              <a:t>项目进度管理</a:t>
            </a:r>
            <a:endParaRPr lang="zh-CN" altLang="en-US" sz="2000" dirty="0">
              <a:solidFill>
                <a:srgbClr val="515223"/>
              </a:solidFill>
            </a:endParaRPr>
          </a:p>
          <a:p>
            <a:pPr marL="800100" lvl="1" indent="-342900">
              <a:buFont typeface="Arial" panose="020B0604020202090204" pitchFamily="34" charset="0"/>
              <a:buChar char="•"/>
            </a:pPr>
            <a:r>
              <a:rPr lang="zh-CN" altLang="en-US" sz="2000" dirty="0">
                <a:solidFill>
                  <a:schemeClr val="tx1"/>
                </a:solidFill>
              </a:rPr>
              <a:t>对照计划跟踪项目进展</a:t>
            </a:r>
            <a:endParaRPr lang="zh-CN" altLang="en-US" sz="2000" dirty="0">
              <a:solidFill>
                <a:schemeClr val="tx1"/>
              </a:solidFill>
            </a:endParaRPr>
          </a:p>
          <a:p>
            <a:pPr marL="800100" lvl="1" indent="-342900">
              <a:buFont typeface="Arial" panose="020B0604020202090204" pitchFamily="34" charset="0"/>
              <a:buChar char="•"/>
            </a:pPr>
            <a:r>
              <a:rPr lang="zh-CN" altLang="en-US" sz="2000" dirty="0">
                <a:solidFill>
                  <a:schemeClr val="tx1"/>
                </a:solidFill>
              </a:rPr>
              <a:t>合理划分工作优先级</a:t>
            </a:r>
            <a:endParaRPr lang="zh-CN" altLang="en-US" sz="2000" dirty="0">
              <a:solidFill>
                <a:schemeClr val="tx1"/>
              </a:solidFill>
            </a:endParaRPr>
          </a:p>
          <a:p>
            <a:endParaRPr lang="zh-CN" altLang="en-US" sz="2000" dirty="0">
              <a:solidFill>
                <a:schemeClr val="tx1"/>
              </a:solidFill>
            </a:endParaRPr>
          </a:p>
          <a:p>
            <a:r>
              <a:rPr lang="zh-CN" altLang="en-US" sz="2000" dirty="0">
                <a:solidFill>
                  <a:srgbClr val="515223"/>
                </a:solidFill>
              </a:rPr>
              <a:t>人力资源管理</a:t>
            </a:r>
            <a:endParaRPr lang="zh-CN" altLang="en-US" sz="2000" dirty="0">
              <a:solidFill>
                <a:srgbClr val="515223"/>
              </a:solidFill>
            </a:endParaRPr>
          </a:p>
          <a:p>
            <a:pPr marL="800100" lvl="1" indent="-342900">
              <a:buFont typeface="Arial" panose="020B0604020202090204" pitchFamily="34" charset="0"/>
              <a:buChar char="•"/>
            </a:pPr>
            <a:r>
              <a:rPr lang="zh-CN" altLang="en-US" sz="2000" dirty="0">
                <a:solidFill>
                  <a:schemeClr val="tx1"/>
                </a:solidFill>
              </a:rPr>
              <a:t>适时调配具备对应技能的开发人员</a:t>
            </a:r>
            <a:endParaRPr lang="zh-CN" altLang="en-US" sz="2000" dirty="0">
              <a:solidFill>
                <a:schemeClr val="tx1"/>
              </a:solidFill>
            </a:endParaRPr>
          </a:p>
          <a:p>
            <a:pPr marL="800100" lvl="1" indent="-342900">
              <a:buFont typeface="Arial" panose="020B0604020202090204" pitchFamily="34" charset="0"/>
              <a:buChar char="•"/>
            </a:pPr>
            <a:r>
              <a:rPr lang="zh-CN" altLang="en-US" sz="2000" dirty="0">
                <a:solidFill>
                  <a:schemeClr val="tx1"/>
                </a:solidFill>
              </a:rPr>
              <a:t>为开发人员营造高效的工作环境</a:t>
            </a:r>
            <a:endParaRPr lang="zh-CN" altLang="en-US" sz="2000" dirty="0">
              <a:solidFill>
                <a:schemeClr val="tx1"/>
              </a:solidFill>
            </a:endParaRPr>
          </a:p>
          <a:p>
            <a:endParaRPr lang="zh-CN" altLang="en-US" sz="2000" dirty="0">
              <a:solidFill>
                <a:schemeClr val="tx1"/>
              </a:solidFill>
            </a:endParaRPr>
          </a:p>
          <a:p>
            <a:r>
              <a:rPr lang="zh-CN" altLang="en-US" sz="2000" dirty="0">
                <a:solidFill>
                  <a:srgbClr val="515223"/>
                </a:solidFill>
              </a:rPr>
              <a:t>合规咨询</a:t>
            </a:r>
            <a:endParaRPr lang="zh-CN" altLang="en-US" sz="2000" dirty="0">
              <a:solidFill>
                <a:srgbClr val="515223"/>
              </a:solidFill>
            </a:endParaRPr>
          </a:p>
          <a:p>
            <a:pPr marL="800100" lvl="1" indent="-342900">
              <a:buFont typeface="Arial" panose="020B0604020202090204" pitchFamily="34" charset="0"/>
              <a:buChar char="•"/>
            </a:pPr>
            <a:r>
              <a:rPr lang="zh-CN" altLang="en-US" sz="2000" dirty="0">
                <a:solidFill>
                  <a:schemeClr val="tx1"/>
                </a:solidFill>
              </a:rPr>
              <a:t>熟悉项目相关的法律、监管、经济环境</a:t>
            </a:r>
            <a:endParaRPr lang="zh-CN" altLang="en-US" sz="2000" dirty="0">
              <a:solidFill>
                <a:schemeClr val="tx1"/>
              </a:solidFill>
            </a:endParaRPr>
          </a:p>
          <a:p>
            <a:endParaRPr lang="zh-CN" altLang="en-US" sz="2000" dirty="0">
              <a:solidFill>
                <a:schemeClr val="tx1"/>
              </a:solidFill>
            </a:endParaRPr>
          </a:p>
          <a:p>
            <a:r>
              <a:rPr lang="zh-CN" altLang="en-US" sz="2000" dirty="0">
                <a:solidFill>
                  <a:srgbClr val="515223"/>
                </a:solidFill>
              </a:rPr>
              <a:t>开发流程管理</a:t>
            </a:r>
            <a:endParaRPr lang="zh-CN" altLang="en-US" sz="2000" dirty="0">
              <a:solidFill>
                <a:srgbClr val="515223"/>
              </a:solidFill>
            </a:endParaRPr>
          </a:p>
          <a:p>
            <a:pPr marL="800100" lvl="1" indent="-342900">
              <a:buFont typeface="Arial" panose="020B0604020202090204" pitchFamily="34" charset="0"/>
              <a:buChar char="•"/>
            </a:pPr>
            <a:r>
              <a:rPr lang="zh-CN" altLang="en-US" sz="2000" dirty="0">
                <a:solidFill>
                  <a:schemeClr val="tx1"/>
                </a:solidFill>
              </a:rPr>
              <a:t>推行最佳实践，在控制管理成本的同时降低项目风险</a:t>
            </a:r>
            <a:endParaRPr lang="zh-CN" altLang="en-US" sz="2000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5AB8F-1C56-49E9-90C8-78D22B0C1B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1091565" y="1236345"/>
            <a:ext cx="8420735" cy="417385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342900" indent="-342900">
              <a:buFont typeface="Arial" panose="020B0604020202090204" pitchFamily="34" charset="0"/>
              <a:buChar char="•"/>
            </a:pPr>
            <a:r>
              <a:rPr lang="zh-CN" altLang="en-US" sz="2000" dirty="0">
                <a:solidFill>
                  <a:schemeClr val="tx1"/>
                </a:solidFill>
              </a:rPr>
              <a:t>能打造优质的软件产品</a:t>
            </a:r>
            <a:endParaRPr lang="zh-CN" altLang="en-US" sz="2000" dirty="0">
              <a:solidFill>
                <a:schemeClr val="tx1"/>
              </a:solidFill>
            </a:endParaRPr>
          </a:p>
          <a:p>
            <a:pPr marL="342900" indent="-342900">
              <a:buFont typeface="Arial" panose="020B0604020202090204" pitchFamily="34" charset="0"/>
              <a:buChar char="•"/>
            </a:pPr>
            <a:endParaRPr lang="zh-CN" altLang="en-US" sz="2000" dirty="0">
              <a:solidFill>
                <a:schemeClr val="tx1"/>
              </a:solidFill>
            </a:endParaRPr>
          </a:p>
          <a:p>
            <a:pPr marL="342900" indent="-342900">
              <a:buFont typeface="Arial" panose="020B0604020202090204" pitchFamily="34" charset="0"/>
              <a:buChar char="•"/>
            </a:pPr>
            <a:r>
              <a:rPr lang="zh-CN" altLang="en-US" sz="2000" dirty="0">
                <a:solidFill>
                  <a:schemeClr val="tx1"/>
                </a:solidFill>
              </a:rPr>
              <a:t>能降低项目风险</a:t>
            </a:r>
            <a:endParaRPr lang="zh-CN" altLang="en-US" sz="2000" dirty="0">
              <a:solidFill>
                <a:schemeClr val="tx1"/>
              </a:solidFill>
            </a:endParaRPr>
          </a:p>
          <a:p>
            <a:pPr marL="342900" indent="-342900">
              <a:buFont typeface="Arial" panose="020B0604020202090204" pitchFamily="34" charset="0"/>
              <a:buChar char="•"/>
            </a:pPr>
            <a:endParaRPr lang="zh-CN" altLang="en-US" sz="2000" dirty="0">
              <a:solidFill>
                <a:schemeClr val="tx1"/>
              </a:solidFill>
            </a:endParaRPr>
          </a:p>
          <a:p>
            <a:pPr marL="342900" indent="-342900">
              <a:buFont typeface="Arial" panose="020B0604020202090204" pitchFamily="34" charset="0"/>
              <a:buChar char="•"/>
            </a:pPr>
            <a:r>
              <a:rPr lang="zh-CN" altLang="en-US" sz="2000" dirty="0">
                <a:solidFill>
                  <a:schemeClr val="tx1"/>
                </a:solidFill>
              </a:rPr>
              <a:t>能提升项目透明度</a:t>
            </a:r>
            <a:endParaRPr lang="zh-CN" altLang="en-US" sz="2000" dirty="0">
              <a:solidFill>
                <a:schemeClr val="tx1"/>
              </a:solidFill>
            </a:endParaRPr>
          </a:p>
          <a:p>
            <a:pPr marL="342900" indent="-342900">
              <a:buFont typeface="Arial" panose="020B0604020202090204" pitchFamily="34" charset="0"/>
              <a:buChar char="•"/>
            </a:pPr>
            <a:endParaRPr lang="zh-CN" altLang="en-US" sz="2000" dirty="0">
              <a:solidFill>
                <a:schemeClr val="tx1"/>
              </a:solidFill>
            </a:endParaRPr>
          </a:p>
          <a:p>
            <a:pPr marL="342900" indent="-342900">
              <a:buFont typeface="Arial" panose="020B0604020202090204" pitchFamily="34" charset="0"/>
              <a:buChar char="•"/>
            </a:pPr>
            <a:r>
              <a:rPr lang="zh-CN" altLang="en-US" sz="2000" dirty="0">
                <a:solidFill>
                  <a:schemeClr val="tx1"/>
                </a:solidFill>
              </a:rPr>
              <a:t>能促进团队协作</a:t>
            </a:r>
            <a:endParaRPr lang="zh-CN" altLang="en-US" sz="2000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olidFill>
                  <a:srgbClr val="515223"/>
                </a:solidFill>
                <a:sym typeface="+mn-ea"/>
              </a:rPr>
              <a:t>一套优秀的开发流程：</a:t>
            </a:r>
            <a:endParaRPr lang="zh-CN" altLang="en-US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文本占位符 13"/>
          <p:cNvSpPr>
            <a:spLocks noGrp="1"/>
          </p:cNvSpPr>
          <p:nvPr>
            <p:ph type="body" sz="quarter" idx="10"/>
          </p:nvPr>
        </p:nvSpPr>
        <p:spPr>
          <a:xfrm>
            <a:off x="3540868" y="2606037"/>
            <a:ext cx="7978032" cy="914400"/>
          </a:xfrm>
        </p:spPr>
        <p:txBody>
          <a:bodyPr>
            <a:normAutofit/>
          </a:bodyPr>
          <a:lstStyle/>
          <a:p>
            <a:pPr algn="r"/>
            <a:r>
              <a:rPr lang="zh-CN" altLang="en-US" dirty="0"/>
              <a:t>感谢聆听！</a:t>
            </a:r>
            <a:endParaRPr lang="zh-CN" altLang="en-US" dirty="0"/>
          </a:p>
        </p:txBody>
      </p:sp>
      <p:cxnSp>
        <p:nvCxnSpPr>
          <p:cNvPr id="27" name="直接连接符 2"/>
          <p:cNvCxnSpPr/>
          <p:nvPr/>
        </p:nvCxnSpPr>
        <p:spPr>
          <a:xfrm>
            <a:off x="11226555" y="4069080"/>
            <a:ext cx="0" cy="786699"/>
          </a:xfrm>
          <a:prstGeom prst="line">
            <a:avLst/>
          </a:prstGeom>
          <a:ln w="50800" cmpd="thickThin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矩形 63"/>
          <p:cNvSpPr/>
          <p:nvPr/>
        </p:nvSpPr>
        <p:spPr>
          <a:xfrm>
            <a:off x="8043723" y="4360552"/>
            <a:ext cx="3003067" cy="650875"/>
          </a:xfrm>
          <a:prstGeom prst="rect">
            <a:avLst/>
          </a:prstGeom>
        </p:spPr>
        <p:txBody>
          <a:bodyPr wrap="square" lIns="0" rIns="0">
            <a:spAutoFit/>
          </a:bodyPr>
          <a:lstStyle/>
          <a:p>
            <a:pPr algn="r">
              <a:lnSpc>
                <a:spcPct val="130000"/>
              </a:lnSpc>
            </a:pPr>
            <a:r>
              <a:rPr lang="en-US" altLang="zh-CN" sz="2800" dirty="0">
                <a:solidFill>
                  <a:schemeClr val="accent1"/>
                </a:solidFill>
                <a:latin typeface="Helvetica" pitchFamily="2" charset="0"/>
                <a:cs typeface="Arial" panose="020B0604020202090204" pitchFamily="34" charset="0"/>
                <a:sym typeface="+mn-lt"/>
              </a:rPr>
              <a:t>2026/03/05</a:t>
            </a:r>
            <a:endParaRPr lang="zh-CN" altLang="en-US" sz="2800" dirty="0">
              <a:solidFill>
                <a:schemeClr val="accent1"/>
              </a:solidFill>
              <a:latin typeface="Helvetica" pitchFamily="2" charset="0"/>
              <a:cs typeface="Arial" panose="020B0604020202090204" pitchFamily="34" charset="0"/>
              <a:sym typeface="+mn-lt"/>
            </a:endParaRPr>
          </a:p>
        </p:txBody>
      </p:sp>
      <p:sp>
        <p:nvSpPr>
          <p:cNvPr id="3" name="矩形 66"/>
          <p:cNvSpPr/>
          <p:nvPr/>
        </p:nvSpPr>
        <p:spPr>
          <a:xfrm>
            <a:off x="4295518" y="3921753"/>
            <a:ext cx="6751272" cy="6508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30000"/>
              </a:lnSpc>
            </a:pPr>
            <a:r>
              <a:rPr lang="zh-CN" altLang="en-US" sz="2800" dirty="0">
                <a:solidFill>
                  <a:schemeClr val="accent1"/>
                </a:solidFill>
                <a:latin typeface="Helvetica" pitchFamily="2" charset="0"/>
                <a:cs typeface="Arial" panose="020B0604020202090204" pitchFamily="34" charset="0"/>
                <a:sym typeface="+mn-lt"/>
              </a:rPr>
              <a:t>授课教师：刘光迟</a:t>
            </a:r>
            <a:r>
              <a:rPr lang="en-US" altLang="zh-CN" sz="2800" dirty="0">
                <a:solidFill>
                  <a:schemeClr val="accent1"/>
                </a:solidFill>
                <a:latin typeface="Helvetica" pitchFamily="2" charset="0"/>
                <a:cs typeface="Arial" panose="020B0604020202090204" pitchFamily="34" charset="0"/>
                <a:sym typeface="+mn-lt"/>
              </a:rPr>
              <a:t> </a:t>
            </a:r>
            <a:endParaRPr lang="zh-CN" altLang="en-US" sz="2800" dirty="0">
              <a:solidFill>
                <a:schemeClr val="accent1"/>
              </a:solidFill>
              <a:latin typeface="Helvetica" pitchFamily="2" charset="0"/>
              <a:cs typeface="Arial" panose="020B0604020202090204" pitchFamily="34" charset="0"/>
              <a:sym typeface="+mn-lt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257.83897637795275,&quot;left&quot;:81.9555905511811,&quot;top&quot;:242.66094488188978,&quot;width&quot;:682.9243307086615}"/>
</p:tagLst>
</file>

<file path=ppt/tags/tag2.xml><?xml version="1.0" encoding="utf-8"?>
<p:tagLst xmlns:p="http://schemas.openxmlformats.org/presentationml/2006/main">
  <p:tag name="KSO_WM_DIAGRAM_VIRTUALLY_FRAME" val="{&quot;height&quot;:257.83897637795275,&quot;left&quot;:81.9555905511811,&quot;top&quot;:242.66094488188978,&quot;width&quot;:682.9243307086615}"/>
</p:tagLst>
</file>

<file path=ppt/tags/tag3.xml><?xml version="1.0" encoding="utf-8"?>
<p:tagLst xmlns:p="http://schemas.openxmlformats.org/presentationml/2006/main">
  <p:tag name="KSO_WM_DIAGRAM_VIRTUALLY_FRAME" val="{&quot;height&quot;:257.83897637795275,&quot;left&quot;:81.9555905511811,&quot;top&quot;:242.66094488188978,&quot;width&quot;:682.9243307086615}"/>
</p:tagLst>
</file>

<file path=ppt/tags/tag4.xml><?xml version="1.0" encoding="utf-8"?>
<p:tagLst xmlns:p="http://schemas.openxmlformats.org/presentationml/2006/main">
  <p:tag name="TABLE_ENDDRAG_ORIGIN_RECT" val="622*399"/>
  <p:tag name="TABLE_ENDDRAG_RECT" val="256*79*622*399"/>
</p:tagLst>
</file>

<file path=ppt/tags/tag5.xml><?xml version="1.0" encoding="utf-8"?>
<p:tagLst xmlns:p="http://schemas.openxmlformats.org/presentationml/2006/main">
  <p:tag name="ISLIDE.GUIDESSETTING" val="{&quot;Id&quot;:null,&quot;Name&quot;:&quot;正常&quot;,&quot;HeaderHeight&quot;:15.0,&quot;FooterHeight&quot;:9.0,&quot;SideMargin&quot;:5.5,&quot;TopMargin&quot;:0.0,&quot;BottomMargin&quot;:0.0,&quot;IntervalMargin&quot;:1.5,&quot;SettingType&quot;:&quot;System&quot;}"/>
</p:tagLst>
</file>

<file path=ppt/theme/theme1.xml><?xml version="1.0" encoding="utf-8"?>
<a:theme xmlns:a="http://schemas.openxmlformats.org/drawingml/2006/main" name="Office 主题​​">
  <a:themeElements>
    <a:clrScheme name="SEU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05122"/>
      </a:accent1>
      <a:accent2>
        <a:srgbClr val="FDCA04"/>
      </a:accent2>
      <a:accent3>
        <a:srgbClr val="00529D"/>
      </a:accent3>
      <a:accent4>
        <a:srgbClr val="B01417"/>
      </a:accent4>
      <a:accent5>
        <a:srgbClr val="7F7611"/>
      </a:accent5>
      <a:accent6>
        <a:srgbClr val="5D6B70"/>
      </a:accent6>
      <a:hlink>
        <a:srgbClr val="868A8C"/>
      </a:hlink>
      <a:folHlink>
        <a:srgbClr val="C2C6C8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>
          <a:solidFill>
            <a:srgbClr val="FF0000"/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PLUS">
  <a:themeElements>
    <a:clrScheme name="Office 主题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entury Gothic">
      <a:majorFont>
        <a:latin typeface="Century Gothic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4346</Words>
  <Application>WPS Writer</Application>
  <PresentationFormat>Widescreen</PresentationFormat>
  <Paragraphs>621</Paragraphs>
  <Slides>35</Slides>
  <Notes>17</Notes>
  <HiddenSlides>0</HiddenSlides>
  <MMClips>0</MMClips>
  <ScaleCrop>false</ScaleCrop>
  <HeadingPairs>
    <vt:vector size="6" baseType="variant">
      <vt:variant>
        <vt:lpstr>已用的字体</vt:lpstr>
      </vt:variant>
      <vt:variant>
        <vt:i4>22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35</vt:i4>
      </vt:variant>
    </vt:vector>
  </HeadingPairs>
  <TitlesOfParts>
    <vt:vector size="59" baseType="lpstr">
      <vt:lpstr>Arial</vt:lpstr>
      <vt:lpstr>宋体</vt:lpstr>
      <vt:lpstr>Wingdings</vt:lpstr>
      <vt:lpstr>Helvetica Regular</vt:lpstr>
      <vt:lpstr>微软雅黑</vt:lpstr>
      <vt:lpstr>汉仪旗黑</vt:lpstr>
      <vt:lpstr>Helvetica</vt:lpstr>
      <vt:lpstr>Calibri</vt:lpstr>
      <vt:lpstr>Helvetica Neue</vt:lpstr>
      <vt:lpstr>Times New Roman</vt:lpstr>
      <vt:lpstr>MS PGothic</vt:lpstr>
      <vt:lpstr>冬青黑体简体中文</vt:lpstr>
      <vt:lpstr>黑体</vt:lpstr>
      <vt:lpstr>汉仪中黑KW</vt:lpstr>
      <vt:lpstr>宋体</vt:lpstr>
      <vt:lpstr>Arial Unicode MS</vt:lpstr>
      <vt:lpstr>等线</vt:lpstr>
      <vt:lpstr>汉仪中等线KW</vt:lpstr>
      <vt:lpstr>MS PGothic</vt:lpstr>
      <vt:lpstr>微软雅黑</vt:lpstr>
      <vt:lpstr>汉仪书宋二KW</vt:lpstr>
      <vt:lpstr>苹方-简</vt:lpstr>
      <vt:lpstr>Office 主题​​</vt:lpstr>
      <vt:lpstr>1_OfficePLUS</vt:lpstr>
      <vt:lpstr>PowerPoint 演示文稿</vt:lpstr>
      <vt:lpstr>PowerPoint 演示文稿</vt:lpstr>
      <vt:lpstr>关于授课教师</vt:lpstr>
      <vt:lpstr>教学团队</vt:lpstr>
      <vt:lpstr>加入课程交流群</vt:lpstr>
      <vt:lpstr>课程涵盖内容[1,2,3]</vt:lpstr>
      <vt:lpstr>Calender</vt:lpstr>
      <vt:lpstr>成绩评定标准</vt:lpstr>
      <vt:lpstr>Grading Scale</vt:lpstr>
      <vt:lpstr>PowerPoint 演示文稿</vt:lpstr>
      <vt:lpstr>从本课程能学到什么</vt:lpstr>
      <vt:lpstr>软件工程师的真实工作日常</vt:lpstr>
      <vt:lpstr>课程总体目标</vt:lpstr>
      <vt:lpstr>PowerPoint 演示文稿</vt:lpstr>
      <vt:lpstr>专业术语：项目干系人（Stakeholder）</vt:lpstr>
      <vt:lpstr>软件开发流程</vt:lpstr>
      <vt:lpstr>可行性分析</vt:lpstr>
      <vt:lpstr>需求工程</vt:lpstr>
      <vt:lpstr>用户界面 / 用户体验设计</vt:lpstr>
      <vt:lpstr>系统设计</vt:lpstr>
      <vt:lpstr>程序开发</vt:lpstr>
      <vt:lpstr>软件测试</vt:lpstr>
      <vt:lpstr>验收与发布</vt:lpstr>
      <vt:lpstr>运行与维护</vt:lpstr>
      <vt:lpstr>PowerPoint 演示文稿</vt:lpstr>
      <vt:lpstr>多样性</vt:lpstr>
      <vt:lpstr>项目风险</vt:lpstr>
      <vt:lpstr>风险管控：有效沟通</vt:lpstr>
      <vt:lpstr>风险管控：有效沟通</vt:lpstr>
      <vt:lpstr>风险管控：提升项目透明度</vt:lpstr>
      <vt:lpstr>风险管控：缩短开发周期</vt:lpstr>
      <vt:lpstr>项目规模</vt:lpstr>
      <vt:lpstr>项目管理</vt:lpstr>
      <vt:lpstr>一套优秀的开发流程：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叶 丁</dc:creator>
  <cp:lastModifiedBy>刘光迟</cp:lastModifiedBy>
  <cp:revision>3370</cp:revision>
  <dcterms:created xsi:type="dcterms:W3CDTF">2026-03-05T03:10:51Z</dcterms:created>
  <dcterms:modified xsi:type="dcterms:W3CDTF">2026-03-05T03:10:51Z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f42aa342-8706-4288-bd11-ebb85995028c_Enabled">
    <vt:lpwstr>True</vt:lpwstr>
  </property>
  <property fmtid="{D5CDD505-2E9C-101B-9397-08002B2CF9AE}" pid="3" name="MSIP_Label_f42aa342-8706-4288-bd11-ebb85995028c_SiteId">
    <vt:lpwstr>72f988bf-86f1-41af-91ab-2d7cd011db47</vt:lpwstr>
  </property>
  <property fmtid="{D5CDD505-2E9C-101B-9397-08002B2CF9AE}" pid="4" name="MSIP_Label_f42aa342-8706-4288-bd11-ebb85995028c_Owner">
    <vt:lpwstr>Nuaxnuy@DESKTOP-GLORKB7</vt:lpwstr>
  </property>
  <property fmtid="{D5CDD505-2E9C-101B-9397-08002B2CF9AE}" pid="5" name="MSIP_Label_f42aa342-8706-4288-bd11-ebb85995028c_SetDate">
    <vt:lpwstr>2019-04-13T06:32:31.4153976Z</vt:lpwstr>
  </property>
  <property fmtid="{D5CDD505-2E9C-101B-9397-08002B2CF9AE}" pid="6" name="MSIP_Label_f42aa342-8706-4288-bd11-ebb85995028c_Name">
    <vt:lpwstr>General</vt:lpwstr>
  </property>
  <property fmtid="{D5CDD505-2E9C-101B-9397-08002B2CF9AE}" pid="7" name="MSIP_Label_f42aa342-8706-4288-bd11-ebb85995028c_Application">
    <vt:lpwstr>Microsoft Azure Information Protection</vt:lpwstr>
  </property>
  <property fmtid="{D5CDD505-2E9C-101B-9397-08002B2CF9AE}" pid="8" name="MSIP_Label_f42aa342-8706-4288-bd11-ebb85995028c_ActionId">
    <vt:lpwstr>d5228a63-67d4-4fd6-959f-d3cab9a76c24</vt:lpwstr>
  </property>
  <property fmtid="{D5CDD505-2E9C-101B-9397-08002B2CF9AE}" pid="9" name="MSIP_Label_f42aa342-8706-4288-bd11-ebb85995028c_Extended_MSFT_Method">
    <vt:lpwstr>Automatic</vt:lpwstr>
  </property>
  <property fmtid="{D5CDD505-2E9C-101B-9397-08002B2CF9AE}" pid="10" name="Sensitivity">
    <vt:lpwstr>General</vt:lpwstr>
  </property>
  <property fmtid="{D5CDD505-2E9C-101B-9397-08002B2CF9AE}" pid="11" name="ICV">
    <vt:lpwstr>912A5D029E6D44E24FE2A769C5C4BF50_43</vt:lpwstr>
  </property>
  <property fmtid="{D5CDD505-2E9C-101B-9397-08002B2CF9AE}" pid="12" name="KSOProductBuildVer">
    <vt:lpwstr>1033-7.2.2.8955</vt:lpwstr>
  </property>
</Properties>
</file>