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sldIdLst>
    <p:sldId id="582" r:id="rId3"/>
    <p:sldId id="680" r:id="rId5"/>
    <p:sldId id="681" r:id="rId6"/>
    <p:sldId id="682" r:id="rId7"/>
    <p:sldId id="545" r:id="rId8"/>
    <p:sldId id="674" r:id="rId9"/>
    <p:sldId id="584" r:id="rId10"/>
    <p:sldId id="685" r:id="rId11"/>
    <p:sldId id="585" r:id="rId12"/>
    <p:sldId id="616" r:id="rId13"/>
    <p:sldId id="586" r:id="rId14"/>
    <p:sldId id="587" r:id="rId15"/>
    <p:sldId id="588" r:id="rId16"/>
    <p:sldId id="589" r:id="rId17"/>
    <p:sldId id="590" r:id="rId18"/>
    <p:sldId id="591" r:id="rId19"/>
    <p:sldId id="684" r:id="rId20"/>
    <p:sldId id="592" r:id="rId21"/>
    <p:sldId id="593" r:id="rId22"/>
    <p:sldId id="594" r:id="rId23"/>
    <p:sldId id="595" r:id="rId24"/>
    <p:sldId id="603" r:id="rId25"/>
    <p:sldId id="596" r:id="rId26"/>
    <p:sldId id="597" r:id="rId27"/>
    <p:sldId id="598" r:id="rId28"/>
    <p:sldId id="599" r:id="rId29"/>
    <p:sldId id="600" r:id="rId30"/>
    <p:sldId id="601" r:id="rId31"/>
    <p:sldId id="602" r:id="rId32"/>
    <p:sldId id="604" r:id="rId33"/>
    <p:sldId id="605" r:id="rId34"/>
    <p:sldId id="606" r:id="rId35"/>
    <p:sldId id="607" r:id="rId36"/>
    <p:sldId id="608" r:id="rId37"/>
    <p:sldId id="609" r:id="rId38"/>
    <p:sldId id="611" r:id="rId39"/>
    <p:sldId id="612" r:id="rId40"/>
    <p:sldId id="675" r:id="rId41"/>
    <p:sldId id="676" r:id="rId42"/>
    <p:sldId id="677" r:id="rId43"/>
    <p:sldId id="678" r:id="rId44"/>
    <p:sldId id="688" r:id="rId45"/>
    <p:sldId id="618" r:id="rId46"/>
    <p:sldId id="619" r:id="rId47"/>
    <p:sldId id="620" r:id="rId48"/>
    <p:sldId id="621" r:id="rId49"/>
    <p:sldId id="622" r:id="rId50"/>
    <p:sldId id="623" r:id="rId51"/>
    <p:sldId id="624" r:id="rId52"/>
    <p:sldId id="625" r:id="rId53"/>
    <p:sldId id="626" r:id="rId54"/>
    <p:sldId id="627" r:id="rId55"/>
    <p:sldId id="628" r:id="rId56"/>
    <p:sldId id="629" r:id="rId57"/>
    <p:sldId id="630" r:id="rId58"/>
    <p:sldId id="631" r:id="rId59"/>
    <p:sldId id="632" r:id="rId60"/>
    <p:sldId id="635" r:id="rId61"/>
    <p:sldId id="633" r:id="rId62"/>
    <p:sldId id="634" r:id="rId63"/>
    <p:sldId id="636" r:id="rId64"/>
    <p:sldId id="683" r:id="rId65"/>
    <p:sldId id="637" r:id="rId66"/>
    <p:sldId id="638" r:id="rId67"/>
    <p:sldId id="679" r:id="rId68"/>
    <p:sldId id="641" r:id="rId69"/>
    <p:sldId id="642" r:id="rId70"/>
    <p:sldId id="643" r:id="rId71"/>
    <p:sldId id="652" r:id="rId72"/>
    <p:sldId id="644" r:id="rId73"/>
    <p:sldId id="645" r:id="rId74"/>
    <p:sldId id="646" r:id="rId75"/>
    <p:sldId id="647" r:id="rId76"/>
    <p:sldId id="648" r:id="rId77"/>
    <p:sldId id="649" r:id="rId78"/>
    <p:sldId id="650" r:id="rId79"/>
    <p:sldId id="651" r:id="rId80"/>
    <p:sldId id="654" r:id="rId81"/>
    <p:sldId id="655" r:id="rId82"/>
    <p:sldId id="657" r:id="rId83"/>
  </p:sldIdLst>
  <p:sldSz cx="12192000" cy="6858000"/>
  <p:notesSz cx="6858000" cy="9144000"/>
  <p:embeddedFontLst>
    <p:embeddedFont>
      <p:font typeface="Helvetica" pitchFamily="2" charset="0"/>
      <p:regular r:id="rId87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91"/>
  </p:normalViewPr>
  <p:slideViewPr>
    <p:cSldViewPr snapToGrid="0">
      <p:cViewPr varScale="1">
        <p:scale>
          <a:sx n="194" d="100"/>
          <a:sy n="194" d="100"/>
        </p:scale>
        <p:origin x="3096" y="-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7" Type="http://schemas.openxmlformats.org/officeDocument/2006/relationships/font" Target="fonts/font1.fntdata"/><Relationship Id="rId86" Type="http://schemas.openxmlformats.org/officeDocument/2006/relationships/tableStyles" Target="tableStyles.xml"/><Relationship Id="rId85" Type="http://schemas.openxmlformats.org/officeDocument/2006/relationships/viewProps" Target="viewProps.xml"/><Relationship Id="rId84" Type="http://schemas.openxmlformats.org/officeDocument/2006/relationships/presProps" Target="presProps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AB7413-AF54-469D-ABFD-75D5619B00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0A31E6-CBE9-40EA-A2F4-8D17CCD5DDD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7" Type="http://schemas.openxmlformats.org/officeDocument/2006/relationships/hyperlink" Target="https://zhuanlan.zhihu.com/p/335298500" TargetMode="External"/><Relationship Id="rId6" Type="http://schemas.openxmlformats.org/officeDocument/2006/relationships/hyperlink" Target="https://weibo.com/p/1005052284144087/photos?type=photo" TargetMode="External"/><Relationship Id="rId5" Type="http://schemas.openxmlformats.org/officeDocument/2006/relationships/hyperlink" Target="https://www.seu.edu.cn/bsxtwxw/main.htm" TargetMode="External"/><Relationship Id="rId4" Type="http://schemas.openxmlformats.org/officeDocument/2006/relationships/hyperlink" Target="https://mp.weixin.qq.com/mp/profile_ext?action=home&amp;__biz=MzA4MzM3Mzc3Ng==&amp;scene=124#wechat_redirect" TargetMode="External"/><Relationship Id="rId3" Type="http://schemas.openxmlformats.org/officeDocument/2006/relationships/hyperlink" Target="http://www.officeplus.cn/p/51/102751.shtml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cs typeface="+mn-ea"/>
                <a:sym typeface="+mn-lt"/>
              </a:rPr>
              <a:t>本模板基于“</a:t>
            </a:r>
            <a:r>
              <a:rPr lang="zh-CN" altLang="en-US" dirty="0">
                <a:hlinkClick r:id="rId3"/>
              </a:rPr>
              <a:t>中国科学院大学</a:t>
            </a:r>
            <a:r>
              <a:rPr lang="en-US" altLang="zh-CN" dirty="0">
                <a:hlinkClick r:id="rId3"/>
              </a:rPr>
              <a:t>-</a:t>
            </a:r>
            <a:r>
              <a:rPr lang="zh-CN" altLang="en-US" dirty="0">
                <a:hlinkClick r:id="rId3"/>
              </a:rPr>
              <a:t>路人丁</a:t>
            </a:r>
            <a:r>
              <a:rPr lang="en-US" altLang="zh-CN" dirty="0">
                <a:hlinkClick r:id="rId3"/>
              </a:rPr>
              <a:t>-PPT</a:t>
            </a:r>
            <a:r>
              <a:rPr lang="zh-CN" altLang="en-US" dirty="0">
                <a:hlinkClick r:id="rId3"/>
              </a:rPr>
              <a:t>模板</a:t>
            </a:r>
            <a:r>
              <a:rPr lang="zh-CN" altLang="en-US" dirty="0"/>
              <a:t>”魔改而成，著作权归该作者所有。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本模板中使用的东南大学校徽、校标文字组合、校训文字等素材来自于微信公众号“</a:t>
            </a:r>
            <a:r>
              <a:rPr lang="zh-CN" altLang="en-US" dirty="0">
                <a:hlinkClick r:id="rId4"/>
              </a:rPr>
              <a:t>金木屋</a:t>
            </a:r>
            <a:r>
              <a:rPr lang="zh-CN" altLang="en-US" dirty="0"/>
              <a:t>”。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本模板的视觉设计参考了“</a:t>
            </a:r>
            <a:r>
              <a:rPr lang="zh-CN" altLang="en-US" dirty="0">
                <a:hlinkClick r:id="rId5"/>
              </a:rPr>
              <a:t>东南大学视觉识别系统</a:t>
            </a:r>
            <a:r>
              <a:rPr lang="zh-CN" altLang="en-US" dirty="0"/>
              <a:t>”。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人物介绍页头像素材来自 </a:t>
            </a:r>
            <a:r>
              <a:rPr lang="zh-CN" altLang="en-US" dirty="0">
                <a:hlinkClick r:id="rId6"/>
              </a:rPr>
              <a:t>小肥柴</a:t>
            </a:r>
            <a:r>
              <a:rPr lang="zh-CN" altLang="en-US" dirty="0"/>
              <a:t>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800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本模板力求简洁，布局合理，主次分明。以学术风为设计理念，适用于学术报告与论文答辩等相关应用场景。模板未使用任何动画效果。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您仅可以以个人非商业用途使用本</a:t>
            </a:r>
            <a:r>
              <a:rPr lang="en-US" altLang="zh-CN" dirty="0"/>
              <a:t>PPT</a:t>
            </a:r>
            <a:r>
              <a:rPr lang="zh-CN" altLang="en-US" dirty="0"/>
              <a:t>模板，不可将信息内容的全部或部分用以出售，或以出租、出借、转让、分销、发布等其他任何方式供其他人使用。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800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欢迎 </a:t>
            </a:r>
            <a:r>
              <a:rPr lang="zh-CN" altLang="en-US" dirty="0">
                <a:hlinkClick r:id="rId7"/>
              </a:rPr>
              <a:t>持续关注东南大学止于至善学术风</a:t>
            </a:r>
            <a:r>
              <a:rPr lang="en-US" altLang="zh-CN" dirty="0">
                <a:hlinkClick r:id="rId7"/>
              </a:rPr>
              <a:t> PPT </a:t>
            </a:r>
            <a:r>
              <a:rPr lang="zh-CN" altLang="en-US" dirty="0">
                <a:hlinkClick r:id="rId7"/>
              </a:rPr>
              <a:t>模板</a:t>
            </a:r>
            <a:r>
              <a:rPr lang="zh-CN" altLang="en-US" dirty="0"/>
              <a:t> 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zhuanlan.zhihu.com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/p/335298500</a:t>
            </a:r>
            <a:r>
              <a:rPr lang="zh-CN" altLang="en-US" dirty="0"/>
              <a:t>）后续的功能优化及多语言更新版本。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最后，祝汇报顺利，马到成功！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dirty="0"/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1" lang="en-US" altLang="zh-CN" dirty="0">
                <a:latin typeface="+mn-ea"/>
                <a:cs typeface="Arial" panose="020B0604020202090204" pitchFamily="34" charset="0"/>
              </a:rPr>
              <a:t>Version:</a:t>
            </a:r>
            <a:r>
              <a:rPr kumimoji="1" lang="zh-CN" altLang="en-US" dirty="0">
                <a:latin typeface="+mn-ea"/>
                <a:cs typeface="Arial" panose="020B0604020202090204" pitchFamily="34" charset="0"/>
              </a:rPr>
              <a:t> </a:t>
            </a:r>
            <a:r>
              <a:rPr kumimoji="1" lang="en-US" altLang="zh-CN" dirty="0">
                <a:latin typeface="+mn-ea"/>
                <a:cs typeface="Arial" panose="020B0604020202090204" pitchFamily="34" charset="0"/>
              </a:rPr>
              <a:t>(2021) v1.5-en.</a:t>
            </a:r>
            <a:endParaRPr kumimoji="1" lang="zh-CN" altLang="en-US" dirty="0">
              <a:latin typeface="+mn-ea"/>
              <a:cs typeface="Arial" panose="020B060402020209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A31E6-CBE9-40EA-A2F4-8D17CCD5DD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幻灯片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箭头: 五边形 46"/>
          <p:cNvSpPr/>
          <p:nvPr userDrawn="1"/>
        </p:nvSpPr>
        <p:spPr>
          <a:xfrm rot="5400000">
            <a:off x="-1070579" y="2025798"/>
            <a:ext cx="6858002" cy="2806406"/>
          </a:xfrm>
          <a:prstGeom prst="homePlate">
            <a:avLst>
              <a:gd name="adj" fmla="val 3223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solidFill>
                <a:schemeClr val="accent6"/>
              </a:solidFill>
              <a:latin typeface="Helvetica Regular" pitchFamily="2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142" y="2263721"/>
            <a:ext cx="2330560" cy="23305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任意多边形: 形状 84"/>
          <p:cNvSpPr/>
          <p:nvPr userDrawn="1"/>
        </p:nvSpPr>
        <p:spPr bwMode="auto">
          <a:xfrm rot="5400000">
            <a:off x="4539448" y="-380490"/>
            <a:ext cx="3113105" cy="2609911"/>
          </a:xfrm>
          <a:custGeom>
            <a:avLst/>
            <a:gdLst>
              <a:gd name="connsiteX0" fmla="*/ 0 w 3113105"/>
              <a:gd name="connsiteY0" fmla="*/ 2609911 h 2609911"/>
              <a:gd name="connsiteX1" fmla="*/ 0 w 3113105"/>
              <a:gd name="connsiteY1" fmla="*/ 0 h 2609911"/>
              <a:gd name="connsiteX2" fmla="*/ 2301594 w 3113105"/>
              <a:gd name="connsiteY2" fmla="*/ 0 h 2609911"/>
              <a:gd name="connsiteX3" fmla="*/ 3113105 w 3113105"/>
              <a:gd name="connsiteY3" fmla="*/ 1304956 h 2609911"/>
              <a:gd name="connsiteX4" fmla="*/ 2301594 w 3113105"/>
              <a:gd name="connsiteY4" fmla="*/ 2609910 h 2609911"/>
              <a:gd name="connsiteX5" fmla="*/ 2301594 w 3113105"/>
              <a:gd name="connsiteY5" fmla="*/ 2609911 h 2609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13105" h="2609911">
                <a:moveTo>
                  <a:pt x="0" y="2609911"/>
                </a:moveTo>
                <a:lnTo>
                  <a:pt x="0" y="0"/>
                </a:lnTo>
                <a:lnTo>
                  <a:pt x="2301594" y="0"/>
                </a:lnTo>
                <a:lnTo>
                  <a:pt x="3113105" y="1304956"/>
                </a:lnTo>
                <a:lnTo>
                  <a:pt x="2301594" y="2609910"/>
                </a:lnTo>
                <a:lnTo>
                  <a:pt x="2301594" y="26099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bg1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86" name="文本框 85"/>
          <p:cNvSpPr txBox="1"/>
          <p:nvPr userDrawn="1"/>
        </p:nvSpPr>
        <p:spPr>
          <a:xfrm>
            <a:off x="4781377" y="483991"/>
            <a:ext cx="2629246" cy="9082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Contents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</p:txBody>
      </p:sp>
      <p:sp>
        <p:nvSpPr>
          <p:cNvPr id="87" name="任意多边形: 形状 86"/>
          <p:cNvSpPr/>
          <p:nvPr userDrawn="1"/>
        </p:nvSpPr>
        <p:spPr bwMode="auto">
          <a:xfrm rot="5400000">
            <a:off x="4384812" y="-485285"/>
            <a:ext cx="3422377" cy="3128773"/>
          </a:xfrm>
          <a:custGeom>
            <a:avLst/>
            <a:gdLst>
              <a:gd name="connsiteX0" fmla="*/ 0 w 3422377"/>
              <a:gd name="connsiteY0" fmla="*/ 3128773 h 3128773"/>
              <a:gd name="connsiteX1" fmla="*/ 0 w 3422377"/>
              <a:gd name="connsiteY1" fmla="*/ 0 h 3128773"/>
              <a:gd name="connsiteX2" fmla="*/ 2449535 w 3422377"/>
              <a:gd name="connsiteY2" fmla="*/ 0 h 3128773"/>
              <a:gd name="connsiteX3" fmla="*/ 3422377 w 3422377"/>
              <a:gd name="connsiteY3" fmla="*/ 1564387 h 3128773"/>
              <a:gd name="connsiteX4" fmla="*/ 2449535 w 3422377"/>
              <a:gd name="connsiteY4" fmla="*/ 3128772 h 3128773"/>
              <a:gd name="connsiteX5" fmla="*/ 2449535 w 3422377"/>
              <a:gd name="connsiteY5" fmla="*/ 3128773 h 3128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2377" h="3128773">
                <a:moveTo>
                  <a:pt x="0" y="3128773"/>
                </a:moveTo>
                <a:lnTo>
                  <a:pt x="0" y="0"/>
                </a:lnTo>
                <a:lnTo>
                  <a:pt x="2449535" y="0"/>
                </a:lnTo>
                <a:lnTo>
                  <a:pt x="3422377" y="1564387"/>
                </a:lnTo>
                <a:lnTo>
                  <a:pt x="2449535" y="3128772"/>
                </a:lnTo>
                <a:lnTo>
                  <a:pt x="2449535" y="3128773"/>
                </a:lnTo>
                <a:close/>
              </a:path>
            </a:pathLst>
          </a:custGeom>
          <a:noFill/>
          <a:ln w="12700">
            <a:solidFill>
              <a:schemeClr val="accent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bg1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pic>
        <p:nvPicPr>
          <p:cNvPr id="89" name="图片 88"/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28999" y="0"/>
            <a:ext cx="6858000" cy="6858000"/>
          </a:xfrm>
          <a:prstGeom prst="rect">
            <a:avLst/>
          </a:prstGeom>
        </p:spPr>
      </p:pic>
      <p:pic>
        <p:nvPicPr>
          <p:cNvPr id="90" name="图片 89"/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 userDrawn="1"/>
        </p:nvSpPr>
        <p:spPr>
          <a:xfrm>
            <a:off x="3997387" y="1330387"/>
            <a:ext cx="4197226" cy="419722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elvetica" pitchFamily="2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5093161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01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 userDrawn="1"/>
        </p:nvSpPr>
        <p:spPr>
          <a:xfrm>
            <a:off x="3775702" y="1108702"/>
            <a:ext cx="4640596" cy="4640596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9613900" y="5273613"/>
            <a:ext cx="764381" cy="76438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2" name="椭圆 11"/>
          <p:cNvSpPr/>
          <p:nvPr userDrawn="1"/>
        </p:nvSpPr>
        <p:spPr>
          <a:xfrm>
            <a:off x="2209800" y="6134100"/>
            <a:ext cx="1130300" cy="11303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3" name="椭圆 12"/>
          <p:cNvSpPr/>
          <p:nvPr userDrawn="1"/>
        </p:nvSpPr>
        <p:spPr>
          <a:xfrm>
            <a:off x="10818188" y="-911691"/>
            <a:ext cx="2092326" cy="209232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4" name="椭圆 13"/>
          <p:cNvSpPr/>
          <p:nvPr userDrawn="1"/>
        </p:nvSpPr>
        <p:spPr>
          <a:xfrm>
            <a:off x="-1048048" y="-250249"/>
            <a:ext cx="2861767" cy="286176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51320"/>
            <a:ext cx="3996000" cy="914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5"/>
          <p:cNvSpPr/>
          <p:nvPr userDrawn="1"/>
        </p:nvSpPr>
        <p:spPr>
          <a:xfrm>
            <a:off x="4000500" y="1050677"/>
            <a:ext cx="4191000" cy="409786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02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等腰三角形 8"/>
          <p:cNvSpPr/>
          <p:nvPr userDrawn="1"/>
        </p:nvSpPr>
        <p:spPr>
          <a:xfrm>
            <a:off x="3564087" y="505131"/>
            <a:ext cx="5063826" cy="4951296"/>
          </a:xfrm>
          <a:prstGeom prst="triangle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0" name="等腰三角形 9"/>
          <p:cNvSpPr/>
          <p:nvPr userDrawn="1"/>
        </p:nvSpPr>
        <p:spPr>
          <a:xfrm rot="10800000">
            <a:off x="1390650" y="6496115"/>
            <a:ext cx="1493560" cy="146037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等腰三角形 10"/>
          <p:cNvSpPr/>
          <p:nvPr userDrawn="1"/>
        </p:nvSpPr>
        <p:spPr>
          <a:xfrm>
            <a:off x="11153775" y="1013971"/>
            <a:ext cx="2076450" cy="2030307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等腰三角形 11"/>
          <p:cNvSpPr/>
          <p:nvPr userDrawn="1"/>
        </p:nvSpPr>
        <p:spPr>
          <a:xfrm rot="10800000">
            <a:off x="-414337" y="-187450"/>
            <a:ext cx="2386788" cy="2333749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等腰三角形 12"/>
          <p:cNvSpPr/>
          <p:nvPr userDrawn="1"/>
        </p:nvSpPr>
        <p:spPr>
          <a:xfrm rot="5400000">
            <a:off x="9449232" y="5270665"/>
            <a:ext cx="883117" cy="863492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1" hasCustomPrompt="1"/>
          </p:nvPr>
        </p:nvSpPr>
        <p:spPr>
          <a:xfrm>
            <a:off x="4098000" y="3959372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 rot="18893364">
            <a:off x="4380710" y="1706822"/>
            <a:ext cx="3444573" cy="3444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矩形 6"/>
          <p:cNvSpPr/>
          <p:nvPr userDrawn="1"/>
        </p:nvSpPr>
        <p:spPr>
          <a:xfrm rot="18893364">
            <a:off x="4161891" y="1495013"/>
            <a:ext cx="3868219" cy="3868219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03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 userDrawn="1"/>
        </p:nvSpPr>
        <p:spPr>
          <a:xfrm rot="18893364">
            <a:off x="-897505" y="-513190"/>
            <a:ext cx="2663805" cy="2663805"/>
          </a:xfrm>
          <a:prstGeom prst="rect">
            <a:avLst/>
          </a:prstGeom>
          <a:solidFill>
            <a:srgbClr val="A4A8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矩形 10"/>
          <p:cNvSpPr/>
          <p:nvPr userDrawn="1"/>
        </p:nvSpPr>
        <p:spPr>
          <a:xfrm rot="18893364">
            <a:off x="725976" y="6497388"/>
            <a:ext cx="1300124" cy="1300124"/>
          </a:xfrm>
          <a:prstGeom prst="rect">
            <a:avLst/>
          </a:prstGeom>
          <a:solidFill>
            <a:srgbClr val="C3C7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矩形 11"/>
          <p:cNvSpPr/>
          <p:nvPr userDrawn="1"/>
        </p:nvSpPr>
        <p:spPr>
          <a:xfrm rot="18893364">
            <a:off x="11407699" y="1261300"/>
            <a:ext cx="1568601" cy="156860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矩形 12"/>
          <p:cNvSpPr/>
          <p:nvPr userDrawn="1"/>
        </p:nvSpPr>
        <p:spPr>
          <a:xfrm rot="18893364">
            <a:off x="9270159" y="5188596"/>
            <a:ext cx="861175" cy="861175"/>
          </a:xfrm>
          <a:prstGeom prst="rect">
            <a:avLst/>
          </a:prstGeom>
          <a:solidFill>
            <a:srgbClr val="85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五边形 5"/>
          <p:cNvSpPr>
            <a:spLocks noChangeAspect="1"/>
          </p:cNvSpPr>
          <p:nvPr userDrawn="1"/>
        </p:nvSpPr>
        <p:spPr>
          <a:xfrm>
            <a:off x="3870642" y="1106412"/>
            <a:ext cx="4450715" cy="4238776"/>
          </a:xfrm>
          <a:prstGeom prst="pent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04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五边形 8"/>
          <p:cNvSpPr>
            <a:spLocks noChangeAspect="1"/>
          </p:cNvSpPr>
          <p:nvPr userDrawn="1"/>
        </p:nvSpPr>
        <p:spPr>
          <a:xfrm>
            <a:off x="3575685" y="806045"/>
            <a:ext cx="5040628" cy="4800598"/>
          </a:xfrm>
          <a:prstGeom prst="pentagon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0" name="五边形 9"/>
          <p:cNvSpPr>
            <a:spLocks noChangeAspect="1"/>
          </p:cNvSpPr>
          <p:nvPr userDrawn="1"/>
        </p:nvSpPr>
        <p:spPr>
          <a:xfrm rot="18978551">
            <a:off x="1199607" y="5189314"/>
            <a:ext cx="1114961" cy="1061868"/>
          </a:xfrm>
          <a:prstGeom prst="pentagon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五边形 10"/>
          <p:cNvSpPr>
            <a:spLocks noChangeAspect="1"/>
          </p:cNvSpPr>
          <p:nvPr userDrawn="1"/>
        </p:nvSpPr>
        <p:spPr>
          <a:xfrm>
            <a:off x="-1122630" y="516786"/>
            <a:ext cx="2245259" cy="2138343"/>
          </a:xfrm>
          <a:prstGeom prst="pentagon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五边形 11"/>
          <p:cNvSpPr>
            <a:spLocks noChangeAspect="1"/>
          </p:cNvSpPr>
          <p:nvPr userDrawn="1"/>
        </p:nvSpPr>
        <p:spPr>
          <a:xfrm rot="6589711">
            <a:off x="10153440" y="4944146"/>
            <a:ext cx="2774574" cy="2642453"/>
          </a:xfrm>
          <a:prstGeom prst="pent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五边形 12"/>
          <p:cNvSpPr>
            <a:spLocks noChangeAspect="1"/>
          </p:cNvSpPr>
          <p:nvPr userDrawn="1"/>
        </p:nvSpPr>
        <p:spPr>
          <a:xfrm rot="10800000">
            <a:off x="9654125" y="-530934"/>
            <a:ext cx="1114961" cy="1061868"/>
          </a:xfrm>
          <a:prstGeom prst="pentagon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六边形 5"/>
          <p:cNvSpPr>
            <a:spLocks noChangeAspect="1"/>
          </p:cNvSpPr>
          <p:nvPr userDrawn="1"/>
        </p:nvSpPr>
        <p:spPr>
          <a:xfrm rot="16200000">
            <a:off x="3978962" y="1603967"/>
            <a:ext cx="4234076" cy="365006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05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六边形 9"/>
          <p:cNvSpPr/>
          <p:nvPr userDrawn="1"/>
        </p:nvSpPr>
        <p:spPr>
          <a:xfrm rot="16200000">
            <a:off x="3695701" y="1359776"/>
            <a:ext cx="4800598" cy="4138446"/>
          </a:xfrm>
          <a:prstGeom prst="hexagon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六边形 10"/>
          <p:cNvSpPr>
            <a:spLocks noChangeAspect="1"/>
          </p:cNvSpPr>
          <p:nvPr userDrawn="1"/>
        </p:nvSpPr>
        <p:spPr>
          <a:xfrm rot="16200000">
            <a:off x="-687663" y="4872077"/>
            <a:ext cx="2798353" cy="2412373"/>
          </a:xfrm>
          <a:prstGeom prst="hexagon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六边形 11"/>
          <p:cNvSpPr>
            <a:spLocks noChangeAspect="1"/>
          </p:cNvSpPr>
          <p:nvPr userDrawn="1"/>
        </p:nvSpPr>
        <p:spPr>
          <a:xfrm rot="16200000">
            <a:off x="9480973" y="5159003"/>
            <a:ext cx="1015781" cy="875673"/>
          </a:xfrm>
          <a:prstGeom prst="hexagon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六边形 12"/>
          <p:cNvSpPr>
            <a:spLocks noChangeAspect="1"/>
          </p:cNvSpPr>
          <p:nvPr userDrawn="1"/>
        </p:nvSpPr>
        <p:spPr>
          <a:xfrm rot="16200000">
            <a:off x="11493500" y="210644"/>
            <a:ext cx="1397000" cy="1204310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4" name="六边形 13"/>
          <p:cNvSpPr>
            <a:spLocks noChangeAspect="1"/>
          </p:cNvSpPr>
          <p:nvPr userDrawn="1"/>
        </p:nvSpPr>
        <p:spPr>
          <a:xfrm rot="16200000">
            <a:off x="641459" y="-437837"/>
            <a:ext cx="1015781" cy="875673"/>
          </a:xfrm>
          <a:prstGeom prst="hexagon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七边形 5"/>
          <p:cNvSpPr>
            <a:spLocks noChangeAspect="1"/>
          </p:cNvSpPr>
          <p:nvPr userDrawn="1"/>
        </p:nvSpPr>
        <p:spPr>
          <a:xfrm>
            <a:off x="3972000" y="1047224"/>
            <a:ext cx="4248000" cy="4248000"/>
          </a:xfrm>
          <a:prstGeom prst="hept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5093161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06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七边形 9"/>
          <p:cNvSpPr/>
          <p:nvPr userDrawn="1"/>
        </p:nvSpPr>
        <p:spPr>
          <a:xfrm rot="1563509">
            <a:off x="10682028" y="-776191"/>
            <a:ext cx="3268663" cy="3268663"/>
          </a:xfrm>
          <a:prstGeom prst="heptagon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七边形 10"/>
          <p:cNvSpPr/>
          <p:nvPr userDrawn="1"/>
        </p:nvSpPr>
        <p:spPr>
          <a:xfrm>
            <a:off x="1384129" y="5078241"/>
            <a:ext cx="1047921" cy="1047921"/>
          </a:xfrm>
          <a:prstGeom prst="heptagon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七边形 11"/>
          <p:cNvSpPr/>
          <p:nvPr userDrawn="1"/>
        </p:nvSpPr>
        <p:spPr>
          <a:xfrm rot="20151602">
            <a:off x="-1111336" y="360448"/>
            <a:ext cx="2222671" cy="2222671"/>
          </a:xfrm>
          <a:prstGeom prst="heptagon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七边形 12"/>
          <p:cNvSpPr/>
          <p:nvPr userDrawn="1"/>
        </p:nvSpPr>
        <p:spPr>
          <a:xfrm rot="20592885">
            <a:off x="8879510" y="6235700"/>
            <a:ext cx="2222671" cy="2222671"/>
          </a:xfrm>
          <a:prstGeom prst="heptag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4" name="七边形 13"/>
          <p:cNvSpPr>
            <a:spLocks noChangeAspect="1"/>
          </p:cNvSpPr>
          <p:nvPr userDrawn="1"/>
        </p:nvSpPr>
        <p:spPr>
          <a:xfrm>
            <a:off x="3683000" y="774700"/>
            <a:ext cx="4826000" cy="4826000"/>
          </a:xfrm>
          <a:prstGeom prst="heptagon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66909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长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箭头: 五边形 5"/>
          <p:cNvSpPr/>
          <p:nvPr userDrawn="1"/>
        </p:nvSpPr>
        <p:spPr>
          <a:xfrm>
            <a:off x="2" y="0"/>
            <a:ext cx="2835871" cy="6858000"/>
          </a:xfrm>
          <a:prstGeom prst="homePlat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elvetica" pitchFamily="2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40677" y="3106616"/>
            <a:ext cx="2520462" cy="1066800"/>
          </a:xfrm>
          <a:prstGeom prst="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2782511" y="612708"/>
            <a:ext cx="8695230" cy="5632585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3448" y="2848709"/>
            <a:ext cx="2782509" cy="15749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ctr"/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ea typeface="+mj-ea"/>
                <a:cs typeface="Arial" panose="020B0604020202090204" pitchFamily="34" charset="0"/>
              </a:rPr>
              <a:t>Contents</a:t>
            </a:r>
            <a:endParaRPr lang="zh-CN" altLang="en-US" sz="4000" b="1" i="0" dirty="0">
              <a:solidFill>
                <a:schemeClr val="bg1"/>
              </a:solidFill>
              <a:latin typeface="Helvetica" pitchFamily="2" charset="0"/>
              <a:ea typeface="+mj-ea"/>
              <a:cs typeface="Arial" panose="020B0604020202090204" pitchFamily="34" charset="0"/>
            </a:endParaRPr>
          </a:p>
        </p:txBody>
      </p:sp>
      <p:pic>
        <p:nvPicPr>
          <p:cNvPr id="47" name="图片 46"/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长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箭头: 五边形 6"/>
          <p:cNvSpPr/>
          <p:nvPr userDrawn="1"/>
        </p:nvSpPr>
        <p:spPr>
          <a:xfrm rot="19659736">
            <a:off x="-59387" y="6355211"/>
            <a:ext cx="1593667" cy="240022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5" name="箭头: 五边形 24"/>
          <p:cNvSpPr/>
          <p:nvPr userDrawn="1"/>
        </p:nvSpPr>
        <p:spPr>
          <a:xfrm rot="19659736">
            <a:off x="501875" y="5626509"/>
            <a:ext cx="1198809" cy="202681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6" name="箭头: 五边形 25"/>
          <p:cNvSpPr/>
          <p:nvPr userDrawn="1"/>
        </p:nvSpPr>
        <p:spPr>
          <a:xfrm rot="19659736">
            <a:off x="11343042" y="442070"/>
            <a:ext cx="869215" cy="124045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7" name="箭头: 五边形 26"/>
          <p:cNvSpPr/>
          <p:nvPr userDrawn="1"/>
        </p:nvSpPr>
        <p:spPr>
          <a:xfrm rot="19659736">
            <a:off x="10829985" y="427917"/>
            <a:ext cx="542830" cy="99029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/>
          <p:cNvSpPr/>
          <p:nvPr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  <p:sp>
        <p:nvSpPr>
          <p:cNvPr id="8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 i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sp>
        <p:nvSpPr>
          <p:cNvPr id="13" name="日期占位符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横向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1" name="图片占位符 90"/>
          <p:cNvSpPr>
            <a:spLocks noGrp="1" noChangeAspect="1"/>
          </p:cNvSpPr>
          <p:nvPr>
            <p:ph type="pic" sz="quarter" idx="13"/>
          </p:nvPr>
        </p:nvSpPr>
        <p:spPr>
          <a:xfrm>
            <a:off x="862171" y="1825888"/>
            <a:ext cx="4826535" cy="2736000"/>
          </a:xfrm>
          <a:custGeom>
            <a:avLst/>
            <a:gdLst>
              <a:gd name="connsiteX0" fmla="*/ 0 w 4241800"/>
              <a:gd name="connsiteY0" fmla="*/ 0 h 2404533"/>
              <a:gd name="connsiteX1" fmla="*/ 4241800 w 4241800"/>
              <a:gd name="connsiteY1" fmla="*/ 0 h 2404533"/>
              <a:gd name="connsiteX2" fmla="*/ 4241800 w 4241800"/>
              <a:gd name="connsiteY2" fmla="*/ 2404533 h 2404533"/>
              <a:gd name="connsiteX3" fmla="*/ 0 w 4241800"/>
              <a:gd name="connsiteY3" fmla="*/ 2404533 h 2404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41800" h="2404533">
                <a:moveTo>
                  <a:pt x="0" y="0"/>
                </a:moveTo>
                <a:lnTo>
                  <a:pt x="4241800" y="0"/>
                </a:lnTo>
                <a:lnTo>
                  <a:pt x="4241800" y="2404533"/>
                </a:lnTo>
                <a:lnTo>
                  <a:pt x="0" y="240453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0" name="任意多边形: 形状 89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0" name="图片占位符 6"/>
          <p:cNvSpPr>
            <a:spLocks noGrp="1" noChangeAspect="1"/>
          </p:cNvSpPr>
          <p:nvPr>
            <p:ph type="pic" sz="quarter" idx="10"/>
          </p:nvPr>
        </p:nvSpPr>
        <p:spPr>
          <a:xfrm>
            <a:off x="1692274" y="1541374"/>
            <a:ext cx="3238088" cy="43200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1" name="任意多边形: 形状 90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-圆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任意多边形: 形状 92"/>
          <p:cNvSpPr/>
          <p:nvPr userDrawn="1"/>
        </p:nvSpPr>
        <p:spPr>
          <a:xfrm>
            <a:off x="660400" y="1531871"/>
            <a:ext cx="10858500" cy="4491875"/>
          </a:xfrm>
          <a:custGeom>
            <a:avLst/>
            <a:gdLst>
              <a:gd name="connsiteX0" fmla="*/ 2682382 w 10858500"/>
              <a:gd name="connsiteY0" fmla="*/ 0 h 4491875"/>
              <a:gd name="connsiteX1" fmla="*/ 4661514 w 10858500"/>
              <a:gd name="connsiteY1" fmla="*/ 1979131 h 4491875"/>
              <a:gd name="connsiteX2" fmla="*/ 4081840 w 10858500"/>
              <a:gd name="connsiteY2" fmla="*/ 3378588 h 4491875"/>
              <a:gd name="connsiteX3" fmla="*/ 3948253 w 10858500"/>
              <a:gd name="connsiteY3" fmla="*/ 3500000 h 4491875"/>
              <a:gd name="connsiteX4" fmla="*/ 10858500 w 10858500"/>
              <a:gd name="connsiteY4" fmla="*/ 3500000 h 4491875"/>
              <a:gd name="connsiteX5" fmla="*/ 10858500 w 10858500"/>
              <a:gd name="connsiteY5" fmla="*/ 4491875 h 4491875"/>
              <a:gd name="connsiteX6" fmla="*/ 0 w 10858500"/>
              <a:gd name="connsiteY6" fmla="*/ 4491875 h 4491875"/>
              <a:gd name="connsiteX7" fmla="*/ 0 w 10858500"/>
              <a:gd name="connsiteY7" fmla="*/ 3500000 h 4491875"/>
              <a:gd name="connsiteX8" fmla="*/ 1416512 w 10858500"/>
              <a:gd name="connsiteY8" fmla="*/ 3500000 h 4491875"/>
              <a:gd name="connsiteX9" fmla="*/ 1282925 w 10858500"/>
              <a:gd name="connsiteY9" fmla="*/ 3378588 h 4491875"/>
              <a:gd name="connsiteX10" fmla="*/ 703250 w 10858500"/>
              <a:gd name="connsiteY10" fmla="*/ 1979131 h 4491875"/>
              <a:gd name="connsiteX11" fmla="*/ 2682382 w 10858500"/>
              <a:gd name="connsiteY11" fmla="*/ 0 h 449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58500" h="4491875">
                <a:moveTo>
                  <a:pt x="2682382" y="0"/>
                </a:moveTo>
                <a:cubicBezTo>
                  <a:pt x="3775426" y="0"/>
                  <a:pt x="4661514" y="886087"/>
                  <a:pt x="4661514" y="1979131"/>
                </a:cubicBezTo>
                <a:cubicBezTo>
                  <a:pt x="4661514" y="2525653"/>
                  <a:pt x="4439992" y="3020436"/>
                  <a:pt x="4081840" y="3378588"/>
                </a:cubicBezTo>
                <a:lnTo>
                  <a:pt x="3948253" y="3500000"/>
                </a:lnTo>
                <a:lnTo>
                  <a:pt x="10858500" y="3500000"/>
                </a:lnTo>
                <a:lnTo>
                  <a:pt x="10858500" y="4491875"/>
                </a:lnTo>
                <a:lnTo>
                  <a:pt x="0" y="4491875"/>
                </a:lnTo>
                <a:lnTo>
                  <a:pt x="0" y="3500000"/>
                </a:lnTo>
                <a:lnTo>
                  <a:pt x="1416512" y="3500000"/>
                </a:lnTo>
                <a:lnTo>
                  <a:pt x="1282925" y="3378588"/>
                </a:lnTo>
                <a:cubicBezTo>
                  <a:pt x="924772" y="3020436"/>
                  <a:pt x="703250" y="2525653"/>
                  <a:pt x="703250" y="1979131"/>
                </a:cubicBezTo>
                <a:cubicBezTo>
                  <a:pt x="703250" y="886087"/>
                  <a:pt x="1589338" y="0"/>
                  <a:pt x="2682382" y="0"/>
                </a:cubicBezTo>
                <a:close/>
              </a:path>
            </a:pathLst>
          </a:custGeom>
          <a:solidFill>
            <a:schemeClr val="accent1"/>
          </a:solidFill>
          <a:ln w="19050">
            <a:noFill/>
          </a:ln>
          <a:effectLst>
            <a:outerShdw blurRad="127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1" name="任意多边形: 形状 90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图片占位符 91"/>
          <p:cNvSpPr>
            <a:spLocks noGrp="1" noChangeAspect="1"/>
          </p:cNvSpPr>
          <p:nvPr>
            <p:ph type="pic" sz="quarter" idx="13"/>
          </p:nvPr>
        </p:nvSpPr>
        <p:spPr>
          <a:xfrm>
            <a:off x="1451524" y="1608975"/>
            <a:ext cx="3780000" cy="3780000"/>
          </a:xfrm>
          <a:custGeom>
            <a:avLst/>
            <a:gdLst>
              <a:gd name="connsiteX0" fmla="*/ 1657350 w 3314700"/>
              <a:gd name="connsiteY0" fmla="*/ 0 h 3314700"/>
              <a:gd name="connsiteX1" fmla="*/ 3314700 w 3314700"/>
              <a:gd name="connsiteY1" fmla="*/ 1657350 h 3314700"/>
              <a:gd name="connsiteX2" fmla="*/ 1657350 w 3314700"/>
              <a:gd name="connsiteY2" fmla="*/ 3314700 h 3314700"/>
              <a:gd name="connsiteX3" fmla="*/ 0 w 3314700"/>
              <a:gd name="connsiteY3" fmla="*/ 1657350 h 3314700"/>
              <a:gd name="connsiteX4" fmla="*/ 1657350 w 3314700"/>
              <a:gd name="connsiteY4" fmla="*/ 0 h 331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14700" h="3314700">
                <a:moveTo>
                  <a:pt x="1657350" y="0"/>
                </a:moveTo>
                <a:cubicBezTo>
                  <a:pt x="2572679" y="0"/>
                  <a:pt x="3314700" y="742021"/>
                  <a:pt x="3314700" y="1657350"/>
                </a:cubicBezTo>
                <a:cubicBezTo>
                  <a:pt x="3314700" y="2572679"/>
                  <a:pt x="2572679" y="3314700"/>
                  <a:pt x="1657350" y="3314700"/>
                </a:cubicBezTo>
                <a:cubicBezTo>
                  <a:pt x="742021" y="3314700"/>
                  <a:pt x="0" y="2572679"/>
                  <a:pt x="0" y="1657350"/>
                </a:cubicBezTo>
                <a:cubicBezTo>
                  <a:pt x="0" y="742021"/>
                  <a:pt x="742021" y="0"/>
                  <a:pt x="1657350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/>
          <a:p>
            <a:endParaRPr lang="zh-CN" altLang="en-US" dirty="0"/>
          </a:p>
        </p:txBody>
      </p:sp>
      <p:sp>
        <p:nvSpPr>
          <p:cNvPr id="90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0" name="图片占位符 6"/>
          <p:cNvSpPr>
            <a:spLocks noGrp="1" noChangeAspect="1"/>
          </p:cNvSpPr>
          <p:nvPr>
            <p:ph type="pic" sz="quarter" idx="10"/>
          </p:nvPr>
        </p:nvSpPr>
        <p:spPr>
          <a:xfrm>
            <a:off x="1114722" y="1132945"/>
            <a:ext cx="1735608" cy="231551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1" name="图片占位符 6"/>
          <p:cNvSpPr>
            <a:spLocks noGrp="1" noChangeAspect="1"/>
          </p:cNvSpPr>
          <p:nvPr>
            <p:ph type="pic" sz="quarter" idx="13"/>
          </p:nvPr>
        </p:nvSpPr>
        <p:spPr>
          <a:xfrm>
            <a:off x="9351363" y="3674135"/>
            <a:ext cx="1755000" cy="2341381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2" name="任意多边形: 形状 91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3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1" name="图片占位符 90"/>
          <p:cNvSpPr>
            <a:spLocks noGrp="1"/>
          </p:cNvSpPr>
          <p:nvPr>
            <p:ph type="pic" sz="quarter" idx="13"/>
          </p:nvPr>
        </p:nvSpPr>
        <p:spPr>
          <a:xfrm>
            <a:off x="1219984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5" name="图片占位符 94"/>
          <p:cNvSpPr>
            <a:spLocks noGrp="1"/>
          </p:cNvSpPr>
          <p:nvPr>
            <p:ph type="pic" sz="quarter" idx="14"/>
          </p:nvPr>
        </p:nvSpPr>
        <p:spPr>
          <a:xfrm>
            <a:off x="9369946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8" name="图片占位符 97"/>
          <p:cNvSpPr>
            <a:spLocks noGrp="1"/>
          </p:cNvSpPr>
          <p:nvPr>
            <p:ph type="pic" sz="quarter" idx="15"/>
          </p:nvPr>
        </p:nvSpPr>
        <p:spPr>
          <a:xfrm>
            <a:off x="3936638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9" name="图片占位符 98"/>
          <p:cNvSpPr>
            <a:spLocks noGrp="1"/>
          </p:cNvSpPr>
          <p:nvPr>
            <p:ph type="pic" sz="quarter" idx="16"/>
          </p:nvPr>
        </p:nvSpPr>
        <p:spPr>
          <a:xfrm>
            <a:off x="6653292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0" name="任意多边形: 形状 89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 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3735420" y="2971800"/>
            <a:ext cx="7783479" cy="914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54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endParaRPr lang="en-US" altLang="zh-CN" dirty="0"/>
          </a:p>
          <a:p>
            <a:pPr lvl="0"/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sp>
        <p:nvSpPr>
          <p:cNvPr id="6" name="箭头: 五边形 5"/>
          <p:cNvSpPr/>
          <p:nvPr userDrawn="1"/>
        </p:nvSpPr>
        <p:spPr>
          <a:xfrm rot="16200000">
            <a:off x="10605854" y="5156200"/>
            <a:ext cx="2879387" cy="3403600"/>
          </a:xfrm>
          <a:prstGeom prst="homePlat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8" name="箭头: 五边形 7"/>
          <p:cNvSpPr/>
          <p:nvPr userDrawn="1"/>
        </p:nvSpPr>
        <p:spPr>
          <a:xfrm>
            <a:off x="-2680781" y="0"/>
            <a:ext cx="5753100" cy="9620654"/>
          </a:xfrm>
          <a:prstGeom prst="homePlate">
            <a:avLst>
              <a:gd name="adj" fmla="val 5086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5" name="箭头: 五边形 4"/>
          <p:cNvSpPr/>
          <p:nvPr userDrawn="1"/>
        </p:nvSpPr>
        <p:spPr>
          <a:xfrm rot="5400000">
            <a:off x="7310335" y="-1872573"/>
            <a:ext cx="2616740" cy="4241259"/>
          </a:xfrm>
          <a:prstGeom prst="homePlat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 userDrawn="1"/>
        </p:nvSpPr>
        <p:spPr>
          <a:xfrm>
            <a:off x="-2319371" y="4211980"/>
            <a:ext cx="5113371" cy="511337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10560051" y="-2647819"/>
            <a:ext cx="4418254" cy="44182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217487"/>
            <a:ext cx="10858500" cy="81121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60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5700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椭圆 6"/>
          <p:cNvSpPr/>
          <p:nvPr userDrawn="1"/>
        </p:nvSpPr>
        <p:spPr>
          <a:xfrm>
            <a:off x="4749800" y="-4572000"/>
            <a:ext cx="1168400" cy="811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8" name="椭圆 7"/>
          <p:cNvSpPr/>
          <p:nvPr userDrawn="1"/>
        </p:nvSpPr>
        <p:spPr>
          <a:xfrm>
            <a:off x="4572000" y="9093200"/>
            <a:ext cx="1168400" cy="811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4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8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9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0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4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5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6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6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1.xml"/><Relationship Id="rId4" Type="http://schemas.openxmlformats.org/officeDocument/2006/relationships/image" Target="../media/image52.jpeg"/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image" Target="../media/image49.jpe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53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54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55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56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57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58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59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1"/>
          <p:cNvSpPr txBox="1"/>
          <p:nvPr/>
        </p:nvSpPr>
        <p:spPr>
          <a:xfrm>
            <a:off x="3791712" y="1239205"/>
            <a:ext cx="8191129" cy="2189795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en-US" sz="4000" b="1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</a:rPr>
              <a:t>B09S0061</a:t>
            </a:r>
            <a:r>
              <a:rPr lang="en-US" sz="4000" b="1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</a:rPr>
              <a:t> </a:t>
            </a:r>
            <a:r>
              <a:rPr lang="zh-CN" altLang="en-US" sz="4000" b="1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软件工程</a:t>
            </a:r>
            <a:endParaRPr lang="en-US" altLang="zh-CN" sz="4000" b="1" dirty="0">
              <a:solidFill>
                <a:schemeClr val="accent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  <a:p>
            <a:pPr marL="0" indent="0" algn="r">
              <a:lnSpc>
                <a:spcPct val="100000"/>
              </a:lnSpc>
              <a:buNone/>
            </a:pPr>
            <a:r>
              <a:rPr lang="zh-CN" altLang="en-US" sz="4000" b="1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第</a:t>
            </a:r>
            <a:r>
              <a:rPr lang="en-US" altLang="zh-CN" sz="4000" b="1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4</a:t>
            </a:r>
            <a:r>
              <a:rPr lang="zh-CN" altLang="en-US" sz="4000" b="1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讲</a:t>
            </a:r>
            <a:endParaRPr lang="zh-CN" altLang="en-US" sz="4000" b="1" dirty="0">
              <a:solidFill>
                <a:schemeClr val="accent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8750859" y="4819809"/>
            <a:ext cx="3003067" cy="65087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US" altLang="zh-CN" sz="28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2026/04/2</a:t>
            </a:r>
            <a:endParaRPr lang="zh-CN" altLang="en-US" sz="2800" dirty="0">
              <a:solidFill>
                <a:schemeClr val="accent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5002654" y="4381010"/>
            <a:ext cx="6751272" cy="650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28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讲师：刘光迟</a:t>
            </a:r>
            <a:r>
              <a:rPr lang="en-US" altLang="zh-CN" sz="28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 </a:t>
            </a:r>
            <a:r>
              <a:rPr lang="zh-CN" altLang="en-US" sz="28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博士</a:t>
            </a:r>
            <a:endParaRPr lang="zh-CN" altLang="en-US" sz="2800" dirty="0">
              <a:solidFill>
                <a:schemeClr val="accent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11842946" y="4575127"/>
            <a:ext cx="0" cy="752777"/>
          </a:xfrm>
          <a:prstGeom prst="line">
            <a:avLst/>
          </a:prstGeom>
          <a:ln w="50800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966387" cy="790865"/>
          </a:xfrm>
        </p:spPr>
        <p:txBody>
          <a:bodyPr>
            <a:normAutofit/>
          </a:bodyPr>
          <a:lstStyle/>
          <a:p>
            <a:r>
              <a:rPr lang="zh-CN" altLang="en-US" dirty="0"/>
              <a:t>提醒事项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598690" y="1444626"/>
            <a:ext cx="10946524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第一次作业已上传至微助教，截止日期：</a:t>
            </a:r>
            <a:r>
              <a:rPr lang="en-US" altLang="zh-CN" sz="2000" b="1" u="sng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4</a:t>
            </a:r>
            <a:r>
              <a:rPr lang="zh-CN" altLang="en-US" sz="2000" b="1" u="sng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月</a:t>
            </a:r>
            <a:r>
              <a:rPr lang="en-US" altLang="zh-CN" sz="2000" b="1" u="sng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6</a:t>
            </a:r>
            <a:r>
              <a:rPr lang="zh-CN" altLang="en-US" sz="2000" b="1" u="sng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日</a:t>
            </a:r>
            <a:r>
              <a:rPr lang="en-US" altLang="zh-CN" sz="2000" b="1" u="sng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 23:55</a:t>
            </a:r>
            <a:endParaRPr lang="en-US" altLang="zh-CN" sz="2000" b="1" u="sng" dirty="0">
              <a:solidFill>
                <a:srgbClr val="C0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966387" cy="790865"/>
          </a:xfrm>
        </p:spPr>
        <p:txBody>
          <a:bodyPr>
            <a:normAutofit/>
          </a:bodyPr>
          <a:lstStyle/>
          <a:p>
            <a:r>
              <a:rPr lang="zh-CN" altLang="en-US" dirty="0"/>
              <a:t>提醒事项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622738" y="1128862"/>
            <a:ext cx="10946524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第一次实验：</a:t>
            </a:r>
            <a:r>
              <a:rPr lang="en-US" altLang="zh-CN" sz="20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4</a:t>
            </a:r>
            <a:r>
              <a:rPr lang="zh-CN" altLang="en-US" sz="20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月</a:t>
            </a:r>
            <a:r>
              <a:rPr lang="en-US" altLang="zh-CN" sz="20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9</a:t>
            </a:r>
            <a:r>
              <a:rPr lang="zh-CN" altLang="en-US" sz="20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日</a:t>
            </a:r>
            <a:r>
              <a:rPr lang="en-US" altLang="zh-CN" sz="20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 16:40 – 20:35</a:t>
            </a:r>
            <a:r>
              <a:rPr lang="zh-CN" altLang="en-US" sz="20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，</a:t>
            </a:r>
            <a:r>
              <a:rPr lang="en-US" altLang="zh-CN" sz="20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J4-101</a:t>
            </a:r>
            <a:endParaRPr lang="en-US" altLang="zh-CN" sz="2000" b="1" dirty="0">
              <a:solidFill>
                <a:srgbClr val="C0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2738" y="1708859"/>
            <a:ext cx="10946524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每个团队向助教或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教师展示：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项目名称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团队成员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可行性研究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开发流程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项目进度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需求（获取</a:t>
            </a:r>
            <a:r>
              <a:rPr lang="en-US" altLang="zh-CN" sz="2000" dirty="0"/>
              <a:t>/</a:t>
            </a:r>
            <a:r>
              <a:rPr lang="zh-CN" altLang="en-US" sz="2000" dirty="0"/>
              <a:t>引导、建模、规格说明）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提醒事项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22738" y="1261527"/>
            <a:ext cx="10946524" cy="378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准备以下问题（每题10分）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/>
          </a:p>
          <a:p>
            <a:r>
              <a:rPr lang="en-US" altLang="zh-CN" sz="2000" dirty="0">
                <a:solidFill>
                  <a:srgbClr val="C00000"/>
                </a:solidFill>
              </a:rPr>
              <a:t>Q1</a:t>
            </a:r>
            <a:r>
              <a:rPr lang="zh-CN" altLang="en-US" sz="2000" dirty="0">
                <a:solidFill>
                  <a:srgbClr val="C00000"/>
                </a:solidFill>
              </a:rPr>
              <a:t>：</a:t>
            </a:r>
            <a:r>
              <a:rPr lang="zh-CN" altLang="en-US" sz="2000" dirty="0"/>
              <a:t>你们的团队是否具备管理</a:t>
            </a:r>
            <a:r>
              <a:rPr lang="en-US" altLang="zh-CN" sz="2000" dirty="0"/>
              <a:t>/</a:t>
            </a:r>
            <a:r>
              <a:rPr lang="zh-CN" altLang="en-US" sz="2000" dirty="0"/>
              <a:t>技术专长？如何处理人员变动（生病、缺席等）？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C00000"/>
                </a:solidFill>
              </a:rPr>
              <a:t>Q2</a:t>
            </a:r>
            <a:r>
              <a:rPr lang="zh-CN" altLang="en-US" sz="2000" dirty="0">
                <a:solidFill>
                  <a:srgbClr val="C00000"/>
                </a:solidFill>
              </a:rPr>
              <a:t>：</a:t>
            </a:r>
            <a:r>
              <a:rPr lang="zh-CN" altLang="en-US" sz="2000" dirty="0"/>
              <a:t>项目的好处是什么？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C00000"/>
                </a:solidFill>
              </a:rPr>
              <a:t>Q3</a:t>
            </a:r>
            <a:r>
              <a:rPr lang="zh-CN" altLang="en-US" sz="2000" dirty="0">
                <a:solidFill>
                  <a:srgbClr val="C00000"/>
                </a:solidFill>
              </a:rPr>
              <a:t>：</a:t>
            </a:r>
            <a:r>
              <a:rPr lang="zh-CN" altLang="en-US" sz="2000" dirty="0"/>
              <a:t>项目技术上可行吗？项目的范围是什么？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C00000"/>
                </a:solidFill>
              </a:rPr>
              <a:t>Q4</a:t>
            </a:r>
            <a:r>
              <a:rPr lang="zh-CN" altLang="en-US" sz="2000" dirty="0">
                <a:solidFill>
                  <a:srgbClr val="C00000"/>
                </a:solidFill>
              </a:rPr>
              <a:t>：</a:t>
            </a:r>
            <a:r>
              <a:rPr lang="zh-CN" altLang="en-US" sz="2000" dirty="0"/>
              <a:t>需要哪些资源（人力、设备、工具、知识产权）和预算？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C00000"/>
                </a:solidFill>
              </a:rPr>
              <a:t>Q5</a:t>
            </a:r>
            <a:r>
              <a:rPr lang="zh-CN" altLang="en-US" sz="2000" dirty="0">
                <a:solidFill>
                  <a:srgbClr val="C00000"/>
                </a:solidFill>
              </a:rPr>
              <a:t>：</a:t>
            </a:r>
            <a:r>
              <a:rPr lang="zh-CN" altLang="en-US" sz="2000" dirty="0"/>
              <a:t>有哪些风险？如何最小化？有没有替代方案？为什么仍然选择这个？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C00000"/>
                </a:solidFill>
              </a:rPr>
              <a:t>Q6</a:t>
            </a:r>
            <a:r>
              <a:rPr lang="zh-CN" altLang="en-US" sz="2000" dirty="0">
                <a:solidFill>
                  <a:srgbClr val="C00000"/>
                </a:solidFill>
              </a:rPr>
              <a:t>：</a:t>
            </a:r>
            <a:r>
              <a:rPr lang="zh-CN" altLang="en-US" sz="2000" dirty="0"/>
              <a:t>项目的时间表是什么？每个任务的预计完成时间？最终交付日期？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C00000"/>
                </a:solidFill>
              </a:rPr>
              <a:t>Q7</a:t>
            </a:r>
            <a:r>
              <a:rPr lang="zh-CN" altLang="en-US" sz="2000" dirty="0">
                <a:solidFill>
                  <a:srgbClr val="C00000"/>
                </a:solidFill>
              </a:rPr>
              <a:t>：</a:t>
            </a:r>
            <a:r>
              <a:rPr lang="zh-CN" altLang="en-US" sz="2000" dirty="0"/>
              <a:t>项目的需求是什么？你们是如何识别这些需求的？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C00000"/>
                </a:solidFill>
              </a:rPr>
              <a:t>Q8</a:t>
            </a:r>
            <a:r>
              <a:rPr lang="zh-CN" altLang="en-US" sz="2000" dirty="0">
                <a:solidFill>
                  <a:srgbClr val="C00000"/>
                </a:solidFill>
              </a:rPr>
              <a:t>：</a:t>
            </a:r>
            <a:r>
              <a:rPr lang="zh-CN" altLang="en-US" sz="2000" dirty="0"/>
              <a:t>需求来自哪些利益相关者（用户、客户、委托方）？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C00000"/>
                </a:solidFill>
              </a:rPr>
              <a:t>Q9</a:t>
            </a:r>
            <a:r>
              <a:rPr lang="zh-CN" altLang="en-US" sz="2000" dirty="0">
                <a:solidFill>
                  <a:srgbClr val="C00000"/>
                </a:solidFill>
              </a:rPr>
              <a:t>：</a:t>
            </a:r>
            <a:r>
              <a:rPr lang="zh-CN" altLang="en-US" sz="2000" dirty="0"/>
              <a:t>是否为每种类型的利益相关者绘制了场景和用例图？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C00000"/>
                </a:solidFill>
              </a:rPr>
              <a:t>Q10</a:t>
            </a:r>
            <a:r>
              <a:rPr lang="zh-CN" altLang="en-US" sz="2000" dirty="0">
                <a:solidFill>
                  <a:srgbClr val="C00000"/>
                </a:solidFill>
              </a:rPr>
              <a:t>：</a:t>
            </a:r>
            <a:r>
              <a:rPr lang="zh-CN" altLang="en-US" sz="2000" dirty="0"/>
              <a:t>项目中使用了需求建模图吗？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335087" y="3977885"/>
            <a:ext cx="9521825" cy="644144"/>
          </a:xfrm>
          <a:prstGeom prst="rect">
            <a:avLst/>
          </a:prstGeom>
        </p:spPr>
        <p:txBody>
          <a:bodyPr wrap="square">
            <a:normAutofit fontScale="92500" lnSpcReduction="10000"/>
          </a:bodyPr>
          <a:lstStyle/>
          <a:p>
            <a:pPr algn="ctr"/>
            <a:r>
              <a:rPr lang="zh-CN" altLang="en-US" sz="4000" b="1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rPr>
              <a:t>用户体验</a:t>
            </a:r>
            <a:endParaRPr lang="zh-CN" altLang="en-US" sz="4000" b="1" dirty="0">
              <a:solidFill>
                <a:schemeClr val="accent1"/>
              </a:solidFill>
              <a:latin typeface="Helvetica" pitchFamily="2" charset="0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819048" y="1319889"/>
            <a:ext cx="2553904" cy="2646878"/>
            <a:chOff x="5865211" y="1319889"/>
            <a:chExt cx="2553904" cy="2646878"/>
          </a:xfrm>
        </p:grpSpPr>
        <p:sp>
          <p:nvSpPr>
            <p:cNvPr id="2" name="文本框 1"/>
            <p:cNvSpPr txBox="1"/>
            <p:nvPr/>
          </p:nvSpPr>
          <p:spPr>
            <a:xfrm>
              <a:off x="5865211" y="1319889"/>
              <a:ext cx="2553904" cy="26468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600" dirty="0">
                  <a:solidFill>
                    <a:schemeClr val="accent1"/>
                  </a:solidFill>
                  <a:latin typeface="Helvetica" pitchFamily="2" charset="0"/>
                  <a:cs typeface="+mn-ea"/>
                  <a:sym typeface="+mn-lt"/>
                </a:rPr>
                <a:t>01</a:t>
              </a:r>
              <a:endParaRPr lang="zh-CN" altLang="en-US" sz="16600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865211" y="2574748"/>
              <a:ext cx="2553904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PART</a:t>
              </a:r>
              <a:r>
                <a:rPr lang="zh-CN" altLang="en-US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 </a:t>
              </a:r>
              <a:r>
                <a:rPr lang="en-US" altLang="zh-CN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ONE </a:t>
              </a:r>
              <a:endParaRPr lang="zh-CN" altLang="en-US" sz="24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966387" cy="790865"/>
          </a:xfrm>
        </p:spPr>
        <p:txBody>
          <a:bodyPr>
            <a:normAutofit/>
          </a:bodyPr>
          <a:lstStyle/>
          <a:p>
            <a:r>
              <a:rPr lang="zh-CN" altLang="en-US" dirty="0"/>
              <a:t>用户体验的重要性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572376" y="1503152"/>
            <a:ext cx="10946524" cy="286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计算机系统的价值取决于它为用户提供的体验。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dirty="0"/>
              <a:t>如果系统难用：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用户可能无法找到重要结果，或误解所找到的内容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用户可能会厌烦而放弃</a:t>
            </a:r>
            <a:endParaRPr lang="en-US" altLang="zh-CN" sz="2000" dirty="0"/>
          </a:p>
          <a:p>
            <a:r>
              <a:rPr lang="en-US" altLang="zh-CN" sz="2000" dirty="0"/>
              <a:t>适当的功能、简单的导航、优雅的设计和快速的响应时间对系统的有效性有显著影响。</a:t>
            </a:r>
            <a:endParaRPr lang="en-US" altLang="zh-CN" sz="2000" dirty="0"/>
          </a:p>
          <a:p>
            <a:r>
              <a:rPr lang="en-US" altLang="zh-CN" sz="2000" dirty="0"/>
              <a:t>示例：抖音、小红书</a:t>
            </a:r>
            <a:endParaRPr lang="en-US" altLang="zh-CN" sz="2000" dirty="0"/>
          </a:p>
          <a:p>
            <a:pPr algn="l">
              <a:buClrTx/>
              <a:buSzTx/>
              <a:buFontTx/>
            </a:pP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algn="l">
              <a:buClrTx/>
              <a:buSzTx/>
              <a:buFontTx/>
            </a:pP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良好的用户支持不仅仅是表面修饰。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dirty="0"/>
              <a:t>开发良好的用户界面需要技巧和时间。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术语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72376" y="1393777"/>
            <a:ext cx="10946524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用户体验（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UX, User Experience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）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dirty="0"/>
              <a:t>指影响计算机及其系统可用性（或其他方面）的所有因素的总和。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用户界面（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UI, User Interface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）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algn="l">
              <a:buClrTx/>
              <a:buSzTx/>
              <a:buFontTx/>
            </a:pPr>
            <a:r>
              <a:rPr lang="en-US" altLang="zh-CN" sz="2000" dirty="0"/>
              <a:t>指产品屏幕或网页的交互性、外观和感觉。</a:t>
            </a:r>
            <a:endParaRPr lang="en-US" altLang="zh-CN" sz="2000" dirty="0"/>
          </a:p>
          <a:p>
            <a:pPr algn="l">
              <a:buClrTx/>
              <a:buSzTx/>
              <a:buFontTx/>
            </a:pPr>
            <a:endParaRPr lang="en-US" altLang="zh-CN" sz="2000" dirty="0"/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人机交互（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HCI, Human-Computer Interaction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）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algn="l">
              <a:buClrTx/>
              <a:buSzTx/>
              <a:buFontTx/>
            </a:pPr>
            <a:r>
              <a:rPr lang="en-US" altLang="zh-CN" sz="2000" dirty="0"/>
              <a:t>研究人们如何与计算机交互的学术学科。</a:t>
            </a:r>
            <a:endParaRPr lang="en-US" altLang="zh-CN" sz="2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7760" y="4128770"/>
            <a:ext cx="3402330" cy="178879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3930" y="4128770"/>
            <a:ext cx="2703830" cy="212153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7870" y="4128135"/>
            <a:ext cx="2818130" cy="212217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965" y="4228651"/>
            <a:ext cx="418702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000" dirty="0"/>
              <a:t>没有用户界面的机器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历史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255" y="1461840"/>
            <a:ext cx="1283554" cy="17190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946" y="3313079"/>
            <a:ext cx="2843486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02122"/>
                </a:solidFill>
                <a:effectLst/>
                <a:latin typeface="Arial" panose="020B0604020202090204" pitchFamily="34" charset="0"/>
              </a:rPr>
              <a:t>Ivan Edward Sutherland</a:t>
            </a:r>
            <a:endParaRPr lang="en-US" b="0" i="0" dirty="0">
              <a:solidFill>
                <a:srgbClr val="202122"/>
              </a:solidFill>
              <a:effectLst/>
              <a:latin typeface="Arial" panose="020B0604020202090204" pitchFamily="34" charset="0"/>
            </a:endParaRPr>
          </a:p>
          <a:p>
            <a:r>
              <a:rPr lang="en-US" altLang="zh-CN" dirty="0"/>
              <a:t>1988</a:t>
            </a:r>
            <a:r>
              <a:rPr lang="zh-CN" altLang="en-US" dirty="0"/>
              <a:t>年图灵奖</a:t>
            </a:r>
            <a:endParaRPr lang="zh-CN" altLang="en-US" dirty="0"/>
          </a:p>
          <a:p>
            <a:r>
              <a:rPr lang="zh-CN" altLang="en-US" dirty="0"/>
              <a:t>计算机图形学</a:t>
            </a:r>
            <a:endParaRPr lang="zh-CN" alt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550" y="1460712"/>
            <a:ext cx="1389555" cy="17201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74257" y="3308147"/>
            <a:ext cx="2843486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>
                <a:solidFill>
                  <a:srgbClr val="202122"/>
                </a:solidFill>
                <a:effectLst/>
                <a:latin typeface="Arial" panose="020B0604020202090204" pitchFamily="34" charset="0"/>
              </a:rPr>
              <a:t>Douglas Carl Engelbart</a:t>
            </a:r>
            <a:endParaRPr lang="en-US" i="0" dirty="0">
              <a:solidFill>
                <a:srgbClr val="202122"/>
              </a:solidFill>
              <a:effectLst/>
              <a:latin typeface="Arial" panose="020B0604020202090204" pitchFamily="34" charset="0"/>
            </a:endParaRPr>
          </a:p>
          <a:p>
            <a:r>
              <a:rPr lang="en-US" altLang="zh-CN" dirty="0"/>
              <a:t>1997</a:t>
            </a:r>
            <a:r>
              <a:rPr lang="zh-CN" altLang="en-US" dirty="0"/>
              <a:t>年图灵奖</a:t>
            </a:r>
            <a:endParaRPr lang="zh-CN" altLang="en-US" dirty="0"/>
          </a:p>
          <a:p>
            <a:r>
              <a:rPr lang="zh-CN" altLang="en-US" dirty="0"/>
              <a:t>人机交互</a:t>
            </a:r>
            <a:endParaRPr lang="zh-CN" altLang="en-US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8" name="TextBox 7"/>
          <p:cNvSpPr txBox="1"/>
          <p:nvPr/>
        </p:nvSpPr>
        <p:spPr>
          <a:xfrm>
            <a:off x="990946" y="4975767"/>
            <a:ext cx="64073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02122"/>
                </a:solidFill>
                <a:effectLst/>
                <a:latin typeface="Arial" panose="020B0604020202090204" pitchFamily="34" charset="0"/>
              </a:rPr>
              <a:t>1984 Apple Macintosh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990945" y="4548573"/>
            <a:ext cx="64073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02122"/>
                </a:solidFill>
                <a:effectLst/>
                <a:latin typeface="Arial" panose="020B0604020202090204" pitchFamily="34" charset="0"/>
              </a:rPr>
              <a:t>1983 Apple Lisa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57568" y="3308148"/>
            <a:ext cx="3879621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Tim Berners-Lee</a:t>
            </a:r>
            <a:endParaRPr lang="en-US" dirty="0"/>
          </a:p>
          <a:p>
            <a:r>
              <a:rPr lang="en-US" altLang="zh-CN" dirty="0"/>
              <a:t>2016</a:t>
            </a:r>
            <a:r>
              <a:rPr lang="zh-CN" altLang="en-US" dirty="0"/>
              <a:t>年图灵奖</a:t>
            </a:r>
            <a:endParaRPr lang="zh-CN" altLang="en-US" dirty="0"/>
          </a:p>
          <a:p>
            <a:r>
              <a:rPr lang="zh-CN" altLang="en-US" dirty="0"/>
              <a:t>万维网、网页浏览器</a:t>
            </a:r>
            <a:endParaRPr lang="zh-CN" altLang="en-US" dirty="0"/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216" y="1460713"/>
            <a:ext cx="1375173" cy="17201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8829985" cy="790865"/>
          </a:xfrm>
        </p:spPr>
        <p:txBody>
          <a:bodyPr>
            <a:noAutofit/>
          </a:bodyPr>
          <a:lstStyle/>
          <a:p>
            <a:r>
              <a:rPr lang="zh-CN" altLang="en-US" sz="2800" dirty="0"/>
              <a:t>可用性需求与评估工具</a:t>
            </a:r>
            <a:endParaRPr lang="zh-CN" alt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1577" y="1349639"/>
            <a:ext cx="9533606" cy="44025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8883325" cy="790865"/>
          </a:xfrm>
        </p:spPr>
        <p:txBody>
          <a:bodyPr>
            <a:noAutofit/>
          </a:bodyPr>
          <a:lstStyle/>
          <a:p>
            <a:r>
              <a:rPr lang="zh-CN" altLang="en-US" dirty="0"/>
              <a:t>可</a:t>
            </a:r>
            <a:r>
              <a:rPr lang="zh-CN" altLang="en-US" dirty="0"/>
              <a:t>用性需求：焦点小组</a:t>
            </a:r>
            <a:r>
              <a:rPr lang="en-US" altLang="zh-CN" dirty="0"/>
              <a:t> (Focus Groups)</a:t>
            </a:r>
            <a:endParaRPr lang="en-US" altLang="zh-C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93549" y="1326445"/>
            <a:ext cx="10946524" cy="4399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焦点小组是一种小组访谈。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访谈者</a:t>
            </a:r>
            <a:endParaRPr lang="en-US" altLang="zh-CN" sz="2000" dirty="0"/>
          </a:p>
          <a:p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潜在用户</a:t>
            </a:r>
            <a:endParaRPr lang="en-US" altLang="zh-CN" sz="2000" dirty="0"/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2000" dirty="0"/>
              <a:t>通常5-12人</a:t>
            </a:r>
            <a:endParaRPr lang="en-US" altLang="zh-CN" sz="2000" dirty="0"/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2000" dirty="0"/>
              <a:t>相似特征（例如相同的视角）</a:t>
            </a:r>
            <a:endParaRPr lang="en-US" altLang="zh-CN" sz="2000" dirty="0"/>
          </a:p>
          <a:p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结构化问题集</a:t>
            </a:r>
            <a:endParaRPr lang="en-US" altLang="zh-CN" sz="2000" dirty="0"/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2000" dirty="0"/>
              <a:t>可展示线框图</a:t>
            </a:r>
            <a:endParaRPr lang="en-US" altLang="zh-CN" sz="2000" dirty="0"/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2000" dirty="0"/>
              <a:t>小组讨论</a:t>
            </a:r>
            <a:endParaRPr lang="en-US" altLang="zh-CN" sz="2000" dirty="0"/>
          </a:p>
          <a:p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对对比用户组重复进行</a:t>
            </a:r>
            <a:endParaRPr lang="en-US" altLang="zh-CN" sz="2000" dirty="0"/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7351" y="233626"/>
            <a:ext cx="10427646" cy="790865"/>
          </a:xfrm>
        </p:spPr>
        <p:txBody>
          <a:bodyPr>
            <a:normAutofit/>
          </a:bodyPr>
          <a:lstStyle/>
          <a:p>
            <a:r>
              <a:rPr lang="zh-CN" altLang="en-US" dirty="0"/>
              <a:t>可访问性</a:t>
            </a:r>
            <a:r>
              <a:rPr lang="en-US" altLang="zh-CN" dirty="0"/>
              <a:t> (Accessable) </a:t>
            </a:r>
            <a:r>
              <a:rPr lang="zh-CN" altLang="en-US" dirty="0"/>
              <a:t>需求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98473" y="1585973"/>
            <a:ext cx="10946524" cy="286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可访问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性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软件设计者必须为有残障的用户做好准备（例如视力差、听力差、手部灵活性差），或英语水平有限等。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关于可访问性的需求最可能出现在用户界面中。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可能有法律要求支持残障人士。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示例：老人模式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7351" y="233626"/>
            <a:ext cx="10427646" cy="790865"/>
          </a:xfrm>
        </p:spPr>
        <p:txBody>
          <a:bodyPr>
            <a:normAutofit/>
          </a:bodyPr>
          <a:lstStyle/>
          <a:p>
            <a:r>
              <a:rPr lang="zh-CN" altLang="en-US" dirty="0"/>
              <a:t>设备需求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TextBox 3"/>
          <p:cNvSpPr txBox="1"/>
          <p:nvPr/>
        </p:nvSpPr>
        <p:spPr>
          <a:xfrm>
            <a:off x="498472" y="1298206"/>
            <a:ext cx="11526613" cy="3476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可能需要支持性能差、屏幕小、网络连接差的计算机。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zh-CN" altLang="en-US" sz="2000" dirty="0"/>
              <a:t>明确说明你所做的设备假设以及如何处理故障。在好设备和差设备上都进行用户测试。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硬件需求：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示例：边缘计算、模型压缩</a:t>
            </a:r>
            <a:r>
              <a:rPr lang="en-US" altLang="zh-CN" sz="2000" dirty="0"/>
              <a:t> </a:t>
            </a:r>
            <a:r>
              <a:rPr lang="zh-CN" altLang="en-US" sz="2000" dirty="0"/>
              <a:t>（</a:t>
            </a:r>
            <a:r>
              <a:rPr lang="en-US" altLang="zh-CN" sz="2000" dirty="0"/>
              <a:t>MXNet, TVM</a:t>
            </a:r>
            <a:r>
              <a:rPr lang="zh-CN" altLang="en-US" sz="2000" dirty="0"/>
              <a:t>）</a:t>
            </a:r>
            <a:endParaRPr lang="zh-CN" altLang="en-US" sz="2000" dirty="0"/>
          </a:p>
          <a:p>
            <a:endParaRPr lang="en-US" altLang="zh-CN" sz="2000" dirty="0"/>
          </a:p>
          <a:p>
            <a:pPr algn="l">
              <a:buClrTx/>
              <a:buSzTx/>
              <a:buFontTx/>
            </a:pP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网络需求：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无网络连接</a:t>
            </a:r>
            <a:r>
              <a:rPr lang="en-US" altLang="zh-CN" sz="2000" dirty="0"/>
              <a:t> – </a:t>
            </a:r>
            <a:r>
              <a:rPr lang="zh-CN" altLang="en-US" sz="2000" dirty="0"/>
              <a:t>干净地终止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不稳定或差的网络连接</a:t>
            </a:r>
            <a:r>
              <a:rPr lang="en-US" altLang="zh-CN" sz="2000" dirty="0"/>
              <a:t> – </a:t>
            </a:r>
            <a:r>
              <a:rPr lang="zh-CN" altLang="en-US" sz="2000" dirty="0"/>
              <a:t>提供用户选项继续或终止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示例：</a:t>
            </a:r>
            <a:r>
              <a:rPr lang="en-US" altLang="zh-CN" sz="2000" dirty="0"/>
              <a:t>5G/6G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976572" cy="790865"/>
          </a:xfrm>
        </p:spPr>
        <p:txBody>
          <a:bodyPr>
            <a:noAutofit/>
          </a:bodyPr>
          <a:lstStyle/>
          <a:p>
            <a:r>
              <a:rPr lang="zh-CN" altLang="en-US" dirty="0"/>
              <a:t>分析</a:t>
            </a:r>
            <a:r>
              <a:rPr lang="en-US" altLang="zh-CN" dirty="0"/>
              <a:t>/</a:t>
            </a:r>
            <a:r>
              <a:rPr lang="zh-CN" altLang="en-US" dirty="0"/>
              <a:t>设计</a:t>
            </a:r>
            <a:r>
              <a:rPr lang="en-US" altLang="zh-CN" dirty="0"/>
              <a:t>/</a:t>
            </a:r>
            <a:r>
              <a:rPr lang="zh-CN" altLang="en-US" dirty="0"/>
              <a:t>构建</a:t>
            </a:r>
            <a:r>
              <a:rPr lang="en-US" altLang="zh-CN" dirty="0"/>
              <a:t>/</a:t>
            </a:r>
            <a:r>
              <a:rPr lang="zh-CN" altLang="en-US" dirty="0"/>
              <a:t>评估循环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5454" y="2081365"/>
            <a:ext cx="7621089" cy="3946054"/>
          </a:xfrm>
          <a:prstGeom prst="rect">
            <a:avLst/>
          </a:prstGeom>
        </p:spPr>
      </p:pic>
      <p:sp>
        <p:nvSpPr>
          <p:cNvPr id="5" name="TextBox 3"/>
          <p:cNvSpPr txBox="1"/>
          <p:nvPr/>
        </p:nvSpPr>
        <p:spPr>
          <a:xfrm>
            <a:off x="622737" y="1201089"/>
            <a:ext cx="10946524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无论使用何种流程开发软件系统，用户界面的开发总是迭代的。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8822365" cy="790865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用户界面的开发流程</a:t>
            </a:r>
            <a:endParaRPr lang="zh-CN" altLang="en-US" sz="3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02976" y="1692431"/>
            <a:ext cx="10946524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几乎不可能在书面文档中完全指定交互式或图形化界面。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lvl="1" indent="-342900">
              <a:buFont typeface="Arial" panose="020B0604020202090204" pitchFamily="34" charset="0"/>
              <a:buChar char="•"/>
            </a:pPr>
            <a:r>
              <a:rPr lang="en-US" altLang="zh-CN" sz="2000" dirty="0">
                <a:solidFill>
                  <a:srgbClr val="FF0000"/>
                </a:solidFill>
              </a:rPr>
              <a:t>需求</a:t>
            </a:r>
            <a:r>
              <a:rPr lang="en-US" altLang="zh-CN" sz="2000" dirty="0"/>
              <a:t>：受益于草图、与现有系统的比较等。</a:t>
            </a:r>
            <a:endParaRPr lang="en-US" altLang="zh-CN" sz="2000" dirty="0"/>
          </a:p>
          <a:p>
            <a:pPr marL="342900" lvl="1" indent="-342900">
              <a:buFont typeface="Arial" panose="020B0604020202090204" pitchFamily="34" charset="0"/>
              <a:buChar char="•"/>
            </a:pPr>
            <a:r>
              <a:rPr lang="en-US" altLang="zh-CN" sz="2000" dirty="0">
                <a:solidFill>
                  <a:srgbClr val="FF0000"/>
                </a:solidFill>
              </a:rPr>
              <a:t>设计</a:t>
            </a:r>
            <a:r>
              <a:rPr lang="en-US" altLang="zh-CN" sz="2000" dirty="0"/>
              <a:t>：应包含图形元素，并受益于各种形式的原型。</a:t>
            </a:r>
            <a:endParaRPr lang="en-US" altLang="zh-CN" sz="2000" dirty="0"/>
          </a:p>
          <a:p>
            <a:pPr marL="3429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用户界面必须与用户一起</a:t>
            </a:r>
            <a:r>
              <a:rPr lang="en-US" altLang="zh-CN" sz="2000" dirty="0">
                <a:solidFill>
                  <a:srgbClr val="FF0000"/>
                </a:solidFill>
              </a:rPr>
              <a:t>测试</a:t>
            </a:r>
            <a:r>
              <a:rPr lang="en-US" altLang="zh-CN" sz="2000" dirty="0"/>
              <a:t>。预计会根据测试结果更改需求和设计。</a:t>
            </a:r>
            <a:endParaRPr lang="en-US" altLang="zh-CN" sz="2000" dirty="0"/>
          </a:p>
          <a:p>
            <a:pPr marL="342900" lvl="1" indent="-342900">
              <a:buFont typeface="Arial" panose="020B0604020202090204" pitchFamily="34" charset="0"/>
              <a:buChar char="•"/>
            </a:pPr>
            <a:r>
              <a:rPr lang="en-US" altLang="zh-CN" sz="2000" dirty="0">
                <a:solidFill>
                  <a:srgbClr val="FF0000"/>
                </a:solidFill>
              </a:rPr>
              <a:t>进度安排</a:t>
            </a:r>
            <a:r>
              <a:rPr lang="en-US" altLang="zh-CN" sz="2000" dirty="0"/>
              <a:t>：应包含用户测试和修改的时间。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8712621" cy="790865"/>
          </a:xfrm>
        </p:spPr>
        <p:txBody>
          <a:bodyPr>
            <a:normAutofit/>
          </a:bodyPr>
          <a:lstStyle/>
          <a:p>
            <a:r>
              <a:rPr lang="zh-CN" altLang="en-US" dirty="0"/>
              <a:t>原型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Box 3"/>
          <p:cNvSpPr txBox="1"/>
          <p:nvPr/>
        </p:nvSpPr>
        <p:spPr>
          <a:xfrm>
            <a:off x="516423" y="1403319"/>
            <a:ext cx="10946524" cy="3476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原型是用于在需求和设计之间快速迭代的初步版本。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r>
              <a:rPr lang="en-US" altLang="zh-CN" sz="2000" b="1" dirty="0"/>
              <a:t>纸质原型：</a:t>
            </a:r>
            <a:r>
              <a:rPr lang="en-US" altLang="zh-CN" sz="2000" dirty="0"/>
              <a:t>快速草图</a:t>
            </a:r>
            <a:endParaRPr lang="en-US" altLang="zh-CN" sz="2000" dirty="0"/>
          </a:p>
          <a:p>
            <a:pPr marL="0" lvl="1"/>
            <a:endParaRPr lang="en-US" altLang="zh-CN" sz="2000" dirty="0"/>
          </a:p>
          <a:p>
            <a:pPr marL="0" lvl="1"/>
            <a:r>
              <a:rPr lang="en-US" altLang="zh-CN" sz="2000" b="1" dirty="0"/>
              <a:t>线框图：</a:t>
            </a:r>
            <a:r>
              <a:rPr lang="en-US" altLang="zh-CN" sz="2000" dirty="0"/>
              <a:t>轮廓布局</a:t>
            </a:r>
            <a:endParaRPr lang="en-US" altLang="zh-CN" sz="2000" dirty="0"/>
          </a:p>
          <a:p>
            <a:pPr marL="0" lvl="1"/>
            <a:endParaRPr lang="en-US" altLang="zh-CN" sz="2000" dirty="0"/>
          </a:p>
          <a:p>
            <a:pPr marL="0" lvl="1"/>
            <a:r>
              <a:rPr lang="en-US" altLang="zh-CN" sz="2000" b="1" dirty="0"/>
              <a:t>模型图：</a:t>
            </a:r>
            <a:r>
              <a:rPr lang="en-US" altLang="zh-CN" sz="2000" dirty="0"/>
              <a:t>展示布局、颜色等细节的图形设计</a:t>
            </a:r>
            <a:endParaRPr lang="en-US" altLang="zh-CN" sz="2000" dirty="0"/>
          </a:p>
          <a:p>
            <a:pPr marL="0" lvl="1"/>
            <a:endParaRPr lang="en-US" altLang="zh-CN" sz="2000" dirty="0"/>
          </a:p>
          <a:p>
            <a:pPr marL="0" lvl="1"/>
            <a:r>
              <a:rPr lang="en-US" altLang="zh-CN" sz="2000" b="1" dirty="0"/>
              <a:t>可操作原型：</a:t>
            </a:r>
            <a:r>
              <a:rPr lang="en-US" altLang="zh-CN" sz="2000" dirty="0"/>
              <a:t>包含控件以测试交互和导航</a:t>
            </a:r>
            <a:endParaRPr lang="en-US" altLang="zh-CN" sz="2000" dirty="0"/>
          </a:p>
          <a:p>
            <a:pPr marL="0" lvl="1"/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纸质原型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8008620" y="1575762"/>
            <a:ext cx="3756893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由于绘制纸质原型花费的精力很少，人们不会犹豫提出重大更改。可以低成本进行更改。</a:t>
            </a:r>
            <a:endParaRPr lang="en-US" altLang="zh-CN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067" y="1028699"/>
            <a:ext cx="7048733" cy="515638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纸质原型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153591"/>
            <a:ext cx="7772400" cy="507786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957718" cy="790865"/>
          </a:xfrm>
        </p:spPr>
        <p:txBody>
          <a:bodyPr>
            <a:normAutofit/>
          </a:bodyPr>
          <a:lstStyle/>
          <a:p>
            <a:r>
              <a:rPr lang="zh-CN" altLang="en-US" dirty="0"/>
              <a:t>线框图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8269295" y="1806872"/>
            <a:ext cx="3131953" cy="163004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/>
              <a:t>线框图显示信息和控制项在屏幕上的布局。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此线框图使用 Balsamiq 创建。</a:t>
            </a:r>
            <a:endParaRPr lang="en-US" altLang="zh-CN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468" y="1165567"/>
            <a:ext cx="7688827" cy="494723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模型</a:t>
            </a:r>
            <a:r>
              <a:rPr lang="en-US" altLang="zh-CN" dirty="0"/>
              <a:t>(Mock Up)</a:t>
            </a:r>
            <a:r>
              <a:rPr lang="zh-CN" altLang="en-US" dirty="0"/>
              <a:t>图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650" y="954712"/>
            <a:ext cx="7252645" cy="5401637"/>
          </a:xfrm>
          <a:prstGeom prst="rect">
            <a:avLst/>
          </a:prstGeom>
        </p:spPr>
      </p:pic>
      <p:sp>
        <p:nvSpPr>
          <p:cNvPr id="6" name="TextBox 3"/>
          <p:cNvSpPr txBox="1"/>
          <p:nvPr/>
        </p:nvSpPr>
        <p:spPr>
          <a:xfrm>
            <a:off x="8444555" y="1806872"/>
            <a:ext cx="2589205" cy="224536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/>
              <a:t>模型图显示建议的布局和图形设计元素，如图标、颜色、字体等。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此模型图使用 Photoshop 绘制。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心智模型与计算机模型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329941" y="1646262"/>
            <a:ext cx="8110132" cy="3169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心智模型：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/>
              <a:t>用户对系统及其提供的用户体验的看法。</a:t>
            </a:r>
            <a:endParaRPr lang="zh-CN" altLang="en-US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计算机模型：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/>
              <a:t>系统提供的功能、数据、内容等。</a:t>
            </a:r>
            <a:endParaRPr lang="zh-CN" altLang="en-US" sz="20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771" y="1527718"/>
            <a:ext cx="2278577" cy="212616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771" y="4053841"/>
            <a:ext cx="2217612" cy="21261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心智模型与计算机模型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6" y="1356887"/>
            <a:ext cx="10946524" cy="3476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心智模型是用户对系统所提供的功能的模型。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计算机模型可能与用户的心智模型大不相同。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示例：棋盘游戏（如国际象棋）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心智模型 – 棋盘上的棋子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计算机模型 – 描述游戏的数据和逻辑</a:t>
            </a:r>
            <a:endParaRPr lang="en-US" altLang="zh-CN" sz="2000" dirty="0"/>
          </a:p>
          <a:p>
            <a:endParaRPr lang="en-US" altLang="zh-CN" sz="2000" dirty="0"/>
          </a:p>
          <a:p>
            <a:pPr algn="l">
              <a:buClrTx/>
              <a:buSzTx/>
              <a:buFontTx/>
            </a:pP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示例：桌面隐喻（如 Windows 和 Mac OS）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心智模型 – 桌面上的文件和文件夹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计算机模型 – 文件系统和关于屏幕上可见项的元数据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117975" cy="790865"/>
          </a:xfrm>
        </p:spPr>
        <p:txBody>
          <a:bodyPr>
            <a:normAutofit/>
          </a:bodyPr>
          <a:lstStyle/>
          <a:p>
            <a:r>
              <a:rPr lang="zh-CN" altLang="en-US" dirty="0"/>
              <a:t>心智模型</a:t>
            </a:r>
            <a:r>
              <a:rPr lang="en-US" altLang="zh-CN" dirty="0"/>
              <a:t> vs. </a:t>
            </a:r>
            <a:r>
              <a:rPr lang="zh-CN" altLang="en-US" dirty="0"/>
              <a:t>计算机模型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883689" y="4869864"/>
            <a:ext cx="5212311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心智模型</a:t>
            </a:r>
            <a:r>
              <a:rPr lang="zh-CN" altLang="en-US" sz="2000" dirty="0"/>
              <a:t>认为照片嵌入在文档文本中</a:t>
            </a:r>
            <a:r>
              <a:rPr lang="en-US" altLang="zh-CN" sz="2000" dirty="0"/>
              <a:t>……</a:t>
            </a:r>
            <a:endParaRPr lang="en-US" altLang="zh-CN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689" y="1028699"/>
            <a:ext cx="5334462" cy="376460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5716" y="883918"/>
            <a:ext cx="5448772" cy="3970364"/>
          </a:xfrm>
          <a:prstGeom prst="rect">
            <a:avLst/>
          </a:prstGeom>
        </p:spPr>
      </p:pic>
      <p:sp>
        <p:nvSpPr>
          <p:cNvPr id="6" name="TextBox 3"/>
          <p:cNvSpPr txBox="1"/>
          <p:nvPr/>
        </p:nvSpPr>
        <p:spPr>
          <a:xfrm>
            <a:off x="6610684" y="4854282"/>
            <a:ext cx="5263804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但在</a:t>
            </a:r>
            <a:r>
              <a:rPr lang="zh-CN" altLang="en-US" sz="2000" dirty="0">
                <a:solidFill>
                  <a:srgbClr val="FF0000"/>
                </a:solidFill>
              </a:rPr>
              <a:t>计算机模型</a:t>
            </a:r>
            <a:r>
              <a:rPr lang="zh-CN" altLang="en-US" sz="2000" dirty="0"/>
              <a:t>中，文本和照片是独立的文件，可以单独更改。</a:t>
            </a:r>
            <a:endParaRPr lang="zh-CN" altLang="en-US" sz="2000" dirty="0"/>
          </a:p>
        </p:txBody>
      </p:sp>
      <p:sp>
        <p:nvSpPr>
          <p:cNvPr id="9" name="文本框 8"/>
          <p:cNvSpPr txBox="1"/>
          <p:nvPr/>
        </p:nvSpPr>
        <p:spPr>
          <a:xfrm>
            <a:off x="7161229" y="6101317"/>
            <a:ext cx="6096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i="1" dirty="0"/>
              <a:t>基于</a:t>
            </a:r>
            <a:r>
              <a:rPr lang="en-US" altLang="zh-CN" i="1" dirty="0"/>
              <a:t> Joel Spolsky </a:t>
            </a:r>
            <a:r>
              <a:rPr lang="zh-CN" altLang="en-US" i="1" dirty="0"/>
              <a:t>的示例</a:t>
            </a:r>
            <a:endParaRPr lang="zh-CN" altLang="en-US" i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10211484" cy="790865"/>
          </a:xfrm>
        </p:spPr>
        <p:txBody>
          <a:bodyPr>
            <a:noAutofit/>
          </a:bodyPr>
          <a:lstStyle/>
          <a:p>
            <a:r>
              <a:rPr lang="zh-CN" altLang="en-US" dirty="0"/>
              <a:t>心智模型与用户体验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6" y="1690062"/>
            <a:ext cx="10946524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用户体验由多个层次组成。</a:t>
            </a:r>
            <a:endParaRPr lang="en-US" altLang="zh-CN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6964" y="2270392"/>
            <a:ext cx="9400063" cy="2459163"/>
          </a:xfrm>
          <a:prstGeom prst="rect">
            <a:avLst/>
          </a:prstGeom>
        </p:spPr>
      </p:pic>
      <p:sp>
        <p:nvSpPr>
          <p:cNvPr id="5" name="TextBox 3"/>
          <p:cNvSpPr txBox="1"/>
          <p:nvPr/>
        </p:nvSpPr>
        <p:spPr>
          <a:xfrm>
            <a:off x="572376" y="4909775"/>
            <a:ext cx="10946524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总的来说，这些层次应提供与心智模型匹配的用户体验。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438486" cy="790865"/>
          </a:xfrm>
        </p:spPr>
        <p:txBody>
          <a:bodyPr>
            <a:normAutofit/>
          </a:bodyPr>
          <a:lstStyle/>
          <a:p>
            <a:r>
              <a:rPr lang="zh-CN" altLang="en-US" dirty="0"/>
              <a:t>模型</a:t>
            </a:r>
            <a:r>
              <a:rPr lang="en-US" altLang="zh-CN" dirty="0"/>
              <a:t>-</a:t>
            </a:r>
            <a:r>
              <a:rPr lang="zh-CN" altLang="en-US" dirty="0"/>
              <a:t>视图</a:t>
            </a:r>
            <a:r>
              <a:rPr lang="en-US" altLang="zh-CN" dirty="0"/>
              <a:t>-</a:t>
            </a:r>
            <a:r>
              <a:rPr lang="zh-CN" altLang="en-US" dirty="0"/>
              <a:t>控制器（</a:t>
            </a:r>
            <a:r>
              <a:rPr lang="en-US" altLang="zh-CN" dirty="0"/>
              <a:t>MVC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622738" y="1484322"/>
            <a:ext cx="10946524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模型-视图-控制器</a:t>
            </a:r>
            <a:r>
              <a:rPr lang="en-US" altLang="zh-CN" sz="2000" dirty="0"/>
              <a:t>是一种计算机模型，其层次与心智模型的层次相对应。它是交互系统广泛使用的模型。</a:t>
            </a:r>
            <a:endParaRPr lang="en-US" altLang="zh-CN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931" y="3117664"/>
            <a:ext cx="11374138" cy="243731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966387" cy="790865"/>
          </a:xfrm>
        </p:spPr>
        <p:txBody>
          <a:bodyPr>
            <a:normAutofit/>
          </a:bodyPr>
          <a:lstStyle/>
          <a:p>
            <a:r>
              <a:rPr lang="zh-CN" altLang="en-US" dirty="0"/>
              <a:t>模型</a:t>
            </a:r>
            <a:r>
              <a:rPr lang="en-US" altLang="zh-CN" dirty="0"/>
              <a:t>-</a:t>
            </a:r>
            <a:r>
              <a:rPr lang="zh-CN" altLang="en-US" dirty="0"/>
              <a:t>视图</a:t>
            </a:r>
            <a:r>
              <a:rPr lang="en-US" altLang="zh-CN" dirty="0"/>
              <a:t>-</a:t>
            </a:r>
            <a:r>
              <a:rPr lang="zh-CN" altLang="en-US" dirty="0"/>
              <a:t>控制器（</a:t>
            </a:r>
            <a:r>
              <a:rPr lang="en-US" altLang="zh-CN" dirty="0"/>
              <a:t>MVC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622738" y="3429000"/>
            <a:ext cx="10946524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“</a:t>
            </a:r>
            <a:r>
              <a:rPr lang="en-US" altLang="zh-CN" sz="2000" b="1" dirty="0">
                <a:solidFill>
                  <a:srgbClr val="FF0000"/>
                </a:solidFill>
              </a:rPr>
              <a:t>模型-视图-控制器</a:t>
            </a:r>
            <a:r>
              <a:rPr lang="en-US" altLang="zh-CN" sz="2000" dirty="0"/>
              <a:t>”一词有多种略微不同的含义。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在本讲中，我们将 MVC 用作设计用户体验的计算机模型。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/>
          </a:p>
          <a:p>
            <a:pPr algn="l">
              <a:buClrTx/>
              <a:buSzTx/>
              <a:buFontTx/>
            </a:pP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在其他课程中，我们将其视为：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系统架构（系统设计）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设计模式（程序设计）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程序开发框架</a:t>
            </a:r>
            <a:endParaRPr lang="en-US" altLang="zh-CN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1701" y="1161963"/>
            <a:ext cx="7955280" cy="201176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计算机系统与网络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622738" y="3509227"/>
            <a:ext cx="10946524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计算机系统和网络的</a:t>
            </a:r>
            <a:r>
              <a:rPr lang="en-US" altLang="zh-CN" sz="2000" b="1" dirty="0">
                <a:solidFill>
                  <a:srgbClr val="FF0000"/>
                </a:solidFill>
              </a:rPr>
              <a:t>性能、可靠性和可预测性</a:t>
            </a:r>
            <a:r>
              <a:rPr lang="en-US" altLang="zh-CN" sz="2000" dirty="0"/>
              <a:t>是用户体验的关键因素。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用户界面可能针对特定硬件能力设计，如屏幕尺寸、输入设备、传感器、图形处理器等。</a:t>
            </a:r>
            <a:endParaRPr lang="en-US" altLang="zh-CN" sz="2000" dirty="0"/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下一讲将讨论这些因素如何应用于网站和智能手机应用的用户体验。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5011" y="1146408"/>
            <a:ext cx="5921253" cy="214140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模型：内容与数据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6" y="3922722"/>
            <a:ext cx="10946524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在 MVC 中，</a:t>
            </a:r>
            <a:r>
              <a:rPr lang="en-US" altLang="zh-CN" sz="2000" b="1" dirty="0">
                <a:solidFill>
                  <a:srgbClr val="FF0000"/>
                </a:solidFill>
              </a:rPr>
              <a:t>模型</a:t>
            </a:r>
            <a:r>
              <a:rPr lang="en-US" altLang="zh-CN" sz="2000" dirty="0"/>
              <a:t>提供除用户交互之外的所有程序功能，包括：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程序逻辑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数据结构、文件系统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内容，例如文本、图形数据、音频、元数据等</a:t>
            </a:r>
            <a:endParaRPr lang="en-US" altLang="zh-CN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2331" y="1028699"/>
            <a:ext cx="6927338" cy="240030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模型：内容与数据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462718" y="1028699"/>
            <a:ext cx="10946524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没有经验的客户和图形设计师有时会要求模型不支持的界面功能。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718" y="1687723"/>
            <a:ext cx="6989642" cy="471748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703244" y="1954774"/>
            <a:ext cx="3112438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这个游戏有一个</a:t>
            </a:r>
            <a:r>
              <a:rPr lang="en-US" altLang="zh-CN" sz="2000" dirty="0"/>
              <a:t>“</a:t>
            </a:r>
            <a:r>
              <a:rPr lang="zh-CN" altLang="en-US" sz="2000" dirty="0"/>
              <a:t>撤销</a:t>
            </a:r>
            <a:r>
              <a:rPr lang="en-US" altLang="zh-CN" sz="2000" dirty="0"/>
              <a:t>”</a:t>
            </a:r>
            <a:r>
              <a:rPr lang="zh-CN" altLang="en-US" sz="2000" dirty="0"/>
              <a:t>按钮。为此，模型必须保存所有先前步骤的列表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42559" cy="790865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内容与视图的分离</a:t>
            </a:r>
            <a:endParaRPr lang="zh-CN" altLang="en-US" sz="3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3794" y="1028699"/>
            <a:ext cx="9304412" cy="523177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2010854" y="5676637"/>
            <a:ext cx="8391722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使用相同的模型，两种不同的方式显示国际象棋局面。</a:t>
            </a:r>
            <a:r>
              <a:rPr lang="en-US" altLang="zh-CN" sz="2000" dirty="0"/>
              <a:t> </a:t>
            </a:r>
            <a:endParaRPr lang="en-US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42559" cy="790865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模型：内容与视图的分离</a:t>
            </a:r>
            <a:endParaRPr lang="zh-CN" altLang="en-US" sz="32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804" y="1165859"/>
            <a:ext cx="5204911" cy="414563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5491" y="1165859"/>
            <a:ext cx="3512969" cy="423117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导航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622737" y="2878474"/>
            <a:ext cx="10946524" cy="3476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控制器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管理应用程序的流程。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控制系统提供的各种显示（面板、网站页面、智能手机应用屏幕、弹出窗口等）之间的导航。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管理离开显示时保存的信息，并使其可供其他显示使用。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调用用户界面函数，在模型和用户界面之间传递信息。</a:t>
            </a:r>
            <a:endParaRPr lang="en-US" altLang="zh-CN" sz="2000" dirty="0"/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不同版本的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 MVC 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对控制器的角色有不同的定义。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2668" y="876299"/>
            <a:ext cx="5906663" cy="202993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视图：用户界面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6" y="3333014"/>
            <a:ext cx="11069727" cy="286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用户界面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是屏幕上的外观和用户的操控。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图形元素：字体、颜色、标志、图标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控件：鼠标、触摸屏、键盘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输入：表单、文本框、菜单、按钮</a:t>
            </a:r>
            <a:endParaRPr lang="en-US" altLang="zh-CN" sz="2000" dirty="0"/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对于用户界面设计，团队需要有具备图形设计技能的人员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7655" y="918124"/>
            <a:ext cx="5976689" cy="201557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用户界面设计原则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6" y="1515347"/>
            <a:ext cx="10946524" cy="3476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用户界面设计部分是一门艺术，但也有通用原则：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一致性 – 外观、控件和功能上保持一致。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反馈 – 计算机系统在做什么？用户为什么看到某些结果？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用户应能够中断或撤销操作。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错误处理应简单易懂。</a:t>
            </a:r>
            <a:endParaRPr lang="en-US" altLang="zh-CN" sz="2000" dirty="0"/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用户应感到有控制感。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9354" y="4160871"/>
            <a:ext cx="2311498" cy="196370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导航：菜单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6" y="1636881"/>
            <a:ext cx="10946524" cy="3476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优点：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易于用户学习和使用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避免某些类型的错误</a:t>
            </a:r>
            <a:endParaRPr lang="en-US" altLang="zh-CN" sz="2000" dirty="0"/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主要困难：大量选项的结构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滚动菜单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层次结构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关联的控制面板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菜单加命令行</a:t>
            </a:r>
            <a:endParaRPr lang="en-US" altLang="zh-CN" sz="2000" dirty="0"/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用户更喜欢宽而浅的菜单系统，而不是深而窄的。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导航示</a:t>
            </a:r>
            <a:r>
              <a:rPr lang="zh-CN" altLang="en-US" dirty="0"/>
              <a:t>例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b="8222"/>
          <a:stretch>
            <a:fillRect/>
          </a:stretch>
        </p:blipFill>
        <p:spPr>
          <a:xfrm>
            <a:off x="118745" y="1819275"/>
            <a:ext cx="5541645" cy="44259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5400" y="1028700"/>
            <a:ext cx="5758180" cy="404939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090613" y="238125"/>
            <a:ext cx="8169275" cy="790575"/>
          </a:xfrm>
        </p:spPr>
        <p:txBody>
          <a:bodyPr>
            <a:normAutofit/>
          </a:bodyPr>
          <a:lstStyle/>
          <a:p>
            <a:r>
              <a:rPr lang="zh-CN" altLang="en-US" dirty="0"/>
              <a:t>避免花哨</a:t>
            </a:r>
            <a:r>
              <a:rPr lang="en-US" altLang="zh-CN" dirty="0"/>
              <a:t>，</a:t>
            </a:r>
            <a:r>
              <a:rPr lang="zh-CN" altLang="en-US" dirty="0"/>
              <a:t>简单就是好</a:t>
            </a:r>
            <a:r>
              <a:rPr lang="en-US" altLang="zh-CN" dirty="0"/>
              <a:t> </a:t>
            </a:r>
            <a:endParaRPr 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3475" y="1125855"/>
            <a:ext cx="7385050" cy="559562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用户界面设计中的选择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1954013"/>
            <a:ext cx="11163995" cy="163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对于相同的</a:t>
            </a:r>
            <a:r>
              <a:rPr lang="zh-CN" altLang="en-US" sz="2000" b="1" dirty="0">
                <a:solidFill>
                  <a:srgbClr val="FF0000"/>
                </a:solidFill>
              </a:rPr>
              <a:t>界面功能</a:t>
            </a:r>
            <a:r>
              <a:rPr lang="zh-CN" altLang="en-US" sz="2000" dirty="0"/>
              <a:t>，可能有多种</a:t>
            </a:r>
            <a:r>
              <a:rPr lang="zh-CN" altLang="en-US" sz="2000" b="1" dirty="0">
                <a:solidFill>
                  <a:srgbClr val="FF0000"/>
                </a:solidFill>
              </a:rPr>
              <a:t>用户界面设计选择</a:t>
            </a:r>
            <a:r>
              <a:rPr lang="zh-CN" altLang="en-US" sz="2000" dirty="0"/>
              <a:t>。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示例：退出全屏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键盘：</a:t>
            </a:r>
            <a:r>
              <a:rPr lang="en-US" altLang="zh-CN" sz="2000" dirty="0"/>
              <a:t>Esc </a:t>
            </a:r>
            <a:r>
              <a:rPr lang="zh-CN" altLang="en-US" sz="2000" dirty="0"/>
              <a:t>键，</a:t>
            </a:r>
            <a:r>
              <a:rPr lang="en-US" altLang="zh-CN" sz="2000" dirty="0"/>
              <a:t>Ctrl+F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图标</a:t>
            </a:r>
            <a:r>
              <a:rPr lang="en-US" altLang="zh-CN" sz="2000" dirty="0"/>
              <a:t> + </a:t>
            </a:r>
            <a:r>
              <a:rPr lang="zh-CN" altLang="en-US" sz="2000" dirty="0"/>
              <a:t>鼠标</a:t>
            </a:r>
            <a:r>
              <a:rPr lang="en-US" altLang="zh-CN" sz="2000" dirty="0"/>
              <a:t>/</a:t>
            </a:r>
            <a:r>
              <a:rPr lang="zh-CN" altLang="en-US" sz="2000" dirty="0"/>
              <a:t>触摸</a:t>
            </a:r>
            <a:endParaRPr lang="zh-CN" altLang="en-US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2023" y="3923485"/>
            <a:ext cx="4526672" cy="110499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用户界面设计中的选择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4442690" y="920584"/>
            <a:ext cx="588979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示例：屏幕空间利用（飞书）</a:t>
            </a:r>
            <a:endParaRPr lang="zh-CN" alt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8455" y="1320694"/>
            <a:ext cx="7345118" cy="4908717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用户界面设计中的选择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3600680" y="920584"/>
            <a:ext cx="499063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示例：摘要片段大小（</a:t>
            </a:r>
            <a:r>
              <a:rPr lang="en-US" altLang="zh-CN" sz="2000" dirty="0"/>
              <a:t>Google </a:t>
            </a:r>
            <a:r>
              <a:rPr lang="zh-CN" altLang="en-US" sz="2000" dirty="0"/>
              <a:t>搜索）</a:t>
            </a:r>
            <a:endParaRPr lang="zh-CN" altLang="en-US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4863" y="1320694"/>
            <a:ext cx="8112437" cy="540078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设计选择：信息呈现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572376" y="1636881"/>
            <a:ext cx="10946524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文本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2" algn="l">
              <a:buClrTx/>
              <a:buSzTx/>
              <a:buFontTx/>
            </a:pPr>
            <a:r>
              <a:rPr lang="en-US" altLang="zh-CN" sz="2000" dirty="0"/>
              <a:t>精确、无歧义</a:t>
            </a:r>
            <a:endParaRPr lang="en-US" altLang="zh-CN" sz="2000" dirty="0"/>
          </a:p>
          <a:p>
            <a:pPr lvl="2" algn="l">
              <a:buClrTx/>
              <a:buSzTx/>
              <a:buFontTx/>
            </a:pPr>
            <a:r>
              <a:rPr lang="en-US" altLang="zh-CN" sz="2000" dirty="0"/>
              <a:t>计算和传输快速</a:t>
            </a:r>
            <a:endParaRPr lang="en-US" altLang="zh-CN" sz="2000" dirty="0"/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图形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2" algn="l">
              <a:buClrTx/>
              <a:buSzTx/>
              <a:buNone/>
            </a:pPr>
            <a:r>
              <a:rPr lang="en-US" altLang="zh-CN" sz="2000" dirty="0"/>
              <a:t>易于理解/学习</a:t>
            </a:r>
            <a:endParaRPr lang="en-US" altLang="zh-CN" sz="2000" dirty="0"/>
          </a:p>
          <a:p>
            <a:pPr lvl="2" algn="l">
              <a:buClrTx/>
              <a:buSzTx/>
              <a:buNone/>
            </a:pPr>
            <a:r>
              <a:rPr lang="en-US" altLang="zh-CN" sz="2000" dirty="0"/>
              <a:t>但图标可能难以识别</a:t>
            </a:r>
            <a:endParaRPr lang="en-US" altLang="zh-CN" sz="2000" dirty="0"/>
          </a:p>
          <a:p>
            <a:pPr lvl="2" algn="l">
              <a:buClrTx/>
              <a:buSzTx/>
              <a:buNone/>
            </a:pPr>
            <a:r>
              <a:rPr lang="en-US" altLang="zh-CN" sz="2000" dirty="0"/>
              <a:t>颜色的使用：不同情况显示差异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200" dirty="0"/>
              <a:t>简单就是好：命令行界面</a:t>
            </a:r>
            <a:endParaRPr lang="zh-CN" altLang="en-US" sz="3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572376" y="1471533"/>
            <a:ext cx="10946524" cy="378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图形界面的问题：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 algn="l">
              <a:buClrTx/>
              <a:buSzTx/>
              <a:buFont typeface="Arial" panose="020B0604020202090204" pitchFamily="34" charset="0"/>
              <a:buChar char="•"/>
            </a:pPr>
            <a:r>
              <a:rPr lang="en-US" altLang="zh-CN" sz="2000" dirty="0"/>
              <a:t>不适合某些复杂交互</a:t>
            </a:r>
            <a:endParaRPr lang="en-US" altLang="zh-CN" sz="2000" dirty="0"/>
          </a:p>
          <a:p>
            <a:pPr marL="342900" indent="-342900" algn="l">
              <a:buClrTx/>
              <a:buSzTx/>
              <a:buFont typeface="Arial" panose="020B0604020202090204" pitchFamily="34" charset="0"/>
              <a:buChar char="•"/>
            </a:pPr>
            <a:r>
              <a:rPr lang="en-US" altLang="zh-CN" sz="2000" dirty="0"/>
              <a:t>只适合人类用户</a:t>
            </a:r>
            <a:endParaRPr lang="en-US" altLang="zh-CN" sz="2000" dirty="0"/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命令行界面：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用户通过键入命令与计算机交互（例如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 Linux shell 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脚本）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 algn="l">
              <a:buClrTx/>
              <a:buSzTx/>
              <a:buFont typeface="Arial" panose="020B0604020202090204" pitchFamily="34" charset="0"/>
              <a:buChar char="•"/>
            </a:pPr>
            <a:r>
              <a:rPr lang="en-US" altLang="zh-CN" sz="2000" dirty="0"/>
              <a:t>可以向计算机发出复杂指令</a:t>
            </a:r>
            <a:endParaRPr lang="en-US" altLang="zh-CN" sz="2000" dirty="0"/>
          </a:p>
          <a:p>
            <a:pPr marL="342900" indent="-342900" algn="l">
              <a:buClrTx/>
              <a:buSzTx/>
              <a:buFont typeface="Arial" panose="020B0604020202090204" pitchFamily="34" charset="0"/>
              <a:buChar char="•"/>
            </a:pPr>
            <a:r>
              <a:rPr lang="en-US" altLang="zh-CN" sz="2000" dirty="0"/>
              <a:t>可适用于残障人士</a:t>
            </a:r>
            <a:endParaRPr lang="en-US" altLang="zh-CN" sz="2000" dirty="0"/>
          </a:p>
          <a:p>
            <a:pPr marL="342900" indent="-342900" algn="l">
              <a:buClrTx/>
              <a:buSzTx/>
              <a:buFont typeface="Arial" panose="020B0604020202090204" pitchFamily="34" charset="0"/>
              <a:buChar char="•"/>
            </a:pPr>
            <a:r>
              <a:rPr lang="en-US" altLang="zh-CN" sz="2000" dirty="0"/>
              <a:t>可用于形式化规范和实现方法</a:t>
            </a:r>
            <a:endParaRPr lang="en-US" altLang="zh-CN" sz="2000" dirty="0"/>
          </a:p>
          <a:p>
            <a:pPr marL="342900" indent="-342900" algn="l">
              <a:buClrTx/>
              <a:buSzTx/>
              <a:buFont typeface="Arial" panose="020B0604020202090204" pitchFamily="34" charset="0"/>
              <a:buChar char="•"/>
            </a:pPr>
            <a:r>
              <a:rPr lang="en-US" altLang="zh-CN" sz="2000" dirty="0"/>
              <a:t>通常需要学习或培训</a:t>
            </a:r>
            <a:endParaRPr lang="en-US" altLang="zh-CN" sz="2000" dirty="0"/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期末项目要求</a:t>
            </a:r>
            <a:endParaRPr lang="en-US" altLang="zh-C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1690062"/>
            <a:ext cx="1116399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8. </a:t>
            </a:r>
            <a:r>
              <a:rPr lang="zh-CN" altLang="en-US" sz="20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展示你的原型</a:t>
            </a:r>
            <a:r>
              <a:rPr lang="en-US" altLang="zh-CN" sz="20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 </a:t>
            </a:r>
            <a:endParaRPr lang="en-US" altLang="zh-CN" sz="2000" b="1" dirty="0">
              <a:solidFill>
                <a:srgbClr val="C0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335087" y="3977885"/>
            <a:ext cx="9521825" cy="644144"/>
          </a:xfrm>
          <a:prstGeom prst="rect">
            <a:avLst/>
          </a:prstGeom>
        </p:spPr>
        <p:txBody>
          <a:bodyPr wrap="square">
            <a:normAutofit fontScale="87500"/>
          </a:bodyPr>
          <a:lstStyle/>
          <a:p>
            <a:pPr algn="ctr"/>
            <a:r>
              <a:rPr lang="zh-CN" altLang="en-US" sz="4000" b="1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rPr>
              <a:t>网站和移动设备的用户界面</a:t>
            </a:r>
            <a:endParaRPr lang="zh-CN" altLang="en-US" sz="4000" b="1" dirty="0">
              <a:solidFill>
                <a:schemeClr val="accent1"/>
              </a:solidFill>
              <a:latin typeface="Helvetica" pitchFamily="2" charset="0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819048" y="1319889"/>
            <a:ext cx="2553904" cy="2646878"/>
            <a:chOff x="5865211" y="1319889"/>
            <a:chExt cx="2553904" cy="2646878"/>
          </a:xfrm>
        </p:grpSpPr>
        <p:sp>
          <p:nvSpPr>
            <p:cNvPr id="2" name="文本框 1"/>
            <p:cNvSpPr txBox="1"/>
            <p:nvPr/>
          </p:nvSpPr>
          <p:spPr>
            <a:xfrm>
              <a:off x="5865211" y="1319889"/>
              <a:ext cx="2553904" cy="26468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600" dirty="0">
                  <a:solidFill>
                    <a:schemeClr val="accent1"/>
                  </a:solidFill>
                  <a:latin typeface="Helvetica" pitchFamily="2" charset="0"/>
                  <a:cs typeface="+mn-ea"/>
                  <a:sym typeface="+mn-lt"/>
                </a:rPr>
                <a:t>02</a:t>
              </a:r>
              <a:endParaRPr lang="zh-CN" altLang="en-US" sz="16600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865211" y="2574748"/>
              <a:ext cx="2553904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PART</a:t>
              </a:r>
              <a:r>
                <a:rPr lang="zh-CN" altLang="en-US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 </a:t>
              </a:r>
              <a:r>
                <a:rPr lang="en-US" altLang="zh-CN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TWO </a:t>
              </a:r>
              <a:endParaRPr lang="zh-CN" altLang="en-US" sz="24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系统和网络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4256207" y="1733033"/>
            <a:ext cx="367958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模型</a:t>
            </a:r>
            <a:r>
              <a:rPr lang="en-US" altLang="zh-CN" sz="2000" dirty="0"/>
              <a:t>-</a:t>
            </a:r>
            <a:r>
              <a:rPr lang="zh-CN" altLang="en-US" sz="2000" dirty="0"/>
              <a:t>视图</a:t>
            </a:r>
            <a:r>
              <a:rPr lang="en-US" altLang="zh-CN" sz="2000" dirty="0"/>
              <a:t>-</a:t>
            </a:r>
            <a:r>
              <a:rPr lang="zh-CN" altLang="en-US" sz="2000" dirty="0"/>
              <a:t>控制器（</a:t>
            </a:r>
            <a:r>
              <a:rPr lang="en-US" altLang="zh-CN" sz="2000" dirty="0"/>
              <a:t>MVC</a:t>
            </a:r>
            <a:r>
              <a:rPr lang="zh-CN" altLang="en-US" sz="2000" dirty="0"/>
              <a:t>）</a:t>
            </a:r>
            <a:r>
              <a:rPr lang="en-US" altLang="zh-CN" sz="2000" dirty="0"/>
              <a:t> </a:t>
            </a:r>
            <a:endParaRPr lang="en-US" altLang="zh-CN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691" y="2537349"/>
            <a:ext cx="10112616" cy="2545301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8814745" cy="790865"/>
          </a:xfrm>
        </p:spPr>
        <p:txBody>
          <a:bodyPr>
            <a:noAutofit/>
          </a:bodyPr>
          <a:lstStyle/>
          <a:p>
            <a:r>
              <a:rPr lang="zh-CN" altLang="en-US" sz="2400" dirty="0"/>
              <a:t>计算机系统与网络：与设备适配</a:t>
            </a:r>
            <a:r>
              <a:rPr lang="zh-CN" altLang="en-US" sz="2400" dirty="0"/>
              <a:t>的界面</a:t>
            </a:r>
            <a:endParaRPr lang="zh-CN" altLang="en-US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1954013"/>
            <a:ext cx="11163995" cy="3169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界面必须考虑计算机和网络的物理限制：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台式电脑与笔记本电脑有何不同？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智能手机有什么特别之处？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如何利用触摸屏？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什么在数码相机上效果好？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界面必须考虑的约束：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设备性能（例如图形处理快或慢）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有限的外形因素（例如小屏幕、无键盘）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连接性（例如间歇性连接）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网络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135" y="1511935"/>
            <a:ext cx="11163935" cy="46335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任何通过网络传输数据的操作都有不可预测的响应时间并可能延迟。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algn="ctr"/>
            <a:r>
              <a:rPr lang="en-US" altLang="zh-CN" sz="2000" dirty="0"/>
              <a:t>大数据传输应在单独的线程中异步运行。</a:t>
            </a:r>
            <a:endParaRPr lang="en-US" altLang="zh-CN" sz="2000" dirty="0"/>
          </a:p>
          <a:p>
            <a:pPr algn="ctr"/>
            <a:r>
              <a:rPr lang="en-US" altLang="zh-CN" sz="2000" dirty="0"/>
              <a:t>提供视觉反馈以指示操作正在进行。</a:t>
            </a:r>
            <a:endParaRPr lang="en-US" altLang="zh-CN" sz="2000" dirty="0"/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algn="ctr"/>
            <a:r>
              <a:rPr lang="en-US" altLang="zh-CN" sz="2000" dirty="0"/>
              <a:t>提供用户取消长时间数据传输的方式。</a:t>
            </a:r>
            <a:endParaRPr lang="en-US" altLang="zh-CN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5435" y="2983147"/>
            <a:ext cx="4945809" cy="1912786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315937" cy="790865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智能手机和平板电脑：屏幕尺寸</a:t>
            </a:r>
            <a:endParaRPr lang="zh-CN" altLang="en-US" sz="4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1228148"/>
            <a:ext cx="11163995" cy="4092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智能手机和平板电脑屏幕小。每一小块区域都很重要。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小智能手机和大平板之间屏幕尺寸差异很大。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不同屏幕可能有不同的布局甚至不同版本。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应用程序需要有横屏和竖屏的不同布局。</a:t>
            </a:r>
            <a:endParaRPr lang="en-US" altLang="zh-CN" sz="2000" dirty="0"/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应用程序需要在各种屏幕尺寸和方向上进行测试。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某些应用程序可能针对大屏幕优化。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使用模拟器查看应用在不同设备上的外观。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363071" cy="790865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屏幕尺寸：移动开发模拟器</a:t>
            </a:r>
            <a:endParaRPr lang="zh-CN" altLang="en-US" sz="4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254" y="1028699"/>
            <a:ext cx="6826685" cy="53276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文本框 5"/>
          <p:cNvSpPr txBox="1"/>
          <p:nvPr/>
        </p:nvSpPr>
        <p:spPr>
          <a:xfrm>
            <a:off x="8366760" y="1181099"/>
            <a:ext cx="3421380" cy="22453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 dirty="0"/>
              <a:t>移动应用开发环境提供各种移动设备的模拟器。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zh-CN" altLang="en-US" sz="2000" dirty="0"/>
              <a:t>此示例是</a:t>
            </a:r>
            <a:r>
              <a:rPr lang="en-US" altLang="zh-CN" sz="2000" dirty="0"/>
              <a:t> Apple Xcode </a:t>
            </a:r>
            <a:r>
              <a:rPr lang="zh-CN" altLang="en-US" sz="2000" dirty="0"/>
              <a:t>的模拟器，显示应用在</a:t>
            </a:r>
            <a:r>
              <a:rPr lang="en-US" altLang="zh-CN" sz="2000" dirty="0"/>
              <a:t> iPad </a:t>
            </a:r>
            <a:r>
              <a:rPr lang="zh-CN" altLang="en-US" sz="2000" dirty="0"/>
              <a:t>上的外观。在智能手机上会是什么样子？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703194" cy="790865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智能手机：可访问性</a:t>
            </a:r>
            <a:endParaRPr lang="zh-CN" altLang="en-US" sz="4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1039613"/>
            <a:ext cx="11163995" cy="286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智能手机屏幕小，虚拟键盘小。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有些应用依赖语音或其他声音信号。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/>
          </a:p>
          <a:p>
            <a:r>
              <a:rPr lang="zh-CN" altLang="en-US" sz="2000" dirty="0"/>
              <a:t>视力差、色盲、听力差或手指不灵活的人可能难以使用你的应用。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en-US" altLang="zh-CN" sz="2000" dirty="0"/>
              <a:t>Android </a:t>
            </a:r>
            <a:r>
              <a:rPr lang="zh-CN" altLang="en-US" sz="2000" dirty="0"/>
              <a:t>和</a:t>
            </a:r>
            <a:r>
              <a:rPr lang="en-US" altLang="zh-CN" sz="2000" dirty="0"/>
              <a:t> iOS </a:t>
            </a:r>
            <a:r>
              <a:rPr lang="zh-CN" altLang="en-US" sz="2000" dirty="0"/>
              <a:t>提供众多可访问性功能，并提供关于构建可访问应用的在线建议。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zh-CN" altLang="en-US" sz="2000" dirty="0"/>
              <a:t>在用户测试中，尽量找视力、听力等不完美的人。让不同年龄的测试者参与。老年人通常更难使用触摸屏。</a:t>
            </a:r>
            <a:endParaRPr lang="zh-CN" altLang="en-US" sz="2000" dirty="0"/>
          </a:p>
        </p:txBody>
      </p:sp>
      <p:grpSp>
        <p:nvGrpSpPr>
          <p:cNvPr id="6" name="组合 5"/>
          <p:cNvGrpSpPr/>
          <p:nvPr/>
        </p:nvGrpSpPr>
        <p:grpSpPr>
          <a:xfrm>
            <a:off x="2628910" y="4528402"/>
            <a:ext cx="6934180" cy="1912396"/>
            <a:chOff x="1944962" y="4510103"/>
            <a:chExt cx="6934180" cy="1912396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944962" y="4517488"/>
              <a:ext cx="2924218" cy="1905011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54924" y="4510103"/>
              <a:ext cx="2924218" cy="19123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zh-CN" altLang="en-US" dirty="0"/>
              <a:t>屏幕尺寸：响应式网页设计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1689853"/>
            <a:ext cx="10301365" cy="163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响应式网页设计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根据屏幕尺寸或设备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/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浏览器的其他特性调整网页的查看方式。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CSS 中的媒体查询允许页面根据设备特性（如浏览器窗口宽度）使用不同的 CSS </a:t>
            </a:r>
            <a:r>
              <a:rPr lang="en-US" altLang="zh-CN" sz="2000" dirty="0"/>
              <a:t>样式规则。</a:t>
            </a:r>
            <a:endParaRPr lang="en-US" altLang="zh-CN" sz="2000" dirty="0"/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例如：你在笔记本电脑上开发一个网站。它在智能手机上会是什么样子？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zh-CN" altLang="en-US" dirty="0"/>
              <a:t>响应式网页设计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1453633"/>
            <a:ext cx="11163995" cy="378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理想情况：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一个网站通过使用灵活的网格和布局，以及精心使用</a:t>
            </a:r>
            <a:r>
              <a:rPr lang="en-US" altLang="zh-CN" sz="2000" dirty="0"/>
              <a:t> CSS </a:t>
            </a:r>
            <a:r>
              <a:rPr lang="zh-CN" altLang="en-US" sz="2000" dirty="0"/>
              <a:t>媒体查询，适配任何设备。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实践中：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移动设备（如智能手机）与普通计算机差异巨大，很难创建一个在所有设备上都能良好运行的网站。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例如：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小屏幕显示的内容比大屏幕少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智能手机通常竖屏使用；计算机屏幕横屏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触摸屏与鼠标特性不同，例如用户无法悬停在菜单项上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虚拟键盘需要屏幕空间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zh-CN" altLang="en-US" dirty="0"/>
              <a:t>响应式网页设计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9739" y="1028699"/>
            <a:ext cx="4686301" cy="538872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147560" y="1056978"/>
            <a:ext cx="3543300" cy="31692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 dirty="0"/>
              <a:t>主要网站有多个针对不同设备的版本。它们识别用户设备并自动提供针对该设备类型设计的版本。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zh-CN" altLang="en-US" sz="2000" dirty="0"/>
              <a:t>此</a:t>
            </a:r>
            <a:r>
              <a:rPr lang="en-US" altLang="zh-CN" sz="2000" dirty="0"/>
              <a:t> Safari </a:t>
            </a:r>
            <a:r>
              <a:rPr lang="zh-CN" altLang="en-US" sz="2000" dirty="0"/>
              <a:t>示例显示纽约时报移动版网站在小</a:t>
            </a:r>
            <a:r>
              <a:rPr lang="en-US" altLang="zh-CN" sz="2000" dirty="0"/>
              <a:t> iPhone </a:t>
            </a:r>
            <a:r>
              <a:rPr lang="zh-CN" altLang="en-US" sz="2000" dirty="0"/>
              <a:t>上的样子。下一张幻灯片（来自</a:t>
            </a:r>
            <a:r>
              <a:rPr lang="en-US" altLang="zh-CN" sz="2000" dirty="0"/>
              <a:t> Firefox</a:t>
            </a:r>
            <a:r>
              <a:rPr lang="zh-CN" altLang="en-US" sz="2000" dirty="0"/>
              <a:t>）显示同一页面在笔记本电脑上的样子。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 fontScale="90000"/>
          </a:bodyPr>
          <a:lstStyle/>
          <a:p>
            <a:r>
              <a:rPr lang="zh-CN" altLang="en-US" sz="6600" dirty="0"/>
              <a:t>响应式网页设计</a:t>
            </a:r>
            <a:endParaRPr lang="zh-CN" altLang="en-US" sz="6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0750" y="1028699"/>
            <a:ext cx="6197136" cy="40996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52881" y="5644635"/>
            <a:ext cx="5686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https://www.w3schools.com/html/</a:t>
            </a:r>
            <a:r>
              <a:rPr lang="en-US" dirty="0" err="1"/>
              <a:t>html_responsive.asp</a:t>
            </a:r>
            <a:endParaRPr 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 fontScale="90000"/>
          </a:bodyPr>
          <a:lstStyle/>
          <a:p>
            <a:r>
              <a:rPr lang="zh-CN" altLang="en-US" sz="6000" dirty="0"/>
              <a:t>用户界面设计：导航</a:t>
            </a:r>
            <a:endParaRPr lang="zh-CN" altLang="en-US" sz="6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1738113"/>
            <a:ext cx="11163995" cy="3476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正确的导航是用户体验的核心。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应用程序由一个或多个页面（网页）或屏幕（移动应用）组成。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网页：加载新页面使用网络，因此较慢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智能手机</a:t>
            </a:r>
            <a:r>
              <a:rPr lang="en-US" altLang="zh-CN" sz="2000" dirty="0"/>
              <a:t>/</a:t>
            </a:r>
            <a:r>
              <a:rPr lang="zh-CN" altLang="en-US" sz="2000" dirty="0"/>
              <a:t>平板：加载新屏幕通常是即时的</a:t>
            </a:r>
            <a:endParaRPr lang="zh-CN" altLang="en-US" sz="2000" dirty="0"/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用户界面设计的第一步是选择使用哪些页面或屏幕。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每个屏幕提供什么功能？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屏幕如何组织？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用户如何知道有哪些屏幕可用？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用户如何在屏幕间移动？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Autofit/>
          </a:bodyPr>
          <a:lstStyle/>
          <a:p>
            <a:r>
              <a:rPr lang="zh-CN" altLang="en-US" sz="2800" dirty="0"/>
              <a:t>导航：页面和屏幕的组织</a:t>
            </a:r>
            <a:endParaRPr lang="zh-CN" alt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1273293"/>
            <a:ext cx="11163995" cy="4092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页面的组织必须与用户的心智模型匹配。保持简单。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网页应用中页面的组织：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网页的基本构建块是超链接。这允许任何页面链接到任何其他页面。这很灵活，但可能导致应用混乱。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许多网站使用层次树状结构。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当用户离开页面时，状态会丢失，除非显式保存。</a:t>
            </a:r>
            <a:endParaRPr lang="en-US" altLang="zh-CN" sz="2000" dirty="0"/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移动应用中屏幕的组织：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Android 和 iOS 都鼓励使用基于栈的架构。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当用户离开屏幕时，状态被压入栈，并在下次使用屏幕时可用。</a:t>
            </a:r>
            <a:endParaRPr lang="en-US" altLang="zh-CN" sz="2000" dirty="0"/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向用户指示哪些页面可用以及如何访问它们。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导航：用户测试</a:t>
            </a:r>
            <a:endParaRPr lang="zh-CN" altLang="en-US" sz="4000" dirty="0"/>
          </a:p>
        </p:txBody>
      </p:sp>
      <p:sp>
        <p:nvSpPr>
          <p:cNvPr id="8" name="TextBox 3"/>
          <p:cNvSpPr txBox="1"/>
          <p:nvPr/>
        </p:nvSpPr>
        <p:spPr>
          <a:xfrm>
            <a:off x="572375" y="1402833"/>
            <a:ext cx="11163995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在构建应用程序之前，测试导航。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创建简单的模型图，例如纸上的粗略草图。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创建大量简单的场景。它们应展示应用的所有主要路径，包括用户错误、系统问题等。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与客户和潜在用户一起逐步演练这些场景。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在开发过程的后期，这些场景可用于用户界面设计、程序设计和所有形式的测试。</a:t>
            </a:r>
            <a:endParaRPr lang="en-US" altLang="zh-CN" sz="2000" dirty="0"/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在开始详细的用户界面设计和实现之前，更改基本导航要容易得多。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移动应用：开发环境</a:t>
            </a:r>
            <a:endParaRPr lang="zh-CN" altLang="en-US" sz="4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1527293"/>
            <a:ext cx="11163995" cy="163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000" dirty="0"/>
              <a:t>应用开发很复杂。大多数应用使用开发环境构建，如 Android Studio 和 Apple Xcode。</a:t>
            </a:r>
            <a:endParaRPr lang="en-US" altLang="zh-CN" sz="2000" dirty="0"/>
          </a:p>
          <a:p>
            <a:pPr algn="l">
              <a:buClrTx/>
              <a:buSzTx/>
              <a:buFontTx/>
            </a:pPr>
            <a:endParaRPr lang="en-US" altLang="zh-CN" sz="2000" dirty="0"/>
          </a:p>
          <a:p>
            <a:pPr algn="l">
              <a:buClrTx/>
              <a:buSzTx/>
              <a:buFontTx/>
            </a:pPr>
            <a:r>
              <a:rPr lang="en-US" altLang="zh-CN" sz="2000" dirty="0"/>
              <a:t>网上有很好的教程和文档。我强烈建议在尝试构建真实应用之前先完成一个教程。</a:t>
            </a:r>
            <a:endParaRPr lang="en-US" altLang="zh-CN" sz="2000" dirty="0"/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如果你不熟悉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 Android 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或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 iOS 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开发，请留出足够的学习时间。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移动应用：开发环境</a:t>
            </a:r>
            <a:endParaRPr lang="zh-CN" altLang="en-US" sz="4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1521" y="1024309"/>
            <a:ext cx="2989018" cy="5332040"/>
          </a:xfrm>
          <a:prstGeom prst="rect">
            <a:avLst/>
          </a:prstGeom>
        </p:spPr>
      </p:pic>
      <p:sp>
        <p:nvSpPr>
          <p:cNvPr id="5" name="TextBox 3"/>
          <p:cNvSpPr txBox="1"/>
          <p:nvPr/>
        </p:nvSpPr>
        <p:spPr>
          <a:xfrm>
            <a:off x="5707380" y="1095493"/>
            <a:ext cx="6028990" cy="286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开发环境包含标准类，提供导航和屏幕布局的模板</a:t>
            </a:r>
            <a:r>
              <a:rPr lang="zh-CN" altLang="en-US" sz="2000" dirty="0"/>
              <a:t>。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zh-CN" altLang="en-US" sz="2000" dirty="0"/>
              <a:t>采用这些类的设计可以使用操作系统环境提供的服务、</a:t>
            </a:r>
            <a:r>
              <a:rPr lang="en-US" altLang="zh-CN" sz="2000" dirty="0"/>
              <a:t>API </a:t>
            </a:r>
            <a:r>
              <a:rPr lang="zh-CN" altLang="en-US" sz="2000" dirty="0"/>
              <a:t>等。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zh-CN" altLang="en-US" sz="2000" dirty="0"/>
              <a:t>此示例使用</a:t>
            </a:r>
            <a:r>
              <a:rPr lang="en-US" altLang="zh-CN" sz="2000" dirty="0"/>
              <a:t> iOS </a:t>
            </a:r>
            <a:r>
              <a:rPr lang="zh-CN" altLang="en-US" sz="2000" dirty="0"/>
              <a:t>的</a:t>
            </a:r>
            <a:r>
              <a:rPr lang="en-US" altLang="zh-CN" sz="2000" dirty="0"/>
              <a:t> TableViewController</a:t>
            </a:r>
            <a:r>
              <a:rPr lang="zh-CN" altLang="en-US" sz="2000" dirty="0"/>
              <a:t>。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zh-CN" altLang="en-US" sz="2000" dirty="0"/>
              <a:t>由于表格可能非常长，</a:t>
            </a:r>
            <a:r>
              <a:rPr lang="en-US" altLang="zh-CN" sz="2000" dirty="0"/>
              <a:t>iOS </a:t>
            </a:r>
            <a:r>
              <a:rPr lang="zh-CN" altLang="en-US" sz="2000" dirty="0"/>
              <a:t>以高效利用存储和处理能力的方式实现了</a:t>
            </a:r>
            <a:r>
              <a:rPr lang="en-US" altLang="zh-CN" sz="2000" dirty="0"/>
              <a:t> TableViewController</a:t>
            </a:r>
            <a:r>
              <a:rPr lang="zh-CN" altLang="en-US" sz="2000" dirty="0"/>
              <a:t>。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移动应用：开发环境</a:t>
            </a:r>
            <a:endParaRPr lang="zh-CN" altLang="en-US" sz="4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1258053"/>
            <a:ext cx="11163995" cy="378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这些环境对用户界面设计有适度的灵活性。它们支持多种导航方式、用户界面对象等，但也有局限性（例如</a:t>
            </a:r>
            <a:r>
              <a:rPr lang="en-US" altLang="zh-CN" sz="2000" dirty="0"/>
              <a:t> iOS </a:t>
            </a:r>
            <a:r>
              <a:rPr lang="zh-CN" altLang="en-US" sz="2000" dirty="0"/>
              <a:t>没有单选按钮）。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为了构建良好的用户体验，理解并采用开发环境的风格。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用户会从其他应用中熟悉这种界面风格。</a:t>
            </a:r>
            <a:endParaRPr lang="zh-CN" altLang="en-US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界面对象设计良好，技术实现优秀。</a:t>
            </a:r>
            <a:endParaRPr lang="zh-CN" altLang="en-US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这些对象旨在用于多种设备。</a:t>
            </a:r>
            <a:endParaRPr lang="zh-CN" altLang="en-US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当操作系统发布新版本时，设计将只需很少修改。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移动应用：设计挑战</a:t>
            </a:r>
            <a:endParaRPr lang="zh-CN" altLang="en-US" sz="4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1095493"/>
            <a:ext cx="11163995" cy="4399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如何设计一个无需说明书、用户手册或培训的用户界面？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外观：</a:t>
            </a:r>
            <a:r>
              <a:rPr lang="zh-CN" altLang="en-US" sz="2000" dirty="0"/>
              <a:t>传递信息的外观特征。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感觉：</a:t>
            </a:r>
            <a:r>
              <a:rPr lang="zh-CN" altLang="en-US" sz="2000" dirty="0"/>
              <a:t>直观且提供满意体验的交互技术。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隐喻和心智模型：</a:t>
            </a:r>
            <a:r>
              <a:rPr lang="zh-CN" altLang="en-US" sz="2000" dirty="0"/>
              <a:t>但可能没有直观的模型。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导航规则：</a:t>
            </a:r>
            <a:r>
              <a:rPr lang="zh-CN" altLang="en-US" sz="2000" dirty="0"/>
              <a:t>如何在大量数据、功能和活动中移动。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惯例：</a:t>
            </a:r>
            <a:r>
              <a:rPr lang="zh-CN" altLang="en-US" sz="2000" dirty="0"/>
              <a:t>不需要额外培训的熟悉方面</a:t>
            </a:r>
            <a:r>
              <a:rPr lang="en-US" altLang="zh-CN" sz="2000" dirty="0"/>
              <a:t> – </a:t>
            </a:r>
            <a:r>
              <a:rPr lang="zh-CN" altLang="en-US" sz="2000" dirty="0"/>
              <a:t>对用户和设计师都有好处，例如滚动条、按钮、手势、帮助系统、滑块。</a:t>
            </a:r>
            <a:endParaRPr lang="zh-CN" altLang="en-US" sz="2000" dirty="0"/>
          </a:p>
          <a:p>
            <a:endParaRPr lang="en-US" altLang="zh-CN" sz="2000" dirty="0"/>
          </a:p>
          <a:p>
            <a:endParaRPr lang="en-US" altLang="zh-CN" sz="2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353226" cy="790865"/>
          </a:xfrm>
        </p:spPr>
        <p:txBody>
          <a:bodyPr>
            <a:noAutofit/>
          </a:bodyPr>
          <a:lstStyle/>
          <a:p>
            <a:r>
              <a:rPr lang="zh-CN" altLang="en-US" dirty="0"/>
              <a:t>移动应用：惯例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7724" y="960437"/>
            <a:ext cx="2768514" cy="5464174"/>
          </a:xfrm>
          <a:prstGeom prst="rect">
            <a:avLst/>
          </a:prstGeom>
        </p:spPr>
      </p:pic>
      <p:sp>
        <p:nvSpPr>
          <p:cNvPr id="6" name="TextBox 3"/>
          <p:cNvSpPr txBox="1"/>
          <p:nvPr/>
        </p:nvSpPr>
        <p:spPr>
          <a:xfrm>
            <a:off x="5494020" y="1293613"/>
            <a:ext cx="6263640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开发环境鼓励一致的应用。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zh-CN" altLang="en-US" sz="2000" dirty="0"/>
              <a:t>你可能从未使用过这个应用，但看看有多少方面感觉熟悉。</a:t>
            </a:r>
            <a:endParaRPr lang="zh-CN" altLang="en-US" sz="20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021" y="3118402"/>
            <a:ext cx="6017106" cy="1017435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353226" cy="790865"/>
          </a:xfrm>
        </p:spPr>
        <p:txBody>
          <a:bodyPr>
            <a:noAutofit/>
          </a:bodyPr>
          <a:lstStyle/>
          <a:p>
            <a:r>
              <a:rPr lang="zh-CN" altLang="en-US" dirty="0"/>
              <a:t>移动应用：惯例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254" y="1028699"/>
            <a:ext cx="2428352" cy="526142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9606" y="1028698"/>
            <a:ext cx="2428353" cy="526143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949" y="1028698"/>
            <a:ext cx="2428353" cy="526143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0302" y="1028698"/>
            <a:ext cx="2462343" cy="5335075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网页和移动应用中的设计张力</a:t>
            </a:r>
            <a:endParaRPr lang="zh-CN" alt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72375" y="1689853"/>
            <a:ext cx="11109085" cy="3476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设计师希望控制用户所见，但用户希望配置自己的环境。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客户端计算机和网络连接能力差异很大。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客户端软件可能运行在不同操作系统上，可能不是当前版本。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可访问性要求设计师不能控制字体大小等参数。</a:t>
            </a:r>
            <a:endParaRPr lang="en-US" altLang="zh-CN" sz="2000" dirty="0"/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明确说明你对用户计算机、网页浏览器等的假设。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使用样式表（如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 CSS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），避免覆盖用户偏好。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和光同尘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, 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聆听你的用户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	</a:t>
            </a:r>
            <a:r>
              <a:rPr lang="en-US" altLang="zh-CN" sz="2000" dirty="0"/>
              <a:t>Tensorflow vs. Pytorch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可用性与成本</a:t>
            </a:r>
            <a:endParaRPr lang="zh-CN" altLang="en-US" sz="4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Box 3"/>
          <p:cNvSpPr txBox="1"/>
          <p:nvPr/>
        </p:nvSpPr>
        <p:spPr>
          <a:xfrm>
            <a:off x="572375" y="1689853"/>
            <a:ext cx="11109085" cy="3476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用户界面开发可能是软件项目的主要部分。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良好的可用性可能在硬件或特殊软件开发上成本高昂。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如果用户界面必须在不同计算机上使用或迁移到不同版本的系统，成本会成倍增加。</a:t>
            </a:r>
            <a:endParaRPr lang="en-US" altLang="zh-CN" sz="2000" dirty="0"/>
          </a:p>
          <a:p>
            <a:pPr lvl="1" indent="0">
              <a:buNone/>
            </a:pP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 indent="0">
              <a:buNone/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设计可以使用标准工具构建的用户界面：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 indent="0">
              <a:buNone/>
            </a:pP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网页浏览器提供一个通用的用户界面，由其他人维护用户界面软件。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使用开发环境提供的标准类。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335087" y="3977885"/>
            <a:ext cx="9521825" cy="644144"/>
          </a:xfrm>
          <a:prstGeom prst="rect">
            <a:avLst/>
          </a:prstGeom>
        </p:spPr>
        <p:txBody>
          <a:bodyPr wrap="square">
            <a:normAutofit fontScale="92500" lnSpcReduction="10000"/>
          </a:bodyPr>
          <a:lstStyle/>
          <a:p>
            <a:pPr algn="ctr"/>
            <a:r>
              <a:rPr lang="zh-CN" altLang="en-US" sz="4000" b="1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rPr>
              <a:t>评估与用户测试</a:t>
            </a:r>
            <a:endParaRPr lang="zh-CN" altLang="en-US" sz="4000" b="1" dirty="0">
              <a:solidFill>
                <a:schemeClr val="accent1"/>
              </a:solidFill>
              <a:latin typeface="Helvetica" pitchFamily="2" charset="0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819048" y="1319889"/>
            <a:ext cx="2553904" cy="2646878"/>
            <a:chOff x="5865211" y="1319889"/>
            <a:chExt cx="2553904" cy="2646878"/>
          </a:xfrm>
        </p:grpSpPr>
        <p:sp>
          <p:nvSpPr>
            <p:cNvPr id="2" name="文本框 1"/>
            <p:cNvSpPr txBox="1"/>
            <p:nvPr/>
          </p:nvSpPr>
          <p:spPr>
            <a:xfrm>
              <a:off x="5865211" y="1319889"/>
              <a:ext cx="2553904" cy="26468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600" dirty="0">
                  <a:solidFill>
                    <a:schemeClr val="accent1"/>
                  </a:solidFill>
                  <a:latin typeface="Helvetica" pitchFamily="2" charset="0"/>
                  <a:cs typeface="+mn-ea"/>
                  <a:sym typeface="+mn-lt"/>
                </a:rPr>
                <a:t>03</a:t>
              </a:r>
              <a:endParaRPr lang="zh-CN" altLang="en-US" sz="16600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865211" y="2574748"/>
              <a:ext cx="2553904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PART</a:t>
              </a:r>
              <a:r>
                <a:rPr lang="zh-CN" altLang="en-US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 </a:t>
              </a:r>
              <a:r>
                <a:rPr lang="en-US" altLang="zh-CN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THREE </a:t>
              </a:r>
              <a:endParaRPr lang="zh-CN" altLang="en-US" sz="24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分析</a:t>
            </a:r>
            <a:r>
              <a:rPr lang="en-US" altLang="zh-CN" sz="4000" dirty="0"/>
              <a:t>/</a:t>
            </a:r>
            <a:r>
              <a:rPr lang="zh-CN" altLang="en-US" sz="4000" dirty="0"/>
              <a:t>设计</a:t>
            </a:r>
            <a:r>
              <a:rPr lang="en-US" altLang="zh-CN" sz="4000" dirty="0"/>
              <a:t>/</a:t>
            </a:r>
            <a:r>
              <a:rPr lang="zh-CN" altLang="en-US" sz="4000" dirty="0"/>
              <a:t>构建</a:t>
            </a:r>
            <a:r>
              <a:rPr lang="en-US" altLang="zh-CN" sz="4000" dirty="0"/>
              <a:t>/</a:t>
            </a:r>
            <a:r>
              <a:rPr lang="zh-CN" altLang="en-US" sz="4000" dirty="0"/>
              <a:t>评估循环</a:t>
            </a:r>
            <a:endParaRPr lang="zh-CN" altLang="en-US" sz="4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1214401" y="5334299"/>
            <a:ext cx="1116399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只要可能，设计和评估应由不同的人进行。</a:t>
            </a:r>
            <a:endParaRPr lang="zh-CN" altLang="en-US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2585" y="1155637"/>
            <a:ext cx="8116561" cy="4051724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评估</a:t>
            </a:r>
            <a:endParaRPr lang="zh-CN" altLang="en-US" sz="4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72375" y="1476493"/>
            <a:ext cx="11163995" cy="3476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如果你的系统有用户，进度安排中应包含用户测试的时间，以及用户测试完成后进行修改的时间。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何时进行评估：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开发过程中的迭代改进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发布前确保系统可用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发布后的迭代改进</a:t>
            </a:r>
            <a:endParaRPr lang="en-US" altLang="zh-CN" sz="2000" dirty="0"/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评估方法：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与用户一起进行经验性评估（</a:t>
            </a:r>
            <a:r>
              <a:rPr lang="en-US" altLang="zh-CN" sz="2000" b="1" dirty="0">
                <a:solidFill>
                  <a:srgbClr val="FF0000"/>
                </a:solidFill>
              </a:rPr>
              <a:t>用户测试</a:t>
            </a:r>
            <a:r>
              <a:rPr lang="en-US" altLang="zh-CN" sz="2000" dirty="0"/>
              <a:t>）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对运行系统进行测量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无需用户的分析性评估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评估</a:t>
            </a:r>
            <a:endParaRPr lang="zh-CN" altLang="en-US" sz="4000" dirty="0"/>
          </a:p>
        </p:txBody>
      </p:sp>
      <p:sp>
        <p:nvSpPr>
          <p:cNvPr id="2" name="TextBox 3"/>
          <p:cNvSpPr txBox="1"/>
          <p:nvPr/>
        </p:nvSpPr>
        <p:spPr>
          <a:xfrm>
            <a:off x="572375" y="1476493"/>
            <a:ext cx="11163995" cy="4646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如何衡量可用性？</a:t>
            </a:r>
            <a:endParaRPr lang="en-US" altLang="zh-CN" dirty="0">
              <a:solidFill>
                <a:srgbClr val="000000"/>
              </a:solidFill>
              <a:effectLst/>
              <a:latin typeface="Arial" panose="020B0604020202090204" pitchFamily="34" charset="0"/>
              <a:ea typeface="黑体" panose="02010609060101010101" charset="-122"/>
            </a:endParaRPr>
          </a:p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dirty="0">
                <a:solidFill>
                  <a:srgbClr val="000000"/>
                </a:solidFill>
                <a:effectLst/>
                <a:latin typeface="Arial" panose="020B0604020202090204" pitchFamily="34" charset="0"/>
                <a:ea typeface="黑体" panose="02010609060101010101" charset="-122"/>
              </a:rPr>
              <a:t>可用性包括以下方面：</a:t>
            </a:r>
            <a:endParaRPr lang="en-US" altLang="zh-CN" dirty="0">
              <a:solidFill>
                <a:srgbClr val="000000"/>
              </a:solidFill>
              <a:effectLst/>
              <a:latin typeface="Arial" panose="020B0604020202090204" pitchFamily="34" charset="0"/>
              <a:ea typeface="黑体" panose="02010609060101010101" charset="-122"/>
            </a:endParaRPr>
          </a:p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en-US" altLang="zh-CN" dirty="0">
              <a:solidFill>
                <a:srgbClr val="000000"/>
              </a:solidFill>
              <a:effectLst/>
              <a:latin typeface="Arial" panose="020B0604020202090204" pitchFamily="34" charset="0"/>
              <a:ea typeface="黑体" panose="02010609060101010101" charset="-122"/>
            </a:endParaRPr>
          </a:p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有效性：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285750" indent="-285750" algn="l" rtl="0" eaLnBrk="1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lang="en-US" altLang="zh-CN" dirty="0">
                <a:solidFill>
                  <a:srgbClr val="000000"/>
                </a:solidFill>
                <a:effectLst/>
                <a:latin typeface="Arial" panose="020B0604020202090204" pitchFamily="34" charset="0"/>
                <a:ea typeface="黑体" panose="02010609060101010101" charset="-122"/>
              </a:rPr>
              <a:t>用户达成特定目标的准确性和完整性</a:t>
            </a:r>
            <a:endParaRPr lang="en-US" altLang="zh-CN" dirty="0">
              <a:solidFill>
                <a:srgbClr val="000000"/>
              </a:solidFill>
              <a:effectLst/>
              <a:latin typeface="Arial" panose="020B0604020202090204" pitchFamily="34" charset="0"/>
              <a:ea typeface="黑体" panose="02010609060101010101" charset="-122"/>
            </a:endParaRPr>
          </a:p>
          <a:p>
            <a:pPr marL="285750" indent="-285750" algn="l" rtl="0" eaLnBrk="1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lang="en-US" altLang="zh-CN" dirty="0">
                <a:solidFill>
                  <a:srgbClr val="FF0000"/>
                </a:solidFill>
                <a:effectLst/>
                <a:latin typeface="Arial" panose="020B0604020202090204" pitchFamily="34" charset="0"/>
                <a:ea typeface="黑体" panose="02010609060101010101" charset="-122"/>
              </a:rPr>
              <a:t>度量：</a:t>
            </a:r>
            <a:r>
              <a:rPr lang="en-US" altLang="zh-CN" dirty="0">
                <a:solidFill>
                  <a:srgbClr val="000000"/>
                </a:solidFill>
                <a:effectLst/>
                <a:latin typeface="Arial" panose="020B0604020202090204" pitchFamily="34" charset="0"/>
                <a:ea typeface="黑体" panose="02010609060101010101" charset="-122"/>
              </a:rPr>
              <a:t>解决方案质量、错误率</a:t>
            </a:r>
            <a:endParaRPr lang="en-US" altLang="zh-CN" dirty="0">
              <a:solidFill>
                <a:srgbClr val="000000"/>
              </a:solidFill>
              <a:effectLst/>
              <a:latin typeface="Arial" panose="020B0604020202090204" pitchFamily="34" charset="0"/>
              <a:ea typeface="黑体" panose="02010609060101010101" charset="-122"/>
            </a:endParaRPr>
          </a:p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en-US" altLang="zh-CN" dirty="0">
              <a:solidFill>
                <a:srgbClr val="000000"/>
              </a:solidFill>
              <a:effectLst/>
              <a:latin typeface="Arial" panose="020B0604020202090204" pitchFamily="34" charset="0"/>
              <a:ea typeface="黑体" panose="02010609060101010101" charset="-122"/>
            </a:endParaRPr>
          </a:p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效率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：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285750" indent="-285750" algn="l" rtl="0" eaLnBrk="1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lang="en-US" altLang="zh-CN" dirty="0">
                <a:solidFill>
                  <a:srgbClr val="000000"/>
                </a:solidFill>
                <a:effectLst/>
                <a:latin typeface="Arial" panose="020B0604020202090204" pitchFamily="34" charset="0"/>
                <a:ea typeface="黑体" panose="02010609060101010101" charset="-122"/>
              </a:rPr>
              <a:t>有效性与所消耗资源之间的关系</a:t>
            </a:r>
            <a:endParaRPr lang="en-US" altLang="zh-CN" dirty="0">
              <a:solidFill>
                <a:srgbClr val="000000"/>
              </a:solidFill>
              <a:effectLst/>
              <a:latin typeface="Arial" panose="020B0604020202090204" pitchFamily="34" charset="0"/>
              <a:ea typeface="黑体" panose="02010609060101010101" charset="-122"/>
            </a:endParaRPr>
          </a:p>
          <a:p>
            <a:pPr marL="285750" indent="-285750" algn="l" rtl="0" eaLnBrk="1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lang="en-US" altLang="zh-CN" dirty="0">
                <a:solidFill>
                  <a:srgbClr val="FF0000"/>
                </a:solidFill>
                <a:effectLst/>
                <a:latin typeface="Arial" panose="020B0604020202090204" pitchFamily="34" charset="0"/>
                <a:ea typeface="黑体" panose="02010609060101010101" charset="-122"/>
              </a:rPr>
              <a:t>度量：</a:t>
            </a:r>
            <a:r>
              <a:rPr lang="en-US" altLang="zh-CN" dirty="0">
                <a:solidFill>
                  <a:srgbClr val="000000"/>
                </a:solidFill>
                <a:effectLst/>
                <a:latin typeface="Arial" panose="020B0604020202090204" pitchFamily="34" charset="0"/>
                <a:ea typeface="黑体" panose="02010609060101010101" charset="-122"/>
              </a:rPr>
              <a:t>任务完成时间、学习时间、点击次数</a:t>
            </a:r>
            <a:endParaRPr lang="en-US" altLang="zh-CN" dirty="0">
              <a:solidFill>
                <a:srgbClr val="000000"/>
              </a:solidFill>
              <a:effectLst/>
              <a:latin typeface="Arial" panose="020B0604020202090204" pitchFamily="34" charset="0"/>
              <a:ea typeface="黑体" panose="02010609060101010101" charset="-122"/>
            </a:endParaRPr>
          </a:p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en-US" altLang="zh-CN" dirty="0">
              <a:solidFill>
                <a:srgbClr val="000000"/>
              </a:solidFill>
              <a:effectLst/>
              <a:latin typeface="Arial" panose="020B0604020202090204" pitchFamily="34" charset="0"/>
              <a:ea typeface="黑体" panose="02010609060101010101" charset="-122"/>
            </a:endParaRPr>
          </a:p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满意度：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285750" indent="-285750" algn="l" rtl="0" eaLnBrk="1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lang="en-US" altLang="zh-CN" dirty="0">
                <a:solidFill>
                  <a:srgbClr val="000000"/>
                </a:solidFill>
                <a:effectLst/>
                <a:latin typeface="Arial" panose="020B0604020202090204" pitchFamily="34" charset="0"/>
                <a:ea typeface="黑体" panose="02010609060101010101" charset="-122"/>
              </a:rPr>
              <a:t>用户对系统使用的舒适度和积极态度</a:t>
            </a:r>
            <a:endParaRPr lang="en-US" altLang="zh-CN" dirty="0">
              <a:solidFill>
                <a:srgbClr val="000000"/>
              </a:solidFill>
              <a:effectLst/>
              <a:latin typeface="Arial" panose="020B0604020202090204" pitchFamily="34" charset="0"/>
              <a:ea typeface="黑体" panose="02010609060101010101" charset="-122"/>
            </a:endParaRPr>
          </a:p>
          <a:p>
            <a:pPr marL="285750" indent="-285750" algn="l" rtl="0" eaLnBrk="1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lang="en-US" altLang="zh-CN" dirty="0">
                <a:solidFill>
                  <a:srgbClr val="FF0000"/>
                </a:solidFill>
                <a:effectLst/>
                <a:latin typeface="Arial" panose="020B0604020202090204" pitchFamily="34" charset="0"/>
                <a:ea typeface="黑体" panose="02010609060101010101" charset="-122"/>
              </a:rPr>
              <a:t>度量：</a:t>
            </a:r>
            <a:r>
              <a:rPr lang="en-US" altLang="zh-CN" dirty="0">
                <a:solidFill>
                  <a:srgbClr val="000000"/>
                </a:solidFill>
                <a:effectLst/>
                <a:latin typeface="Arial" panose="020B0604020202090204" pitchFamily="34" charset="0"/>
                <a:ea typeface="黑体" panose="02010609060101010101" charset="-122"/>
              </a:rPr>
              <a:t>态度评定量表</a:t>
            </a:r>
            <a:endParaRPr lang="en-US" altLang="zh-CN" dirty="0">
              <a:solidFill>
                <a:srgbClr val="000000"/>
              </a:solidFill>
              <a:effectLst/>
              <a:latin typeface="Arial" panose="020B0604020202090204" pitchFamily="34" charset="0"/>
              <a:ea typeface="黑体" panose="02010609060101010101" charset="-122"/>
            </a:endParaRPr>
          </a:p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en-US" altLang="zh-CN" dirty="0">
              <a:solidFill>
                <a:srgbClr val="000000"/>
              </a:solidFill>
              <a:effectLst/>
              <a:latin typeface="Arial" panose="020B0604020202090204" pitchFamily="34" charset="0"/>
              <a:ea typeface="黑体" panose="02010609060101010101" charset="-122"/>
            </a:endParaRPr>
          </a:p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dirty="0">
                <a:solidFill>
                  <a:srgbClr val="000000"/>
                </a:solidFill>
                <a:effectLst/>
                <a:latin typeface="Arial" panose="020B0604020202090204" pitchFamily="34" charset="0"/>
                <a:ea typeface="黑体" panose="02010609060101010101" charset="-122"/>
              </a:rPr>
              <a:t>（来自 ISO 9241-11）</a:t>
            </a:r>
            <a:endParaRPr lang="en-US" altLang="zh-CN" dirty="0">
              <a:solidFill>
                <a:srgbClr val="000000"/>
              </a:solidFill>
              <a:effectLst/>
              <a:latin typeface="Arial" panose="020B0604020202090204" pitchFamily="34" charset="0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977687" y="1259174"/>
            <a:ext cx="54397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Stages of evaluation with users: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与用户一起评估的阶段</a:t>
            </a:r>
            <a:endParaRPr lang="zh-CN" altLang="en-US" sz="4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6334" y="1659284"/>
            <a:ext cx="3529064" cy="3570443"/>
          </a:xfrm>
          <a:prstGeom prst="rect">
            <a:avLst/>
          </a:prstGeom>
        </p:spPr>
      </p:pic>
      <p:sp>
        <p:nvSpPr>
          <p:cNvPr id="8" name="TextBox 3"/>
          <p:cNvSpPr txBox="1"/>
          <p:nvPr/>
        </p:nvSpPr>
        <p:spPr>
          <a:xfrm>
            <a:off x="1979807" y="5460202"/>
            <a:ext cx="732211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用户测试耗时、昂贵，但必不可少。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与用户一起评估：准备</a:t>
            </a:r>
            <a:endParaRPr lang="zh-CN" altLang="en-US" sz="4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72375" y="1689853"/>
            <a:ext cx="11163995" cy="3476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确定可用性测试的目标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en-US" altLang="zh-CN" sz="2000" dirty="0"/>
              <a:t>“</a:t>
            </a:r>
            <a:r>
              <a:rPr lang="zh-CN" altLang="en-US" sz="2000" dirty="0"/>
              <a:t>用户能在不超过</a:t>
            </a:r>
            <a:r>
              <a:rPr lang="en-US" altLang="zh-CN" sz="2000" dirty="0"/>
              <a:t>2</a:t>
            </a:r>
            <a:r>
              <a:rPr lang="zh-CN" altLang="en-US" sz="2000" dirty="0"/>
              <a:t>分钟内找到所需信息吗？</a:t>
            </a:r>
            <a:r>
              <a:rPr lang="en-US" altLang="zh-CN" sz="2000" dirty="0"/>
              <a:t>”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编写用户任务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en-US" altLang="zh-CN" sz="2000" dirty="0"/>
              <a:t>“</a:t>
            </a:r>
            <a:r>
              <a:rPr lang="zh-CN" altLang="en-US" sz="2000" dirty="0"/>
              <a:t>给定一个新客户申请表，将新客户添加到客户数据库。</a:t>
            </a:r>
            <a:r>
              <a:rPr lang="en-US" altLang="zh-CN" sz="2000" dirty="0"/>
              <a:t>”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招募参与者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zh-CN" altLang="en-US" sz="2000" dirty="0"/>
              <a:t>使用需求阶段对用户的描述来确定潜在用户和用户任务的类别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可用性实验室</a:t>
            </a:r>
            <a:endParaRPr lang="zh-CN" altLang="en-US" sz="4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8854" y="2153165"/>
            <a:ext cx="4974292" cy="3643378"/>
          </a:xfrm>
          <a:prstGeom prst="rect">
            <a:avLst/>
          </a:prstGeom>
        </p:spPr>
      </p:pic>
      <p:sp>
        <p:nvSpPr>
          <p:cNvPr id="5" name="TextBox 3"/>
          <p:cNvSpPr txBox="1"/>
          <p:nvPr/>
        </p:nvSpPr>
        <p:spPr>
          <a:xfrm>
            <a:off x="888974" y="1404658"/>
            <a:ext cx="675696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概念：监控用户使用系统时的行为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与用户一起评估：执行</a:t>
            </a:r>
            <a:endParaRPr lang="zh-CN" altLang="en-US" sz="4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72375" y="1689853"/>
            <a:ext cx="11163995" cy="3169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进行测试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 algn="l">
              <a:buClrTx/>
              <a:buSzTx/>
              <a:buFont typeface="Arial" panose="020B0604020202090204" pitchFamily="34" charset="0"/>
              <a:buChar char="•"/>
            </a:pPr>
            <a:r>
              <a:rPr lang="en-US" altLang="zh-CN" sz="2000" dirty="0"/>
              <a:t>可用性实验室</a:t>
            </a:r>
            <a:endParaRPr lang="en-US" altLang="zh-CN" sz="2000" dirty="0"/>
          </a:p>
          <a:p>
            <a:pPr marL="342900" indent="-342900" algn="l">
              <a:buClrTx/>
              <a:buSzTx/>
              <a:buFont typeface="Arial" panose="020B0604020202090204" pitchFamily="34" charset="0"/>
              <a:buChar char="•"/>
            </a:pPr>
            <a:r>
              <a:rPr lang="en-US" altLang="zh-CN" sz="2000" dirty="0"/>
              <a:t>模拟工作环境</a:t>
            </a:r>
            <a:endParaRPr lang="en-US" altLang="zh-CN" sz="2000" dirty="0"/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观察用户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人工观察者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摄像机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录音</a:t>
            </a:r>
            <a:endParaRPr lang="en-US" altLang="zh-CN" sz="2000" dirty="0"/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询问满意度数据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0408" y="1228994"/>
            <a:ext cx="5578543" cy="4232477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评估：用户数量</a:t>
            </a:r>
            <a:endParaRPr lang="zh-CN" altLang="en-US" sz="4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72375" y="1689853"/>
            <a:ext cx="11163995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用户数量：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/>
              <a:t>即使是少至</a:t>
            </a:r>
            <a:r>
              <a:rPr lang="en-US" altLang="zh-CN" sz="2000" dirty="0"/>
              <a:t>5</a:t>
            </a:r>
            <a:r>
              <a:rPr lang="zh-CN" altLang="en-US" sz="2000" dirty="0"/>
              <a:t>个用户，也可以从用户测试中学到很多。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尝试找不同类型的用户（年轻</a:t>
            </a:r>
            <a:r>
              <a:rPr lang="en-US" altLang="zh-CN" sz="2000" dirty="0"/>
              <a:t>/</a:t>
            </a:r>
            <a:r>
              <a:rPr lang="zh-CN" altLang="en-US" sz="2000" dirty="0"/>
              <a:t>年老、有经验</a:t>
            </a:r>
            <a:r>
              <a:rPr lang="en-US" altLang="zh-CN" sz="2000" dirty="0"/>
              <a:t>/</a:t>
            </a:r>
            <a:r>
              <a:rPr lang="zh-CN" altLang="en-US" sz="2000" dirty="0"/>
              <a:t>新手等）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仔细准备</a:t>
            </a:r>
            <a:endParaRPr lang="zh-CN" altLang="en-US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将结构化测试与自由形式访谈结合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每次测试至少有两位评估者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结果分析</a:t>
            </a:r>
            <a:endParaRPr lang="zh-CN" altLang="en-US" sz="4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72375" y="1689853"/>
            <a:ext cx="11163995" cy="163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测试系统，而不是测试用户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尊重数据和用户的反应。不要为失败的设计找借口。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如有可能，使用统计汇总。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特别注意用户感到沮丧、花费很长时间、无法完成任务的区域。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记录设计中有效的方面，并确保它们被纳入最终产品。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谷歌的眼动追踪</a:t>
            </a:r>
            <a:endParaRPr lang="zh-CN" altLang="en-US" sz="4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8922036" y="4919192"/>
            <a:ext cx="24505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i="1" dirty="0"/>
              <a:t>Dan Russell </a:t>
            </a:r>
            <a:endParaRPr lang="en-US" altLang="zh-CN" sz="2000" i="1" dirty="0"/>
          </a:p>
          <a:p>
            <a:r>
              <a:rPr lang="en-US" altLang="zh-CN" sz="2000" i="1" dirty="0"/>
              <a:t>2007 </a:t>
            </a:r>
            <a:endParaRPr lang="en-US" altLang="zh-CN" sz="2000" i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3301" y="976767"/>
            <a:ext cx="6214519" cy="531099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谷歌的眼动追踪</a:t>
            </a:r>
            <a:endParaRPr lang="zh-CN" altLang="en-US" sz="4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2366" y="1028699"/>
            <a:ext cx="5881992" cy="5269993"/>
          </a:xfrm>
          <a:prstGeom prst="rect">
            <a:avLst/>
          </a:prstGeom>
        </p:spPr>
      </p:pic>
      <p:sp>
        <p:nvSpPr>
          <p:cNvPr id="5" name="TextBox 3"/>
          <p:cNvSpPr txBox="1"/>
          <p:nvPr/>
        </p:nvSpPr>
        <p:spPr>
          <a:xfrm>
            <a:off x="8922036" y="4919192"/>
            <a:ext cx="24505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i="1" dirty="0"/>
              <a:t>Dan Russell </a:t>
            </a:r>
            <a:endParaRPr lang="en-US" altLang="zh-CN" sz="2000" i="1" dirty="0"/>
          </a:p>
          <a:p>
            <a:r>
              <a:rPr lang="en-US" altLang="zh-CN" sz="2000" i="1" dirty="0"/>
              <a:t>2007 </a:t>
            </a:r>
            <a:endParaRPr lang="en-US" altLang="zh-CN" sz="2000" i="1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评估示例：眼动追踪</a:t>
            </a:r>
            <a:endParaRPr lang="zh-CN" altLang="en-US" sz="4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8881" y="986904"/>
            <a:ext cx="7874238" cy="5369445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Autofit/>
          </a:bodyPr>
          <a:lstStyle/>
          <a:p>
            <a:r>
              <a:rPr lang="zh-CN" altLang="en-US" dirty="0"/>
              <a:t>基于测量的评估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72375" y="1689853"/>
            <a:ext cx="11163995" cy="3169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基本概念：记录用户与系统交互的事件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大数据时代的主流评估解决方案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来自 Web 系统的示例：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点击（何时、屏幕何处等）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导航（页面间跳转）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按键（例如键盘输入）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帮助系统的使用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错误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Autofit/>
          </a:bodyPr>
          <a:lstStyle/>
          <a:p>
            <a:r>
              <a:rPr lang="zh-CN" altLang="en-US" dirty="0"/>
              <a:t>基于测量的评估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572375" y="1689853"/>
            <a:ext cx="11163995" cy="4092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系统日志分析：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哪些用户界面选项被使用？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帮助系统何时被使用？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发生了什么错误，频率如何？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哪些超链接被点击（点击流数据）？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用户反馈：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投诉和表扬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错误报告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客户服务的请求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目标：了解你的用户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A/B </a:t>
            </a:r>
            <a:r>
              <a:rPr lang="zh-CN" altLang="en-US" sz="2000" dirty="0"/>
              <a:t>测试、数据挖掘、多模态、推荐系统、计算机视觉、自然语言处理</a:t>
            </a:r>
            <a:r>
              <a:rPr lang="en-US" altLang="zh-CN" sz="2000" dirty="0"/>
              <a:t>……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基于评估改进设计</a:t>
            </a:r>
            <a:endParaRPr lang="zh-CN" altLang="en-US" sz="4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01169" y="1582387"/>
            <a:ext cx="9550399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不要让评估者成为设计者。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dirty="0"/>
              <a:t>设计师不擅长评估自己的工作，但他们了解需求、约束和设计背景：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有些用户问题可以通过小改动解决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有些用户问题需要大改动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有些用户请求（例如大量选项）与其他请求（例如简单性）不兼容</a:t>
            </a:r>
            <a:endParaRPr lang="en-US" altLang="zh-CN" sz="2000" dirty="0"/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设计师和评估者需要作为一个团队工作。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SE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05122"/>
      </a:accent1>
      <a:accent2>
        <a:srgbClr val="FDCA04"/>
      </a:accent2>
      <a:accent3>
        <a:srgbClr val="00529D"/>
      </a:accent3>
      <a:accent4>
        <a:srgbClr val="B01417"/>
      </a:accent4>
      <a:accent5>
        <a:srgbClr val="7F7611"/>
      </a:accent5>
      <a:accent6>
        <a:srgbClr val="5D6B70"/>
      </a:accent6>
      <a:hlink>
        <a:srgbClr val="868A8C"/>
      </a:hlink>
      <a:folHlink>
        <a:srgbClr val="C2C6C8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7026</Words>
  <Application>WPS Presentation</Application>
  <PresentationFormat>Widescreen</PresentationFormat>
  <Paragraphs>892</Paragraphs>
  <Slides>80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80</vt:i4>
      </vt:variant>
    </vt:vector>
  </HeadingPairs>
  <TitlesOfParts>
    <vt:vector size="100" baseType="lpstr">
      <vt:lpstr>Arial</vt:lpstr>
      <vt:lpstr>宋体</vt:lpstr>
      <vt:lpstr>Wingdings</vt:lpstr>
      <vt:lpstr>Helvetica Regular</vt:lpstr>
      <vt:lpstr>微软雅黑</vt:lpstr>
      <vt:lpstr>汉仪旗黑</vt:lpstr>
      <vt:lpstr>Helvetica</vt:lpstr>
      <vt:lpstr>Wingdings</vt:lpstr>
      <vt:lpstr>黑体</vt:lpstr>
      <vt:lpstr>汉仪中黑KW</vt:lpstr>
      <vt:lpstr>宋体</vt:lpstr>
      <vt:lpstr>Arial Unicode MS</vt:lpstr>
      <vt:lpstr>等线</vt:lpstr>
      <vt:lpstr>汉仪中等线KW</vt:lpstr>
      <vt:lpstr>黑体</vt:lpstr>
      <vt:lpstr>Calibri</vt:lpstr>
      <vt:lpstr>Helvetica Neue</vt:lpstr>
      <vt:lpstr>微软雅黑</vt:lpstr>
      <vt:lpstr>汉仪书宋二KW</vt:lpstr>
      <vt:lpstr>1_Office 主题​​</vt:lpstr>
      <vt:lpstr>PowerPoint 演示文稿</vt:lpstr>
      <vt:lpstr>提醒事项</vt:lpstr>
      <vt:lpstr>提醒事项</vt:lpstr>
      <vt:lpstr>提醒事项</vt:lpstr>
      <vt:lpstr>PowerPoint 演示文稿</vt:lpstr>
      <vt:lpstr>用户体验的重要性</vt:lpstr>
      <vt:lpstr>术语</vt:lpstr>
      <vt:lpstr>历史</vt:lpstr>
      <vt:lpstr>可用性需求与评估工具</vt:lpstr>
      <vt:lpstr>可用性需求：焦点小组 (Focus Groups)</vt:lpstr>
      <vt:lpstr>可访问性 (Accessable) 需求</vt:lpstr>
      <vt:lpstr>设备需求</vt:lpstr>
      <vt:lpstr>分析/设计/构建/评估循环</vt:lpstr>
      <vt:lpstr>用户界面的开发流程</vt:lpstr>
      <vt:lpstr>原型</vt:lpstr>
      <vt:lpstr>纸质原型</vt:lpstr>
      <vt:lpstr>纸质原型</vt:lpstr>
      <vt:lpstr>线框图</vt:lpstr>
      <vt:lpstr>模型(Mock Up)图</vt:lpstr>
      <vt:lpstr>心智模型与计算机模型</vt:lpstr>
      <vt:lpstr>心智模型与计算机模型</vt:lpstr>
      <vt:lpstr>心智模型 vs. 计算机模型</vt:lpstr>
      <vt:lpstr>心智模型与用户体验</vt:lpstr>
      <vt:lpstr>模型-视图-控制器（MVC）</vt:lpstr>
      <vt:lpstr>模型-视图-控制器（MVC）</vt:lpstr>
      <vt:lpstr>计算机系统与网络</vt:lpstr>
      <vt:lpstr>模型：内容与数据</vt:lpstr>
      <vt:lpstr>模型：内容与数据</vt:lpstr>
      <vt:lpstr>内容与视图的分离</vt:lpstr>
      <vt:lpstr>模型：内容与视图的分离</vt:lpstr>
      <vt:lpstr>导航</vt:lpstr>
      <vt:lpstr>视图：用户界面</vt:lpstr>
      <vt:lpstr>用户界面设计原则</vt:lpstr>
      <vt:lpstr>导航：菜单</vt:lpstr>
      <vt:lpstr>避免花哨 </vt:lpstr>
      <vt:lpstr>简单就是好 </vt:lpstr>
      <vt:lpstr>用户界面设计中的选择</vt:lpstr>
      <vt:lpstr>用户界面设计中的选择</vt:lpstr>
      <vt:lpstr>用户界面设计中的选择</vt:lpstr>
      <vt:lpstr>设计选择：信息呈现</vt:lpstr>
      <vt:lpstr>简单就是好：命令行界面</vt:lpstr>
      <vt:lpstr>期末项目要求</vt:lpstr>
      <vt:lpstr>PowerPoint 演示文稿</vt:lpstr>
      <vt:lpstr>系统和网络</vt:lpstr>
      <vt:lpstr>计算机系统与网络：设备感知界面</vt:lpstr>
      <vt:lpstr>网络</vt:lpstr>
      <vt:lpstr>智能手机和平板电脑：屏幕尺寸</vt:lpstr>
      <vt:lpstr>屏幕尺寸：移动开发模拟器</vt:lpstr>
      <vt:lpstr>智能手机：可访问性</vt:lpstr>
      <vt:lpstr>屏幕尺寸：响应式网页设计</vt:lpstr>
      <vt:lpstr>响应式网页设计</vt:lpstr>
      <vt:lpstr>响应式网页设计</vt:lpstr>
      <vt:lpstr>响应式网页设计</vt:lpstr>
      <vt:lpstr>用户界面设计：导航</vt:lpstr>
      <vt:lpstr>导航：页面和屏幕的组织</vt:lpstr>
      <vt:lpstr>导航：用户测试</vt:lpstr>
      <vt:lpstr>移动应用：开发环境</vt:lpstr>
      <vt:lpstr>移动应用：开发环境</vt:lpstr>
      <vt:lpstr>移动应用：开发环境</vt:lpstr>
      <vt:lpstr>移动应用：设计挑战</vt:lpstr>
      <vt:lpstr>移动应用：惯例</vt:lpstr>
      <vt:lpstr>移动应用：惯例</vt:lpstr>
      <vt:lpstr>网页和移动应用中的设计张力</vt:lpstr>
      <vt:lpstr>可用性与成本</vt:lpstr>
      <vt:lpstr>PowerPoint 演示文稿</vt:lpstr>
      <vt:lpstr>分析/设计/构建/评估循环</vt:lpstr>
      <vt:lpstr>评估</vt:lpstr>
      <vt:lpstr>评估</vt:lpstr>
      <vt:lpstr>与用户一起评估的阶段</vt:lpstr>
      <vt:lpstr>与用户一起评估：准备</vt:lpstr>
      <vt:lpstr>可用性实验室</vt:lpstr>
      <vt:lpstr>与用户一起评估：执行</vt:lpstr>
      <vt:lpstr>评估：用户数量</vt:lpstr>
      <vt:lpstr>结果分析</vt:lpstr>
      <vt:lpstr>谷歌的眼动追踪</vt:lpstr>
      <vt:lpstr>谷歌的眼动追踪</vt:lpstr>
      <vt:lpstr>评估示例：眼动追踪</vt:lpstr>
      <vt:lpstr>基于测量的评估</vt:lpstr>
      <vt:lpstr>基于测量的评估</vt:lpstr>
      <vt:lpstr>基于评估改进设计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子豪 任</dc:creator>
  <cp:lastModifiedBy>刘光迟</cp:lastModifiedBy>
  <cp:revision>316</cp:revision>
  <dcterms:created xsi:type="dcterms:W3CDTF">2026-04-02T05:32:52Z</dcterms:created>
  <dcterms:modified xsi:type="dcterms:W3CDTF">2026-04-02T05:32:52Z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BC4FFA07B805457784FFCD69F664080E_43</vt:lpwstr>
  </property>
  <property fmtid="{D5CDD505-2E9C-101B-9397-08002B2CF9AE}" pid="3" name="KSOProductBuildVer">
    <vt:lpwstr>1033-7.2.2.8955</vt:lpwstr>
  </property>
</Properties>
</file>