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887" r:id="rId3"/>
    <p:sldId id="888" r:id="rId5"/>
    <p:sldId id="889" r:id="rId6"/>
    <p:sldId id="1029" r:id="rId7"/>
    <p:sldId id="890" r:id="rId8"/>
    <p:sldId id="891" r:id="rId9"/>
    <p:sldId id="892" r:id="rId10"/>
    <p:sldId id="893" r:id="rId11"/>
    <p:sldId id="894" r:id="rId12"/>
    <p:sldId id="895" r:id="rId13"/>
    <p:sldId id="896" r:id="rId14"/>
    <p:sldId id="897" r:id="rId15"/>
    <p:sldId id="898" r:id="rId16"/>
    <p:sldId id="899" r:id="rId17"/>
    <p:sldId id="900" r:id="rId18"/>
    <p:sldId id="901" r:id="rId19"/>
    <p:sldId id="902" r:id="rId20"/>
    <p:sldId id="903" r:id="rId21"/>
    <p:sldId id="904" r:id="rId22"/>
    <p:sldId id="905" r:id="rId23"/>
    <p:sldId id="906" r:id="rId24"/>
    <p:sldId id="907" r:id="rId25"/>
    <p:sldId id="908" r:id="rId26"/>
    <p:sldId id="909" r:id="rId27"/>
    <p:sldId id="910" r:id="rId28"/>
    <p:sldId id="911" r:id="rId29"/>
    <p:sldId id="912" r:id="rId30"/>
    <p:sldId id="913" r:id="rId31"/>
    <p:sldId id="914" r:id="rId32"/>
    <p:sldId id="915" r:id="rId33"/>
    <p:sldId id="916" r:id="rId34"/>
    <p:sldId id="917" r:id="rId35"/>
    <p:sldId id="918" r:id="rId36"/>
    <p:sldId id="919" r:id="rId37"/>
    <p:sldId id="920" r:id="rId38"/>
    <p:sldId id="921" r:id="rId39"/>
    <p:sldId id="922" r:id="rId40"/>
    <p:sldId id="923" r:id="rId41"/>
    <p:sldId id="924" r:id="rId42"/>
    <p:sldId id="925" r:id="rId43"/>
    <p:sldId id="926" r:id="rId44"/>
    <p:sldId id="927" r:id="rId45"/>
    <p:sldId id="928" r:id="rId46"/>
    <p:sldId id="929" r:id="rId47"/>
    <p:sldId id="930" r:id="rId48"/>
    <p:sldId id="931" r:id="rId49"/>
    <p:sldId id="932" r:id="rId50"/>
    <p:sldId id="933" r:id="rId51"/>
    <p:sldId id="934" r:id="rId52"/>
    <p:sldId id="935" r:id="rId53"/>
    <p:sldId id="936" r:id="rId54"/>
    <p:sldId id="937" r:id="rId55"/>
    <p:sldId id="938" r:id="rId56"/>
    <p:sldId id="939" r:id="rId57"/>
    <p:sldId id="940" r:id="rId58"/>
    <p:sldId id="941" r:id="rId59"/>
    <p:sldId id="942" r:id="rId60"/>
    <p:sldId id="943" r:id="rId61"/>
    <p:sldId id="944" r:id="rId62"/>
    <p:sldId id="945" r:id="rId63"/>
    <p:sldId id="946" r:id="rId64"/>
    <p:sldId id="947" r:id="rId65"/>
    <p:sldId id="948" r:id="rId66"/>
    <p:sldId id="949" r:id="rId67"/>
    <p:sldId id="950" r:id="rId68"/>
    <p:sldId id="951" r:id="rId69"/>
    <p:sldId id="952" r:id="rId70"/>
    <p:sldId id="953" r:id="rId71"/>
    <p:sldId id="954" r:id="rId72"/>
    <p:sldId id="955" r:id="rId73"/>
    <p:sldId id="956" r:id="rId74"/>
    <p:sldId id="957" r:id="rId75"/>
    <p:sldId id="958" r:id="rId76"/>
    <p:sldId id="959" r:id="rId77"/>
    <p:sldId id="960" r:id="rId78"/>
    <p:sldId id="961" r:id="rId79"/>
    <p:sldId id="962" r:id="rId80"/>
    <p:sldId id="963" r:id="rId81"/>
    <p:sldId id="964" r:id="rId82"/>
    <p:sldId id="965" r:id="rId83"/>
    <p:sldId id="966" r:id="rId84"/>
    <p:sldId id="967" r:id="rId85"/>
    <p:sldId id="968" r:id="rId86"/>
    <p:sldId id="969" r:id="rId87"/>
    <p:sldId id="970" r:id="rId88"/>
    <p:sldId id="971" r:id="rId89"/>
    <p:sldId id="972" r:id="rId90"/>
    <p:sldId id="973" r:id="rId91"/>
    <p:sldId id="974" r:id="rId92"/>
    <p:sldId id="975" r:id="rId93"/>
    <p:sldId id="976" r:id="rId94"/>
    <p:sldId id="977" r:id="rId95"/>
    <p:sldId id="978" r:id="rId96"/>
    <p:sldId id="979" r:id="rId97"/>
    <p:sldId id="980" r:id="rId98"/>
    <p:sldId id="981" r:id="rId99"/>
    <p:sldId id="982" r:id="rId100"/>
    <p:sldId id="983" r:id="rId101"/>
    <p:sldId id="984" r:id="rId102"/>
    <p:sldId id="985" r:id="rId103"/>
    <p:sldId id="986" r:id="rId104"/>
    <p:sldId id="987" r:id="rId105"/>
    <p:sldId id="988" r:id="rId106"/>
    <p:sldId id="989" r:id="rId107"/>
    <p:sldId id="990" r:id="rId108"/>
    <p:sldId id="991" r:id="rId109"/>
    <p:sldId id="992" r:id="rId110"/>
    <p:sldId id="993" r:id="rId111"/>
    <p:sldId id="994" r:id="rId112"/>
    <p:sldId id="995" r:id="rId113"/>
    <p:sldId id="996" r:id="rId114"/>
    <p:sldId id="997" r:id="rId115"/>
    <p:sldId id="998" r:id="rId116"/>
    <p:sldId id="999" r:id="rId117"/>
    <p:sldId id="1000" r:id="rId118"/>
    <p:sldId id="1001" r:id="rId119"/>
    <p:sldId id="1002" r:id="rId120"/>
    <p:sldId id="1003" r:id="rId121"/>
    <p:sldId id="1004" r:id="rId122"/>
    <p:sldId id="1005" r:id="rId123"/>
    <p:sldId id="1028" r:id="rId12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15223"/>
    <a:srgbClr val="5377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814" autoAdjust="0"/>
    <p:restoredTop sz="94957"/>
  </p:normalViewPr>
  <p:slideViewPr>
    <p:cSldViewPr snapToGrid="0">
      <p:cViewPr varScale="1">
        <p:scale>
          <a:sx n="215" d="100"/>
          <a:sy n="215" d="100"/>
        </p:scale>
        <p:origin x="5008" y="2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7" Type="http://schemas.openxmlformats.org/officeDocument/2006/relationships/tableStyles" Target="tableStyles.xml"/><Relationship Id="rId126" Type="http://schemas.openxmlformats.org/officeDocument/2006/relationships/viewProps" Target="viewProps.xml"/><Relationship Id="rId125" Type="http://schemas.openxmlformats.org/officeDocument/2006/relationships/presProps" Target="presProps.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AB7413-AF54-469D-ABFD-75D5619B0007}"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0A31E6-CBE9-40EA-A2F4-8D17CCD5DDDB}"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7" Type="http://schemas.openxmlformats.org/officeDocument/2006/relationships/hyperlink" Target="https://zhuanlan.zhihu.com/p/335298500" TargetMode="External"/><Relationship Id="rId6" Type="http://schemas.openxmlformats.org/officeDocument/2006/relationships/hyperlink" Target="https://weibo.com/p/1005052284144087/photos?type=photo" TargetMode="External"/><Relationship Id="rId5" Type="http://schemas.openxmlformats.org/officeDocument/2006/relationships/hyperlink" Target="https://www.seu.edu.cn/bsxtwxw/main.htm" TargetMode="External"/><Relationship Id="rId4" Type="http://schemas.openxmlformats.org/officeDocument/2006/relationships/hyperlink" Target="https://mp.weixin.qq.com/mp/profile_ext?action=home&amp;__biz=MzA4MzM3Mzc3Ng==&amp;scene=124#wechat_redirect" TargetMode="External"/><Relationship Id="rId3" Type="http://schemas.openxmlformats.org/officeDocument/2006/relationships/hyperlink" Target="http://www.officeplus.cn/p/51/102751.shtml" TargetMode="External"/><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5.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85750" indent="-285750">
              <a:lnSpc>
                <a:spcPct val="150000"/>
              </a:lnSpc>
              <a:buFont typeface="Arial" panose="020B0604020202090204" pitchFamily="34" charset="0"/>
              <a:buChar char="•"/>
            </a:pPr>
            <a:r>
              <a:rPr lang="zh-CN" altLang="en-US" dirty="0">
                <a:cs typeface="+mn-ea"/>
                <a:sym typeface="+mn-lt"/>
              </a:rPr>
              <a:t>本模板基于“</a:t>
            </a:r>
            <a:r>
              <a:rPr lang="zh-CN" altLang="en-US" dirty="0">
                <a:hlinkClick r:id="rId3"/>
              </a:rPr>
              <a:t>中国科学院大学</a:t>
            </a:r>
            <a:r>
              <a:rPr lang="en-US" altLang="zh-CN" dirty="0">
                <a:hlinkClick r:id="rId3"/>
              </a:rPr>
              <a:t>-</a:t>
            </a:r>
            <a:r>
              <a:rPr lang="zh-CN" altLang="en-US" dirty="0">
                <a:hlinkClick r:id="rId3"/>
              </a:rPr>
              <a:t>路人丁</a:t>
            </a:r>
            <a:r>
              <a:rPr lang="en-US" altLang="zh-CN" dirty="0">
                <a:hlinkClick r:id="rId3"/>
              </a:rPr>
              <a:t>-PPT</a:t>
            </a:r>
            <a:r>
              <a:rPr lang="zh-CN" altLang="en-US" dirty="0">
                <a:hlinkClick r:id="rId3"/>
              </a:rPr>
              <a:t>模板</a:t>
            </a:r>
            <a:r>
              <a:rPr lang="zh-CN" altLang="en-US" dirty="0"/>
              <a:t>”魔改而成，著作权归该作者所有。</a:t>
            </a:r>
            <a:endParaRPr lang="en-US" altLang="zh-CN" dirty="0"/>
          </a:p>
          <a:p>
            <a:pPr marL="285750" indent="-285750">
              <a:lnSpc>
                <a:spcPct val="150000"/>
              </a:lnSpc>
              <a:buFont typeface="Arial" panose="020B0604020202090204" pitchFamily="34" charset="0"/>
              <a:buChar char="•"/>
            </a:pPr>
            <a:r>
              <a:rPr lang="zh-CN" altLang="en-US" dirty="0"/>
              <a:t>本模板中使用的东南大学校徽、校标文字组合、校训文字等素材来自于微信公众号“</a:t>
            </a:r>
            <a:r>
              <a:rPr lang="zh-CN" altLang="en-US" dirty="0">
                <a:hlinkClick r:id="rId4"/>
              </a:rPr>
              <a:t>金木屋</a:t>
            </a:r>
            <a:r>
              <a:rPr lang="zh-CN" altLang="en-US" dirty="0"/>
              <a:t>”。</a:t>
            </a:r>
            <a:endParaRPr lang="en-US" altLang="zh-CN" dirty="0"/>
          </a:p>
          <a:p>
            <a:pPr marL="285750" indent="-285750">
              <a:lnSpc>
                <a:spcPct val="150000"/>
              </a:lnSpc>
              <a:buFont typeface="Arial" panose="020B0604020202090204" pitchFamily="34" charset="0"/>
              <a:buChar char="•"/>
            </a:pPr>
            <a:r>
              <a:rPr lang="zh-CN" altLang="en-US" dirty="0"/>
              <a:t>本模板的视觉设计参考了“</a:t>
            </a:r>
            <a:r>
              <a:rPr lang="zh-CN" altLang="en-US" dirty="0">
                <a:hlinkClick r:id="rId5"/>
              </a:rPr>
              <a:t>东南大学视觉识别系统</a:t>
            </a:r>
            <a:r>
              <a:rPr lang="zh-CN" altLang="en-US" dirty="0"/>
              <a:t>”。</a:t>
            </a:r>
            <a:endParaRPr lang="en-US" altLang="zh-CN" dirty="0"/>
          </a:p>
          <a:p>
            <a:pPr marL="285750" indent="-285750">
              <a:lnSpc>
                <a:spcPct val="150000"/>
              </a:lnSpc>
              <a:buFont typeface="Arial" panose="020B0604020202090204" pitchFamily="34" charset="0"/>
              <a:buChar char="•"/>
            </a:pPr>
            <a:r>
              <a:rPr lang="zh-CN" altLang="en-US" dirty="0"/>
              <a:t>人物介绍页头像素材来自 </a:t>
            </a:r>
            <a:r>
              <a:rPr lang="zh-CN" altLang="en-US" dirty="0">
                <a:hlinkClick r:id="rId6"/>
              </a:rPr>
              <a:t>小肥柴</a:t>
            </a:r>
            <a:r>
              <a:rPr lang="zh-CN" altLang="en-US" dirty="0"/>
              <a:t>。</a:t>
            </a:r>
            <a:endParaRPr lang="en-US" altLang="zh-CN" dirty="0"/>
          </a:p>
          <a:p>
            <a:pPr marL="285750" indent="-285750">
              <a:lnSpc>
                <a:spcPct val="150000"/>
              </a:lnSpc>
              <a:buFont typeface="Arial" panose="020B0604020202090204" pitchFamily="34" charset="0"/>
              <a:buChar char="•"/>
            </a:pPr>
            <a:endParaRPr lang="en-US" altLang="zh-CN" sz="800" dirty="0"/>
          </a:p>
          <a:p>
            <a:pPr marL="285750" indent="-285750">
              <a:lnSpc>
                <a:spcPct val="150000"/>
              </a:lnSpc>
              <a:buFont typeface="Arial" panose="020B0604020202090204" pitchFamily="34" charset="0"/>
              <a:buChar char="•"/>
            </a:pPr>
            <a:r>
              <a:rPr lang="zh-CN" altLang="en-US" dirty="0"/>
              <a:t>本模板力求简洁，布局合理，主次分明。以学术风为设计理念，适用于学术报告与论文答辩等相关应用场景。模板未使用任何动画效果。</a:t>
            </a:r>
            <a:endParaRPr lang="en-US" altLang="zh-CN" dirty="0"/>
          </a:p>
          <a:p>
            <a:pPr marL="285750" indent="-285750">
              <a:lnSpc>
                <a:spcPct val="150000"/>
              </a:lnSpc>
              <a:buFont typeface="Arial" panose="020B0604020202090204" pitchFamily="34" charset="0"/>
              <a:buChar char="•"/>
            </a:pPr>
            <a:r>
              <a:rPr lang="zh-CN" altLang="en-US" dirty="0"/>
              <a:t>您仅可以以个人非商业用途使用本</a:t>
            </a:r>
            <a:r>
              <a:rPr lang="en-US" altLang="zh-CN" dirty="0"/>
              <a:t>PPT</a:t>
            </a:r>
            <a:r>
              <a:rPr lang="zh-CN" altLang="en-US" dirty="0"/>
              <a:t>模板，不可将信息内容的全部或部分用以出售，或以出租、出借、转让、分销、发布等其他任何方式供其他人使用。</a:t>
            </a:r>
            <a:endParaRPr lang="en-US" altLang="zh-CN" dirty="0"/>
          </a:p>
          <a:p>
            <a:pPr marL="285750" indent="-285750">
              <a:lnSpc>
                <a:spcPct val="150000"/>
              </a:lnSpc>
              <a:buFont typeface="Arial" panose="020B0604020202090204" pitchFamily="34" charset="0"/>
              <a:buChar char="•"/>
            </a:pPr>
            <a:endParaRPr lang="en-US" altLang="zh-CN" sz="800" dirty="0"/>
          </a:p>
          <a:p>
            <a:pPr marL="285750" indent="-285750">
              <a:lnSpc>
                <a:spcPct val="150000"/>
              </a:lnSpc>
              <a:buFont typeface="Arial" panose="020B0604020202090204" pitchFamily="34" charset="0"/>
              <a:buChar char="•"/>
            </a:pPr>
            <a:r>
              <a:rPr lang="zh-CN" altLang="en-US" dirty="0"/>
              <a:t>欢迎 </a:t>
            </a:r>
            <a:r>
              <a:rPr lang="zh-CN" altLang="en-US" dirty="0">
                <a:hlinkClick r:id="rId7"/>
              </a:rPr>
              <a:t>持续关注东南大学止于至善学术风</a:t>
            </a:r>
            <a:r>
              <a:rPr lang="en-US" altLang="zh-CN" dirty="0">
                <a:hlinkClick r:id="rId7"/>
              </a:rPr>
              <a:t> PPT </a:t>
            </a:r>
            <a:r>
              <a:rPr lang="zh-CN" altLang="en-US" dirty="0">
                <a:hlinkClick r:id="rId7"/>
              </a:rPr>
              <a:t>模板</a:t>
            </a:r>
            <a:r>
              <a:rPr lang="zh-CN" altLang="en-US" dirty="0"/>
              <a:t> （</a:t>
            </a:r>
            <a:r>
              <a:rPr lang="en-US" altLang="zh-CN" sz="1200" b="0" i="0" kern="1200" dirty="0">
                <a:solidFill>
                  <a:schemeClr val="tx1"/>
                </a:solidFill>
                <a:effectLst/>
                <a:latin typeface="+mn-lt"/>
                <a:ea typeface="+mn-ea"/>
                <a:cs typeface="+mn-cs"/>
              </a:rPr>
              <a:t>https://</a:t>
            </a:r>
            <a:r>
              <a:rPr lang="en-US" altLang="zh-CN" sz="1200" b="0" i="0" kern="1200" dirty="0" err="1">
                <a:solidFill>
                  <a:schemeClr val="tx1"/>
                </a:solidFill>
                <a:effectLst/>
                <a:latin typeface="+mn-lt"/>
                <a:ea typeface="+mn-ea"/>
                <a:cs typeface="+mn-cs"/>
              </a:rPr>
              <a:t>zhuanlan.zhihu.com</a:t>
            </a:r>
            <a:r>
              <a:rPr lang="en-US" altLang="zh-CN" sz="1200" b="0" i="0" kern="1200" dirty="0">
                <a:solidFill>
                  <a:schemeClr val="tx1"/>
                </a:solidFill>
                <a:effectLst/>
                <a:latin typeface="+mn-lt"/>
                <a:ea typeface="+mn-ea"/>
                <a:cs typeface="+mn-cs"/>
              </a:rPr>
              <a:t>/p/335298500</a:t>
            </a:r>
            <a:r>
              <a:rPr lang="zh-CN" altLang="en-US" dirty="0"/>
              <a:t>）后续的功能优化及多语言更新版本。</a:t>
            </a:r>
            <a:endParaRPr lang="en-US" altLang="zh-CN" dirty="0"/>
          </a:p>
          <a:p>
            <a:pPr marL="285750" indent="-285750">
              <a:lnSpc>
                <a:spcPct val="150000"/>
              </a:lnSpc>
              <a:buFont typeface="Arial" panose="020B0604020202090204" pitchFamily="34" charset="0"/>
              <a:buChar char="•"/>
            </a:pPr>
            <a:r>
              <a:rPr lang="zh-CN" altLang="en-US" dirty="0"/>
              <a:t>最后，祝汇报顺利，马到成功！</a:t>
            </a:r>
            <a:endParaRPr lang="en-US" altLang="zh-CN" dirty="0"/>
          </a:p>
          <a:p>
            <a:pPr marL="285750" indent="-285750">
              <a:lnSpc>
                <a:spcPct val="150000"/>
              </a:lnSpc>
              <a:buFont typeface="Arial" panose="020B0604020202090204" pitchFamily="34" charset="0"/>
              <a:buChar char="•"/>
            </a:pPr>
            <a:endParaRPr lang="en-US" altLang="zh-CN" dirty="0"/>
          </a:p>
          <a:p>
            <a:pPr marL="285750" marR="0" lvl="0" indent="-285750" algn="l" defTabSz="914400" rtl="0" eaLnBrk="1" fontAlgn="auto" latinLnBrk="0" hangingPunct="1">
              <a:lnSpc>
                <a:spcPct val="150000"/>
              </a:lnSpc>
              <a:spcBef>
                <a:spcPts val="0"/>
              </a:spcBef>
              <a:spcAft>
                <a:spcPts val="0"/>
              </a:spcAft>
              <a:buClrTx/>
              <a:buSzTx/>
              <a:buFont typeface="Arial" panose="020B0604020202090204" pitchFamily="34" charset="0"/>
              <a:buChar char="•"/>
              <a:defRPr/>
            </a:pPr>
            <a:r>
              <a:rPr kumimoji="1" lang="en-US" altLang="zh-CN" dirty="0">
                <a:latin typeface="+mn-ea"/>
                <a:cs typeface="Arial" panose="020B0604020202090204" pitchFamily="34" charset="0"/>
              </a:rPr>
              <a:t>Version:</a:t>
            </a:r>
            <a:r>
              <a:rPr kumimoji="1" lang="zh-CN" altLang="en-US" dirty="0">
                <a:latin typeface="+mn-ea"/>
                <a:cs typeface="Arial" panose="020B0604020202090204" pitchFamily="34" charset="0"/>
              </a:rPr>
              <a:t> </a:t>
            </a:r>
            <a:r>
              <a:rPr kumimoji="1" lang="en-US" altLang="zh-CN" dirty="0">
                <a:latin typeface="+mn-ea"/>
                <a:cs typeface="Arial" panose="020B0604020202090204" pitchFamily="34" charset="0"/>
              </a:rPr>
              <a:t>(2021) v1.5-en.</a:t>
            </a:r>
            <a:endParaRPr kumimoji="1" lang="zh-CN" altLang="en-US" dirty="0">
              <a:latin typeface="+mn-ea"/>
              <a:cs typeface="Arial" panose="020B0604020202090204" pitchFamily="34" charset="0"/>
            </a:endParaRPr>
          </a:p>
        </p:txBody>
      </p:sp>
      <p:sp>
        <p:nvSpPr>
          <p:cNvPr id="4" name="灯片编号占位符 3"/>
          <p:cNvSpPr>
            <a:spLocks noGrp="1"/>
          </p:cNvSpPr>
          <p:nvPr>
            <p:ph type="sldNum" sz="quarter" idx="5"/>
          </p:nvPr>
        </p:nvSpPr>
        <p:spPr/>
        <p:txBody>
          <a:bodyPr/>
          <a:lstStyle/>
          <a:p>
            <a:fld id="{6371B729-817F-448C-AF52-5327A9569471}"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371B729-817F-448C-AF52-5327A9569471}"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371B729-817F-448C-AF52-5327A9569471}"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371B729-817F-448C-AF52-5327A9569471}"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00A31E6-CBE9-40EA-A2F4-8D17CCD5DDDB}"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0A31E6-CBE9-40EA-A2F4-8D17CCD5DDDB}"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0A31E6-CBE9-40EA-A2F4-8D17CCD5DDDB}"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0A31E6-CBE9-40EA-A2F4-8D17CCD5DDDB}"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0A31E6-CBE9-40EA-A2F4-8D17CCD5DDDB}"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0A31E6-CBE9-40EA-A2F4-8D17CCD5DDDB}"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0A31E6-CBE9-40EA-A2F4-8D17CCD5DDDB}"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0A31E6-CBE9-40EA-A2F4-8D17CCD5DDDB}"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0A31E6-CBE9-40EA-A2F4-8D17CCD5DDDB}"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0A31E6-CBE9-40EA-A2F4-8D17CCD5DDDB}"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0A31E6-CBE9-40EA-A2F4-8D17CCD5DDDB}"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0A31E6-CBE9-40EA-A2F4-8D17CCD5DDDB}"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00A31E6-CBE9-40EA-A2F4-8D17CCD5DDDB}"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371B729-817F-448C-AF52-5327A9569471}"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幻灯片1">
    <p:bg>
      <p:bgPr>
        <a:solidFill>
          <a:schemeClr val="bg1"/>
        </a:solidFill>
        <a:effectLst/>
      </p:bgPr>
    </p:bg>
    <p:spTree>
      <p:nvGrpSpPr>
        <p:cNvPr id="1" name=""/>
        <p:cNvGrpSpPr/>
        <p:nvPr/>
      </p:nvGrpSpPr>
      <p:grpSpPr>
        <a:xfrm>
          <a:off x="0" y="0"/>
          <a:ext cx="0" cy="0"/>
          <a:chOff x="0" y="0"/>
          <a:chExt cx="0" cy="0"/>
        </a:xfrm>
      </p:grpSpPr>
      <p:sp>
        <p:nvSpPr>
          <p:cNvPr id="47" name="箭头: 五边形 46"/>
          <p:cNvSpPr/>
          <p:nvPr userDrawn="1"/>
        </p:nvSpPr>
        <p:spPr>
          <a:xfrm rot="5400000">
            <a:off x="-1070579" y="2025798"/>
            <a:ext cx="6858002" cy="2806406"/>
          </a:xfrm>
          <a:prstGeom prst="homePlate">
            <a:avLst>
              <a:gd name="adj" fmla="val 3223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solidFill>
                <a:schemeClr val="accent6"/>
              </a:solidFill>
              <a:latin typeface="Helvetica Regular" pitchFamily="2" charset="0"/>
            </a:endParaRPr>
          </a:p>
        </p:txBody>
      </p:sp>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93142" y="2263721"/>
            <a:ext cx="2330560" cy="233056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页版式">
    <p:bg>
      <p:bgPr>
        <a:solidFill>
          <a:schemeClr val="bg1"/>
        </a:solidFill>
        <a:effectLst/>
      </p:bgPr>
    </p:bg>
    <p:spTree>
      <p:nvGrpSpPr>
        <p:cNvPr id="1" name=""/>
        <p:cNvGrpSpPr/>
        <p:nvPr/>
      </p:nvGrpSpPr>
      <p:grpSpPr>
        <a:xfrm>
          <a:off x="0" y="0"/>
          <a:ext cx="0" cy="0"/>
          <a:chOff x="0" y="0"/>
          <a:chExt cx="0" cy="0"/>
        </a:xfrm>
      </p:grpSpPr>
      <p:sp>
        <p:nvSpPr>
          <p:cNvPr id="85" name="任意多边形: 形状 84"/>
          <p:cNvSpPr/>
          <p:nvPr userDrawn="1"/>
        </p:nvSpPr>
        <p:spPr bwMode="auto">
          <a:xfrm rot="5400000">
            <a:off x="4539448" y="-380490"/>
            <a:ext cx="3113105" cy="2609911"/>
          </a:xfrm>
          <a:custGeom>
            <a:avLst/>
            <a:gdLst>
              <a:gd name="connsiteX0" fmla="*/ 0 w 3113105"/>
              <a:gd name="connsiteY0" fmla="*/ 2609911 h 2609911"/>
              <a:gd name="connsiteX1" fmla="*/ 0 w 3113105"/>
              <a:gd name="connsiteY1" fmla="*/ 0 h 2609911"/>
              <a:gd name="connsiteX2" fmla="*/ 2301594 w 3113105"/>
              <a:gd name="connsiteY2" fmla="*/ 0 h 2609911"/>
              <a:gd name="connsiteX3" fmla="*/ 3113105 w 3113105"/>
              <a:gd name="connsiteY3" fmla="*/ 1304956 h 2609911"/>
              <a:gd name="connsiteX4" fmla="*/ 2301594 w 3113105"/>
              <a:gd name="connsiteY4" fmla="*/ 2609910 h 2609911"/>
              <a:gd name="connsiteX5" fmla="*/ 2301594 w 3113105"/>
              <a:gd name="connsiteY5" fmla="*/ 2609911 h 2609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13105" h="2609911">
                <a:moveTo>
                  <a:pt x="0" y="2609911"/>
                </a:moveTo>
                <a:lnTo>
                  <a:pt x="0" y="0"/>
                </a:lnTo>
                <a:lnTo>
                  <a:pt x="2301594" y="0"/>
                </a:lnTo>
                <a:lnTo>
                  <a:pt x="3113105" y="1304956"/>
                </a:lnTo>
                <a:lnTo>
                  <a:pt x="2301594" y="2609910"/>
                </a:lnTo>
                <a:lnTo>
                  <a:pt x="2301594" y="2609911"/>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bg1"/>
              </a:solidFill>
              <a:latin typeface="Helvetica Regular" pitchFamily="2" charset="0"/>
              <a:cs typeface="+mn-ea"/>
              <a:sym typeface="+mn-lt"/>
            </a:endParaRPr>
          </a:p>
        </p:txBody>
      </p:sp>
      <p:sp>
        <p:nvSpPr>
          <p:cNvPr id="86" name="文本框 85"/>
          <p:cNvSpPr txBox="1"/>
          <p:nvPr userDrawn="1"/>
        </p:nvSpPr>
        <p:spPr>
          <a:xfrm>
            <a:off x="4781377" y="483991"/>
            <a:ext cx="2629246" cy="908262"/>
          </a:xfrm>
          <a:prstGeom prst="rect">
            <a:avLst/>
          </a:prstGeom>
          <a:noFill/>
        </p:spPr>
        <p:txBody>
          <a:bodyPr wrap="none" rtlCol="0">
            <a:spAutoFit/>
          </a:bodyPr>
          <a:lstStyle/>
          <a:p>
            <a:pPr>
              <a:lnSpc>
                <a:spcPct val="130000"/>
              </a:lnSpc>
            </a:pPr>
            <a:r>
              <a:rPr lang="en-US" altLang="zh-CN" sz="4400" b="1" i="0" dirty="0">
                <a:solidFill>
                  <a:schemeClr val="bg1"/>
                </a:solidFill>
                <a:latin typeface="Helvetica" pitchFamily="2" charset="0"/>
                <a:cs typeface="Arial" panose="020B0604020202090204" pitchFamily="34" charset="0"/>
                <a:sym typeface="+mn-lt"/>
              </a:rPr>
              <a:t>Contents</a:t>
            </a:r>
            <a:endParaRPr lang="zh-CN" altLang="en-US" sz="4400" b="1" i="0" dirty="0">
              <a:solidFill>
                <a:schemeClr val="bg1"/>
              </a:solidFill>
              <a:latin typeface="Helvetica" pitchFamily="2" charset="0"/>
              <a:cs typeface="Arial" panose="020B0604020202090204" pitchFamily="34" charset="0"/>
              <a:sym typeface="+mn-lt"/>
            </a:endParaRPr>
          </a:p>
        </p:txBody>
      </p:sp>
      <p:sp>
        <p:nvSpPr>
          <p:cNvPr id="87" name="任意多边形: 形状 86"/>
          <p:cNvSpPr/>
          <p:nvPr userDrawn="1"/>
        </p:nvSpPr>
        <p:spPr bwMode="auto">
          <a:xfrm rot="5400000">
            <a:off x="4384812" y="-485285"/>
            <a:ext cx="3422377" cy="3128773"/>
          </a:xfrm>
          <a:custGeom>
            <a:avLst/>
            <a:gdLst>
              <a:gd name="connsiteX0" fmla="*/ 0 w 3422377"/>
              <a:gd name="connsiteY0" fmla="*/ 3128773 h 3128773"/>
              <a:gd name="connsiteX1" fmla="*/ 0 w 3422377"/>
              <a:gd name="connsiteY1" fmla="*/ 0 h 3128773"/>
              <a:gd name="connsiteX2" fmla="*/ 2449535 w 3422377"/>
              <a:gd name="connsiteY2" fmla="*/ 0 h 3128773"/>
              <a:gd name="connsiteX3" fmla="*/ 3422377 w 3422377"/>
              <a:gd name="connsiteY3" fmla="*/ 1564387 h 3128773"/>
              <a:gd name="connsiteX4" fmla="*/ 2449535 w 3422377"/>
              <a:gd name="connsiteY4" fmla="*/ 3128772 h 3128773"/>
              <a:gd name="connsiteX5" fmla="*/ 2449535 w 3422377"/>
              <a:gd name="connsiteY5" fmla="*/ 3128773 h 3128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2377" h="3128773">
                <a:moveTo>
                  <a:pt x="0" y="3128773"/>
                </a:moveTo>
                <a:lnTo>
                  <a:pt x="0" y="0"/>
                </a:lnTo>
                <a:lnTo>
                  <a:pt x="2449535" y="0"/>
                </a:lnTo>
                <a:lnTo>
                  <a:pt x="3422377" y="1564387"/>
                </a:lnTo>
                <a:lnTo>
                  <a:pt x="2449535" y="3128772"/>
                </a:lnTo>
                <a:lnTo>
                  <a:pt x="2449535" y="3128773"/>
                </a:lnTo>
                <a:close/>
              </a:path>
            </a:pathLst>
          </a:custGeom>
          <a:noFill/>
          <a:ln w="12700">
            <a:solidFill>
              <a:schemeClr val="accent1"/>
            </a:solidFill>
            <a:prstDash val="lgDash"/>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bg1"/>
              </a:solidFill>
              <a:latin typeface="Helvetica Regular" pitchFamily="2" charset="0"/>
              <a:cs typeface="+mn-ea"/>
              <a:sym typeface="+mn-lt"/>
            </a:endParaRPr>
          </a:p>
        </p:txBody>
      </p:sp>
      <p:pic>
        <p:nvPicPr>
          <p:cNvPr id="89" name="图片 88"/>
          <p:cNvPicPr>
            <a:picLocks noChangeAspect="1"/>
          </p:cNvPicPr>
          <p:nvPr userDrawn="1"/>
        </p:nvPicPr>
        <p:blipFill>
          <a:blip r:embed="rId2">
            <a:alphaModFix amt="2000"/>
            <a:extLst>
              <a:ext uri="{28A0092B-C50C-407E-A947-70E740481C1C}">
                <a14:useLocalDpi xmlns:a14="http://schemas.microsoft.com/office/drawing/2010/main" val="0"/>
              </a:ext>
            </a:extLst>
          </a:blip>
          <a:stretch>
            <a:fillRect/>
          </a:stretch>
        </p:blipFill>
        <p:spPr>
          <a:xfrm>
            <a:off x="-3428999" y="0"/>
            <a:ext cx="6858000" cy="6858000"/>
          </a:xfrm>
          <a:prstGeom prst="rect">
            <a:avLst/>
          </a:prstGeom>
        </p:spPr>
      </p:pic>
      <p:pic>
        <p:nvPicPr>
          <p:cNvPr id="90" name="图片 89"/>
          <p:cNvPicPr>
            <a:picLocks noChangeAspect="1"/>
          </p:cNvPicPr>
          <p:nvPr userDrawn="1"/>
        </p:nvPicPr>
        <p:blipFill>
          <a:blip r:embed="rId2">
            <a:alphaModFix amt="2000"/>
            <a:extLst>
              <a:ext uri="{28A0092B-C50C-407E-A947-70E740481C1C}">
                <a14:useLocalDpi xmlns:a14="http://schemas.microsoft.com/office/drawing/2010/main" val="0"/>
              </a:ext>
            </a:extLst>
          </a:blip>
          <a:stretch>
            <a:fillRect/>
          </a:stretch>
        </p:blipFill>
        <p:spPr>
          <a:xfrm>
            <a:off x="8763000" y="0"/>
            <a:ext cx="6858000" cy="68580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转场-短标题1">
    <p:spTree>
      <p:nvGrpSpPr>
        <p:cNvPr id="1" name=""/>
        <p:cNvGrpSpPr/>
        <p:nvPr/>
      </p:nvGrpSpPr>
      <p:grpSpPr>
        <a:xfrm>
          <a:off x="0" y="0"/>
          <a:ext cx="0" cy="0"/>
          <a:chOff x="0" y="0"/>
          <a:chExt cx="0" cy="0"/>
        </a:xfrm>
      </p:grpSpPr>
      <p:sp>
        <p:nvSpPr>
          <p:cNvPr id="6" name="椭圆 5"/>
          <p:cNvSpPr/>
          <p:nvPr userDrawn="1"/>
        </p:nvSpPr>
        <p:spPr>
          <a:xfrm>
            <a:off x="3997387" y="1330387"/>
            <a:ext cx="4197226" cy="419722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elvetica" pitchFamily="2" charset="0"/>
            </a:endParaRPr>
          </a:p>
        </p:txBody>
      </p:sp>
      <p:sp>
        <p:nvSpPr>
          <p:cNvPr id="7" name="文本框 6"/>
          <p:cNvSpPr txBox="1"/>
          <p:nvPr userDrawn="1"/>
        </p:nvSpPr>
        <p:spPr>
          <a:xfrm>
            <a:off x="5093161" y="3044279"/>
            <a:ext cx="2068195" cy="769441"/>
          </a:xfrm>
          <a:prstGeom prst="rect">
            <a:avLst/>
          </a:prstGeom>
          <a:noFill/>
        </p:spPr>
        <p:txBody>
          <a:bodyPr wrap="none" rtlCol="0">
            <a:spAutoFit/>
          </a:bodyPr>
          <a:lstStyle/>
          <a:p>
            <a:pPr algn="ctr"/>
            <a:r>
              <a:rPr lang="en-US" altLang="zh-CN" sz="4400" b="1" i="0" dirty="0">
                <a:solidFill>
                  <a:schemeClr val="bg1"/>
                </a:solidFill>
                <a:latin typeface="Helvetica" pitchFamily="2" charset="0"/>
                <a:cs typeface="Arial" panose="020B0604020202090204" pitchFamily="34" charset="0"/>
              </a:rPr>
              <a:t>Part 01</a:t>
            </a:r>
            <a:endParaRPr lang="zh-CN" altLang="en-US" sz="4400" b="1" i="0" dirty="0">
              <a:solidFill>
                <a:schemeClr val="bg1"/>
              </a:solidFill>
              <a:latin typeface="Helvetica" pitchFamily="2" charset="0"/>
              <a:cs typeface="Arial" panose="020B0604020202090204" pitchFamily="34" charset="0"/>
            </a:endParaRPr>
          </a:p>
        </p:txBody>
      </p:sp>
      <p:cxnSp>
        <p:nvCxnSpPr>
          <p:cNvPr id="8" name="直接连接符 7"/>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椭圆 9"/>
          <p:cNvSpPr/>
          <p:nvPr userDrawn="1"/>
        </p:nvSpPr>
        <p:spPr>
          <a:xfrm>
            <a:off x="3775702" y="1108702"/>
            <a:ext cx="4640596" cy="4640596"/>
          </a:xfrm>
          <a:prstGeom prst="ellipse">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1" name="椭圆 10"/>
          <p:cNvSpPr/>
          <p:nvPr userDrawn="1"/>
        </p:nvSpPr>
        <p:spPr>
          <a:xfrm>
            <a:off x="9613900" y="5273613"/>
            <a:ext cx="764381" cy="76438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2" name="椭圆 11"/>
          <p:cNvSpPr/>
          <p:nvPr userDrawn="1"/>
        </p:nvSpPr>
        <p:spPr>
          <a:xfrm>
            <a:off x="2209800" y="6134100"/>
            <a:ext cx="1130300" cy="1130300"/>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3" name="椭圆 12"/>
          <p:cNvSpPr/>
          <p:nvPr userDrawn="1"/>
        </p:nvSpPr>
        <p:spPr>
          <a:xfrm>
            <a:off x="10818188" y="-911691"/>
            <a:ext cx="2092326" cy="2092326"/>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4" name="椭圆 13"/>
          <p:cNvSpPr/>
          <p:nvPr userDrawn="1"/>
        </p:nvSpPr>
        <p:spPr>
          <a:xfrm>
            <a:off x="-1048048" y="-250249"/>
            <a:ext cx="2861767" cy="2861767"/>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7" name="文本占位符 16"/>
          <p:cNvSpPr>
            <a:spLocks noGrp="1"/>
          </p:cNvSpPr>
          <p:nvPr>
            <p:ph type="body" sz="quarter" idx="10" hasCustomPrompt="1"/>
          </p:nvPr>
        </p:nvSpPr>
        <p:spPr>
          <a:xfrm>
            <a:off x="4098000" y="3951320"/>
            <a:ext cx="3996000" cy="914400"/>
          </a:xfrm>
        </p:spPr>
        <p:txBody>
          <a:bodyPr anchor="ctr" anchorCtr="0">
            <a:normAutofit/>
          </a:bodyPr>
          <a:lstStyle>
            <a:lvl1pPr marL="0" indent="0" algn="ctr">
              <a:buNone/>
              <a:defRPr sz="3200" b="1">
                <a:solidFill>
                  <a:schemeClr val="bg1"/>
                </a:solidFill>
                <a:latin typeface="Helvetica" pitchFamily="2" charset="0"/>
              </a:defRPr>
            </a:lvl1pPr>
          </a:lstStyle>
          <a:p>
            <a:pPr lvl="0"/>
            <a:r>
              <a:rPr lang="en-US" altLang="zh-CN" dirty="0"/>
              <a:t>Edit Here</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转场-短标题2">
    <p:spTree>
      <p:nvGrpSpPr>
        <p:cNvPr id="1" name=""/>
        <p:cNvGrpSpPr/>
        <p:nvPr/>
      </p:nvGrpSpPr>
      <p:grpSpPr>
        <a:xfrm>
          <a:off x="0" y="0"/>
          <a:ext cx="0" cy="0"/>
          <a:chOff x="0" y="0"/>
          <a:chExt cx="0" cy="0"/>
        </a:xfrm>
      </p:grpSpPr>
      <p:sp>
        <p:nvSpPr>
          <p:cNvPr id="6" name="等腰三角形 5"/>
          <p:cNvSpPr/>
          <p:nvPr userDrawn="1"/>
        </p:nvSpPr>
        <p:spPr>
          <a:xfrm>
            <a:off x="4000500" y="1050677"/>
            <a:ext cx="4191000" cy="4097866"/>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7" name="文本框 6"/>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90204" pitchFamily="34" charset="0"/>
              </a:rPr>
              <a:t>Part 02</a:t>
            </a:r>
            <a:endParaRPr lang="zh-CN" altLang="en-US" sz="4400" b="1" i="0" dirty="0">
              <a:solidFill>
                <a:schemeClr val="bg1"/>
              </a:solidFill>
              <a:latin typeface="Helvetica" pitchFamily="2" charset="0"/>
              <a:cs typeface="Arial" panose="020B0604020202090204" pitchFamily="34" charset="0"/>
            </a:endParaRPr>
          </a:p>
        </p:txBody>
      </p:sp>
      <p:cxnSp>
        <p:nvCxnSpPr>
          <p:cNvPr id="8" name="直接连接符 7"/>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等腰三角形 8"/>
          <p:cNvSpPr/>
          <p:nvPr userDrawn="1"/>
        </p:nvSpPr>
        <p:spPr>
          <a:xfrm>
            <a:off x="3564087" y="505131"/>
            <a:ext cx="5063826" cy="4951296"/>
          </a:xfrm>
          <a:prstGeom prst="triangle">
            <a:avLst/>
          </a:prstGeom>
          <a:noFill/>
          <a:ln>
            <a:solidFill>
              <a:srgbClr val="18388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0" name="等腰三角形 9"/>
          <p:cNvSpPr/>
          <p:nvPr userDrawn="1"/>
        </p:nvSpPr>
        <p:spPr>
          <a:xfrm rot="10800000">
            <a:off x="1390650" y="6496115"/>
            <a:ext cx="1493560" cy="1460370"/>
          </a:xfrm>
          <a:prstGeom prst="triangl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等腰三角形 10"/>
          <p:cNvSpPr/>
          <p:nvPr userDrawn="1"/>
        </p:nvSpPr>
        <p:spPr>
          <a:xfrm>
            <a:off x="11153775" y="1013971"/>
            <a:ext cx="2076450" cy="2030307"/>
          </a:xfrm>
          <a:prstGeom prs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等腰三角形 11"/>
          <p:cNvSpPr/>
          <p:nvPr userDrawn="1"/>
        </p:nvSpPr>
        <p:spPr>
          <a:xfrm rot="10800000">
            <a:off x="-414337" y="-187450"/>
            <a:ext cx="2386788" cy="2333749"/>
          </a:xfrm>
          <a:prstGeom prst="triangl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等腰三角形 12"/>
          <p:cNvSpPr/>
          <p:nvPr userDrawn="1"/>
        </p:nvSpPr>
        <p:spPr>
          <a:xfrm rot="5400000">
            <a:off x="9449232" y="5270665"/>
            <a:ext cx="883117" cy="863492"/>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8" name="文本占位符 17"/>
          <p:cNvSpPr>
            <a:spLocks noGrp="1"/>
          </p:cNvSpPr>
          <p:nvPr>
            <p:ph type="body" sz="quarter" idx="11" hasCustomPrompt="1"/>
          </p:nvPr>
        </p:nvSpPr>
        <p:spPr>
          <a:xfrm>
            <a:off x="4098000" y="3959372"/>
            <a:ext cx="3996000" cy="914400"/>
          </a:xfrm>
        </p:spPr>
        <p:txBody>
          <a:bodyPr anchor="ctr" anchorCtr="0"/>
          <a:lstStyle>
            <a:lvl1pPr marL="0" indent="0" algn="ctr">
              <a:buNone/>
              <a:defRPr b="1">
                <a:solidFill>
                  <a:schemeClr val="bg1"/>
                </a:solidFill>
                <a:latin typeface="Helvetica" pitchFamily="2" charset="0"/>
              </a:defRPr>
            </a:lvl1pPr>
            <a:lvl3pPr marL="914400" indent="0">
              <a:buNone/>
              <a:defRPr/>
            </a:lvl3pPr>
          </a:lstStyle>
          <a:p>
            <a:pPr lvl="0"/>
            <a:r>
              <a:rPr lang="en-US" altLang="zh-CN" dirty="0"/>
              <a:t>Edit Here</a:t>
            </a:r>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转场-短标题3">
    <p:spTree>
      <p:nvGrpSpPr>
        <p:cNvPr id="1" name=""/>
        <p:cNvGrpSpPr/>
        <p:nvPr/>
      </p:nvGrpSpPr>
      <p:grpSpPr>
        <a:xfrm>
          <a:off x="0" y="0"/>
          <a:ext cx="0" cy="0"/>
          <a:chOff x="0" y="0"/>
          <a:chExt cx="0" cy="0"/>
        </a:xfrm>
      </p:grpSpPr>
      <p:sp>
        <p:nvSpPr>
          <p:cNvPr id="6" name="矩形 5"/>
          <p:cNvSpPr/>
          <p:nvPr userDrawn="1"/>
        </p:nvSpPr>
        <p:spPr>
          <a:xfrm rot="18893364">
            <a:off x="4380710" y="1706822"/>
            <a:ext cx="3444573" cy="344457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7" name="矩形 6"/>
          <p:cNvSpPr/>
          <p:nvPr userDrawn="1"/>
        </p:nvSpPr>
        <p:spPr>
          <a:xfrm rot="18893364">
            <a:off x="4161891" y="1495013"/>
            <a:ext cx="3868219" cy="3868219"/>
          </a:xfrm>
          <a:prstGeom prst="rect">
            <a:avLst/>
          </a:prstGeom>
          <a:noFill/>
          <a:ln>
            <a:solidFill>
              <a:schemeClr val="accent1">
                <a:shade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8" name="文本框 7"/>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90204" pitchFamily="34" charset="0"/>
              </a:rPr>
              <a:t>Part 03</a:t>
            </a:r>
            <a:endParaRPr lang="zh-CN" altLang="en-US" sz="4400" b="1" i="0" dirty="0">
              <a:solidFill>
                <a:schemeClr val="bg1"/>
              </a:solidFill>
              <a:latin typeface="Helvetica" pitchFamily="2" charset="0"/>
              <a:cs typeface="Arial" panose="020B0604020202090204" pitchFamily="34" charset="0"/>
            </a:endParaRPr>
          </a:p>
        </p:txBody>
      </p:sp>
      <p:cxnSp>
        <p:nvCxnSpPr>
          <p:cNvPr id="9" name="直接连接符 8"/>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矩形 9"/>
          <p:cNvSpPr/>
          <p:nvPr userDrawn="1"/>
        </p:nvSpPr>
        <p:spPr>
          <a:xfrm rot="18893364">
            <a:off x="-897505" y="-513190"/>
            <a:ext cx="2663805" cy="2663805"/>
          </a:xfrm>
          <a:prstGeom prst="rect">
            <a:avLst/>
          </a:prstGeom>
          <a:solidFill>
            <a:srgbClr val="A4A8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矩形 10"/>
          <p:cNvSpPr/>
          <p:nvPr userDrawn="1"/>
        </p:nvSpPr>
        <p:spPr>
          <a:xfrm rot="18893364">
            <a:off x="725976" y="6497388"/>
            <a:ext cx="1300124" cy="1300124"/>
          </a:xfrm>
          <a:prstGeom prst="rect">
            <a:avLst/>
          </a:prstGeom>
          <a:solidFill>
            <a:srgbClr val="C3C7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矩形 11"/>
          <p:cNvSpPr/>
          <p:nvPr userDrawn="1"/>
        </p:nvSpPr>
        <p:spPr>
          <a:xfrm rot="18893364">
            <a:off x="11407699" y="1261300"/>
            <a:ext cx="1568601" cy="1568601"/>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矩形 12"/>
          <p:cNvSpPr/>
          <p:nvPr userDrawn="1"/>
        </p:nvSpPr>
        <p:spPr>
          <a:xfrm rot="18893364">
            <a:off x="9270159" y="5188596"/>
            <a:ext cx="861175" cy="861175"/>
          </a:xfrm>
          <a:prstGeom prst="rect">
            <a:avLst/>
          </a:prstGeom>
          <a:solidFill>
            <a:srgbClr val="8589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p:cNvSpPr>
            <a:spLocks noGrp="1"/>
          </p:cNvSpPr>
          <p:nvPr userDrawn="1">
            <p:ph type="body" sz="quarter" idx="10" hasCustomPrompt="1"/>
          </p:nvPr>
        </p:nvSpPr>
        <p:spPr>
          <a:xfrm>
            <a:off x="4098000" y="3947897"/>
            <a:ext cx="3996000" cy="914400"/>
          </a:xfrm>
        </p:spPr>
        <p:txBody>
          <a:bodyPr anchor="ctr" anchorCtr="0"/>
          <a:lstStyle>
            <a:lvl1pPr marL="0" indent="0" algn="ctr">
              <a:buNone/>
              <a:defRPr b="1">
                <a:solidFill>
                  <a:schemeClr val="bg1"/>
                </a:solidFill>
                <a:latin typeface="Helvetica" pitchFamily="2" charset="0"/>
              </a:defRPr>
            </a:lvl1pPr>
            <a:lvl2pPr marL="457200" indent="0">
              <a:buNone/>
              <a:defRPr/>
            </a:lvl2pPr>
          </a:lstStyle>
          <a:p>
            <a:pPr lvl="0"/>
            <a:r>
              <a:rPr lang="en-US" altLang="zh-CN" dirty="0"/>
              <a:t>Edit Here</a:t>
            </a:r>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转场-短标题4">
    <p:spTree>
      <p:nvGrpSpPr>
        <p:cNvPr id="1" name=""/>
        <p:cNvGrpSpPr/>
        <p:nvPr/>
      </p:nvGrpSpPr>
      <p:grpSpPr>
        <a:xfrm>
          <a:off x="0" y="0"/>
          <a:ext cx="0" cy="0"/>
          <a:chOff x="0" y="0"/>
          <a:chExt cx="0" cy="0"/>
        </a:xfrm>
      </p:grpSpPr>
      <p:sp>
        <p:nvSpPr>
          <p:cNvPr id="6" name="五边形 5"/>
          <p:cNvSpPr>
            <a:spLocks noChangeAspect="1"/>
          </p:cNvSpPr>
          <p:nvPr userDrawn="1"/>
        </p:nvSpPr>
        <p:spPr>
          <a:xfrm>
            <a:off x="3870642" y="1106412"/>
            <a:ext cx="4450715" cy="4238776"/>
          </a:xfrm>
          <a:prstGeom prst="pent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7" name="文本框 6"/>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90204" pitchFamily="34" charset="0"/>
              </a:rPr>
              <a:t>Part 04</a:t>
            </a:r>
            <a:endParaRPr lang="zh-CN" altLang="en-US" sz="4400" b="1" i="0" dirty="0">
              <a:solidFill>
                <a:schemeClr val="bg1"/>
              </a:solidFill>
              <a:latin typeface="Helvetica" pitchFamily="2" charset="0"/>
              <a:cs typeface="Arial" panose="020B0604020202090204" pitchFamily="34" charset="0"/>
            </a:endParaRPr>
          </a:p>
        </p:txBody>
      </p:sp>
      <p:cxnSp>
        <p:nvCxnSpPr>
          <p:cNvPr id="8" name="直接连接符 7"/>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五边形 8"/>
          <p:cNvSpPr>
            <a:spLocks noChangeAspect="1"/>
          </p:cNvSpPr>
          <p:nvPr userDrawn="1"/>
        </p:nvSpPr>
        <p:spPr>
          <a:xfrm>
            <a:off x="3575685" y="806045"/>
            <a:ext cx="5040628" cy="4800598"/>
          </a:xfrm>
          <a:prstGeom prst="pentagon">
            <a:avLst/>
          </a:prstGeom>
          <a:noFill/>
          <a:ln>
            <a:solidFill>
              <a:schemeClr val="accent1">
                <a:shade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0" name="五边形 9"/>
          <p:cNvSpPr>
            <a:spLocks noChangeAspect="1"/>
          </p:cNvSpPr>
          <p:nvPr userDrawn="1"/>
        </p:nvSpPr>
        <p:spPr>
          <a:xfrm rot="18978551">
            <a:off x="1199607" y="5189314"/>
            <a:ext cx="1114961" cy="1061868"/>
          </a:xfrm>
          <a:prstGeom prst="pentagon">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五边形 10"/>
          <p:cNvSpPr>
            <a:spLocks noChangeAspect="1"/>
          </p:cNvSpPr>
          <p:nvPr userDrawn="1"/>
        </p:nvSpPr>
        <p:spPr>
          <a:xfrm>
            <a:off x="-1122630" y="516786"/>
            <a:ext cx="2245259" cy="2138343"/>
          </a:xfrm>
          <a:prstGeom prst="pentagon">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五边形 11"/>
          <p:cNvSpPr>
            <a:spLocks noChangeAspect="1"/>
          </p:cNvSpPr>
          <p:nvPr userDrawn="1"/>
        </p:nvSpPr>
        <p:spPr>
          <a:xfrm rot="6589711">
            <a:off x="10153440" y="4944146"/>
            <a:ext cx="2774574" cy="2642453"/>
          </a:xfrm>
          <a:prstGeom prst="pentagon">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五边形 12"/>
          <p:cNvSpPr>
            <a:spLocks noChangeAspect="1"/>
          </p:cNvSpPr>
          <p:nvPr userDrawn="1"/>
        </p:nvSpPr>
        <p:spPr>
          <a:xfrm rot="10800000">
            <a:off x="9654125" y="-530934"/>
            <a:ext cx="1114961" cy="1061868"/>
          </a:xfrm>
          <a:prstGeom prst="pentagon">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p:cNvSpPr>
            <a:spLocks noGrp="1"/>
          </p:cNvSpPr>
          <p:nvPr>
            <p:ph type="body" sz="quarter" idx="10" hasCustomPrompt="1"/>
          </p:nvPr>
        </p:nvSpPr>
        <p:spPr>
          <a:xfrm>
            <a:off x="4098000" y="3947897"/>
            <a:ext cx="3996000" cy="914400"/>
          </a:xfrm>
        </p:spPr>
        <p:txBody>
          <a:bodyPr anchor="ctr" anchorCtr="0"/>
          <a:lstStyle>
            <a:lvl1pPr marL="0" indent="0" algn="ctr">
              <a:buNone/>
              <a:defRPr b="1">
                <a:solidFill>
                  <a:schemeClr val="bg1"/>
                </a:solidFill>
                <a:latin typeface="Helvetica" pitchFamily="2" charset="0"/>
              </a:defRPr>
            </a:lvl1pPr>
          </a:lstStyle>
          <a:p>
            <a:pPr lvl="0"/>
            <a:r>
              <a:rPr lang="en-US" altLang="zh-CN" dirty="0"/>
              <a:t>Edit Here</a:t>
            </a:r>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转场-短标题5">
    <p:spTree>
      <p:nvGrpSpPr>
        <p:cNvPr id="1" name=""/>
        <p:cNvGrpSpPr/>
        <p:nvPr/>
      </p:nvGrpSpPr>
      <p:grpSpPr>
        <a:xfrm>
          <a:off x="0" y="0"/>
          <a:ext cx="0" cy="0"/>
          <a:chOff x="0" y="0"/>
          <a:chExt cx="0" cy="0"/>
        </a:xfrm>
      </p:grpSpPr>
      <p:sp>
        <p:nvSpPr>
          <p:cNvPr id="6" name="六边形 5"/>
          <p:cNvSpPr>
            <a:spLocks noChangeAspect="1"/>
          </p:cNvSpPr>
          <p:nvPr userDrawn="1"/>
        </p:nvSpPr>
        <p:spPr>
          <a:xfrm rot="16200000">
            <a:off x="3978962" y="1603967"/>
            <a:ext cx="4234076" cy="3650066"/>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8" name="文本框 7"/>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90204" pitchFamily="34" charset="0"/>
              </a:rPr>
              <a:t>Part 05</a:t>
            </a:r>
            <a:endParaRPr lang="zh-CN" altLang="en-US" sz="4400" b="1" i="0" dirty="0">
              <a:solidFill>
                <a:schemeClr val="bg1"/>
              </a:solidFill>
              <a:latin typeface="Helvetica" pitchFamily="2" charset="0"/>
              <a:cs typeface="Arial" panose="020B0604020202090204" pitchFamily="34" charset="0"/>
            </a:endParaRPr>
          </a:p>
        </p:txBody>
      </p:sp>
      <p:cxnSp>
        <p:nvCxnSpPr>
          <p:cNvPr id="9" name="直接连接符 8"/>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六边形 9"/>
          <p:cNvSpPr/>
          <p:nvPr userDrawn="1"/>
        </p:nvSpPr>
        <p:spPr>
          <a:xfrm rot="16200000">
            <a:off x="3695701" y="1359776"/>
            <a:ext cx="4800598" cy="4138446"/>
          </a:xfrm>
          <a:prstGeom prst="hexagon">
            <a:avLst/>
          </a:prstGeom>
          <a:noFill/>
          <a:ln>
            <a:solidFill>
              <a:srgbClr val="18388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六边形 10"/>
          <p:cNvSpPr>
            <a:spLocks noChangeAspect="1"/>
          </p:cNvSpPr>
          <p:nvPr userDrawn="1"/>
        </p:nvSpPr>
        <p:spPr>
          <a:xfrm rot="16200000">
            <a:off x="-687663" y="4872077"/>
            <a:ext cx="2798353" cy="2412373"/>
          </a:xfrm>
          <a:prstGeom prst="hexagon">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六边形 11"/>
          <p:cNvSpPr>
            <a:spLocks noChangeAspect="1"/>
          </p:cNvSpPr>
          <p:nvPr userDrawn="1"/>
        </p:nvSpPr>
        <p:spPr>
          <a:xfrm rot="16200000">
            <a:off x="9480973" y="5159003"/>
            <a:ext cx="1015781" cy="875673"/>
          </a:xfrm>
          <a:prstGeom prst="hexagon">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六边形 12"/>
          <p:cNvSpPr>
            <a:spLocks noChangeAspect="1"/>
          </p:cNvSpPr>
          <p:nvPr userDrawn="1"/>
        </p:nvSpPr>
        <p:spPr>
          <a:xfrm rot="16200000">
            <a:off x="11493500" y="210644"/>
            <a:ext cx="1397000" cy="1204310"/>
          </a:xfrm>
          <a:prstGeom prst="hexagon">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4" name="六边形 13"/>
          <p:cNvSpPr>
            <a:spLocks noChangeAspect="1"/>
          </p:cNvSpPr>
          <p:nvPr userDrawn="1"/>
        </p:nvSpPr>
        <p:spPr>
          <a:xfrm rot="16200000">
            <a:off x="641459" y="-437837"/>
            <a:ext cx="1015781" cy="875673"/>
          </a:xfrm>
          <a:prstGeom prst="hexagon">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p:cNvSpPr>
            <a:spLocks noGrp="1"/>
          </p:cNvSpPr>
          <p:nvPr>
            <p:ph type="body" sz="quarter" idx="10" hasCustomPrompt="1"/>
          </p:nvPr>
        </p:nvSpPr>
        <p:spPr>
          <a:xfrm>
            <a:off x="4098000" y="3947897"/>
            <a:ext cx="3996000" cy="914400"/>
          </a:xfrm>
        </p:spPr>
        <p:txBody>
          <a:bodyPr anchor="ctr" anchorCtr="0"/>
          <a:lstStyle>
            <a:lvl1pPr marL="0" indent="0" algn="ctr">
              <a:buNone/>
              <a:defRPr b="1">
                <a:solidFill>
                  <a:schemeClr val="bg1"/>
                </a:solidFill>
                <a:latin typeface="Helvetica" pitchFamily="2" charset="0"/>
              </a:defRPr>
            </a:lvl1pPr>
          </a:lstStyle>
          <a:p>
            <a:pPr lvl="0"/>
            <a:r>
              <a:rPr lang="en-US" altLang="zh-CN" dirty="0"/>
              <a:t>Edit Here</a:t>
            </a:r>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转场-短标题6">
    <p:spTree>
      <p:nvGrpSpPr>
        <p:cNvPr id="1" name=""/>
        <p:cNvGrpSpPr/>
        <p:nvPr/>
      </p:nvGrpSpPr>
      <p:grpSpPr>
        <a:xfrm>
          <a:off x="0" y="0"/>
          <a:ext cx="0" cy="0"/>
          <a:chOff x="0" y="0"/>
          <a:chExt cx="0" cy="0"/>
        </a:xfrm>
      </p:grpSpPr>
      <p:sp>
        <p:nvSpPr>
          <p:cNvPr id="6" name="七边形 5"/>
          <p:cNvSpPr>
            <a:spLocks noChangeAspect="1"/>
          </p:cNvSpPr>
          <p:nvPr userDrawn="1"/>
        </p:nvSpPr>
        <p:spPr>
          <a:xfrm>
            <a:off x="3972000" y="1047224"/>
            <a:ext cx="4248000" cy="4248000"/>
          </a:xfrm>
          <a:prstGeom prst="hept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8" name="文本框 7"/>
          <p:cNvSpPr txBox="1"/>
          <p:nvPr userDrawn="1"/>
        </p:nvSpPr>
        <p:spPr>
          <a:xfrm>
            <a:off x="5093161"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90204" pitchFamily="34" charset="0"/>
              </a:rPr>
              <a:t>Part 06</a:t>
            </a:r>
            <a:endParaRPr lang="zh-CN" altLang="en-US" sz="4400" b="1" i="0" dirty="0">
              <a:solidFill>
                <a:schemeClr val="bg1"/>
              </a:solidFill>
              <a:latin typeface="Helvetica" pitchFamily="2" charset="0"/>
              <a:cs typeface="Arial" panose="020B0604020202090204" pitchFamily="34" charset="0"/>
            </a:endParaRPr>
          </a:p>
        </p:txBody>
      </p:sp>
      <p:cxnSp>
        <p:nvCxnSpPr>
          <p:cNvPr id="9" name="直接连接符 8"/>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七边形 9"/>
          <p:cNvSpPr/>
          <p:nvPr userDrawn="1"/>
        </p:nvSpPr>
        <p:spPr>
          <a:xfrm rot="1563509">
            <a:off x="10682028" y="-776191"/>
            <a:ext cx="3268663" cy="3268663"/>
          </a:xfrm>
          <a:prstGeom prst="heptagon">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七边形 10"/>
          <p:cNvSpPr/>
          <p:nvPr userDrawn="1"/>
        </p:nvSpPr>
        <p:spPr>
          <a:xfrm>
            <a:off x="1384129" y="5078241"/>
            <a:ext cx="1047921" cy="1047921"/>
          </a:xfrm>
          <a:prstGeom prst="heptagon">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七边形 11"/>
          <p:cNvSpPr/>
          <p:nvPr userDrawn="1"/>
        </p:nvSpPr>
        <p:spPr>
          <a:xfrm rot="20151602">
            <a:off x="-1111336" y="360448"/>
            <a:ext cx="2222671" cy="2222671"/>
          </a:xfrm>
          <a:prstGeom prst="heptagon">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七边形 12"/>
          <p:cNvSpPr/>
          <p:nvPr userDrawn="1"/>
        </p:nvSpPr>
        <p:spPr>
          <a:xfrm rot="20592885">
            <a:off x="8879510" y="6235700"/>
            <a:ext cx="2222671" cy="2222671"/>
          </a:xfrm>
          <a:prstGeom prst="heptagon">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4" name="七边形 13"/>
          <p:cNvSpPr>
            <a:spLocks noChangeAspect="1"/>
          </p:cNvSpPr>
          <p:nvPr userDrawn="1"/>
        </p:nvSpPr>
        <p:spPr>
          <a:xfrm>
            <a:off x="3683000" y="774700"/>
            <a:ext cx="4826000" cy="4826000"/>
          </a:xfrm>
          <a:prstGeom prst="heptagon">
            <a:avLst/>
          </a:prstGeom>
          <a:noFill/>
          <a:ln>
            <a:solidFill>
              <a:srgbClr val="18388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p:cNvSpPr>
            <a:spLocks noGrp="1"/>
          </p:cNvSpPr>
          <p:nvPr>
            <p:ph type="body" sz="quarter" idx="10" hasCustomPrompt="1"/>
          </p:nvPr>
        </p:nvSpPr>
        <p:spPr>
          <a:xfrm>
            <a:off x="4098000" y="3966909"/>
            <a:ext cx="3996000" cy="914400"/>
          </a:xfrm>
        </p:spPr>
        <p:txBody>
          <a:bodyPr anchor="ctr" anchorCtr="0"/>
          <a:lstStyle>
            <a:lvl1pPr marL="0" indent="0" algn="ctr">
              <a:buNone/>
              <a:defRPr b="1">
                <a:solidFill>
                  <a:schemeClr val="bg1"/>
                </a:solidFill>
                <a:latin typeface="Helvetica" pitchFamily="2" charset="0"/>
              </a:defRPr>
            </a:lvl1pPr>
          </a:lstStyle>
          <a:p>
            <a:pPr lvl="0"/>
            <a:r>
              <a:rPr lang="en-US" altLang="zh-CN" dirty="0"/>
              <a:t>Edit Here</a:t>
            </a:r>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目录页-长标题">
    <p:bg>
      <p:bgPr>
        <a:solidFill>
          <a:schemeClr val="bg1"/>
        </a:solidFill>
        <a:effectLst/>
      </p:bgPr>
    </p:bg>
    <p:spTree>
      <p:nvGrpSpPr>
        <p:cNvPr id="1" name=""/>
        <p:cNvGrpSpPr/>
        <p:nvPr/>
      </p:nvGrpSpPr>
      <p:grpSpPr>
        <a:xfrm>
          <a:off x="0" y="0"/>
          <a:ext cx="0" cy="0"/>
          <a:chOff x="0" y="0"/>
          <a:chExt cx="0" cy="0"/>
        </a:xfrm>
      </p:grpSpPr>
      <p:sp>
        <p:nvSpPr>
          <p:cNvPr id="6" name="箭头: 五边形 5"/>
          <p:cNvSpPr/>
          <p:nvPr userDrawn="1"/>
        </p:nvSpPr>
        <p:spPr>
          <a:xfrm>
            <a:off x="2" y="0"/>
            <a:ext cx="2835871" cy="6858000"/>
          </a:xfrm>
          <a:prstGeom prst="homePlate">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elvetica" pitchFamily="2" charset="0"/>
            </a:endParaRPr>
          </a:p>
        </p:txBody>
      </p:sp>
      <p:sp>
        <p:nvSpPr>
          <p:cNvPr id="54" name="矩形 53"/>
          <p:cNvSpPr/>
          <p:nvPr/>
        </p:nvSpPr>
        <p:spPr>
          <a:xfrm>
            <a:off x="140677" y="3106616"/>
            <a:ext cx="2520462" cy="1066800"/>
          </a:xfrm>
          <a:prstGeom prst="rect">
            <a:avLst/>
          </a:prstGeom>
          <a:no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Helvetica" pitchFamily="2" charset="0"/>
            </a:endParaRPr>
          </a:p>
        </p:txBody>
      </p:sp>
      <p:sp>
        <p:nvSpPr>
          <p:cNvPr id="2" name="矩形 1"/>
          <p:cNvSpPr/>
          <p:nvPr userDrawn="1"/>
        </p:nvSpPr>
        <p:spPr>
          <a:xfrm>
            <a:off x="2782511" y="612708"/>
            <a:ext cx="8695230" cy="5632585"/>
          </a:xfrm>
          <a:prstGeom prst="rect">
            <a:avLst/>
          </a:prstGeom>
          <a:no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50" name="文本框 49"/>
          <p:cNvSpPr txBox="1"/>
          <p:nvPr/>
        </p:nvSpPr>
        <p:spPr>
          <a:xfrm>
            <a:off x="23448" y="2848709"/>
            <a:ext cx="2782509" cy="1574934"/>
          </a:xfrm>
          <a:prstGeom prst="rect">
            <a:avLst/>
          </a:prstGeom>
          <a:noFill/>
        </p:spPr>
        <p:txBody>
          <a:bodyPr wrap="square" lIns="0" tIns="0" rIns="0" bIns="0" rtlCol="0" anchor="ctr" anchorCtr="0">
            <a:normAutofit/>
          </a:bodyPr>
          <a:lstStyle/>
          <a:p>
            <a:pPr algn="ctr"/>
            <a:r>
              <a:rPr lang="en-US" altLang="zh-CN" sz="4400" b="1" i="0" dirty="0">
                <a:solidFill>
                  <a:schemeClr val="bg1"/>
                </a:solidFill>
                <a:latin typeface="Helvetica" pitchFamily="2" charset="0"/>
                <a:ea typeface="+mj-ea"/>
                <a:cs typeface="Arial" panose="020B0604020202090204" pitchFamily="34" charset="0"/>
              </a:rPr>
              <a:t>Contents</a:t>
            </a:r>
            <a:endParaRPr lang="zh-CN" altLang="en-US" sz="4000" b="1" i="0" dirty="0">
              <a:solidFill>
                <a:schemeClr val="bg1"/>
              </a:solidFill>
              <a:latin typeface="Helvetica" pitchFamily="2" charset="0"/>
              <a:ea typeface="+mj-ea"/>
              <a:cs typeface="Arial" panose="020B0604020202090204" pitchFamily="34" charset="0"/>
            </a:endParaRPr>
          </a:p>
        </p:txBody>
      </p:sp>
      <p:pic>
        <p:nvPicPr>
          <p:cNvPr id="47" name="图片 46"/>
          <p:cNvPicPr>
            <a:picLocks noChangeAspect="1"/>
          </p:cNvPicPr>
          <p:nvPr userDrawn="1"/>
        </p:nvPicPr>
        <p:blipFill>
          <a:blip r:embed="rId2">
            <a:alphaModFix amt="2000"/>
            <a:extLst>
              <a:ext uri="{28A0092B-C50C-407E-A947-70E740481C1C}">
                <a14:useLocalDpi xmlns:a14="http://schemas.microsoft.com/office/drawing/2010/main" val="0"/>
              </a:ext>
            </a:extLst>
          </a:blip>
          <a:stretch>
            <a:fillRect/>
          </a:stretch>
        </p:blipFill>
        <p:spPr>
          <a:xfrm>
            <a:off x="5334000" y="0"/>
            <a:ext cx="6858000" cy="685800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转场-长标题">
    <p:spTree>
      <p:nvGrpSpPr>
        <p:cNvPr id="1" name=""/>
        <p:cNvGrpSpPr/>
        <p:nvPr/>
      </p:nvGrpSpPr>
      <p:grpSpPr>
        <a:xfrm>
          <a:off x="0" y="0"/>
          <a:ext cx="0" cy="0"/>
          <a:chOff x="0" y="0"/>
          <a:chExt cx="0" cy="0"/>
        </a:xfrm>
      </p:grpSpPr>
      <p:sp>
        <p:nvSpPr>
          <p:cNvPr id="7" name="箭头: 五边形 6"/>
          <p:cNvSpPr/>
          <p:nvPr userDrawn="1"/>
        </p:nvSpPr>
        <p:spPr>
          <a:xfrm rot="19659736">
            <a:off x="-59387" y="6355211"/>
            <a:ext cx="1593667" cy="240022"/>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25" name="箭头: 五边形 24"/>
          <p:cNvSpPr/>
          <p:nvPr userDrawn="1"/>
        </p:nvSpPr>
        <p:spPr>
          <a:xfrm rot="19659736">
            <a:off x="501875" y="5626509"/>
            <a:ext cx="1198809" cy="202681"/>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26" name="箭头: 五边形 25"/>
          <p:cNvSpPr/>
          <p:nvPr userDrawn="1"/>
        </p:nvSpPr>
        <p:spPr>
          <a:xfrm rot="19659736">
            <a:off x="11343042" y="442070"/>
            <a:ext cx="869215" cy="124045"/>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27" name="箭头: 五边形 26"/>
          <p:cNvSpPr/>
          <p:nvPr userDrawn="1"/>
        </p:nvSpPr>
        <p:spPr>
          <a:xfrm rot="19659736">
            <a:off x="10829985" y="427917"/>
            <a:ext cx="542830" cy="99029"/>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12" name="任意多边形: 形状 11"/>
          <p:cNvSpPr/>
          <p:nvPr/>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pic>
        <p:nvPicPr>
          <p:cNvPr id="6" name="图片 5"/>
          <p:cNvPicPr>
            <a:picLocks noChangeAspect="1"/>
          </p:cNvPicPr>
          <p:nvPr userDrawn="1"/>
        </p:nvPicPr>
        <p:blipFill>
          <a:blip r:embed="rId2"/>
          <a:stretch>
            <a:fillRect/>
          </a:stretch>
        </p:blipFill>
        <p:spPr>
          <a:xfrm>
            <a:off x="744128" y="6420492"/>
            <a:ext cx="958362" cy="236837"/>
          </a:xfrm>
          <a:prstGeom prst="rect">
            <a:avLst/>
          </a:prstGeom>
        </p:spPr>
      </p:pic>
      <p:pic>
        <p:nvPicPr>
          <p:cNvPr id="11" name="图片 10"/>
          <p:cNvPicPr>
            <a:picLocks noChangeAspect="1"/>
          </p:cNvPicPr>
          <p:nvPr userDrawn="1"/>
        </p:nvPicPr>
        <p:blipFill>
          <a:blip r:embed="rId3"/>
          <a:stretch>
            <a:fillRect/>
          </a:stretch>
        </p:blipFill>
        <p:spPr>
          <a:xfrm>
            <a:off x="9966201" y="381027"/>
            <a:ext cx="1552699" cy="494974"/>
          </a:xfrm>
          <a:prstGeom prst="rect">
            <a:avLst/>
          </a:prstGeom>
        </p:spPr>
      </p:pic>
      <p:sp>
        <p:nvSpPr>
          <p:cNvPr id="8" name="标题 1"/>
          <p:cNvSpPr>
            <a:spLocks noGrp="1"/>
          </p:cNvSpPr>
          <p:nvPr>
            <p:ph type="title" hasCustomPrompt="1"/>
          </p:nvPr>
        </p:nvSpPr>
        <p:spPr>
          <a:xfrm>
            <a:off x="1091255" y="237834"/>
            <a:ext cx="8168208" cy="790865"/>
          </a:xfrm>
        </p:spPr>
        <p:txBody>
          <a:bodyPr wrap="square" lIns="0" tIns="0" rIns="0" bIns="0">
            <a:normAutofit/>
          </a:bodyPr>
          <a:lstStyle>
            <a:lvl1pPr>
              <a:defRPr sz="3600" b="1" i="0">
                <a:solidFill>
                  <a:schemeClr val="accent1"/>
                </a:solidFill>
                <a:latin typeface="Helvetica" pitchFamily="2" charset="0"/>
                <a:cs typeface="Arial" panose="020B0604020202090204" pitchFamily="34"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sp>
        <p:nvSpPr>
          <p:cNvPr id="13" name="日期占位符 12"/>
          <p:cNvSpPr>
            <a:spLocks noGrp="1"/>
          </p:cNvSpPr>
          <p:nvPr>
            <p:ph type="dt" sz="half" idx="10"/>
          </p:nvPr>
        </p:nvSpPr>
        <p:spPr/>
        <p:txBody>
          <a:bodyPr/>
          <a:lstStyle/>
          <a:p>
            <a:endParaRPr lang="zh-CN" altLang="en-US"/>
          </a:p>
        </p:txBody>
      </p:sp>
      <p:sp>
        <p:nvSpPr>
          <p:cNvPr id="14" name="页脚占位符 13"/>
          <p:cNvSpPr>
            <a:spLocks noGrp="1"/>
          </p:cNvSpPr>
          <p:nvPr>
            <p:ph type="ftr" sz="quarter" idx="11"/>
          </p:nvPr>
        </p:nvSpPr>
        <p:spPr/>
        <p:txBody>
          <a:bodyPr/>
          <a:lstStyle/>
          <a:p>
            <a:endParaRPr lang="zh-CN" altLang="en-US" dirty="0"/>
          </a:p>
        </p:txBody>
      </p:sp>
      <p:sp>
        <p:nvSpPr>
          <p:cNvPr id="15" name="灯片编号占位符 14"/>
          <p:cNvSpPr>
            <a:spLocks noGrp="1"/>
          </p:cNvSpPr>
          <p:nvPr>
            <p:ph type="sldNum" sz="quarter" idx="12"/>
          </p:nvPr>
        </p:nvSpPr>
        <p:spPr/>
        <p:txBody>
          <a:bodyPr/>
          <a:lstStyle>
            <a:lvl1pPr>
              <a:defRPr>
                <a:solidFill>
                  <a:schemeClr val="tx1"/>
                </a:solidFill>
              </a:defRPr>
            </a:lvl1pPr>
          </a:lstStyle>
          <a:p>
            <a:fld id="{2515AB8F-1C56-49E9-90C8-78D22B0C1B97}" type="slidenum">
              <a:rPr lang="zh-CN" altLang="en-US" smtClean="0"/>
            </a:fld>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横向图片">
    <p:spTree>
      <p:nvGrpSpPr>
        <p:cNvPr id="1" name=""/>
        <p:cNvGrpSpPr/>
        <p:nvPr/>
      </p:nvGrpSpPr>
      <p:grpSpPr>
        <a:xfrm>
          <a:off x="0" y="0"/>
          <a:ext cx="0" cy="0"/>
          <a:chOff x="0" y="0"/>
          <a:chExt cx="0" cy="0"/>
        </a:xfrm>
      </p:grpSpPr>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fld>
            <a:endParaRPr lang="zh-CN" altLang="en-US" dirty="0"/>
          </a:p>
        </p:txBody>
      </p:sp>
      <p:sp>
        <p:nvSpPr>
          <p:cNvPr id="91" name="图片占位符 90"/>
          <p:cNvSpPr>
            <a:spLocks noGrp="1" noChangeAspect="1"/>
          </p:cNvSpPr>
          <p:nvPr>
            <p:ph type="pic" sz="quarter" idx="13"/>
          </p:nvPr>
        </p:nvSpPr>
        <p:spPr>
          <a:xfrm>
            <a:off x="862171" y="1825888"/>
            <a:ext cx="4826535" cy="2736000"/>
          </a:xfrm>
          <a:custGeom>
            <a:avLst/>
            <a:gdLst>
              <a:gd name="connsiteX0" fmla="*/ 0 w 4241800"/>
              <a:gd name="connsiteY0" fmla="*/ 0 h 2404533"/>
              <a:gd name="connsiteX1" fmla="*/ 4241800 w 4241800"/>
              <a:gd name="connsiteY1" fmla="*/ 0 h 2404533"/>
              <a:gd name="connsiteX2" fmla="*/ 4241800 w 4241800"/>
              <a:gd name="connsiteY2" fmla="*/ 2404533 h 2404533"/>
              <a:gd name="connsiteX3" fmla="*/ 0 w 4241800"/>
              <a:gd name="connsiteY3" fmla="*/ 2404533 h 2404533"/>
            </a:gdLst>
            <a:ahLst/>
            <a:cxnLst>
              <a:cxn ang="0">
                <a:pos x="connsiteX0" y="connsiteY0"/>
              </a:cxn>
              <a:cxn ang="0">
                <a:pos x="connsiteX1" y="connsiteY1"/>
              </a:cxn>
              <a:cxn ang="0">
                <a:pos x="connsiteX2" y="connsiteY2"/>
              </a:cxn>
              <a:cxn ang="0">
                <a:pos x="connsiteX3" y="connsiteY3"/>
              </a:cxn>
            </a:cxnLst>
            <a:rect l="l" t="t" r="r" b="b"/>
            <a:pathLst>
              <a:path w="4241800" h="2404533">
                <a:moveTo>
                  <a:pt x="0" y="0"/>
                </a:moveTo>
                <a:lnTo>
                  <a:pt x="4241800" y="0"/>
                </a:lnTo>
                <a:lnTo>
                  <a:pt x="4241800" y="2404533"/>
                </a:lnTo>
                <a:lnTo>
                  <a:pt x="0" y="2404533"/>
                </a:lnTo>
                <a:close/>
              </a:path>
            </a:pathLst>
          </a:custGeom>
        </p:spPr>
        <p:txBody>
          <a:bodyPr wrap="square">
            <a:noAutofit/>
          </a:bodyPr>
          <a:lstStyle/>
          <a:p>
            <a:endParaRPr lang="zh-CN" altLang="en-US"/>
          </a:p>
        </p:txBody>
      </p:sp>
      <p:sp>
        <p:nvSpPr>
          <p:cNvPr id="90" name="任意多边形: 形状 89"/>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标题 1"/>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3" name="图片 92"/>
          <p:cNvPicPr>
            <a:picLocks noChangeAspect="1"/>
          </p:cNvPicPr>
          <p:nvPr userDrawn="1"/>
        </p:nvPicPr>
        <p:blipFill>
          <a:blip r:embed="rId2"/>
          <a:stretch>
            <a:fillRect/>
          </a:stretch>
        </p:blipFill>
        <p:spPr>
          <a:xfrm>
            <a:off x="744128" y="6420492"/>
            <a:ext cx="958362" cy="236837"/>
          </a:xfrm>
          <a:prstGeom prst="rect">
            <a:avLst/>
          </a:prstGeom>
        </p:spPr>
      </p:pic>
      <p:pic>
        <p:nvPicPr>
          <p:cNvPr id="97" name="图片 96"/>
          <p:cNvPicPr>
            <a:picLocks noChangeAspect="1"/>
          </p:cNvPicPr>
          <p:nvPr userDrawn="1"/>
        </p:nvPicPr>
        <p:blipFill>
          <a:blip r:embed="rId3"/>
          <a:stretch>
            <a:fillRect/>
          </a:stretch>
        </p:blipFill>
        <p:spPr>
          <a:xfrm>
            <a:off x="9966201" y="381027"/>
            <a:ext cx="1552699" cy="494974"/>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图片">
    <p:spTree>
      <p:nvGrpSpPr>
        <p:cNvPr id="1" name=""/>
        <p:cNvGrpSpPr/>
        <p:nvPr/>
      </p:nvGrpSpPr>
      <p:grpSpPr>
        <a:xfrm>
          <a:off x="0" y="0"/>
          <a:ext cx="0" cy="0"/>
          <a:chOff x="0" y="0"/>
          <a:chExt cx="0" cy="0"/>
        </a:xfrm>
      </p:grpSpPr>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fld>
            <a:endParaRPr lang="zh-CN" altLang="en-US" dirty="0"/>
          </a:p>
        </p:txBody>
      </p:sp>
      <p:sp>
        <p:nvSpPr>
          <p:cNvPr id="90" name="图片占位符 6"/>
          <p:cNvSpPr>
            <a:spLocks noGrp="1" noChangeAspect="1"/>
          </p:cNvSpPr>
          <p:nvPr>
            <p:ph type="pic" sz="quarter" idx="10"/>
          </p:nvPr>
        </p:nvSpPr>
        <p:spPr>
          <a:xfrm>
            <a:off x="1692274" y="1541374"/>
            <a:ext cx="3238088" cy="4320000"/>
          </a:xfrm>
        </p:spPr>
        <p:txBody>
          <a:bodyPr/>
          <a:lstStyle/>
          <a:p>
            <a:endParaRPr lang="zh-CN" altLang="en-US" dirty="0"/>
          </a:p>
        </p:txBody>
      </p:sp>
      <p:sp>
        <p:nvSpPr>
          <p:cNvPr id="91" name="任意多边形: 形状 90"/>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标题 1"/>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3" name="图片 92"/>
          <p:cNvPicPr>
            <a:picLocks noChangeAspect="1"/>
          </p:cNvPicPr>
          <p:nvPr userDrawn="1"/>
        </p:nvPicPr>
        <p:blipFill>
          <a:blip r:embed="rId2"/>
          <a:stretch>
            <a:fillRect/>
          </a:stretch>
        </p:blipFill>
        <p:spPr>
          <a:xfrm>
            <a:off x="744128" y="6420492"/>
            <a:ext cx="958362" cy="236837"/>
          </a:xfrm>
          <a:prstGeom prst="rect">
            <a:avLst/>
          </a:prstGeom>
        </p:spPr>
      </p:pic>
      <p:pic>
        <p:nvPicPr>
          <p:cNvPr id="97" name="图片 96"/>
          <p:cNvPicPr>
            <a:picLocks noChangeAspect="1"/>
          </p:cNvPicPr>
          <p:nvPr userDrawn="1"/>
        </p:nvPicPr>
        <p:blipFill>
          <a:blip r:embed="rId3"/>
          <a:stretch>
            <a:fillRect/>
          </a:stretch>
        </p:blipFill>
        <p:spPr>
          <a:xfrm>
            <a:off x="9966201" y="381027"/>
            <a:ext cx="1552699" cy="494974"/>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图片-圆形">
    <p:spTree>
      <p:nvGrpSpPr>
        <p:cNvPr id="1" name=""/>
        <p:cNvGrpSpPr/>
        <p:nvPr/>
      </p:nvGrpSpPr>
      <p:grpSpPr>
        <a:xfrm>
          <a:off x="0" y="0"/>
          <a:ext cx="0" cy="0"/>
          <a:chOff x="0" y="0"/>
          <a:chExt cx="0" cy="0"/>
        </a:xfrm>
      </p:grpSpPr>
      <p:sp>
        <p:nvSpPr>
          <p:cNvPr id="93" name="任意多边形: 形状 92"/>
          <p:cNvSpPr/>
          <p:nvPr userDrawn="1"/>
        </p:nvSpPr>
        <p:spPr>
          <a:xfrm>
            <a:off x="660400" y="1531871"/>
            <a:ext cx="10858500" cy="4491875"/>
          </a:xfrm>
          <a:custGeom>
            <a:avLst/>
            <a:gdLst>
              <a:gd name="connsiteX0" fmla="*/ 2682382 w 10858500"/>
              <a:gd name="connsiteY0" fmla="*/ 0 h 4491875"/>
              <a:gd name="connsiteX1" fmla="*/ 4661514 w 10858500"/>
              <a:gd name="connsiteY1" fmla="*/ 1979131 h 4491875"/>
              <a:gd name="connsiteX2" fmla="*/ 4081840 w 10858500"/>
              <a:gd name="connsiteY2" fmla="*/ 3378588 h 4491875"/>
              <a:gd name="connsiteX3" fmla="*/ 3948253 w 10858500"/>
              <a:gd name="connsiteY3" fmla="*/ 3500000 h 4491875"/>
              <a:gd name="connsiteX4" fmla="*/ 10858500 w 10858500"/>
              <a:gd name="connsiteY4" fmla="*/ 3500000 h 4491875"/>
              <a:gd name="connsiteX5" fmla="*/ 10858500 w 10858500"/>
              <a:gd name="connsiteY5" fmla="*/ 4491875 h 4491875"/>
              <a:gd name="connsiteX6" fmla="*/ 0 w 10858500"/>
              <a:gd name="connsiteY6" fmla="*/ 4491875 h 4491875"/>
              <a:gd name="connsiteX7" fmla="*/ 0 w 10858500"/>
              <a:gd name="connsiteY7" fmla="*/ 3500000 h 4491875"/>
              <a:gd name="connsiteX8" fmla="*/ 1416512 w 10858500"/>
              <a:gd name="connsiteY8" fmla="*/ 3500000 h 4491875"/>
              <a:gd name="connsiteX9" fmla="*/ 1282925 w 10858500"/>
              <a:gd name="connsiteY9" fmla="*/ 3378588 h 4491875"/>
              <a:gd name="connsiteX10" fmla="*/ 703250 w 10858500"/>
              <a:gd name="connsiteY10" fmla="*/ 1979131 h 4491875"/>
              <a:gd name="connsiteX11" fmla="*/ 2682382 w 10858500"/>
              <a:gd name="connsiteY11" fmla="*/ 0 h 449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858500" h="4491875">
                <a:moveTo>
                  <a:pt x="2682382" y="0"/>
                </a:moveTo>
                <a:cubicBezTo>
                  <a:pt x="3775426" y="0"/>
                  <a:pt x="4661514" y="886087"/>
                  <a:pt x="4661514" y="1979131"/>
                </a:cubicBezTo>
                <a:cubicBezTo>
                  <a:pt x="4661514" y="2525653"/>
                  <a:pt x="4439992" y="3020436"/>
                  <a:pt x="4081840" y="3378588"/>
                </a:cubicBezTo>
                <a:lnTo>
                  <a:pt x="3948253" y="3500000"/>
                </a:lnTo>
                <a:lnTo>
                  <a:pt x="10858500" y="3500000"/>
                </a:lnTo>
                <a:lnTo>
                  <a:pt x="10858500" y="4491875"/>
                </a:lnTo>
                <a:lnTo>
                  <a:pt x="0" y="4491875"/>
                </a:lnTo>
                <a:lnTo>
                  <a:pt x="0" y="3500000"/>
                </a:lnTo>
                <a:lnTo>
                  <a:pt x="1416512" y="3500000"/>
                </a:lnTo>
                <a:lnTo>
                  <a:pt x="1282925" y="3378588"/>
                </a:lnTo>
                <a:cubicBezTo>
                  <a:pt x="924772" y="3020436"/>
                  <a:pt x="703250" y="2525653"/>
                  <a:pt x="703250" y="1979131"/>
                </a:cubicBezTo>
                <a:cubicBezTo>
                  <a:pt x="703250" y="886087"/>
                  <a:pt x="1589338" y="0"/>
                  <a:pt x="2682382" y="0"/>
                </a:cubicBezTo>
                <a:close/>
              </a:path>
            </a:pathLst>
          </a:custGeom>
          <a:solidFill>
            <a:schemeClr val="accent1"/>
          </a:solidFill>
          <a:ln w="19050">
            <a:noFill/>
          </a:ln>
          <a:effectLst>
            <a:outerShdw blurRad="127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i="0" dirty="0">
              <a:latin typeface="Helvetica Regular" pitchFamily="2" charset="0"/>
              <a:cs typeface="+mn-ea"/>
              <a:sym typeface="+mn-lt"/>
            </a:endParaRPr>
          </a:p>
        </p:txBody>
      </p:sp>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fld>
            <a:endParaRPr lang="zh-CN" altLang="en-US" dirty="0"/>
          </a:p>
        </p:txBody>
      </p:sp>
      <p:sp>
        <p:nvSpPr>
          <p:cNvPr id="91" name="任意多边形: 形状 90"/>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图片占位符 91"/>
          <p:cNvSpPr>
            <a:spLocks noGrp="1" noChangeAspect="1"/>
          </p:cNvSpPr>
          <p:nvPr>
            <p:ph type="pic" sz="quarter" idx="13"/>
          </p:nvPr>
        </p:nvSpPr>
        <p:spPr>
          <a:xfrm>
            <a:off x="1451524" y="1608975"/>
            <a:ext cx="3780000" cy="3780000"/>
          </a:xfrm>
          <a:custGeom>
            <a:avLst/>
            <a:gdLst>
              <a:gd name="connsiteX0" fmla="*/ 1657350 w 3314700"/>
              <a:gd name="connsiteY0" fmla="*/ 0 h 3314700"/>
              <a:gd name="connsiteX1" fmla="*/ 3314700 w 3314700"/>
              <a:gd name="connsiteY1" fmla="*/ 1657350 h 3314700"/>
              <a:gd name="connsiteX2" fmla="*/ 1657350 w 3314700"/>
              <a:gd name="connsiteY2" fmla="*/ 3314700 h 3314700"/>
              <a:gd name="connsiteX3" fmla="*/ 0 w 3314700"/>
              <a:gd name="connsiteY3" fmla="*/ 1657350 h 3314700"/>
              <a:gd name="connsiteX4" fmla="*/ 1657350 w 3314700"/>
              <a:gd name="connsiteY4" fmla="*/ 0 h 331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700" h="3314700">
                <a:moveTo>
                  <a:pt x="1657350" y="0"/>
                </a:moveTo>
                <a:cubicBezTo>
                  <a:pt x="2572679" y="0"/>
                  <a:pt x="3314700" y="742021"/>
                  <a:pt x="3314700" y="1657350"/>
                </a:cubicBezTo>
                <a:cubicBezTo>
                  <a:pt x="3314700" y="2572679"/>
                  <a:pt x="2572679" y="3314700"/>
                  <a:pt x="1657350" y="3314700"/>
                </a:cubicBezTo>
                <a:cubicBezTo>
                  <a:pt x="742021" y="3314700"/>
                  <a:pt x="0" y="2572679"/>
                  <a:pt x="0" y="1657350"/>
                </a:cubicBezTo>
                <a:cubicBezTo>
                  <a:pt x="0" y="742021"/>
                  <a:pt x="742021" y="0"/>
                  <a:pt x="1657350" y="0"/>
                </a:cubicBezTo>
                <a:close/>
              </a:path>
            </a:pathLst>
          </a:custGeom>
        </p:spPr>
        <p:txBody>
          <a:bodyPr wrap="square" anchor="ctr" anchorCtr="0">
            <a:noAutofit/>
          </a:bodyPr>
          <a:lstStyle/>
          <a:p>
            <a:endParaRPr lang="zh-CN" altLang="en-US" dirty="0"/>
          </a:p>
        </p:txBody>
      </p:sp>
      <p:sp>
        <p:nvSpPr>
          <p:cNvPr id="90" name="标题 1"/>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4" name="图片 93"/>
          <p:cNvPicPr>
            <a:picLocks noChangeAspect="1"/>
          </p:cNvPicPr>
          <p:nvPr userDrawn="1"/>
        </p:nvPicPr>
        <p:blipFill>
          <a:blip r:embed="rId2"/>
          <a:stretch>
            <a:fillRect/>
          </a:stretch>
        </p:blipFill>
        <p:spPr>
          <a:xfrm>
            <a:off x="744128" y="6420492"/>
            <a:ext cx="958362" cy="236837"/>
          </a:xfrm>
          <a:prstGeom prst="rect">
            <a:avLst/>
          </a:prstGeom>
        </p:spPr>
      </p:pic>
      <p:pic>
        <p:nvPicPr>
          <p:cNvPr id="98" name="图片 97"/>
          <p:cNvPicPr>
            <a:picLocks noChangeAspect="1"/>
          </p:cNvPicPr>
          <p:nvPr userDrawn="1"/>
        </p:nvPicPr>
        <p:blipFill>
          <a:blip r:embed="rId3"/>
          <a:stretch>
            <a:fillRect/>
          </a:stretch>
        </p:blipFill>
        <p:spPr>
          <a:xfrm>
            <a:off x="9966201" y="381027"/>
            <a:ext cx="1552699" cy="494974"/>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图片">
    <p:spTree>
      <p:nvGrpSpPr>
        <p:cNvPr id="1" name=""/>
        <p:cNvGrpSpPr/>
        <p:nvPr/>
      </p:nvGrpSpPr>
      <p:grpSpPr>
        <a:xfrm>
          <a:off x="0" y="0"/>
          <a:ext cx="0" cy="0"/>
          <a:chOff x="0" y="0"/>
          <a:chExt cx="0" cy="0"/>
        </a:xfrm>
      </p:grpSpPr>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fld>
            <a:endParaRPr lang="zh-CN" altLang="en-US" dirty="0"/>
          </a:p>
        </p:txBody>
      </p:sp>
      <p:sp>
        <p:nvSpPr>
          <p:cNvPr id="90" name="图片占位符 6"/>
          <p:cNvSpPr>
            <a:spLocks noGrp="1" noChangeAspect="1"/>
          </p:cNvSpPr>
          <p:nvPr>
            <p:ph type="pic" sz="quarter" idx="10"/>
          </p:nvPr>
        </p:nvSpPr>
        <p:spPr>
          <a:xfrm>
            <a:off x="1114722" y="1132945"/>
            <a:ext cx="1735608" cy="2315510"/>
          </a:xfrm>
        </p:spPr>
        <p:txBody>
          <a:bodyPr/>
          <a:lstStyle/>
          <a:p>
            <a:endParaRPr lang="zh-CN" altLang="en-US" dirty="0"/>
          </a:p>
        </p:txBody>
      </p:sp>
      <p:sp>
        <p:nvSpPr>
          <p:cNvPr id="91" name="图片占位符 6"/>
          <p:cNvSpPr>
            <a:spLocks noGrp="1" noChangeAspect="1"/>
          </p:cNvSpPr>
          <p:nvPr>
            <p:ph type="pic" sz="quarter" idx="13"/>
          </p:nvPr>
        </p:nvSpPr>
        <p:spPr>
          <a:xfrm>
            <a:off x="9351363" y="3674135"/>
            <a:ext cx="1755000" cy="2341381"/>
          </a:xfrm>
        </p:spPr>
        <p:txBody>
          <a:bodyPr/>
          <a:lstStyle/>
          <a:p>
            <a:endParaRPr lang="zh-CN" altLang="en-US" dirty="0"/>
          </a:p>
        </p:txBody>
      </p:sp>
      <p:sp>
        <p:nvSpPr>
          <p:cNvPr id="92" name="任意多边形: 形状 91"/>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3" name="标题 1"/>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4" name="图片 93"/>
          <p:cNvPicPr>
            <a:picLocks noChangeAspect="1"/>
          </p:cNvPicPr>
          <p:nvPr userDrawn="1"/>
        </p:nvPicPr>
        <p:blipFill>
          <a:blip r:embed="rId2"/>
          <a:stretch>
            <a:fillRect/>
          </a:stretch>
        </p:blipFill>
        <p:spPr>
          <a:xfrm>
            <a:off x="744128" y="6420492"/>
            <a:ext cx="958362" cy="236837"/>
          </a:xfrm>
          <a:prstGeom prst="rect">
            <a:avLst/>
          </a:prstGeom>
        </p:spPr>
      </p:pic>
      <p:pic>
        <p:nvPicPr>
          <p:cNvPr id="98" name="图片 97"/>
          <p:cNvPicPr>
            <a:picLocks noChangeAspect="1"/>
          </p:cNvPicPr>
          <p:nvPr userDrawn="1"/>
        </p:nvPicPr>
        <p:blipFill>
          <a:blip r:embed="rId3"/>
          <a:stretch>
            <a:fillRect/>
          </a:stretch>
        </p:blipFill>
        <p:spPr>
          <a:xfrm>
            <a:off x="9966201" y="381027"/>
            <a:ext cx="1552699" cy="494974"/>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图片">
    <p:spTree>
      <p:nvGrpSpPr>
        <p:cNvPr id="1" name=""/>
        <p:cNvGrpSpPr/>
        <p:nvPr/>
      </p:nvGrpSpPr>
      <p:grpSpPr>
        <a:xfrm>
          <a:off x="0" y="0"/>
          <a:ext cx="0" cy="0"/>
          <a:chOff x="0" y="0"/>
          <a:chExt cx="0" cy="0"/>
        </a:xfrm>
      </p:grpSpPr>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fld>
            <a:endParaRPr lang="zh-CN" altLang="en-US" dirty="0"/>
          </a:p>
        </p:txBody>
      </p:sp>
      <p:sp>
        <p:nvSpPr>
          <p:cNvPr id="91" name="图片占位符 90"/>
          <p:cNvSpPr>
            <a:spLocks noGrp="1"/>
          </p:cNvSpPr>
          <p:nvPr>
            <p:ph type="pic" sz="quarter" idx="13"/>
          </p:nvPr>
        </p:nvSpPr>
        <p:spPr>
          <a:xfrm>
            <a:off x="1219984"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5" name="图片占位符 94"/>
          <p:cNvSpPr>
            <a:spLocks noGrp="1"/>
          </p:cNvSpPr>
          <p:nvPr>
            <p:ph type="pic" sz="quarter" idx="14"/>
          </p:nvPr>
        </p:nvSpPr>
        <p:spPr>
          <a:xfrm>
            <a:off x="9369946"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8" name="图片占位符 97"/>
          <p:cNvSpPr>
            <a:spLocks noGrp="1"/>
          </p:cNvSpPr>
          <p:nvPr>
            <p:ph type="pic" sz="quarter" idx="15"/>
          </p:nvPr>
        </p:nvSpPr>
        <p:spPr>
          <a:xfrm>
            <a:off x="3936638"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9" name="图片占位符 98"/>
          <p:cNvSpPr>
            <a:spLocks noGrp="1"/>
          </p:cNvSpPr>
          <p:nvPr>
            <p:ph type="pic" sz="quarter" idx="16"/>
          </p:nvPr>
        </p:nvSpPr>
        <p:spPr>
          <a:xfrm>
            <a:off x="6653292"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0" name="任意多边形: 形状 89"/>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标题 1"/>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3" name="图片 92"/>
          <p:cNvPicPr>
            <a:picLocks noChangeAspect="1"/>
          </p:cNvPicPr>
          <p:nvPr userDrawn="1"/>
        </p:nvPicPr>
        <p:blipFill>
          <a:blip r:embed="rId2"/>
          <a:stretch>
            <a:fillRect/>
          </a:stretch>
        </p:blipFill>
        <p:spPr>
          <a:xfrm>
            <a:off x="744128" y="6420492"/>
            <a:ext cx="958362" cy="236837"/>
          </a:xfrm>
          <a:prstGeom prst="rect">
            <a:avLst/>
          </a:prstGeom>
        </p:spPr>
      </p:pic>
      <p:pic>
        <p:nvPicPr>
          <p:cNvPr id="97" name="图片 96"/>
          <p:cNvPicPr>
            <a:picLocks noChangeAspect="1"/>
          </p:cNvPicPr>
          <p:nvPr userDrawn="1"/>
        </p:nvPicPr>
        <p:blipFill>
          <a:blip r:embed="rId3"/>
          <a:stretch>
            <a:fillRect/>
          </a:stretch>
        </p:blipFill>
        <p:spPr>
          <a:xfrm>
            <a:off x="9966201" y="381027"/>
            <a:ext cx="1552699" cy="494974"/>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空白版式">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结束页 幻灯片">
    <p:bg>
      <p:bgPr>
        <a:solidFill>
          <a:schemeClr val="bg1"/>
        </a:solidFill>
        <a:effectLst/>
      </p:bgPr>
    </p:bg>
    <p:spTree>
      <p:nvGrpSpPr>
        <p:cNvPr id="1" name=""/>
        <p:cNvGrpSpPr/>
        <p:nvPr/>
      </p:nvGrpSpPr>
      <p:grpSpPr>
        <a:xfrm>
          <a:off x="0" y="0"/>
          <a:ext cx="0" cy="0"/>
          <a:chOff x="0" y="0"/>
          <a:chExt cx="0" cy="0"/>
        </a:xfrm>
      </p:grpSpPr>
      <p:sp>
        <p:nvSpPr>
          <p:cNvPr id="7" name="文本占位符 6"/>
          <p:cNvSpPr>
            <a:spLocks noGrp="1"/>
          </p:cNvSpPr>
          <p:nvPr>
            <p:ph type="body" sz="quarter" idx="10" hasCustomPrompt="1"/>
          </p:nvPr>
        </p:nvSpPr>
        <p:spPr>
          <a:xfrm>
            <a:off x="3735420" y="2971800"/>
            <a:ext cx="7783479" cy="914400"/>
          </a:xfrm>
        </p:spPr>
        <p:txBody>
          <a:bodyPr anchor="ctr" anchorCtr="0">
            <a:normAutofit/>
          </a:bodyPr>
          <a:lstStyle>
            <a:lvl1pPr marL="0" indent="0" algn="ctr">
              <a:buNone/>
              <a:defRPr sz="5400" b="1">
                <a:solidFill>
                  <a:schemeClr val="accent1"/>
                </a:solidFill>
                <a:latin typeface="Helvetica" pitchFamily="2" charset="0"/>
              </a:defRPr>
            </a:lvl1pPr>
          </a:lstStyle>
          <a:p>
            <a:pPr lvl="0"/>
            <a:r>
              <a:rPr lang="en-US" altLang="zh-CN" dirty="0"/>
              <a:t>Here</a:t>
            </a:r>
            <a:r>
              <a:rPr lang="zh-CN" altLang="en-US" dirty="0"/>
              <a:t> </a:t>
            </a:r>
            <a:r>
              <a:rPr lang="en-US" altLang="zh-CN" dirty="0"/>
              <a:t>is</a:t>
            </a:r>
            <a:r>
              <a:rPr lang="zh-CN" altLang="en-US" dirty="0"/>
              <a:t> </a:t>
            </a:r>
            <a:r>
              <a:rPr lang="en-US" altLang="zh-CN" dirty="0"/>
              <a:t>text</a:t>
            </a:r>
            <a:r>
              <a:rPr lang="zh-CN" altLang="en-US" dirty="0"/>
              <a:t> </a:t>
            </a:r>
            <a:endParaRPr lang="en-US" altLang="zh-CN" dirty="0"/>
          </a:p>
          <a:p>
            <a:pPr lvl="0"/>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sp>
        <p:nvSpPr>
          <p:cNvPr id="6" name="箭头: 五边形 5"/>
          <p:cNvSpPr/>
          <p:nvPr userDrawn="1"/>
        </p:nvSpPr>
        <p:spPr>
          <a:xfrm rot="16200000">
            <a:off x="10605854" y="5156200"/>
            <a:ext cx="2879387" cy="3403600"/>
          </a:xfrm>
          <a:prstGeom prst="homePlat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8" name="箭头: 五边形 7"/>
          <p:cNvSpPr/>
          <p:nvPr userDrawn="1"/>
        </p:nvSpPr>
        <p:spPr>
          <a:xfrm>
            <a:off x="-2680781" y="0"/>
            <a:ext cx="5753100" cy="9620654"/>
          </a:xfrm>
          <a:prstGeom prst="homePlate">
            <a:avLst>
              <a:gd name="adj" fmla="val 5086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5" name="箭头: 五边形 4"/>
          <p:cNvSpPr/>
          <p:nvPr userDrawn="1"/>
        </p:nvSpPr>
        <p:spPr>
          <a:xfrm rot="5400000">
            <a:off x="7310335" y="-1872573"/>
            <a:ext cx="2616740" cy="4241259"/>
          </a:xfrm>
          <a:prstGeom prst="homePlat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结束页2">
    <p:spTree>
      <p:nvGrpSpPr>
        <p:cNvPr id="1" name=""/>
        <p:cNvGrpSpPr/>
        <p:nvPr/>
      </p:nvGrpSpPr>
      <p:grpSpPr>
        <a:xfrm>
          <a:off x="0" y="0"/>
          <a:ext cx="0" cy="0"/>
          <a:chOff x="0" y="0"/>
          <a:chExt cx="0" cy="0"/>
        </a:xfrm>
      </p:grpSpPr>
      <p:sp>
        <p:nvSpPr>
          <p:cNvPr id="6" name="椭圆 5"/>
          <p:cNvSpPr/>
          <p:nvPr userDrawn="1"/>
        </p:nvSpPr>
        <p:spPr>
          <a:xfrm>
            <a:off x="-2319371" y="4211980"/>
            <a:ext cx="5113371" cy="511337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cs typeface="+mn-ea"/>
              <a:sym typeface="+mn-lt"/>
            </a:endParaRPr>
          </a:p>
        </p:txBody>
      </p:sp>
      <p:sp>
        <p:nvSpPr>
          <p:cNvPr id="7" name="椭圆 6"/>
          <p:cNvSpPr/>
          <p:nvPr userDrawn="1"/>
        </p:nvSpPr>
        <p:spPr>
          <a:xfrm>
            <a:off x="10560051" y="-2647819"/>
            <a:ext cx="4418254" cy="441825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cs typeface="+mn-ea"/>
              <a:sym typeface="+mn-lt"/>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0400" y="217487"/>
            <a:ext cx="10858500" cy="811213"/>
          </a:xfrm>
          <a:prstGeom prst="rect">
            <a:avLst/>
          </a:prstGeom>
        </p:spPr>
        <p:txBody>
          <a:bodyPr vert="horz" lIns="0" tIns="0" rIns="0" bIns="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6604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Helvetica Regular" pitchFamily="2" charset="0"/>
              </a:defRPr>
            </a:lvl1pPr>
          </a:lstStyle>
          <a:p>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Helvetica Regular" pitchFamily="2" charset="0"/>
              </a:defRPr>
            </a:lvl1pPr>
          </a:lstStyle>
          <a:p>
            <a:endParaRPr lang="zh-CN" altLang="en-US" dirty="0"/>
          </a:p>
        </p:txBody>
      </p:sp>
      <p:sp>
        <p:nvSpPr>
          <p:cNvPr id="6" name="灯片编号占位符 5"/>
          <p:cNvSpPr>
            <a:spLocks noGrp="1"/>
          </p:cNvSpPr>
          <p:nvPr>
            <p:ph type="sldNum" sz="quarter" idx="4"/>
          </p:nvPr>
        </p:nvSpPr>
        <p:spPr>
          <a:xfrm>
            <a:off x="8775700" y="6356349"/>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Helvetica Regular" pitchFamily="2" charset="0"/>
              </a:defRPr>
            </a:lvl1pPr>
          </a:lstStyle>
          <a:p>
            <a:fld id="{2515AB8F-1C56-49E9-90C8-78D22B0C1B97}" type="slidenum">
              <a:rPr lang="zh-CN" altLang="en-US" smtClean="0"/>
            </a:fld>
            <a:endParaRPr lang="zh-CN" altLang="en-US" dirty="0"/>
          </a:p>
        </p:txBody>
      </p:sp>
      <p:sp>
        <p:nvSpPr>
          <p:cNvPr id="7" name="椭圆 6"/>
          <p:cNvSpPr/>
          <p:nvPr userDrawn="1"/>
        </p:nvSpPr>
        <p:spPr>
          <a:xfrm>
            <a:off x="4749800" y="-4572000"/>
            <a:ext cx="1168400" cy="81121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8" name="椭圆 7"/>
          <p:cNvSpPr/>
          <p:nvPr userDrawn="1"/>
        </p:nvSpPr>
        <p:spPr>
          <a:xfrm>
            <a:off x="4572000" y="9093200"/>
            <a:ext cx="1168400" cy="81121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hdr="0" ftr="0" dt="0"/>
  <p:txStyles>
    <p:title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7.png"/><Relationship Id="rId1" Type="http://schemas.openxmlformats.org/officeDocument/2006/relationships/tags" Target="../tags/tag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8.png"/><Relationship Id="rId1" Type="http://schemas.openxmlformats.org/officeDocument/2006/relationships/tags" Target="../tags/tag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9.png"/><Relationship Id="rId1" Type="http://schemas.openxmlformats.org/officeDocument/2006/relationships/tags" Target="../tags/tag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10.png"/><Relationship Id="rId1" Type="http://schemas.openxmlformats.org/officeDocument/2006/relationships/tags" Target="../tags/tag4.xml"/></Relationships>
</file>

<file path=ppt/slides/_rels/slide30.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11.xml"/><Relationship Id="rId3" Type="http://schemas.openxmlformats.org/officeDocument/2006/relationships/image" Target="../media/image11.wmf"/><Relationship Id="rId2" Type="http://schemas.openxmlformats.org/officeDocument/2006/relationships/oleObject" Target="../embeddings/oleObject1.bin"/><Relationship Id="rId1" Type="http://schemas.openxmlformats.org/officeDocument/2006/relationships/tags" Target="../tags/tag5.xml"/></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11.xml"/><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16.png"/><Relationship Id="rId1" Type="http://schemas.openxmlformats.org/officeDocument/2006/relationships/image" Target="../media/image15.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17.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1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20.png"/><Relationship Id="rId1" Type="http://schemas.openxmlformats.org/officeDocument/2006/relationships/image" Target="../media/image19.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2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22.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23.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24.png"/></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24.png"/><Relationship Id="rId1" Type="http://schemas.openxmlformats.org/officeDocument/2006/relationships/image" Target="../media/image25.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25.png"/></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24.png"/><Relationship Id="rId1" Type="http://schemas.openxmlformats.org/officeDocument/2006/relationships/image" Target="../media/image26.png"/></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24.png"/><Relationship Id="rId1" Type="http://schemas.openxmlformats.org/officeDocument/2006/relationships/image" Target="../media/image27.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28.png"/></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28.png"/><Relationship Id="rId1" Type="http://schemas.openxmlformats.org/officeDocument/2006/relationships/image" Target="../media/image29.pn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30.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3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30.pn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32.pn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33.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35.png"/><Relationship Id="rId1" Type="http://schemas.openxmlformats.org/officeDocument/2006/relationships/image" Target="../media/image34.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36.png"/></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1.xml"/><Relationship Id="rId1" Type="http://schemas.openxmlformats.org/officeDocument/2006/relationships/image" Target="../media/image37.png"/></Relationships>
</file>

<file path=ppt/slides/_rels/slide72.xml.rels><?xml version="1.0" encoding="UTF-8" standalone="yes"?>
<Relationships xmlns="http://schemas.openxmlformats.org/package/2006/relationships"><Relationship Id="rId6" Type="http://schemas.openxmlformats.org/officeDocument/2006/relationships/slideLayout" Target="../slideLayouts/slideLayout11.xml"/><Relationship Id="rId5" Type="http://schemas.openxmlformats.org/officeDocument/2006/relationships/image" Target="../media/image42.png"/><Relationship Id="rId4" Type="http://schemas.openxmlformats.org/officeDocument/2006/relationships/image" Target="../media/image41.png"/><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image" Target="../media/image38.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44.png"/><Relationship Id="rId1" Type="http://schemas.openxmlformats.org/officeDocument/2006/relationships/image" Target="../media/image43.png"/></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45.png"/></Relationships>
</file>

<file path=ppt/slides/_rels/slide78.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47.png"/><Relationship Id="rId1" Type="http://schemas.openxmlformats.org/officeDocument/2006/relationships/image" Target="../media/image46.png"/></Relationships>
</file>

<file path=ppt/slides/_rels/slide79.xml.rels><?xml version="1.0" encoding="UTF-8" standalone="yes"?>
<Relationships xmlns="http://schemas.openxmlformats.org/package/2006/relationships"><Relationship Id="rId4" Type="http://schemas.openxmlformats.org/officeDocument/2006/relationships/slideLayout" Target="../slideLayouts/slideLayout11.xml"/><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image" Target="../media/image46.png"/></Relationships>
</file>

<file path=ppt/slides/_rels/slide80.xml.rels><?xml version="1.0" encoding="UTF-8" standalone="yes"?>
<Relationships xmlns="http://schemas.openxmlformats.org/package/2006/relationships"><Relationship Id="rId4" Type="http://schemas.openxmlformats.org/officeDocument/2006/relationships/slideLayout" Target="../slideLayouts/slideLayout11.xml"/><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image" Target="../media/image46.png"/></Relationships>
</file>

<file path=ppt/slides/_rels/slide81.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47.png"/><Relationship Id="rId1" Type="http://schemas.openxmlformats.org/officeDocument/2006/relationships/image" Target="../media/image46.png"/></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4.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53.png"/><Relationship Id="rId1" Type="http://schemas.openxmlformats.org/officeDocument/2006/relationships/image" Target="../media/image52.png"/></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54.png"/></Relationships>
</file>

<file path=ppt/slides/_rels/slide86.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56.png"/><Relationship Id="rId1" Type="http://schemas.openxmlformats.org/officeDocument/2006/relationships/image" Target="../media/image55.png"/></Relationships>
</file>

<file path=ppt/slides/_rels/slide87.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57.png"/><Relationship Id="rId1" Type="http://schemas.openxmlformats.org/officeDocument/2006/relationships/image" Target="../media/image55.png"/></Relationships>
</file>

<file path=ppt/slides/_rels/slide88.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58.png"/><Relationship Id="rId1" Type="http://schemas.openxmlformats.org/officeDocument/2006/relationships/image" Target="../media/image55.png"/></Relationships>
</file>

<file path=ppt/slides/_rels/slide89.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59.png"/><Relationship Id="rId1" Type="http://schemas.openxmlformats.org/officeDocument/2006/relationships/image" Target="../media/image55.png"/></Relationships>
</file>

<file path=ppt/slides/_rels/slide90.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60.png"/><Relationship Id="rId1" Type="http://schemas.openxmlformats.org/officeDocument/2006/relationships/image" Target="../media/image55.png"/></Relationships>
</file>

<file path=ppt/slides/_rels/slide91.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61.png"/><Relationship Id="rId1" Type="http://schemas.openxmlformats.org/officeDocument/2006/relationships/image" Target="../media/image55.png"/></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62.png"/></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63.png"/></Relationships>
</file>

<file path=ppt/slides/_rels/slide97.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64.png"/><Relationship Id="rId1" Type="http://schemas.openxmlformats.org/officeDocument/2006/relationships/image" Target="../media/image63.png"/></Relationships>
</file>

<file path=ppt/slides/_rels/slide98.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65.png"/><Relationship Id="rId1" Type="http://schemas.openxmlformats.org/officeDocument/2006/relationships/image" Target="../media/image63.png"/></Relationships>
</file>

<file path=ppt/slides/_rels/slide99.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66.png"/><Relationship Id="rId1" Type="http://schemas.openxmlformats.org/officeDocument/2006/relationships/image" Target="../media/image63.png"/></Relationships>
</file>

<file path=ppt/slides/_rels/slide100.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67.png"/><Relationship Id="rId1" Type="http://schemas.openxmlformats.org/officeDocument/2006/relationships/image" Target="../media/image63.png"/></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7.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1.xml"/><Relationship Id="rId1" Type="http://schemas.openxmlformats.org/officeDocument/2006/relationships/image" Target="../media/image68.png"/></Relationships>
</file>

<file path=ppt/slides/_rels/slide10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1.xml"/><Relationship Id="rId1" Type="http://schemas.openxmlformats.org/officeDocument/2006/relationships/image" Target="../media/image69.png"/></Relationships>
</file>

<file path=ppt/slides/_rels/slide109.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1.xml"/><Relationship Id="rId2" Type="http://schemas.openxmlformats.org/officeDocument/2006/relationships/image" Target="../media/image71.png"/><Relationship Id="rId1" Type="http://schemas.openxmlformats.org/officeDocument/2006/relationships/image" Target="../media/image70.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1.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72.png"/><Relationship Id="rId1" Type="http://schemas.openxmlformats.org/officeDocument/2006/relationships/image" Target="../media/image71.png"/></Relationships>
</file>

<file path=ppt/slides/_rels/slide112.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11.xml"/><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image" Target="../media/image73.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1"/>
          <p:cNvSpPr txBox="1"/>
          <p:nvPr/>
        </p:nvSpPr>
        <p:spPr>
          <a:xfrm>
            <a:off x="3791712" y="1239205"/>
            <a:ext cx="8191129" cy="2189795"/>
          </a:xfrm>
          <a:prstGeom prst="rect">
            <a:avLst/>
          </a:prstGeom>
        </p:spPr>
        <p:txBody>
          <a:bodyPr lIns="0" rIns="0" anchor="ctr" anchorCtr="0">
            <a:norm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r">
              <a:lnSpc>
                <a:spcPct val="100000"/>
              </a:lnSpc>
              <a:buNone/>
            </a:pPr>
            <a:r>
              <a:rPr lang="en-US" altLang="zh-CN" sz="4000" b="1" dirty="0">
                <a:solidFill>
                  <a:schemeClr val="accent1"/>
                </a:solidFill>
                <a:latin typeface="Helvetica" pitchFamily="2" charset="0"/>
                <a:cs typeface="Arial" panose="020B0604020202090204" pitchFamily="34" charset="0"/>
                <a:sym typeface="+mn-lt"/>
              </a:rPr>
              <a:t>B09S0061 </a:t>
            </a:r>
            <a:r>
              <a:rPr lang="zh-CN" altLang="en-US" sz="4000" b="1" dirty="0">
                <a:solidFill>
                  <a:schemeClr val="accent1"/>
                </a:solidFill>
                <a:latin typeface="Helvetica" pitchFamily="2" charset="0"/>
                <a:cs typeface="Arial" panose="020B0604020202090204" pitchFamily="34" charset="0"/>
                <a:sym typeface="+mn-lt"/>
              </a:rPr>
              <a:t>软件工程</a:t>
            </a:r>
            <a:endParaRPr lang="en-US" altLang="zh-CN" sz="4000" b="1" dirty="0">
              <a:solidFill>
                <a:schemeClr val="accent1"/>
              </a:solidFill>
              <a:latin typeface="Helvetica" pitchFamily="2" charset="0"/>
              <a:cs typeface="Arial" panose="020B0604020202090204" pitchFamily="34" charset="0"/>
              <a:sym typeface="+mn-lt"/>
            </a:endParaRPr>
          </a:p>
          <a:p>
            <a:pPr marL="0" indent="0" algn="r">
              <a:lnSpc>
                <a:spcPct val="100000"/>
              </a:lnSpc>
              <a:buNone/>
            </a:pPr>
            <a:r>
              <a:rPr lang="zh-CN" altLang="en-US" sz="4000" b="1" dirty="0">
                <a:solidFill>
                  <a:schemeClr val="accent1"/>
                </a:solidFill>
                <a:latin typeface="Helvetica" pitchFamily="2" charset="0"/>
                <a:cs typeface="Arial" panose="020B0604020202090204" pitchFamily="34" charset="0"/>
                <a:sym typeface="+mn-lt"/>
              </a:rPr>
              <a:t>第15讲</a:t>
            </a:r>
            <a:endParaRPr lang="zh-CN" altLang="en-US" sz="4000" b="1" dirty="0">
              <a:solidFill>
                <a:schemeClr val="accent1"/>
              </a:solidFill>
              <a:latin typeface="Helvetica" pitchFamily="2" charset="0"/>
              <a:cs typeface="Arial" panose="020B0604020202090204" pitchFamily="34" charset="0"/>
              <a:sym typeface="+mn-lt"/>
            </a:endParaRPr>
          </a:p>
        </p:txBody>
      </p:sp>
      <p:sp>
        <p:nvSpPr>
          <p:cNvPr id="64" name="矩形 63"/>
          <p:cNvSpPr/>
          <p:nvPr/>
        </p:nvSpPr>
        <p:spPr>
          <a:xfrm>
            <a:off x="8750859" y="4819809"/>
            <a:ext cx="3003067" cy="650875"/>
          </a:xfrm>
          <a:prstGeom prst="rect">
            <a:avLst/>
          </a:prstGeom>
        </p:spPr>
        <p:txBody>
          <a:bodyPr wrap="square" lIns="0" rIns="0">
            <a:spAutoFit/>
          </a:bodyPr>
          <a:lstStyle/>
          <a:p>
            <a:pPr algn="r">
              <a:lnSpc>
                <a:spcPct val="130000"/>
              </a:lnSpc>
            </a:pPr>
            <a:r>
              <a:rPr lang="en-US" altLang="zh-CN" sz="2800" dirty="0">
                <a:solidFill>
                  <a:schemeClr val="accent1"/>
                </a:solidFill>
                <a:latin typeface="Helvetica" pitchFamily="2" charset="0"/>
                <a:cs typeface="Arial" panose="020B0604020202090204" pitchFamily="34" charset="0"/>
                <a:sym typeface="+mn-lt"/>
              </a:rPr>
              <a:t>2026/05/21</a:t>
            </a:r>
            <a:endParaRPr lang="zh-CN" altLang="en-US" sz="2800" dirty="0">
              <a:solidFill>
                <a:schemeClr val="accent1"/>
              </a:solidFill>
              <a:latin typeface="Helvetica" pitchFamily="2" charset="0"/>
              <a:cs typeface="Arial" panose="020B0604020202090204" pitchFamily="34" charset="0"/>
              <a:sym typeface="+mn-lt"/>
            </a:endParaRPr>
          </a:p>
        </p:txBody>
      </p:sp>
      <p:sp>
        <p:nvSpPr>
          <p:cNvPr id="67" name="矩形 66"/>
          <p:cNvSpPr/>
          <p:nvPr/>
        </p:nvSpPr>
        <p:spPr>
          <a:xfrm>
            <a:off x="5002654" y="4381010"/>
            <a:ext cx="6751272" cy="650875"/>
          </a:xfrm>
          <a:prstGeom prst="rect">
            <a:avLst/>
          </a:prstGeom>
        </p:spPr>
        <p:txBody>
          <a:bodyPr wrap="square">
            <a:spAutoFit/>
          </a:bodyPr>
          <a:lstStyle/>
          <a:p>
            <a:pPr algn="r">
              <a:lnSpc>
                <a:spcPct val="130000"/>
              </a:lnSpc>
            </a:pPr>
            <a:r>
              <a:rPr lang="zh-CN" altLang="en-US" sz="2800" dirty="0">
                <a:solidFill>
                  <a:schemeClr val="accent1"/>
                </a:solidFill>
                <a:latin typeface="Helvetica" pitchFamily="2" charset="0"/>
                <a:cs typeface="Arial" panose="020B0604020202090204" pitchFamily="34" charset="0"/>
                <a:sym typeface="+mn-lt"/>
              </a:rPr>
              <a:t>讲师：刘光</a:t>
            </a:r>
            <a:r>
              <a:rPr lang="zh-CN" altLang="en-US" sz="2800" dirty="0">
                <a:solidFill>
                  <a:schemeClr val="accent1"/>
                </a:solidFill>
                <a:latin typeface="Helvetica" pitchFamily="2" charset="0"/>
                <a:cs typeface="Arial" panose="020B0604020202090204" pitchFamily="34" charset="0"/>
                <a:sym typeface="+mn-lt"/>
              </a:rPr>
              <a:t>迟 博士</a:t>
            </a:r>
            <a:endParaRPr lang="zh-CN" altLang="en-US" sz="2800" dirty="0">
              <a:solidFill>
                <a:schemeClr val="accent1"/>
              </a:solidFill>
              <a:latin typeface="Helvetica" pitchFamily="2" charset="0"/>
              <a:cs typeface="Arial" panose="020B0604020202090204" pitchFamily="34" charset="0"/>
              <a:sym typeface="+mn-lt"/>
            </a:endParaRPr>
          </a:p>
        </p:txBody>
      </p:sp>
      <p:cxnSp>
        <p:nvCxnSpPr>
          <p:cNvPr id="3" name="直接连接符 2"/>
          <p:cNvCxnSpPr/>
          <p:nvPr/>
        </p:nvCxnSpPr>
        <p:spPr>
          <a:xfrm>
            <a:off x="11842946" y="4575127"/>
            <a:ext cx="0" cy="752777"/>
          </a:xfrm>
          <a:prstGeom prst="line">
            <a:avLst/>
          </a:prstGeom>
          <a:ln w="50800" cmpd="thickThi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335087" y="3977885"/>
            <a:ext cx="9521825" cy="644144"/>
          </a:xfrm>
          <a:prstGeom prst="rect">
            <a:avLst/>
          </a:prstGeom>
        </p:spPr>
        <p:txBody>
          <a:bodyPr wrap="square">
            <a:normAutofit lnSpcReduction="10000"/>
          </a:bodyPr>
          <a:lstStyle/>
          <a:p>
            <a:pPr algn="ctr"/>
            <a:r>
              <a:rPr lang="zh-CN" altLang="en-US" sz="3700" b="1" dirty="0">
                <a:solidFill>
                  <a:schemeClr val="accent1"/>
                </a:solidFill>
                <a:latin typeface="Helvetica" pitchFamily="2" charset="0"/>
                <a:cs typeface="+mn-ea"/>
                <a:sym typeface="+mn-lt"/>
              </a:rPr>
              <a:t>课程复习</a:t>
            </a:r>
            <a:endParaRPr lang="zh-CN" altLang="en-US" sz="3700" b="1" dirty="0">
              <a:solidFill>
                <a:schemeClr val="accent1"/>
              </a:solidFill>
              <a:latin typeface="Helvetica" pitchFamily="2" charset="0"/>
              <a:cs typeface="+mn-ea"/>
              <a:sym typeface="+mn-lt"/>
            </a:endParaRPr>
          </a:p>
        </p:txBody>
      </p:sp>
      <p:grpSp>
        <p:nvGrpSpPr>
          <p:cNvPr id="4" name="组合 3"/>
          <p:cNvGrpSpPr/>
          <p:nvPr/>
        </p:nvGrpSpPr>
        <p:grpSpPr>
          <a:xfrm>
            <a:off x="4819048" y="1319889"/>
            <a:ext cx="2553904" cy="2646878"/>
            <a:chOff x="5865211" y="1319889"/>
            <a:chExt cx="2553904" cy="2646878"/>
          </a:xfrm>
        </p:grpSpPr>
        <p:sp>
          <p:nvSpPr>
            <p:cNvPr id="2" name="文本框 1"/>
            <p:cNvSpPr txBox="1"/>
            <p:nvPr/>
          </p:nvSpPr>
          <p:spPr>
            <a:xfrm>
              <a:off x="5865211" y="1319889"/>
              <a:ext cx="2553904" cy="2646878"/>
            </a:xfrm>
            <a:prstGeom prst="rect">
              <a:avLst/>
            </a:prstGeom>
            <a:noFill/>
          </p:spPr>
          <p:txBody>
            <a:bodyPr wrap="none" rtlCol="0">
              <a:spAutoFit/>
            </a:bodyPr>
            <a:lstStyle/>
            <a:p>
              <a:r>
                <a:rPr lang="en-US" altLang="zh-CN" sz="16600" dirty="0">
                  <a:solidFill>
                    <a:schemeClr val="accent1"/>
                  </a:solidFill>
                  <a:latin typeface="Helvetica" pitchFamily="2" charset="0"/>
                  <a:cs typeface="+mn-ea"/>
                  <a:sym typeface="+mn-lt"/>
                </a:rPr>
                <a:t>01</a:t>
              </a:r>
              <a:endParaRPr lang="zh-CN" altLang="en-US" sz="16600" dirty="0">
                <a:solidFill>
                  <a:schemeClr val="accent1"/>
                </a:solidFill>
                <a:latin typeface="Helvetica" pitchFamily="2" charset="0"/>
                <a:cs typeface="+mn-ea"/>
                <a:sym typeface="+mn-lt"/>
              </a:endParaRPr>
            </a:p>
          </p:txBody>
        </p:sp>
        <p:sp>
          <p:nvSpPr>
            <p:cNvPr id="3" name="文本框 2"/>
            <p:cNvSpPr txBox="1"/>
            <p:nvPr/>
          </p:nvSpPr>
          <p:spPr>
            <a:xfrm>
              <a:off x="5865211" y="2574748"/>
              <a:ext cx="2553904" cy="461665"/>
            </a:xfrm>
            <a:prstGeom prst="rect">
              <a:avLst/>
            </a:prstGeom>
            <a:solidFill>
              <a:schemeClr val="bg1"/>
            </a:solidFill>
          </p:spPr>
          <p:txBody>
            <a:bodyPr wrap="square" rtlCol="0">
              <a:spAutoFit/>
            </a:bodyPr>
            <a:lstStyle/>
            <a:p>
              <a:pPr algn="dist"/>
              <a:r>
                <a:rPr lang="en-US" altLang="zh-CN" sz="2400" dirty="0">
                  <a:solidFill>
                    <a:schemeClr val="accent1"/>
                  </a:solidFill>
                  <a:latin typeface="Helvetica" pitchFamily="2" charset="0"/>
                  <a:cs typeface="Arial" panose="020B0604020202090204" pitchFamily="34" charset="0"/>
                  <a:sym typeface="+mn-lt"/>
                </a:rPr>
                <a:t>PART</a:t>
              </a:r>
              <a:r>
                <a:rPr lang="zh-CN" altLang="en-US" sz="2400" dirty="0">
                  <a:solidFill>
                    <a:schemeClr val="accent1"/>
                  </a:solidFill>
                  <a:latin typeface="Helvetica" pitchFamily="2" charset="0"/>
                  <a:cs typeface="Arial" panose="020B0604020202090204" pitchFamily="34" charset="0"/>
                  <a:sym typeface="+mn-lt"/>
                </a:rPr>
                <a:t> </a:t>
              </a:r>
              <a:r>
                <a:rPr lang="en-US" altLang="zh-CN" sz="2400" dirty="0">
                  <a:solidFill>
                    <a:schemeClr val="accent1"/>
                  </a:solidFill>
                  <a:latin typeface="Helvetica" pitchFamily="2" charset="0"/>
                  <a:cs typeface="Arial" panose="020B0604020202090204" pitchFamily="34" charset="0"/>
                  <a:sym typeface="+mn-lt"/>
                </a:rPr>
                <a:t>ONE</a:t>
              </a:r>
              <a:endParaRPr lang="zh-CN" altLang="en-US" sz="2400" dirty="0">
                <a:solidFill>
                  <a:schemeClr val="accent1"/>
                </a:solidFill>
                <a:latin typeface="Helvetica" pitchFamily="2" charset="0"/>
                <a:cs typeface="Arial" panose="020B0604020202090204" pitchFamily="34" charset="0"/>
                <a:sym typeface="+mn-lt"/>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966387" cy="790865"/>
          </a:xfrm>
        </p:spPr>
        <p:txBody>
          <a:bodyPr>
            <a:normAutofit/>
          </a:bodyPr>
          <a:lstStyle/>
          <a:p>
            <a:r>
              <a:rPr lang="zh-CN" altLang="en-US" dirty="0">
                <a:latin typeface="Times New Roman" panose="02020603050405020304" charset="0"/>
              </a:rPr>
              <a:t>提醒</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622103" y="1226017"/>
            <a:ext cx="10946524" cy="398780"/>
          </a:xfrm>
          <a:prstGeom prst="rect">
            <a:avLst/>
          </a:prstGeom>
          <a:noFill/>
        </p:spPr>
        <p:txBody>
          <a:bodyPr wrap="square">
            <a:spAutoFit/>
          </a:bodyPr>
          <a:lstStyle/>
          <a:p>
            <a:r>
              <a:rPr lang="zh-CN" altLang="en-US" sz="2000" b="1" dirty="0">
                <a:solidFill>
                  <a:srgbClr val="515223"/>
                </a:solidFill>
                <a:latin typeface="Helvetica" pitchFamily="2" charset="0"/>
                <a:cs typeface="Arial" panose="020B0604020202090204" pitchFamily="34" charset="0"/>
              </a:rPr>
              <a:t>第4次实验：</a:t>
            </a:r>
            <a:r>
              <a:rPr lang="en-US" altLang="zh-CN" sz="2000" b="1" dirty="0">
                <a:solidFill>
                  <a:srgbClr val="C00000"/>
                </a:solidFill>
                <a:latin typeface="Helvetica" pitchFamily="2" charset="0"/>
                <a:cs typeface="Arial" panose="020B0604020202090204" pitchFamily="34" charset="0"/>
              </a:rPr>
              <a:t>5</a:t>
            </a:r>
            <a:r>
              <a:rPr lang="zh-CN" altLang="en-US" sz="2000" b="1" dirty="0">
                <a:solidFill>
                  <a:srgbClr val="C00000"/>
                </a:solidFill>
                <a:latin typeface="Helvetica" pitchFamily="2" charset="0"/>
                <a:cs typeface="Arial" panose="020B0604020202090204" pitchFamily="34" charset="0"/>
              </a:rPr>
              <a:t>月</a:t>
            </a:r>
            <a:r>
              <a:rPr lang="en-US" altLang="zh-CN" sz="2000" b="1" dirty="0">
                <a:solidFill>
                  <a:srgbClr val="C00000"/>
                </a:solidFill>
                <a:latin typeface="Helvetica" pitchFamily="2" charset="0"/>
                <a:cs typeface="Arial" panose="020B0604020202090204" pitchFamily="34" charset="0"/>
              </a:rPr>
              <a:t>28</a:t>
            </a:r>
            <a:r>
              <a:rPr lang="zh-CN" altLang="en-US" sz="2000" b="1" dirty="0">
                <a:solidFill>
                  <a:srgbClr val="C00000"/>
                </a:solidFill>
                <a:latin typeface="Helvetica" pitchFamily="2" charset="0"/>
                <a:cs typeface="Arial" panose="020B0604020202090204" pitchFamily="34" charset="0"/>
              </a:rPr>
              <a:t>日（周四），1</a:t>
            </a:r>
            <a:r>
              <a:rPr lang="en-US" altLang="zh-CN" sz="2000" b="1" dirty="0">
                <a:solidFill>
                  <a:srgbClr val="C00000"/>
                </a:solidFill>
                <a:latin typeface="Helvetica" pitchFamily="2" charset="0"/>
                <a:cs typeface="Arial" panose="020B0604020202090204" pitchFamily="34" charset="0"/>
              </a:rPr>
              <a:t>6</a:t>
            </a:r>
            <a:r>
              <a:rPr lang="zh-CN" altLang="en-US" sz="2000" b="1" dirty="0">
                <a:solidFill>
                  <a:srgbClr val="C00000"/>
                </a:solidFill>
                <a:latin typeface="Helvetica" pitchFamily="2" charset="0"/>
                <a:cs typeface="Arial" panose="020B0604020202090204" pitchFamily="34" charset="0"/>
              </a:rPr>
              <a:t>:</a:t>
            </a:r>
            <a:r>
              <a:rPr lang="en-US" altLang="zh-CN" sz="2000" b="1" dirty="0">
                <a:solidFill>
                  <a:srgbClr val="C00000"/>
                </a:solidFill>
                <a:latin typeface="Helvetica" pitchFamily="2" charset="0"/>
                <a:cs typeface="Arial" panose="020B0604020202090204" pitchFamily="34" charset="0"/>
              </a:rPr>
              <a:t>4</a:t>
            </a:r>
            <a:r>
              <a:rPr lang="zh-CN" altLang="en-US" sz="2000" b="1" dirty="0">
                <a:solidFill>
                  <a:srgbClr val="C00000"/>
                </a:solidFill>
                <a:latin typeface="Helvetica" pitchFamily="2" charset="0"/>
                <a:cs typeface="Arial" panose="020B0604020202090204" pitchFamily="34" charset="0"/>
              </a:rPr>
              <a:t>0 – </a:t>
            </a:r>
            <a:r>
              <a:rPr lang="en-US" altLang="zh-CN" sz="2000" b="1" dirty="0">
                <a:solidFill>
                  <a:srgbClr val="C00000"/>
                </a:solidFill>
                <a:latin typeface="Helvetica" pitchFamily="2" charset="0"/>
                <a:cs typeface="Arial" panose="020B0604020202090204" pitchFamily="34" charset="0"/>
              </a:rPr>
              <a:t>19</a:t>
            </a:r>
            <a:r>
              <a:rPr lang="zh-CN" altLang="en-US" sz="2000" b="1" dirty="0">
                <a:solidFill>
                  <a:srgbClr val="C00000"/>
                </a:solidFill>
                <a:latin typeface="Helvetica" pitchFamily="2" charset="0"/>
                <a:cs typeface="Arial" panose="020B0604020202090204" pitchFamily="34" charset="0"/>
              </a:rPr>
              <a:t>：</a:t>
            </a:r>
            <a:r>
              <a:rPr lang="en-US" altLang="zh-CN" sz="2000" b="1" dirty="0">
                <a:solidFill>
                  <a:srgbClr val="C00000"/>
                </a:solidFill>
                <a:latin typeface="Helvetica" pitchFamily="2" charset="0"/>
                <a:cs typeface="Arial" panose="020B0604020202090204" pitchFamily="34" charset="0"/>
              </a:rPr>
              <a:t>30</a:t>
            </a:r>
            <a:r>
              <a:rPr lang="zh-CN" altLang="en-US" sz="2000" b="1" dirty="0">
                <a:solidFill>
                  <a:srgbClr val="C00000"/>
                </a:solidFill>
                <a:latin typeface="Helvetica" pitchFamily="2" charset="0"/>
                <a:cs typeface="Arial" panose="020B0604020202090204" pitchFamily="34" charset="0"/>
              </a:rPr>
              <a:t>，</a:t>
            </a:r>
            <a:r>
              <a:rPr lang="en-US" altLang="zh-CN" sz="2000" b="1" dirty="0">
                <a:solidFill>
                  <a:srgbClr val="C00000"/>
                </a:solidFill>
                <a:latin typeface="Helvetica" pitchFamily="2" charset="0"/>
                <a:cs typeface="Arial" panose="020B0604020202090204" pitchFamily="34" charset="0"/>
              </a:rPr>
              <a:t>J4-101</a:t>
            </a:r>
            <a:endParaRPr lang="zh-CN" altLang="en-US" sz="2000" b="1" dirty="0">
              <a:solidFill>
                <a:srgbClr val="C00000"/>
              </a:solidFill>
              <a:latin typeface="Helvetica" pitchFamily="2" charset="0"/>
              <a:cs typeface="Arial" panose="020B060402020209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966387" cy="790865"/>
          </a:xfrm>
        </p:spPr>
        <p:txBody>
          <a:bodyPr>
            <a:normAutofit/>
          </a:bodyPr>
          <a:lstStyle/>
          <a:p>
            <a:r>
              <a:rPr lang="zh-CN" altLang="en-US" dirty="0">
                <a:latin typeface="Times New Roman" panose="02020603050405020304" charset="0"/>
              </a:rPr>
              <a:t>提醒</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622103" y="1226017"/>
            <a:ext cx="10946524" cy="398780"/>
          </a:xfrm>
          <a:prstGeom prst="rect">
            <a:avLst/>
          </a:prstGeom>
          <a:noFill/>
        </p:spPr>
        <p:txBody>
          <a:bodyPr wrap="square">
            <a:spAutoFit/>
          </a:bodyPr>
          <a:lstStyle/>
          <a:p>
            <a:r>
              <a:rPr lang="zh-CN" altLang="en-US" sz="2000" b="1" dirty="0">
                <a:solidFill>
                  <a:srgbClr val="515223"/>
                </a:solidFill>
                <a:latin typeface="Helvetica" pitchFamily="2" charset="0"/>
                <a:cs typeface="Arial" panose="020B0604020202090204" pitchFamily="34" charset="0"/>
              </a:rPr>
              <a:t>第4次实验：</a:t>
            </a:r>
            <a:r>
              <a:rPr lang="en-US" altLang="zh-CN" sz="2000" b="1" dirty="0">
                <a:solidFill>
                  <a:srgbClr val="C00000"/>
                </a:solidFill>
                <a:latin typeface="Helvetica" pitchFamily="2" charset="0"/>
                <a:cs typeface="Arial" panose="020B0604020202090204" pitchFamily="34" charset="0"/>
              </a:rPr>
              <a:t>5</a:t>
            </a:r>
            <a:r>
              <a:rPr lang="zh-CN" altLang="en-US" sz="2000" b="1" dirty="0">
                <a:solidFill>
                  <a:srgbClr val="C00000"/>
                </a:solidFill>
                <a:latin typeface="Helvetica" pitchFamily="2" charset="0"/>
                <a:cs typeface="Arial" panose="020B0604020202090204" pitchFamily="34" charset="0"/>
              </a:rPr>
              <a:t>月</a:t>
            </a:r>
            <a:r>
              <a:rPr lang="en-US" altLang="zh-CN" sz="2000" b="1" dirty="0">
                <a:solidFill>
                  <a:srgbClr val="C00000"/>
                </a:solidFill>
                <a:latin typeface="Helvetica" pitchFamily="2" charset="0"/>
                <a:cs typeface="Arial" panose="020B0604020202090204" pitchFamily="34" charset="0"/>
              </a:rPr>
              <a:t>28</a:t>
            </a:r>
            <a:r>
              <a:rPr lang="zh-CN" altLang="en-US" sz="2000" b="1" dirty="0">
                <a:solidFill>
                  <a:srgbClr val="C00000"/>
                </a:solidFill>
                <a:latin typeface="Helvetica" pitchFamily="2" charset="0"/>
                <a:cs typeface="Arial" panose="020B0604020202090204" pitchFamily="34" charset="0"/>
              </a:rPr>
              <a:t>日（周四），1</a:t>
            </a:r>
            <a:r>
              <a:rPr lang="en-US" altLang="zh-CN" sz="2000" b="1" dirty="0">
                <a:solidFill>
                  <a:srgbClr val="C00000"/>
                </a:solidFill>
                <a:latin typeface="Helvetica" pitchFamily="2" charset="0"/>
                <a:cs typeface="Arial" panose="020B0604020202090204" pitchFamily="34" charset="0"/>
              </a:rPr>
              <a:t>6</a:t>
            </a:r>
            <a:r>
              <a:rPr lang="zh-CN" altLang="en-US" sz="2000" b="1" dirty="0">
                <a:solidFill>
                  <a:srgbClr val="C00000"/>
                </a:solidFill>
                <a:latin typeface="Helvetica" pitchFamily="2" charset="0"/>
                <a:cs typeface="Arial" panose="020B0604020202090204" pitchFamily="34" charset="0"/>
              </a:rPr>
              <a:t>:</a:t>
            </a:r>
            <a:r>
              <a:rPr lang="en-US" altLang="zh-CN" sz="2000" b="1" dirty="0">
                <a:solidFill>
                  <a:srgbClr val="C00000"/>
                </a:solidFill>
                <a:latin typeface="Helvetica" pitchFamily="2" charset="0"/>
                <a:cs typeface="Arial" panose="020B0604020202090204" pitchFamily="34" charset="0"/>
              </a:rPr>
              <a:t>4</a:t>
            </a:r>
            <a:r>
              <a:rPr lang="zh-CN" altLang="en-US" sz="2000" b="1" dirty="0">
                <a:solidFill>
                  <a:srgbClr val="C00000"/>
                </a:solidFill>
                <a:latin typeface="Helvetica" pitchFamily="2" charset="0"/>
                <a:cs typeface="Arial" panose="020B0604020202090204" pitchFamily="34" charset="0"/>
              </a:rPr>
              <a:t>0 – </a:t>
            </a:r>
            <a:r>
              <a:rPr lang="en-US" altLang="zh-CN" sz="2000" b="1" dirty="0">
                <a:solidFill>
                  <a:srgbClr val="C00000"/>
                </a:solidFill>
                <a:latin typeface="Helvetica" pitchFamily="2" charset="0"/>
                <a:cs typeface="Arial" panose="020B0604020202090204" pitchFamily="34" charset="0"/>
              </a:rPr>
              <a:t>19</a:t>
            </a:r>
            <a:r>
              <a:rPr lang="zh-CN" altLang="en-US" sz="2000" b="1" dirty="0">
                <a:solidFill>
                  <a:srgbClr val="C00000"/>
                </a:solidFill>
                <a:latin typeface="Helvetica" pitchFamily="2" charset="0"/>
                <a:cs typeface="Arial" panose="020B0604020202090204" pitchFamily="34" charset="0"/>
              </a:rPr>
              <a:t>：</a:t>
            </a:r>
            <a:r>
              <a:rPr lang="en-US" altLang="zh-CN" sz="2000" b="1" dirty="0">
                <a:solidFill>
                  <a:srgbClr val="C00000"/>
                </a:solidFill>
                <a:latin typeface="Helvetica" pitchFamily="2" charset="0"/>
                <a:cs typeface="Arial" panose="020B0604020202090204" pitchFamily="34" charset="0"/>
              </a:rPr>
              <a:t>30</a:t>
            </a:r>
            <a:r>
              <a:rPr lang="zh-CN" altLang="en-US" sz="2000" b="1" dirty="0">
                <a:solidFill>
                  <a:srgbClr val="C00000"/>
                </a:solidFill>
                <a:latin typeface="Helvetica" pitchFamily="2" charset="0"/>
                <a:cs typeface="Arial" panose="020B0604020202090204" pitchFamily="34" charset="0"/>
              </a:rPr>
              <a:t>，</a:t>
            </a:r>
            <a:r>
              <a:rPr lang="en-US" altLang="zh-CN" sz="2000" b="1" dirty="0">
                <a:solidFill>
                  <a:srgbClr val="C00000"/>
                </a:solidFill>
                <a:latin typeface="Helvetica" pitchFamily="2" charset="0"/>
                <a:cs typeface="Arial" panose="020B0604020202090204" pitchFamily="34" charset="0"/>
              </a:rPr>
              <a:t>J4-101</a:t>
            </a:r>
            <a:endParaRPr lang="zh-CN" altLang="en-US" sz="2000" b="1" dirty="0">
              <a:solidFill>
                <a:srgbClr val="C00000"/>
              </a:solidFill>
              <a:latin typeface="Helvetica" pitchFamily="2" charset="0"/>
              <a:cs typeface="Arial" panose="020B0604020202090204" pitchFamily="34" charset="0"/>
            </a:endParaRPr>
          </a:p>
        </p:txBody>
      </p:sp>
      <p:sp>
        <p:nvSpPr>
          <p:cNvPr id="4" name="Text Box 3"/>
          <p:cNvSpPr txBox="1"/>
          <p:nvPr/>
        </p:nvSpPr>
        <p:spPr>
          <a:xfrm>
            <a:off x="815975" y="2099310"/>
            <a:ext cx="9700895" cy="2861310"/>
          </a:xfrm>
          <a:prstGeom prst="rect">
            <a:avLst/>
          </a:prstGeom>
          <a:noFill/>
        </p:spPr>
        <p:txBody>
          <a:bodyPr wrap="square" rtlCol="0" anchor="t">
            <a:spAutoFit/>
          </a:bodyPr>
          <a:p>
            <a:r>
              <a:rPr lang="en-US" altLang="en-US"/>
              <a:t>Q1 </a:t>
            </a:r>
            <a:r>
              <a:rPr lang="zh-CN" altLang="en-US"/>
              <a:t>到目前为止，你们的测试覆盖率是多少？</a:t>
            </a:r>
            <a:endParaRPr lang="zh-CN" altLang="en-US"/>
          </a:p>
          <a:p>
            <a:r>
              <a:rPr lang="en-US" altLang="en-US"/>
              <a:t>Q2 </a:t>
            </a:r>
            <a:r>
              <a:rPr lang="zh-CN" altLang="en-US"/>
              <a:t>能举个你们单元测试的例子吗？</a:t>
            </a:r>
            <a:endParaRPr lang="zh-CN" altLang="en-US"/>
          </a:p>
          <a:p>
            <a:r>
              <a:rPr lang="en-US" altLang="en-US"/>
              <a:t>Q3 </a:t>
            </a:r>
            <a:r>
              <a:rPr lang="zh-CN" altLang="en-US"/>
              <a:t>你们如何进行集成测试？</a:t>
            </a:r>
            <a:endParaRPr lang="zh-CN" altLang="en-US"/>
          </a:p>
          <a:p>
            <a:r>
              <a:rPr lang="en-US" altLang="en-US"/>
              <a:t>Q4 </a:t>
            </a:r>
            <a:r>
              <a:rPr lang="zh-CN" altLang="en-US"/>
              <a:t>项目有没有可靠性指标？你们如何保证项目的可靠性？</a:t>
            </a:r>
            <a:endParaRPr lang="zh-CN" altLang="en-US"/>
          </a:p>
          <a:p>
            <a:r>
              <a:rPr lang="en-US" altLang="en-US"/>
              <a:t>Q5 </a:t>
            </a:r>
            <a:r>
              <a:rPr lang="zh-CN" altLang="en-US"/>
              <a:t>你们需要与一些遗留系统交互吗？有处理兼容性的计划吗？</a:t>
            </a:r>
            <a:endParaRPr lang="zh-CN" altLang="en-US"/>
          </a:p>
          <a:p>
            <a:r>
              <a:rPr lang="en-US" altLang="en-US"/>
              <a:t>Q6 </a:t>
            </a:r>
            <a:r>
              <a:rPr lang="zh-CN" altLang="en-US"/>
              <a:t>你们是怎么做代码审查的？</a:t>
            </a:r>
            <a:endParaRPr lang="zh-CN" altLang="en-US"/>
          </a:p>
          <a:p>
            <a:r>
              <a:rPr lang="en-US" altLang="en-US"/>
              <a:t>Q7 </a:t>
            </a:r>
            <a:r>
              <a:rPr lang="zh-CN" altLang="en-US"/>
              <a:t>项目中有容错设计吗？</a:t>
            </a:r>
            <a:endParaRPr lang="zh-CN" altLang="en-US"/>
          </a:p>
          <a:p>
            <a:r>
              <a:rPr lang="en-US" altLang="en-US"/>
              <a:t>Q8 </a:t>
            </a:r>
            <a:r>
              <a:rPr lang="zh-CN" altLang="en-US"/>
              <a:t>你们如何进行性能测试？</a:t>
            </a:r>
            <a:endParaRPr lang="zh-CN" altLang="en-US"/>
          </a:p>
          <a:p>
            <a:r>
              <a:rPr lang="en-US" altLang="en-US"/>
              <a:t>Q9 </a:t>
            </a:r>
            <a:r>
              <a:rPr lang="zh-CN" altLang="en-US"/>
              <a:t>你们如何进行验收测试？</a:t>
            </a:r>
            <a:endParaRPr lang="zh-CN" altLang="en-US"/>
          </a:p>
          <a:p>
            <a:r>
              <a:rPr lang="en-US" altLang="en-US"/>
              <a:t>Q10 </a:t>
            </a:r>
            <a:r>
              <a:rPr lang="zh-CN" altLang="en-US"/>
              <a:t>你们怎么准备测试文档？</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966387" cy="790865"/>
          </a:xfrm>
        </p:spPr>
        <p:txBody>
          <a:bodyPr>
            <a:normAutofit/>
          </a:bodyPr>
          <a:lstStyle/>
          <a:p>
            <a:r>
              <a:rPr lang="zh-CN" altLang="en-US" dirty="0">
                <a:latin typeface="Times New Roman" panose="02020603050405020304" charset="0"/>
              </a:rPr>
              <a:t>提醒</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TextBox 3"/>
          <p:cNvSpPr txBox="1"/>
          <p:nvPr/>
        </p:nvSpPr>
        <p:spPr>
          <a:xfrm>
            <a:off x="622935" y="1216025"/>
            <a:ext cx="11568430" cy="706755"/>
          </a:xfrm>
          <a:prstGeom prst="rect">
            <a:avLst/>
          </a:prstGeom>
          <a:noFill/>
        </p:spPr>
        <p:txBody>
          <a:bodyPr wrap="square">
            <a:spAutoFit/>
          </a:bodyPr>
          <a:lstStyle/>
          <a:p>
            <a:r>
              <a:rPr lang="zh-CN" altLang="en-US" sz="2000" b="1" dirty="0">
                <a:solidFill>
                  <a:srgbClr val="515223"/>
                </a:solidFill>
                <a:latin typeface="Helvetica" pitchFamily="2" charset="0"/>
                <a:cs typeface="Arial" panose="020B0604020202090204" pitchFamily="34" charset="0"/>
              </a:rPr>
              <a:t>第4次作业将于</a:t>
            </a:r>
            <a:r>
              <a:rPr lang="zh-CN" altLang="en-US" sz="2000" b="1" dirty="0">
                <a:solidFill>
                  <a:srgbClr val="C00000"/>
                </a:solidFill>
                <a:latin typeface="Helvetica" pitchFamily="2" charset="0"/>
                <a:cs typeface="Arial" panose="020B0604020202090204" pitchFamily="34" charset="0"/>
              </a:rPr>
              <a:t>下下周一（</a:t>
            </a:r>
            <a:r>
              <a:rPr lang="en-US" altLang="zh-CN" sz="2000" b="1" dirty="0">
                <a:solidFill>
                  <a:srgbClr val="C00000"/>
                </a:solidFill>
                <a:latin typeface="Helvetica" pitchFamily="2" charset="0"/>
                <a:cs typeface="Arial" panose="020B0604020202090204" pitchFamily="34" charset="0"/>
              </a:rPr>
              <a:t>6</a:t>
            </a:r>
            <a:r>
              <a:rPr lang="zh-CN" altLang="en-US" sz="2000" b="1" dirty="0">
                <a:solidFill>
                  <a:srgbClr val="C00000"/>
                </a:solidFill>
                <a:latin typeface="Helvetica" pitchFamily="2" charset="0"/>
                <a:cs typeface="Arial" panose="020B0604020202090204" pitchFamily="34" charset="0"/>
              </a:rPr>
              <a:t>月</a:t>
            </a:r>
            <a:r>
              <a:rPr lang="en-US" altLang="zh-CN" sz="2000" b="1" dirty="0">
                <a:solidFill>
                  <a:srgbClr val="C00000"/>
                </a:solidFill>
                <a:latin typeface="Helvetica" pitchFamily="2" charset="0"/>
                <a:cs typeface="Arial" panose="020B0604020202090204" pitchFamily="34" charset="0"/>
              </a:rPr>
              <a:t>1</a:t>
            </a:r>
            <a:r>
              <a:rPr lang="zh-CN" altLang="en-US" sz="2000" b="1" dirty="0">
                <a:solidFill>
                  <a:srgbClr val="C00000"/>
                </a:solidFill>
                <a:latin typeface="Helvetica" pitchFamily="2" charset="0"/>
                <a:cs typeface="Arial" panose="020B0604020202090204" pitchFamily="34" charset="0"/>
              </a:rPr>
              <a:t>日23:55）</a:t>
            </a:r>
            <a:r>
              <a:rPr lang="zh-CN" altLang="en-US" sz="2000" b="1" dirty="0">
                <a:solidFill>
                  <a:srgbClr val="515223"/>
                </a:solidFill>
                <a:latin typeface="Helvetica" pitchFamily="2" charset="0"/>
                <a:cs typeface="Arial" panose="020B0604020202090204" pitchFamily="34" charset="0"/>
              </a:rPr>
              <a:t>上传至微助教</a:t>
            </a:r>
            <a:endParaRPr lang="en-US" altLang="zh-CN" sz="2000" b="1" dirty="0">
              <a:solidFill>
                <a:srgbClr val="515223"/>
              </a:solidFill>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966387" cy="790865"/>
          </a:xfrm>
        </p:spPr>
        <p:txBody>
          <a:bodyPr>
            <a:normAutofit/>
          </a:bodyPr>
          <a:lstStyle/>
          <a:p>
            <a:r>
              <a:rPr lang="zh-CN" altLang="en-US" dirty="0">
                <a:latin typeface="Times New Roman" panose="02020603050405020304" charset="0"/>
              </a:rPr>
              <a:t>提醒</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TextBox 3"/>
          <p:cNvSpPr txBox="1"/>
          <p:nvPr/>
        </p:nvSpPr>
        <p:spPr>
          <a:xfrm>
            <a:off x="623570" y="1215390"/>
            <a:ext cx="11568430" cy="1014730"/>
          </a:xfrm>
          <a:prstGeom prst="rect">
            <a:avLst/>
          </a:prstGeom>
          <a:noFill/>
        </p:spPr>
        <p:txBody>
          <a:bodyPr wrap="square">
            <a:spAutoFit/>
          </a:bodyPr>
          <a:p>
            <a:r>
              <a:rPr lang="zh-CN" altLang="en-US" sz="2000" b="1" dirty="0">
                <a:solidFill>
                  <a:srgbClr val="515223"/>
                </a:solidFill>
                <a:latin typeface="Helvetica" pitchFamily="2" charset="0"/>
                <a:cs typeface="Arial" panose="020B0604020202090204" pitchFamily="34" charset="0"/>
              </a:rPr>
              <a:t>最终项目报告：</a:t>
            </a:r>
            <a:r>
              <a:rPr lang="zh-CN" altLang="en-US" sz="2000" b="1" dirty="0">
                <a:solidFill>
                  <a:srgbClr val="C00000"/>
                </a:solidFill>
                <a:latin typeface="Helvetica" pitchFamily="2" charset="0"/>
                <a:cs typeface="Arial" panose="020B0604020202090204" pitchFamily="34" charset="0"/>
              </a:rPr>
              <a:t>截止日期6月</a:t>
            </a:r>
            <a:r>
              <a:rPr lang="en-US" altLang="zh-CN" sz="2000" b="1" dirty="0">
                <a:solidFill>
                  <a:srgbClr val="C00000"/>
                </a:solidFill>
                <a:latin typeface="Helvetica" pitchFamily="2" charset="0"/>
                <a:cs typeface="Arial" panose="020B0604020202090204" pitchFamily="34" charset="0"/>
              </a:rPr>
              <a:t>23</a:t>
            </a:r>
            <a:r>
              <a:rPr lang="zh-CN" altLang="en-US" sz="2000" b="1" dirty="0">
                <a:solidFill>
                  <a:srgbClr val="C00000"/>
                </a:solidFill>
                <a:latin typeface="Helvetica" pitchFamily="2" charset="0"/>
                <a:cs typeface="Arial" panose="020B0604020202090204" pitchFamily="34" charset="0"/>
              </a:rPr>
              <a:t>日，包括：</a:t>
            </a:r>
            <a:r>
              <a:rPr lang="en-US" altLang="zh-CN" sz="2000" b="1" dirty="0">
                <a:solidFill>
                  <a:srgbClr val="C00000"/>
                </a:solidFill>
                <a:latin typeface="Helvetica" pitchFamily="2" charset="0"/>
                <a:cs typeface="Arial" panose="020B0604020202090204" pitchFamily="34" charset="0"/>
              </a:rPr>
              <a:t>final_report.pdf,</a:t>
            </a:r>
            <a:r>
              <a:rPr lang="zh-CN" altLang="en-US" sz="2000" b="1" dirty="0">
                <a:solidFill>
                  <a:srgbClr val="C00000"/>
                </a:solidFill>
                <a:latin typeface="Helvetica" pitchFamily="2" charset="0"/>
                <a:cs typeface="Arial" panose="020B0604020202090204" pitchFamily="34" charset="0"/>
              </a:rPr>
              <a:t>演示视频</a:t>
            </a:r>
            <a:r>
              <a:rPr lang="en-US" altLang="zh-CN" sz="2000" b="1" dirty="0">
                <a:solidFill>
                  <a:srgbClr val="C00000"/>
                </a:solidFill>
                <a:latin typeface="Helvetica" pitchFamily="2" charset="0"/>
                <a:cs typeface="Arial" panose="020B0604020202090204" pitchFamily="34" charset="0"/>
              </a:rPr>
              <a:t>,GitHub</a:t>
            </a:r>
            <a:r>
              <a:rPr lang="zh-CN" altLang="en-US" sz="2000" b="1" dirty="0">
                <a:solidFill>
                  <a:srgbClr val="C00000"/>
                </a:solidFill>
                <a:latin typeface="Helvetica" pitchFamily="2" charset="0"/>
                <a:cs typeface="Arial" panose="020B0604020202090204" pitchFamily="34" charset="0"/>
              </a:rPr>
              <a:t>链接</a:t>
            </a:r>
            <a:endParaRPr lang="zh-CN" altLang="en-US" sz="2000" b="1" dirty="0">
              <a:solidFill>
                <a:srgbClr val="515223"/>
              </a:solidFill>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a:p>
            <a:r>
              <a:rPr lang="zh-CN" altLang="en-US" sz="2000" b="1" dirty="0">
                <a:solidFill>
                  <a:srgbClr val="515223"/>
                </a:solidFill>
                <a:latin typeface="Helvetica" pitchFamily="2" charset="0"/>
                <a:cs typeface="Arial" panose="020B0604020202090204" pitchFamily="34" charset="0"/>
              </a:rPr>
              <a:t>通过</a:t>
            </a:r>
            <a:r>
              <a:rPr lang="en-US" altLang="zh-CN" sz="2000" b="1" dirty="0">
                <a:solidFill>
                  <a:srgbClr val="515223"/>
                </a:solidFill>
                <a:latin typeface="Helvetica" pitchFamily="2" charset="0"/>
                <a:cs typeface="Arial" panose="020B0604020202090204" pitchFamily="34" charset="0"/>
              </a:rPr>
              <a:t>QQ</a:t>
            </a:r>
            <a:r>
              <a:rPr lang="zh-CN" altLang="en-US" sz="2000" b="1" dirty="0">
                <a:solidFill>
                  <a:srgbClr val="515223"/>
                </a:solidFill>
                <a:latin typeface="Helvetica" pitchFamily="2" charset="0"/>
                <a:cs typeface="Arial" panose="020B0604020202090204" pitchFamily="34" charset="0"/>
              </a:rPr>
              <a:t>发给助教</a:t>
            </a:r>
            <a:endParaRPr lang="zh-CN" altLang="en-US"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charset="0"/>
              </a:rPr>
              <a:t>评分量表</a:t>
            </a:r>
            <a:endParaRPr 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4"/>
          <p:cNvSpPr txBox="1"/>
          <p:nvPr/>
        </p:nvSpPr>
        <p:spPr>
          <a:xfrm>
            <a:off x="1240570" y="1148832"/>
            <a:ext cx="10573057" cy="4646295"/>
          </a:xfrm>
          <a:prstGeom prst="rect">
            <a:avLst/>
          </a:prstGeom>
          <a:noFill/>
        </p:spPr>
        <p:txBody>
          <a:bodyPr wrap="square">
            <a:spAutoFit/>
          </a:bodyPr>
          <a:lstStyle/>
          <a:p>
            <a:pPr>
              <a:defRPr/>
            </a:pPr>
            <a:r>
              <a:rPr lang="en-US" sz="2000" b="1" dirty="0">
                <a:solidFill>
                  <a:srgbClr val="515223"/>
                </a:solidFill>
                <a:latin typeface="Helvetica" pitchFamily="2" charset="0"/>
                <a:cs typeface="Arial" panose="020B0604020202090204" pitchFamily="34" charset="0"/>
              </a:rPr>
              <a:t>出勤率/课堂提问：30%</a:t>
            </a:r>
            <a:endParaRPr lang="en-US" sz="2000" b="1" dirty="0">
              <a:solidFill>
                <a:srgbClr val="515223"/>
              </a:solidFill>
              <a:latin typeface="Helvetica" pitchFamily="2" charset="0"/>
              <a:cs typeface="Arial" panose="020B0604020202090204" pitchFamily="34" charset="0"/>
            </a:endParaRPr>
          </a:p>
          <a:p>
            <a:pPr>
              <a:defRPr/>
            </a:pPr>
            <a:r>
              <a:rPr lang="en-US" dirty="0">
                <a:cs typeface="Arial" panose="020B0604020202090204" pitchFamily="34" charset="0"/>
              </a:rPr>
              <a:t>随机挑选学生回答我的问题——占10%</a:t>
            </a:r>
            <a:endParaRPr lang="en-US" b="1" dirty="0">
              <a:solidFill>
                <a:srgbClr val="515223"/>
              </a:solidFill>
              <a:cs typeface="Arial" panose="020B0604020202090204" pitchFamily="34" charset="0"/>
            </a:endParaRPr>
          </a:p>
          <a:p>
            <a:pPr>
              <a:defRPr/>
            </a:pPr>
            <a:r>
              <a:rPr lang="en-US" dirty="0">
                <a:cs typeface="Arial" panose="020B0604020202090204" pitchFamily="34" charset="0"/>
              </a:rPr>
              <a:t>若未到场或回应不力（第二主修专业的学生除外），将被扣分。</a:t>
            </a:r>
            <a:endParaRPr lang="en-US" dirty="0">
              <a:cs typeface="Arial" panose="020B0604020202090204" pitchFamily="34" charset="0"/>
            </a:endParaRPr>
          </a:p>
          <a:p>
            <a:pPr>
              <a:defRPr/>
            </a:pPr>
            <a:r>
              <a:rPr lang="en-US" dirty="0">
                <a:cs typeface="Arial" panose="020B0604020202090204" pitchFamily="34" charset="0"/>
              </a:rPr>
              <a:t>4项家庭作业——占总成绩的20%</a:t>
            </a:r>
            <a:endParaRPr lang="en-US" dirty="0">
              <a:cs typeface="Arial" panose="020B0604020202090204" pitchFamily="34" charset="0"/>
            </a:endParaRPr>
          </a:p>
          <a:p>
            <a:pPr>
              <a:defRPr/>
            </a:pPr>
            <a:r>
              <a:rPr lang="en-US" u="sng" dirty="0">
                <a:solidFill>
                  <a:srgbClr val="C00000"/>
                </a:solidFill>
                <a:cs typeface="Arial" panose="020B0604020202090204" pitchFamily="34" charset="0"/>
              </a:rPr>
              <a:t>分数将单独计分。</a:t>
            </a:r>
            <a:endParaRPr lang="en-US" u="sng" dirty="0">
              <a:solidFill>
                <a:srgbClr val="C00000"/>
              </a:solidFill>
              <a:cs typeface="Arial" panose="020B0604020202090204" pitchFamily="34" charset="0"/>
            </a:endParaRPr>
          </a:p>
          <a:p>
            <a:pPr>
              <a:defRPr/>
            </a:pPr>
            <a:endParaRPr lang="en-US" sz="2000" b="1" dirty="0">
              <a:solidFill>
                <a:srgbClr val="515223"/>
              </a:solidFill>
              <a:latin typeface="Helvetica" pitchFamily="2" charset="0"/>
              <a:cs typeface="Arial" panose="020B0604020202090204" pitchFamily="34" charset="0"/>
            </a:endParaRPr>
          </a:p>
          <a:p>
            <a:pPr>
              <a:defRPr/>
            </a:pPr>
            <a:r>
              <a:rPr lang="en-US" sz="2000" b="1" dirty="0">
                <a:solidFill>
                  <a:srgbClr val="515223"/>
                </a:solidFill>
                <a:latin typeface="Helvetica" pitchFamily="2" charset="0"/>
                <a:cs typeface="Arial" panose="020B0604020202090204" pitchFamily="34" charset="0"/>
              </a:rPr>
              <a:t>期末考试：40%</a:t>
            </a:r>
            <a:endParaRPr lang="en-US" sz="2000" b="1" dirty="0">
              <a:solidFill>
                <a:srgbClr val="515223"/>
              </a:solidFill>
              <a:latin typeface="Helvetica" pitchFamily="2" charset="0"/>
              <a:cs typeface="Arial" panose="020B0604020202090204" pitchFamily="34" charset="0"/>
            </a:endParaRPr>
          </a:p>
          <a:p>
            <a:pPr>
              <a:defRPr/>
            </a:pPr>
            <a:r>
              <a:rPr lang="en-US" sz="2000" b="1" dirty="0">
                <a:solidFill>
                  <a:srgbClr val="C00000"/>
                </a:solidFill>
                <a:latin typeface="Helvetica" pitchFamily="2" charset="0"/>
                <a:cs typeface="Arial" panose="020B0604020202090204" pitchFamily="34" charset="0"/>
              </a:rPr>
              <a:t>6月23日，14:00–16:00，J8-202</a:t>
            </a:r>
            <a:endParaRPr lang="en-US" sz="2000" b="1" dirty="0">
              <a:solidFill>
                <a:srgbClr val="C00000"/>
              </a:solidFill>
              <a:latin typeface="Helvetica" pitchFamily="2" charset="0"/>
              <a:cs typeface="Arial" panose="020B0604020202090204" pitchFamily="34" charset="0"/>
            </a:endParaRPr>
          </a:p>
          <a:p>
            <a:pPr>
              <a:defRPr/>
            </a:pPr>
            <a:r>
              <a:rPr lang="en-US" dirty="0"/>
              <a:t>基本概念与理解</a:t>
            </a:r>
            <a:endParaRPr lang="en-US" dirty="0"/>
          </a:p>
          <a:p>
            <a:pPr>
              <a:buFont typeface="Wingdings" panose="05000000000000000000" pitchFamily="2" charset="2"/>
              <a:buNone/>
              <a:defRPr/>
            </a:pPr>
            <a:r>
              <a:rPr lang="en-US" dirty="0"/>
              <a:t>单选题、判断题和简答题（类似于家庭作业）</a:t>
            </a:r>
            <a:endParaRPr lang="en-US" dirty="0"/>
          </a:p>
          <a:p>
            <a:pPr>
              <a:buFont typeface="Wingdings" panose="05000000000000000000" pitchFamily="2" charset="2"/>
              <a:buNone/>
              <a:defRPr/>
            </a:pPr>
            <a:r>
              <a:rPr lang="en-US" dirty="0"/>
              <a:t>闭卷考试</a:t>
            </a:r>
            <a:endParaRPr lang="en-US" dirty="0"/>
          </a:p>
          <a:p>
            <a:pPr>
              <a:buFont typeface="Wingdings" panose="05000000000000000000" pitchFamily="2" charset="2"/>
              <a:buNone/>
              <a:defRPr/>
            </a:pPr>
            <a:r>
              <a:rPr lang="en-US" dirty="0"/>
              <a:t>第1至11讲</a:t>
            </a:r>
            <a:endParaRPr lang="en-US" dirty="0"/>
          </a:p>
          <a:p>
            <a:pPr>
              <a:buFont typeface="Wingdings" panose="05000000000000000000" pitchFamily="2" charset="2"/>
              <a:buNone/>
              <a:defRPr/>
            </a:pPr>
            <a:r>
              <a:rPr lang="en-US" altLang="zh-CN" b="1" dirty="0">
                <a:solidFill>
                  <a:srgbClr val="C00000"/>
                </a:solidFill>
              </a:rPr>
              <a:t>15道单选题，15道判断题，5道简答题</a:t>
            </a:r>
            <a:endParaRPr lang="en-US" b="1" dirty="0">
              <a:solidFill>
                <a:srgbClr val="C00000"/>
              </a:solidFill>
            </a:endParaRPr>
          </a:p>
          <a:p>
            <a:pPr>
              <a:buFont typeface="Wingdings" panose="05000000000000000000" pitchFamily="2" charset="2"/>
              <a:buNone/>
              <a:defRPr/>
            </a:pPr>
            <a:r>
              <a:rPr lang="en-US" u="sng" dirty="0">
                <a:solidFill>
                  <a:srgbClr val="C00000"/>
                </a:solidFill>
                <a:cs typeface="Arial" panose="020B0604020202090204" pitchFamily="34" charset="0"/>
              </a:rPr>
              <a:t>分数将单独计分。</a:t>
            </a:r>
            <a:endParaRPr lang="en-US" u="sng" dirty="0">
              <a:solidFill>
                <a:srgbClr val="C00000"/>
              </a:solidFill>
              <a:cs typeface="Arial" panose="020B0604020202090204" pitchFamily="34" charset="0"/>
            </a:endParaRPr>
          </a:p>
          <a:p>
            <a:pPr>
              <a:defRPr/>
            </a:pPr>
            <a:endParaRPr lang="en-US" sz="2000" b="1" dirty="0">
              <a:solidFill>
                <a:srgbClr val="515223"/>
              </a:solidFill>
              <a:latin typeface="Helvetica" pitchFamily="2" charset="0"/>
              <a:cs typeface="Arial" panose="020B0604020202090204" pitchFamily="34" charset="0"/>
            </a:endParaRPr>
          </a:p>
          <a:p>
            <a:pPr lvl="1">
              <a:defRPr/>
            </a:pPr>
            <a:endParaRPr lang="en-US" sz="1600" dirty="0">
              <a:cs typeface="Arial" panose="020B060402020209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charset="0"/>
              </a:rPr>
              <a:t>评分量表</a:t>
            </a:r>
            <a:endParaRPr 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TextBox 3"/>
          <p:cNvSpPr txBox="1"/>
          <p:nvPr/>
        </p:nvSpPr>
        <p:spPr>
          <a:xfrm>
            <a:off x="1240570" y="1148832"/>
            <a:ext cx="10951430" cy="4062651"/>
          </a:xfrm>
          <a:prstGeom prst="rect">
            <a:avLst/>
          </a:prstGeom>
          <a:noFill/>
        </p:spPr>
        <p:txBody>
          <a:bodyPr wrap="square">
            <a:spAutoFit/>
          </a:bodyPr>
          <a:lstStyle/>
          <a:p>
            <a:pPr>
              <a:defRPr/>
            </a:pPr>
            <a:endParaRPr lang="en-US" sz="2000" b="1" dirty="0">
              <a:solidFill>
                <a:srgbClr val="515223"/>
              </a:solidFill>
              <a:latin typeface="Helvetica" pitchFamily="2" charset="0"/>
              <a:cs typeface="Arial" panose="020B0604020202090204" pitchFamily="34" charset="0"/>
            </a:endParaRPr>
          </a:p>
          <a:p>
            <a:pPr>
              <a:defRPr/>
            </a:pPr>
            <a:r>
              <a:rPr lang="en-US" sz="2000" b="1" dirty="0">
                <a:solidFill>
                  <a:srgbClr val="515223"/>
                </a:solidFill>
                <a:latin typeface="Helvetica" pitchFamily="2" charset="0"/>
                <a:cs typeface="Arial" panose="020B0604020202090204" pitchFamily="34" charset="0"/>
              </a:rPr>
              <a:t>项目：30%</a:t>
            </a:r>
            <a:endParaRPr lang="en-US" sz="2000" b="1" dirty="0">
              <a:solidFill>
                <a:srgbClr val="515223"/>
              </a:solidFill>
              <a:latin typeface="Helvetica" pitchFamily="2" charset="0"/>
              <a:cs typeface="Arial" panose="020B0604020202090204" pitchFamily="34" charset="0"/>
            </a:endParaRPr>
          </a:p>
          <a:p>
            <a:pPr>
              <a:defRPr/>
            </a:pPr>
            <a:r>
              <a:rPr lang="en-US" b="0" kern="0" dirty="0">
                <a:effectLst/>
              </a:rPr>
              <a:t>完成一个工业项目，例如在云端开发一款SaaS应用程序。</a:t>
            </a:r>
            <a:endParaRPr lang="en-US" b="1" kern="0" dirty="0">
              <a:solidFill>
                <a:srgbClr val="515223"/>
              </a:solidFill>
              <a:latin typeface="Helvetica" pitchFamily="2" charset="0"/>
              <a:cs typeface="Arial" panose="020B0604020202090204" pitchFamily="34" charset="0"/>
            </a:endParaRPr>
          </a:p>
          <a:p>
            <a:pPr>
              <a:defRPr/>
            </a:pPr>
            <a:r>
              <a:rPr lang="en-US" kern="0" dirty="0"/>
              <a:t>每队 4 至 6 名学生</a:t>
            </a:r>
            <a:endParaRPr lang="en-US" kern="0" dirty="0"/>
          </a:p>
          <a:p>
            <a:pPr>
              <a:defRPr/>
            </a:pPr>
            <a:r>
              <a:rPr lang="en-US" kern="0" dirty="0"/>
              <a:t>获取您的项目名称、团队名称及团队成员信息（QQ 群在线文档）</a:t>
            </a:r>
            <a:endParaRPr lang="en-US" b="0" kern="0" dirty="0">
              <a:effectLst/>
            </a:endParaRPr>
          </a:p>
          <a:p>
            <a:pPr lvl="1">
              <a:defRPr/>
            </a:pPr>
            <a:r>
              <a:rPr lang="en-US" u="sng" kern="0" dirty="0">
                <a:solidFill>
                  <a:srgbClr val="C00000"/>
                </a:solidFill>
              </a:rPr>
              <a:t>按照课堂上学到的方法进行操作，并展示你自己的贡献。</a:t>
            </a:r>
            <a:endParaRPr lang="en-US" b="0" u="sng" kern="0" dirty="0">
              <a:solidFill>
                <a:srgbClr val="C00000"/>
              </a:solidFill>
              <a:effectLst/>
            </a:endParaRPr>
          </a:p>
          <a:p>
            <a:pPr lvl="1">
              <a:defRPr/>
            </a:pPr>
            <a:r>
              <a:rPr lang="en-US" kern="0" dirty="0"/>
              <a:t>4 实验室：请按照以下流程与我们讨论您的项目。</a:t>
            </a:r>
            <a:endParaRPr lang="en-US" kern="0" dirty="0"/>
          </a:p>
          <a:p>
            <a:pPr lvl="1">
              <a:defRPr/>
            </a:pPr>
            <a:r>
              <a:rPr lang="en-US" kern="0" dirty="0"/>
              <a:t>需求、系统设计、程序开发、测试</a:t>
            </a:r>
            <a:endParaRPr lang="en-US" b="0" kern="0" dirty="0">
              <a:effectLst/>
            </a:endParaRPr>
          </a:p>
          <a:p>
            <a:pPr lvl="1">
              <a:defRPr/>
            </a:pPr>
            <a:r>
              <a:rPr lang="en-US" kern="0" dirty="0"/>
              <a:t>最终报告：报告文件（.pdf）、源代码（GitHub/Gitee链接）及演示视频</a:t>
            </a:r>
            <a:endParaRPr lang="en-US" kern="0" dirty="0"/>
          </a:p>
          <a:p>
            <a:pPr lvl="1">
              <a:defRPr/>
            </a:pPr>
            <a:r>
              <a:rPr lang="en-US" kern="0" dirty="0"/>
              <a:t>将涵盖软件开发流程中的主要组成部分（后文将详细说明）</a:t>
            </a:r>
            <a:endParaRPr lang="en-US" kern="0" dirty="0"/>
          </a:p>
          <a:p>
            <a:pPr lvl="1">
              <a:defRPr/>
            </a:pPr>
            <a:r>
              <a:rPr lang="en-US" b="0" kern="0" dirty="0">
                <a:effectLst/>
              </a:rPr>
              <a:t>本班所有学生都将获得华为云项目开发学分。</a:t>
            </a:r>
            <a:endParaRPr lang="en-US" b="0" kern="0" dirty="0">
              <a:effectLst/>
            </a:endParaRPr>
          </a:p>
          <a:p>
            <a:pPr lvl="1">
              <a:defRPr/>
            </a:pPr>
            <a:r>
              <a:rPr lang="en-US" u="sng" dirty="0">
                <a:solidFill>
                  <a:srgbClr val="C00000"/>
                </a:solidFill>
                <a:cs typeface="Arial" panose="020B0604020202090204" pitchFamily="34" charset="0"/>
              </a:rPr>
              <a:t>分数将按组进行统计。</a:t>
            </a:r>
            <a:endParaRPr lang="en-US" u="sng" dirty="0">
              <a:solidFill>
                <a:srgbClr val="C00000"/>
              </a:solidFill>
              <a:cs typeface="Arial" panose="020B0604020202090204" pitchFamily="34" charset="0"/>
            </a:endParaRPr>
          </a:p>
          <a:p>
            <a:pPr lvl="1">
              <a:defRPr/>
            </a:pPr>
            <a:endParaRPr lang="en-US" b="0" kern="0" dirty="0">
              <a:effectLst/>
            </a:endParaRPr>
          </a:p>
          <a:p>
            <a:pPr lvl="1">
              <a:defRPr/>
            </a:pPr>
            <a:endParaRPr lang="en-US" sz="1600" dirty="0">
              <a:cs typeface="Arial" panose="020B0604020202090204" pitchFamily="34" charset="0"/>
            </a:endParaRPr>
          </a:p>
        </p:txBody>
      </p:sp>
      <p:sp>
        <p:nvSpPr>
          <p:cNvPr id="5" name="Rectangle 4"/>
          <p:cNvSpPr/>
          <p:nvPr/>
        </p:nvSpPr>
        <p:spPr bwMode="auto">
          <a:xfrm>
            <a:off x="2911695" y="5114303"/>
            <a:ext cx="1838325" cy="746125"/>
          </a:xfrm>
          <a:prstGeom prst="rect">
            <a:avLst/>
          </a:prstGeom>
          <a:noFill/>
          <a:ln w="9525" cap="flat" cmpd="sng" algn="ctr">
            <a:solidFill>
              <a:schemeClr val="tx1"/>
            </a:solidFill>
            <a:prstDash val="solid"/>
            <a:round/>
            <a:headEnd type="none" w="med" len="med"/>
            <a:tailEnd type="none" w="med" len="med"/>
          </a:ln>
          <a:effectLst/>
        </p:spPr>
        <p:txBody>
          <a:bodyPr/>
          <a:lstStyle/>
          <a:p>
            <a:pPr eaLnBrk="1" hangingPunct="1">
              <a:defRPr/>
            </a:pPr>
            <a:endParaRPr lang="en-US" dirty="0">
              <a:effectLst>
                <a:outerShdw blurRad="38100" dist="38100" dir="2700000" algn="tl">
                  <a:srgbClr val="000000">
                    <a:alpha val="43137"/>
                  </a:srgbClr>
                </a:outerShdw>
              </a:effectLst>
              <a:latin typeface="Times New Roman" panose="02020603050405020304" charset="0"/>
              <a:ea typeface="微软雅黑" panose="020B0503020204020204" pitchFamily="34" charset="-122"/>
            </a:endParaRPr>
          </a:p>
        </p:txBody>
      </p:sp>
      <p:sp>
        <p:nvSpPr>
          <p:cNvPr id="6" name="Rectangle 5"/>
          <p:cNvSpPr/>
          <p:nvPr/>
        </p:nvSpPr>
        <p:spPr bwMode="auto">
          <a:xfrm>
            <a:off x="8188545" y="5115890"/>
            <a:ext cx="1839913" cy="744538"/>
          </a:xfrm>
          <a:prstGeom prst="rect">
            <a:avLst/>
          </a:prstGeom>
          <a:noFill/>
          <a:ln w="9525" cap="flat" cmpd="sng" algn="ctr">
            <a:solidFill>
              <a:schemeClr val="tx1"/>
            </a:solidFill>
            <a:prstDash val="solid"/>
            <a:round/>
            <a:headEnd type="none" w="med" len="med"/>
            <a:tailEnd type="none" w="med" len="med"/>
          </a:ln>
          <a:effectLst/>
        </p:spPr>
        <p:txBody>
          <a:bodyPr/>
          <a:lstStyle/>
          <a:p>
            <a:pPr eaLnBrk="1" hangingPunct="1">
              <a:defRPr/>
            </a:pPr>
            <a:endParaRPr lang="en-US" dirty="0">
              <a:effectLst>
                <a:outerShdw blurRad="38100" dist="38100" dir="2700000" algn="tl">
                  <a:srgbClr val="000000">
                    <a:alpha val="43137"/>
                  </a:srgbClr>
                </a:outerShdw>
              </a:effectLst>
              <a:latin typeface="Times New Roman" panose="02020603050405020304" charset="0"/>
              <a:ea typeface="微软雅黑" panose="020B0503020204020204" pitchFamily="34" charset="-122"/>
            </a:endParaRPr>
          </a:p>
        </p:txBody>
      </p:sp>
      <p:sp>
        <p:nvSpPr>
          <p:cNvPr id="7" name="TextBox 2"/>
          <p:cNvSpPr txBox="1">
            <a:spLocks noChangeArrowheads="1"/>
          </p:cNvSpPr>
          <p:nvPr/>
        </p:nvSpPr>
        <p:spPr bwMode="auto">
          <a:xfrm>
            <a:off x="3244502" y="5551379"/>
            <a:ext cx="1451113"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90204" pitchFamily="34" charset="0"/>
                <a:ea typeface="MS PGothic" panose="020B0600070205080204" charset="-128"/>
              </a:defRPr>
            </a:lvl1pPr>
            <a:lvl2pPr marL="742950" indent="-285750">
              <a:defRPr sz="3200" b="1">
                <a:solidFill>
                  <a:schemeClr val="tx1"/>
                </a:solidFill>
                <a:latin typeface="Arial" panose="020B0604020202090204" pitchFamily="34" charset="0"/>
                <a:ea typeface="MS PGothic" panose="020B0600070205080204" charset="-128"/>
              </a:defRPr>
            </a:lvl2pPr>
            <a:lvl3pPr marL="1143000" indent="-228600">
              <a:defRPr sz="3200" b="1">
                <a:solidFill>
                  <a:schemeClr val="tx1"/>
                </a:solidFill>
                <a:latin typeface="Arial" panose="020B0604020202090204" pitchFamily="34" charset="0"/>
                <a:ea typeface="MS PGothic" panose="020B0600070205080204" charset="-128"/>
              </a:defRPr>
            </a:lvl3pPr>
            <a:lvl4pPr marL="1600200" indent="-228600">
              <a:defRPr sz="3200" b="1">
                <a:solidFill>
                  <a:schemeClr val="tx1"/>
                </a:solidFill>
                <a:latin typeface="Arial" panose="020B0604020202090204" pitchFamily="34" charset="0"/>
                <a:ea typeface="MS PGothic" panose="020B0600070205080204" charset="-128"/>
              </a:defRPr>
            </a:lvl4pPr>
            <a:lvl5pPr marL="2057400" indent="-228600">
              <a:defRPr sz="3200" b="1">
                <a:solidFill>
                  <a:schemeClr val="tx1"/>
                </a:solidFill>
                <a:latin typeface="Arial" panose="020B0604020202090204" pitchFamily="34" charset="0"/>
                <a:ea typeface="MS PGothic" panose="020B0600070205080204" charset="-128"/>
              </a:defRPr>
            </a:lvl5pPr>
            <a:lvl6pPr marL="2514600" indent="-228600" eaLnBrk="0" fontAlgn="base" hangingPunct="0">
              <a:spcBef>
                <a:spcPct val="0"/>
              </a:spcBef>
              <a:spcAft>
                <a:spcPct val="0"/>
              </a:spcAft>
              <a:defRPr sz="3200" b="1">
                <a:solidFill>
                  <a:schemeClr val="tx1"/>
                </a:solidFill>
                <a:latin typeface="Arial" panose="020B0604020202090204" pitchFamily="34" charset="0"/>
                <a:ea typeface="MS PGothic" panose="020B0600070205080204" charset="-128"/>
              </a:defRPr>
            </a:lvl6pPr>
            <a:lvl7pPr marL="2971800" indent="-228600" eaLnBrk="0" fontAlgn="base" hangingPunct="0">
              <a:spcBef>
                <a:spcPct val="0"/>
              </a:spcBef>
              <a:spcAft>
                <a:spcPct val="0"/>
              </a:spcAft>
              <a:defRPr sz="3200" b="1">
                <a:solidFill>
                  <a:schemeClr val="tx1"/>
                </a:solidFill>
                <a:latin typeface="Arial" panose="020B0604020202090204" pitchFamily="34" charset="0"/>
                <a:ea typeface="MS PGothic" panose="020B0600070205080204" charset="-128"/>
              </a:defRPr>
            </a:lvl7pPr>
            <a:lvl8pPr marL="3429000" indent="-228600" eaLnBrk="0" fontAlgn="base" hangingPunct="0">
              <a:spcBef>
                <a:spcPct val="0"/>
              </a:spcBef>
              <a:spcAft>
                <a:spcPct val="0"/>
              </a:spcAft>
              <a:defRPr sz="3200" b="1">
                <a:solidFill>
                  <a:schemeClr val="tx1"/>
                </a:solidFill>
                <a:latin typeface="Arial" panose="020B0604020202090204" pitchFamily="34" charset="0"/>
                <a:ea typeface="MS PGothic" panose="020B0600070205080204" charset="-128"/>
              </a:defRPr>
            </a:lvl8pPr>
            <a:lvl9pPr marL="3886200" indent="-228600" eaLnBrk="0" fontAlgn="base" hangingPunct="0">
              <a:spcBef>
                <a:spcPct val="0"/>
              </a:spcBef>
              <a:spcAft>
                <a:spcPct val="0"/>
              </a:spcAft>
              <a:defRPr sz="3200" b="1">
                <a:solidFill>
                  <a:schemeClr val="tx1"/>
                </a:solidFill>
                <a:latin typeface="Arial" panose="020B0604020202090204" pitchFamily="34" charset="0"/>
                <a:ea typeface="MS PGothic" panose="020B0600070205080204" charset="-128"/>
              </a:defRPr>
            </a:lvl9pPr>
          </a:lstStyle>
          <a:p>
            <a:r>
              <a:rPr lang="en-US" altLang="en-US" sz="1400" b="0">
                <a:latin typeface="Times New Roman" panose="02020603050405020304" charset="0"/>
                <a:ea typeface="微软雅黑" panose="020B0503020204020204" pitchFamily="34" charset="-122"/>
              </a:rPr>
              <a:t>本地机器</a:t>
            </a:r>
            <a:endParaRPr lang="en-US" altLang="en-US" sz="1400" b="0">
              <a:latin typeface="Times New Roman" panose="02020603050405020304" charset="0"/>
              <a:ea typeface="微软雅黑" panose="020B0503020204020204" pitchFamily="34" charset="-122"/>
            </a:endParaRPr>
          </a:p>
        </p:txBody>
      </p:sp>
      <p:sp>
        <p:nvSpPr>
          <p:cNvPr id="8" name="TextBox 7"/>
          <p:cNvSpPr txBox="1">
            <a:spLocks noChangeArrowheads="1"/>
          </p:cNvSpPr>
          <p:nvPr/>
        </p:nvSpPr>
        <p:spPr bwMode="auto">
          <a:xfrm>
            <a:off x="8383047" y="5552884"/>
            <a:ext cx="1451113"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90204" pitchFamily="34" charset="0"/>
                <a:ea typeface="MS PGothic" panose="020B0600070205080204" charset="-128"/>
              </a:defRPr>
            </a:lvl1pPr>
            <a:lvl2pPr marL="742950" indent="-285750">
              <a:defRPr sz="3200" b="1">
                <a:solidFill>
                  <a:schemeClr val="tx1"/>
                </a:solidFill>
                <a:latin typeface="Arial" panose="020B0604020202090204" pitchFamily="34" charset="0"/>
                <a:ea typeface="MS PGothic" panose="020B0600070205080204" charset="-128"/>
              </a:defRPr>
            </a:lvl2pPr>
            <a:lvl3pPr marL="1143000" indent="-228600">
              <a:defRPr sz="3200" b="1">
                <a:solidFill>
                  <a:schemeClr val="tx1"/>
                </a:solidFill>
                <a:latin typeface="Arial" panose="020B0604020202090204" pitchFamily="34" charset="0"/>
                <a:ea typeface="MS PGothic" panose="020B0600070205080204" charset="-128"/>
              </a:defRPr>
            </a:lvl3pPr>
            <a:lvl4pPr marL="1600200" indent="-228600">
              <a:defRPr sz="3200" b="1">
                <a:solidFill>
                  <a:schemeClr val="tx1"/>
                </a:solidFill>
                <a:latin typeface="Arial" panose="020B0604020202090204" pitchFamily="34" charset="0"/>
                <a:ea typeface="MS PGothic" panose="020B0600070205080204" charset="-128"/>
              </a:defRPr>
            </a:lvl4pPr>
            <a:lvl5pPr marL="2057400" indent="-228600">
              <a:defRPr sz="3200" b="1">
                <a:solidFill>
                  <a:schemeClr val="tx1"/>
                </a:solidFill>
                <a:latin typeface="Arial" panose="020B0604020202090204" pitchFamily="34" charset="0"/>
                <a:ea typeface="MS PGothic" panose="020B0600070205080204" charset="-128"/>
              </a:defRPr>
            </a:lvl5pPr>
            <a:lvl6pPr marL="2514600" indent="-228600" eaLnBrk="0" fontAlgn="base" hangingPunct="0">
              <a:spcBef>
                <a:spcPct val="0"/>
              </a:spcBef>
              <a:spcAft>
                <a:spcPct val="0"/>
              </a:spcAft>
              <a:defRPr sz="3200" b="1">
                <a:solidFill>
                  <a:schemeClr val="tx1"/>
                </a:solidFill>
                <a:latin typeface="Arial" panose="020B0604020202090204" pitchFamily="34" charset="0"/>
                <a:ea typeface="MS PGothic" panose="020B0600070205080204" charset="-128"/>
              </a:defRPr>
            </a:lvl6pPr>
            <a:lvl7pPr marL="2971800" indent="-228600" eaLnBrk="0" fontAlgn="base" hangingPunct="0">
              <a:spcBef>
                <a:spcPct val="0"/>
              </a:spcBef>
              <a:spcAft>
                <a:spcPct val="0"/>
              </a:spcAft>
              <a:defRPr sz="3200" b="1">
                <a:solidFill>
                  <a:schemeClr val="tx1"/>
                </a:solidFill>
                <a:latin typeface="Arial" panose="020B0604020202090204" pitchFamily="34" charset="0"/>
                <a:ea typeface="MS PGothic" panose="020B0600070205080204" charset="-128"/>
              </a:defRPr>
            </a:lvl7pPr>
            <a:lvl8pPr marL="3429000" indent="-228600" eaLnBrk="0" fontAlgn="base" hangingPunct="0">
              <a:spcBef>
                <a:spcPct val="0"/>
              </a:spcBef>
              <a:spcAft>
                <a:spcPct val="0"/>
              </a:spcAft>
              <a:defRPr sz="3200" b="1">
                <a:solidFill>
                  <a:schemeClr val="tx1"/>
                </a:solidFill>
                <a:latin typeface="Arial" panose="020B0604020202090204" pitchFamily="34" charset="0"/>
                <a:ea typeface="MS PGothic" panose="020B0600070205080204" charset="-128"/>
              </a:defRPr>
            </a:lvl8pPr>
            <a:lvl9pPr marL="3886200" indent="-228600" eaLnBrk="0" fontAlgn="base" hangingPunct="0">
              <a:spcBef>
                <a:spcPct val="0"/>
              </a:spcBef>
              <a:spcAft>
                <a:spcPct val="0"/>
              </a:spcAft>
              <a:defRPr sz="3200" b="1">
                <a:solidFill>
                  <a:schemeClr val="tx1"/>
                </a:solidFill>
                <a:latin typeface="Arial" panose="020B0604020202090204" pitchFamily="34" charset="0"/>
                <a:ea typeface="MS PGothic" panose="020B0600070205080204" charset="-128"/>
              </a:defRPr>
            </a:lvl9pPr>
          </a:lstStyle>
          <a:p>
            <a:pPr algn="ctr"/>
            <a:r>
              <a:rPr lang="en-US" altLang="en-US" sz="1400" b="0" dirty="0">
                <a:latin typeface="Times New Roman" panose="02020603050405020304" charset="0"/>
                <a:ea typeface="微软雅黑" panose="020B0503020204020204" pitchFamily="34" charset="-122"/>
              </a:rPr>
              <a:t>云（华为）</a:t>
            </a:r>
            <a:endParaRPr lang="en-US" altLang="en-US" sz="1400" b="0" dirty="0">
              <a:latin typeface="Times New Roman" panose="02020603050405020304" charset="0"/>
              <a:ea typeface="微软雅黑" panose="020B0503020204020204" pitchFamily="34" charset="-122"/>
            </a:endParaRPr>
          </a:p>
        </p:txBody>
      </p:sp>
      <p:sp>
        <p:nvSpPr>
          <p:cNvPr id="9" name="TextBox 8"/>
          <p:cNvSpPr txBox="1">
            <a:spLocks noChangeArrowheads="1"/>
          </p:cNvSpPr>
          <p:nvPr/>
        </p:nvSpPr>
        <p:spPr bwMode="auto">
          <a:xfrm>
            <a:off x="3393671" y="5244213"/>
            <a:ext cx="874644" cy="306705"/>
          </a:xfrm>
          <a:prstGeom prst="rect">
            <a:avLst/>
          </a:prstGeom>
          <a:noFill/>
          <a:ln w="9525">
            <a:solidFill>
              <a:srgbClr val="FFC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3200" b="1">
                <a:solidFill>
                  <a:schemeClr val="tx1"/>
                </a:solidFill>
                <a:latin typeface="Arial" panose="020B0604020202090204" pitchFamily="34" charset="0"/>
                <a:ea typeface="MS PGothic" panose="020B0600070205080204" charset="-128"/>
              </a:defRPr>
            </a:lvl1pPr>
            <a:lvl2pPr marL="742950" indent="-285750">
              <a:defRPr sz="3200" b="1">
                <a:solidFill>
                  <a:schemeClr val="tx1"/>
                </a:solidFill>
                <a:latin typeface="Arial" panose="020B0604020202090204" pitchFamily="34" charset="0"/>
                <a:ea typeface="MS PGothic" panose="020B0600070205080204" charset="-128"/>
              </a:defRPr>
            </a:lvl2pPr>
            <a:lvl3pPr marL="1143000" indent="-228600">
              <a:defRPr sz="3200" b="1">
                <a:solidFill>
                  <a:schemeClr val="tx1"/>
                </a:solidFill>
                <a:latin typeface="Arial" panose="020B0604020202090204" pitchFamily="34" charset="0"/>
                <a:ea typeface="MS PGothic" panose="020B0600070205080204" charset="-128"/>
              </a:defRPr>
            </a:lvl3pPr>
            <a:lvl4pPr marL="1600200" indent="-228600">
              <a:defRPr sz="3200" b="1">
                <a:solidFill>
                  <a:schemeClr val="tx1"/>
                </a:solidFill>
                <a:latin typeface="Arial" panose="020B0604020202090204" pitchFamily="34" charset="0"/>
                <a:ea typeface="MS PGothic" panose="020B0600070205080204" charset="-128"/>
              </a:defRPr>
            </a:lvl4pPr>
            <a:lvl5pPr marL="2057400" indent="-228600">
              <a:defRPr sz="3200" b="1">
                <a:solidFill>
                  <a:schemeClr val="tx1"/>
                </a:solidFill>
                <a:latin typeface="Arial" panose="020B0604020202090204" pitchFamily="34" charset="0"/>
                <a:ea typeface="MS PGothic" panose="020B0600070205080204" charset="-128"/>
              </a:defRPr>
            </a:lvl5pPr>
            <a:lvl6pPr marL="2514600" indent="-228600" eaLnBrk="0" fontAlgn="base" hangingPunct="0">
              <a:spcBef>
                <a:spcPct val="0"/>
              </a:spcBef>
              <a:spcAft>
                <a:spcPct val="0"/>
              </a:spcAft>
              <a:defRPr sz="3200" b="1">
                <a:solidFill>
                  <a:schemeClr val="tx1"/>
                </a:solidFill>
                <a:latin typeface="Arial" panose="020B0604020202090204" pitchFamily="34" charset="0"/>
                <a:ea typeface="MS PGothic" panose="020B0600070205080204" charset="-128"/>
              </a:defRPr>
            </a:lvl6pPr>
            <a:lvl7pPr marL="2971800" indent="-228600" eaLnBrk="0" fontAlgn="base" hangingPunct="0">
              <a:spcBef>
                <a:spcPct val="0"/>
              </a:spcBef>
              <a:spcAft>
                <a:spcPct val="0"/>
              </a:spcAft>
              <a:defRPr sz="3200" b="1">
                <a:solidFill>
                  <a:schemeClr val="tx1"/>
                </a:solidFill>
                <a:latin typeface="Arial" panose="020B0604020202090204" pitchFamily="34" charset="0"/>
                <a:ea typeface="MS PGothic" panose="020B0600070205080204" charset="-128"/>
              </a:defRPr>
            </a:lvl7pPr>
            <a:lvl8pPr marL="3429000" indent="-228600" eaLnBrk="0" fontAlgn="base" hangingPunct="0">
              <a:spcBef>
                <a:spcPct val="0"/>
              </a:spcBef>
              <a:spcAft>
                <a:spcPct val="0"/>
              </a:spcAft>
              <a:defRPr sz="3200" b="1">
                <a:solidFill>
                  <a:schemeClr val="tx1"/>
                </a:solidFill>
                <a:latin typeface="Arial" panose="020B0604020202090204" pitchFamily="34" charset="0"/>
                <a:ea typeface="MS PGothic" panose="020B0600070205080204" charset="-128"/>
              </a:defRPr>
            </a:lvl8pPr>
            <a:lvl9pPr marL="3886200" indent="-228600" eaLnBrk="0" fontAlgn="base" hangingPunct="0">
              <a:spcBef>
                <a:spcPct val="0"/>
              </a:spcBef>
              <a:spcAft>
                <a:spcPct val="0"/>
              </a:spcAft>
              <a:defRPr sz="3200" b="1">
                <a:solidFill>
                  <a:schemeClr val="tx1"/>
                </a:solidFill>
                <a:latin typeface="Arial" panose="020B0604020202090204" pitchFamily="34" charset="0"/>
                <a:ea typeface="MS PGothic" panose="020B0600070205080204" charset="-128"/>
              </a:defRPr>
            </a:lvl9pPr>
          </a:lstStyle>
          <a:p>
            <a:r>
              <a:rPr lang="zh-CN" altLang="en-US" sz="1400" b="0">
                <a:solidFill>
                  <a:schemeClr val="tx2"/>
                </a:solidFill>
                <a:latin typeface="Times New Roman" panose="02020603050405020304" charset="0"/>
                <a:ea typeface="微软雅黑" panose="020B0503020204020204" pitchFamily="34" charset="-122"/>
              </a:rPr>
              <a:t>终端</a:t>
            </a:r>
            <a:endParaRPr lang="zh-CN" altLang="en-US" sz="1400" b="0">
              <a:solidFill>
                <a:schemeClr val="tx2"/>
              </a:solidFill>
              <a:latin typeface="Times New Roman" panose="02020603050405020304" charset="0"/>
              <a:ea typeface="微软雅黑" panose="020B0503020204020204" pitchFamily="34" charset="-122"/>
            </a:endParaRPr>
          </a:p>
        </p:txBody>
      </p:sp>
      <p:cxnSp>
        <p:nvCxnSpPr>
          <p:cNvPr id="10" name="Straight Arrow Connector 9"/>
          <p:cNvCxnSpPr>
            <a:cxnSpLocks noChangeShapeType="1"/>
          </p:cNvCxnSpPr>
          <p:nvPr/>
        </p:nvCxnSpPr>
        <p:spPr bwMode="auto">
          <a:xfrm>
            <a:off x="4986558" y="5398250"/>
            <a:ext cx="3054350" cy="0"/>
          </a:xfrm>
          <a:prstGeom prst="straightConnector1">
            <a:avLst/>
          </a:prstGeom>
          <a:noFill/>
          <a:ln w="9525" algn="ctr">
            <a:solidFill>
              <a:schemeClr val="tx1"/>
            </a:solidFill>
            <a:round/>
            <a:tailEnd type="triangle" w="med" len="med"/>
          </a:ln>
          <a:extLst>
            <a:ext uri="{909E8E84-426E-40DD-AFC4-6F175D3DCCD1}">
              <a14:hiddenFill xmlns:a14="http://schemas.microsoft.com/office/drawing/2010/main">
                <a:noFill/>
              </a14:hiddenFill>
            </a:ext>
          </a:extLst>
        </p:spPr>
      </p:cxnSp>
      <p:cxnSp>
        <p:nvCxnSpPr>
          <p:cNvPr id="11" name="Straight Arrow Connector 13"/>
          <p:cNvCxnSpPr>
            <a:cxnSpLocks noChangeShapeType="1"/>
          </p:cNvCxnSpPr>
          <p:nvPr/>
        </p:nvCxnSpPr>
        <p:spPr bwMode="auto">
          <a:xfrm flipH="1">
            <a:off x="4986558" y="5552208"/>
            <a:ext cx="3054350" cy="0"/>
          </a:xfrm>
          <a:prstGeom prst="straightConnector1">
            <a:avLst/>
          </a:prstGeom>
          <a:noFill/>
          <a:ln w="9525" algn="ctr">
            <a:solidFill>
              <a:schemeClr val="tx1"/>
            </a:solidFill>
            <a:round/>
            <a:tailEnd type="triangle" w="med" len="med"/>
          </a:ln>
          <a:extLst>
            <a:ext uri="{909E8E84-426E-40DD-AFC4-6F175D3DCCD1}">
              <a14:hiddenFill xmlns:a14="http://schemas.microsoft.com/office/drawing/2010/main">
                <a:noFill/>
              </a14:hiddenFill>
            </a:ext>
          </a:extLst>
        </p:spPr>
      </p:cxnSp>
      <p:sp>
        <p:nvSpPr>
          <p:cNvPr id="12" name="TextBox 17"/>
          <p:cNvSpPr txBox="1">
            <a:spLocks noChangeArrowheads="1"/>
          </p:cNvSpPr>
          <p:nvPr/>
        </p:nvSpPr>
        <p:spPr bwMode="auto">
          <a:xfrm>
            <a:off x="8671281" y="5247468"/>
            <a:ext cx="874644" cy="306705"/>
          </a:xfrm>
          <a:prstGeom prst="rect">
            <a:avLst/>
          </a:prstGeom>
          <a:noFill/>
          <a:ln w="9525">
            <a:solidFill>
              <a:srgbClr val="FFC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3200" b="1">
                <a:solidFill>
                  <a:schemeClr val="tx1"/>
                </a:solidFill>
                <a:latin typeface="Arial" panose="020B0604020202090204" pitchFamily="34" charset="0"/>
                <a:ea typeface="MS PGothic" panose="020B0600070205080204" charset="-128"/>
              </a:defRPr>
            </a:lvl1pPr>
            <a:lvl2pPr marL="742950" indent="-285750">
              <a:defRPr sz="3200" b="1">
                <a:solidFill>
                  <a:schemeClr val="tx1"/>
                </a:solidFill>
                <a:latin typeface="Arial" panose="020B0604020202090204" pitchFamily="34" charset="0"/>
                <a:ea typeface="MS PGothic" panose="020B0600070205080204" charset="-128"/>
              </a:defRPr>
            </a:lvl2pPr>
            <a:lvl3pPr marL="1143000" indent="-228600">
              <a:defRPr sz="3200" b="1">
                <a:solidFill>
                  <a:schemeClr val="tx1"/>
                </a:solidFill>
                <a:latin typeface="Arial" panose="020B0604020202090204" pitchFamily="34" charset="0"/>
                <a:ea typeface="MS PGothic" panose="020B0600070205080204" charset="-128"/>
              </a:defRPr>
            </a:lvl3pPr>
            <a:lvl4pPr marL="1600200" indent="-228600">
              <a:defRPr sz="3200" b="1">
                <a:solidFill>
                  <a:schemeClr val="tx1"/>
                </a:solidFill>
                <a:latin typeface="Arial" panose="020B0604020202090204" pitchFamily="34" charset="0"/>
                <a:ea typeface="MS PGothic" panose="020B0600070205080204" charset="-128"/>
              </a:defRPr>
            </a:lvl4pPr>
            <a:lvl5pPr marL="2057400" indent="-228600">
              <a:defRPr sz="3200" b="1">
                <a:solidFill>
                  <a:schemeClr val="tx1"/>
                </a:solidFill>
                <a:latin typeface="Arial" panose="020B0604020202090204" pitchFamily="34" charset="0"/>
                <a:ea typeface="MS PGothic" panose="020B0600070205080204" charset="-128"/>
              </a:defRPr>
            </a:lvl5pPr>
            <a:lvl6pPr marL="2514600" indent="-228600" eaLnBrk="0" fontAlgn="base" hangingPunct="0">
              <a:spcBef>
                <a:spcPct val="0"/>
              </a:spcBef>
              <a:spcAft>
                <a:spcPct val="0"/>
              </a:spcAft>
              <a:defRPr sz="3200" b="1">
                <a:solidFill>
                  <a:schemeClr val="tx1"/>
                </a:solidFill>
                <a:latin typeface="Arial" panose="020B0604020202090204" pitchFamily="34" charset="0"/>
                <a:ea typeface="MS PGothic" panose="020B0600070205080204" charset="-128"/>
              </a:defRPr>
            </a:lvl6pPr>
            <a:lvl7pPr marL="2971800" indent="-228600" eaLnBrk="0" fontAlgn="base" hangingPunct="0">
              <a:spcBef>
                <a:spcPct val="0"/>
              </a:spcBef>
              <a:spcAft>
                <a:spcPct val="0"/>
              </a:spcAft>
              <a:defRPr sz="3200" b="1">
                <a:solidFill>
                  <a:schemeClr val="tx1"/>
                </a:solidFill>
                <a:latin typeface="Arial" panose="020B0604020202090204" pitchFamily="34" charset="0"/>
                <a:ea typeface="MS PGothic" panose="020B0600070205080204" charset="-128"/>
              </a:defRPr>
            </a:lvl7pPr>
            <a:lvl8pPr marL="3429000" indent="-228600" eaLnBrk="0" fontAlgn="base" hangingPunct="0">
              <a:spcBef>
                <a:spcPct val="0"/>
              </a:spcBef>
              <a:spcAft>
                <a:spcPct val="0"/>
              </a:spcAft>
              <a:defRPr sz="3200" b="1">
                <a:solidFill>
                  <a:schemeClr val="tx1"/>
                </a:solidFill>
                <a:latin typeface="Arial" panose="020B0604020202090204" pitchFamily="34" charset="0"/>
                <a:ea typeface="MS PGothic" panose="020B0600070205080204" charset="-128"/>
              </a:defRPr>
            </a:lvl8pPr>
            <a:lvl9pPr marL="3886200" indent="-228600" eaLnBrk="0" fontAlgn="base" hangingPunct="0">
              <a:spcBef>
                <a:spcPct val="0"/>
              </a:spcBef>
              <a:spcAft>
                <a:spcPct val="0"/>
              </a:spcAft>
              <a:defRPr sz="3200" b="1">
                <a:solidFill>
                  <a:schemeClr val="tx1"/>
                </a:solidFill>
                <a:latin typeface="Arial" panose="020B0604020202090204" pitchFamily="34" charset="0"/>
                <a:ea typeface="MS PGothic" panose="020B0600070205080204" charset="-128"/>
              </a:defRPr>
            </a:lvl9pPr>
          </a:lstStyle>
          <a:p>
            <a:pPr algn="ctr"/>
            <a:r>
              <a:rPr lang="en-US" altLang="en-US" sz="1400" b="0">
                <a:solidFill>
                  <a:schemeClr val="tx2"/>
                </a:solidFill>
                <a:latin typeface="Times New Roman" panose="02020603050405020304" charset="0"/>
                <a:ea typeface="微软雅黑" panose="020B0503020204020204" pitchFamily="34" charset="-122"/>
              </a:rPr>
              <a:t>服务</a:t>
            </a:r>
            <a:endParaRPr lang="en-US" altLang="en-US" sz="1400" b="0">
              <a:solidFill>
                <a:schemeClr val="tx2"/>
              </a:solidFill>
              <a:latin typeface="Times New Roman" panose="02020603050405020304" charset="0"/>
              <a:ea typeface="微软雅黑" panose="020B0503020204020204" pitchFamily="34" charset="-122"/>
            </a:endParaRPr>
          </a:p>
        </p:txBody>
      </p:sp>
      <p:sp>
        <p:nvSpPr>
          <p:cNvPr id="13" name="TextBox 18"/>
          <p:cNvSpPr txBox="1">
            <a:spLocks noChangeArrowheads="1"/>
          </p:cNvSpPr>
          <p:nvPr/>
        </p:nvSpPr>
        <p:spPr bwMode="auto">
          <a:xfrm>
            <a:off x="5115629" y="5090313"/>
            <a:ext cx="2708341"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90204" pitchFamily="34" charset="0"/>
                <a:ea typeface="MS PGothic" panose="020B0600070205080204" charset="-128"/>
              </a:defRPr>
            </a:lvl1pPr>
            <a:lvl2pPr marL="742950" indent="-285750">
              <a:defRPr sz="3200" b="1">
                <a:solidFill>
                  <a:schemeClr val="tx1"/>
                </a:solidFill>
                <a:latin typeface="Arial" panose="020B0604020202090204" pitchFamily="34" charset="0"/>
                <a:ea typeface="MS PGothic" panose="020B0600070205080204" charset="-128"/>
              </a:defRPr>
            </a:lvl2pPr>
            <a:lvl3pPr marL="1143000" indent="-228600">
              <a:defRPr sz="3200" b="1">
                <a:solidFill>
                  <a:schemeClr val="tx1"/>
                </a:solidFill>
                <a:latin typeface="Arial" panose="020B0604020202090204" pitchFamily="34" charset="0"/>
                <a:ea typeface="MS PGothic" panose="020B0600070205080204" charset="-128"/>
              </a:defRPr>
            </a:lvl3pPr>
            <a:lvl4pPr marL="1600200" indent="-228600">
              <a:defRPr sz="3200" b="1">
                <a:solidFill>
                  <a:schemeClr val="tx1"/>
                </a:solidFill>
                <a:latin typeface="Arial" panose="020B0604020202090204" pitchFamily="34" charset="0"/>
                <a:ea typeface="MS PGothic" panose="020B0600070205080204" charset="-128"/>
              </a:defRPr>
            </a:lvl4pPr>
            <a:lvl5pPr marL="2057400" indent="-228600">
              <a:defRPr sz="3200" b="1">
                <a:solidFill>
                  <a:schemeClr val="tx1"/>
                </a:solidFill>
                <a:latin typeface="Arial" panose="020B0604020202090204" pitchFamily="34" charset="0"/>
                <a:ea typeface="MS PGothic" panose="020B0600070205080204" charset="-128"/>
              </a:defRPr>
            </a:lvl5pPr>
            <a:lvl6pPr marL="2514600" indent="-228600" eaLnBrk="0" fontAlgn="base" hangingPunct="0">
              <a:spcBef>
                <a:spcPct val="0"/>
              </a:spcBef>
              <a:spcAft>
                <a:spcPct val="0"/>
              </a:spcAft>
              <a:defRPr sz="3200" b="1">
                <a:solidFill>
                  <a:schemeClr val="tx1"/>
                </a:solidFill>
                <a:latin typeface="Arial" panose="020B0604020202090204" pitchFamily="34" charset="0"/>
                <a:ea typeface="MS PGothic" panose="020B0600070205080204" charset="-128"/>
              </a:defRPr>
            </a:lvl6pPr>
            <a:lvl7pPr marL="2971800" indent="-228600" eaLnBrk="0" fontAlgn="base" hangingPunct="0">
              <a:spcBef>
                <a:spcPct val="0"/>
              </a:spcBef>
              <a:spcAft>
                <a:spcPct val="0"/>
              </a:spcAft>
              <a:defRPr sz="3200" b="1">
                <a:solidFill>
                  <a:schemeClr val="tx1"/>
                </a:solidFill>
                <a:latin typeface="Arial" panose="020B0604020202090204" pitchFamily="34" charset="0"/>
                <a:ea typeface="MS PGothic" panose="020B0600070205080204" charset="-128"/>
              </a:defRPr>
            </a:lvl7pPr>
            <a:lvl8pPr marL="3429000" indent="-228600" eaLnBrk="0" fontAlgn="base" hangingPunct="0">
              <a:spcBef>
                <a:spcPct val="0"/>
              </a:spcBef>
              <a:spcAft>
                <a:spcPct val="0"/>
              </a:spcAft>
              <a:defRPr sz="3200" b="1">
                <a:solidFill>
                  <a:schemeClr val="tx1"/>
                </a:solidFill>
                <a:latin typeface="Arial" panose="020B0604020202090204" pitchFamily="34" charset="0"/>
                <a:ea typeface="MS PGothic" panose="020B0600070205080204" charset="-128"/>
              </a:defRPr>
            </a:lvl8pPr>
            <a:lvl9pPr marL="3886200" indent="-228600" eaLnBrk="0" fontAlgn="base" hangingPunct="0">
              <a:spcBef>
                <a:spcPct val="0"/>
              </a:spcBef>
              <a:spcAft>
                <a:spcPct val="0"/>
              </a:spcAft>
              <a:defRPr sz="3200" b="1">
                <a:solidFill>
                  <a:schemeClr val="tx1"/>
                </a:solidFill>
                <a:latin typeface="Arial" panose="020B0604020202090204" pitchFamily="34" charset="0"/>
                <a:ea typeface="MS PGothic" panose="020B0600070205080204" charset="-128"/>
              </a:defRPr>
            </a:lvl9pPr>
          </a:lstStyle>
          <a:p>
            <a:pPr algn="ctr"/>
            <a:r>
              <a:rPr lang="en-US" altLang="en-US" sz="1400" b="0">
                <a:latin typeface="Times New Roman" panose="02020603050405020304" charset="0"/>
                <a:ea typeface="微软雅黑" panose="020B0503020204020204" pitchFamily="34" charset="-122"/>
              </a:rPr>
              <a:t>输入（文本、图像、查询）</a:t>
            </a:r>
            <a:endParaRPr lang="en-US" altLang="en-US" sz="1400" b="0">
              <a:latin typeface="Times New Roman" panose="02020603050405020304" charset="0"/>
              <a:ea typeface="微软雅黑" panose="020B0503020204020204" pitchFamily="34" charset="-122"/>
            </a:endParaRPr>
          </a:p>
        </p:txBody>
      </p:sp>
      <p:sp>
        <p:nvSpPr>
          <p:cNvPr id="14" name="TextBox 19"/>
          <p:cNvSpPr txBox="1">
            <a:spLocks noChangeArrowheads="1"/>
          </p:cNvSpPr>
          <p:nvPr/>
        </p:nvSpPr>
        <p:spPr bwMode="auto">
          <a:xfrm>
            <a:off x="4633580" y="5555268"/>
            <a:ext cx="3597966"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90204" pitchFamily="34" charset="0"/>
                <a:ea typeface="MS PGothic" panose="020B0600070205080204" charset="-128"/>
              </a:defRPr>
            </a:lvl1pPr>
            <a:lvl2pPr marL="742950" indent="-285750">
              <a:defRPr sz="3200" b="1">
                <a:solidFill>
                  <a:schemeClr val="tx1"/>
                </a:solidFill>
                <a:latin typeface="Arial" panose="020B0604020202090204" pitchFamily="34" charset="0"/>
                <a:ea typeface="MS PGothic" panose="020B0600070205080204" charset="-128"/>
              </a:defRPr>
            </a:lvl2pPr>
            <a:lvl3pPr marL="1143000" indent="-228600">
              <a:defRPr sz="3200" b="1">
                <a:solidFill>
                  <a:schemeClr val="tx1"/>
                </a:solidFill>
                <a:latin typeface="Arial" panose="020B0604020202090204" pitchFamily="34" charset="0"/>
                <a:ea typeface="MS PGothic" panose="020B0600070205080204" charset="-128"/>
              </a:defRPr>
            </a:lvl3pPr>
            <a:lvl4pPr marL="1600200" indent="-228600">
              <a:defRPr sz="3200" b="1">
                <a:solidFill>
                  <a:schemeClr val="tx1"/>
                </a:solidFill>
                <a:latin typeface="Arial" panose="020B0604020202090204" pitchFamily="34" charset="0"/>
                <a:ea typeface="MS PGothic" panose="020B0600070205080204" charset="-128"/>
              </a:defRPr>
            </a:lvl4pPr>
            <a:lvl5pPr marL="2057400" indent="-228600">
              <a:defRPr sz="3200" b="1">
                <a:solidFill>
                  <a:schemeClr val="tx1"/>
                </a:solidFill>
                <a:latin typeface="Arial" panose="020B0604020202090204" pitchFamily="34" charset="0"/>
                <a:ea typeface="MS PGothic" panose="020B0600070205080204" charset="-128"/>
              </a:defRPr>
            </a:lvl5pPr>
            <a:lvl6pPr marL="2514600" indent="-228600" eaLnBrk="0" fontAlgn="base" hangingPunct="0">
              <a:spcBef>
                <a:spcPct val="0"/>
              </a:spcBef>
              <a:spcAft>
                <a:spcPct val="0"/>
              </a:spcAft>
              <a:defRPr sz="3200" b="1">
                <a:solidFill>
                  <a:schemeClr val="tx1"/>
                </a:solidFill>
                <a:latin typeface="Arial" panose="020B0604020202090204" pitchFamily="34" charset="0"/>
                <a:ea typeface="MS PGothic" panose="020B0600070205080204" charset="-128"/>
              </a:defRPr>
            </a:lvl6pPr>
            <a:lvl7pPr marL="2971800" indent="-228600" eaLnBrk="0" fontAlgn="base" hangingPunct="0">
              <a:spcBef>
                <a:spcPct val="0"/>
              </a:spcBef>
              <a:spcAft>
                <a:spcPct val="0"/>
              </a:spcAft>
              <a:defRPr sz="3200" b="1">
                <a:solidFill>
                  <a:schemeClr val="tx1"/>
                </a:solidFill>
                <a:latin typeface="Arial" panose="020B0604020202090204" pitchFamily="34" charset="0"/>
                <a:ea typeface="MS PGothic" panose="020B0600070205080204" charset="-128"/>
              </a:defRPr>
            </a:lvl7pPr>
            <a:lvl8pPr marL="3429000" indent="-228600" eaLnBrk="0" fontAlgn="base" hangingPunct="0">
              <a:spcBef>
                <a:spcPct val="0"/>
              </a:spcBef>
              <a:spcAft>
                <a:spcPct val="0"/>
              </a:spcAft>
              <a:defRPr sz="3200" b="1">
                <a:solidFill>
                  <a:schemeClr val="tx1"/>
                </a:solidFill>
                <a:latin typeface="Arial" panose="020B0604020202090204" pitchFamily="34" charset="0"/>
                <a:ea typeface="MS PGothic" panose="020B0600070205080204" charset="-128"/>
              </a:defRPr>
            </a:lvl8pPr>
            <a:lvl9pPr marL="3886200" indent="-228600" eaLnBrk="0" fontAlgn="base" hangingPunct="0">
              <a:spcBef>
                <a:spcPct val="0"/>
              </a:spcBef>
              <a:spcAft>
                <a:spcPct val="0"/>
              </a:spcAft>
              <a:defRPr sz="3200" b="1">
                <a:solidFill>
                  <a:schemeClr val="tx1"/>
                </a:solidFill>
                <a:latin typeface="Arial" panose="020B0604020202090204" pitchFamily="34" charset="0"/>
                <a:ea typeface="MS PGothic" panose="020B0600070205080204" charset="-128"/>
              </a:defRPr>
            </a:lvl9pPr>
          </a:lstStyle>
          <a:p>
            <a:pPr algn="ctr"/>
            <a:r>
              <a:rPr lang="en-US" altLang="en-US" sz="1400" b="0">
                <a:latin typeface="Times New Roman" panose="02020603050405020304" charset="0"/>
                <a:ea typeface="微软雅黑" panose="020B0503020204020204" pitchFamily="34" charset="-122"/>
              </a:rPr>
              <a:t>输出（情绪、类别、结果）</a:t>
            </a:r>
            <a:endParaRPr lang="en-US" altLang="en-US" sz="1400" b="0">
              <a:latin typeface="Times New Roman" panose="02020603050405020304" charset="0"/>
              <a:ea typeface="微软雅黑" panose="020B0503020204020204" pitchFamily="3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charset="0"/>
              </a:rPr>
              <a:t>本课程涵盖的内容[1,2,3]</a:t>
            </a:r>
            <a:endParaRPr lang="en-US" dirty="0">
              <a:latin typeface="Times New Roman" panose="02020603050405020304" charset="0"/>
            </a:endParaRPr>
          </a:p>
        </p:txBody>
      </p:sp>
      <p:sp>
        <p:nvSpPr>
          <p:cNvPr id="3" name="Slide Number Placeholder 2"/>
          <p:cNvSpPr>
            <a:spLocks noGrp="1"/>
          </p:cNvSpPr>
          <p:nvPr>
            <p:ph type="sldNum" sz="quarter" idx="12"/>
          </p:nvPr>
        </p:nvSpPr>
        <p:spPr>
          <a:xfrm>
            <a:off x="8702548" y="6387385"/>
            <a:ext cx="2743200" cy="365125"/>
          </a:xfrm>
        </p:spPr>
        <p:txBody>
          <a:bodyPr/>
          <a:lstStyle/>
          <a:p>
            <a:fld id="{2515AB8F-1C56-49E9-90C8-78D22B0C1B97}" type="slidenum">
              <a:rPr lang="zh-CN" altLang="en-US" smtClean="0"/>
            </a:fld>
            <a:endParaRPr lang="zh-CN" altLang="en-US" dirty="0"/>
          </a:p>
        </p:txBody>
      </p:sp>
      <p:grpSp>
        <p:nvGrpSpPr>
          <p:cNvPr id="4" name="组合 2"/>
          <p:cNvGrpSpPr/>
          <p:nvPr/>
        </p:nvGrpSpPr>
        <p:grpSpPr>
          <a:xfrm>
            <a:off x="1002348" y="1188617"/>
            <a:ext cx="4621522" cy="1510352"/>
            <a:chOff x="1026732" y="2360338"/>
            <a:chExt cx="4621522" cy="1510352"/>
          </a:xfrm>
        </p:grpSpPr>
        <p:sp>
          <p:nvSpPr>
            <p:cNvPr id="5" name="文本框 13"/>
            <p:cNvSpPr txBox="1"/>
            <p:nvPr/>
          </p:nvSpPr>
          <p:spPr>
            <a:xfrm>
              <a:off x="2548688" y="2360338"/>
              <a:ext cx="2681022" cy="685701"/>
            </a:xfrm>
            <a:prstGeom prst="rect">
              <a:avLst/>
            </a:prstGeom>
            <a:noFill/>
          </p:spPr>
          <p:txBody>
            <a:bodyPr wrap="square" rtlCol="0">
              <a:spAutoFit/>
            </a:bodyPr>
            <a:lstStyle/>
            <a:p>
              <a:pPr>
                <a:lnSpc>
                  <a:spcPct val="130000"/>
                </a:lnSpc>
              </a:pPr>
              <a:r>
                <a:rPr lang="en-US" altLang="zh-CN" sz="3200" b="1" dirty="0">
                  <a:solidFill>
                    <a:schemeClr val="accent1"/>
                  </a:solidFill>
                  <a:latin typeface="Helvetica" pitchFamily="2" charset="0"/>
                  <a:cs typeface="+mn-ea"/>
                  <a:sym typeface="+mn-lt"/>
                </a:rPr>
                <a:t>引言</a:t>
              </a:r>
              <a:endParaRPr lang="zh-CN" altLang="en-US" sz="2800" b="1" dirty="0">
                <a:solidFill>
                  <a:schemeClr val="accent1"/>
                </a:solidFill>
                <a:latin typeface="Helvetica" pitchFamily="2" charset="0"/>
                <a:cs typeface="+mn-ea"/>
                <a:sym typeface="+mn-lt"/>
              </a:endParaRPr>
            </a:p>
          </p:txBody>
        </p:sp>
        <p:sp>
          <p:nvSpPr>
            <p:cNvPr id="6" name="椭圆 160"/>
            <p:cNvSpPr/>
            <p:nvPr/>
          </p:nvSpPr>
          <p:spPr>
            <a:xfrm>
              <a:off x="1026732" y="2539881"/>
              <a:ext cx="1301515" cy="130151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4400" b="1" dirty="0">
                  <a:solidFill>
                    <a:schemeClr val="bg1"/>
                  </a:solidFill>
                  <a:latin typeface="Helvetica" pitchFamily="2" charset="0"/>
                  <a:cs typeface="+mn-ea"/>
                  <a:sym typeface="+mn-lt"/>
                </a:rPr>
                <a:t>01</a:t>
              </a:r>
              <a:endParaRPr lang="zh-CN" altLang="en-US" sz="4400" b="1" dirty="0">
                <a:solidFill>
                  <a:schemeClr val="bg1"/>
                </a:solidFill>
                <a:latin typeface="Helvetica" pitchFamily="2" charset="0"/>
                <a:cs typeface="+mn-ea"/>
                <a:sym typeface="+mn-lt"/>
              </a:endParaRPr>
            </a:p>
          </p:txBody>
        </p:sp>
        <p:sp>
          <p:nvSpPr>
            <p:cNvPr id="7" name="文本框 1"/>
            <p:cNvSpPr txBox="1"/>
            <p:nvPr/>
          </p:nvSpPr>
          <p:spPr>
            <a:xfrm>
              <a:off x="2548688" y="3101249"/>
              <a:ext cx="3099566" cy="769441"/>
            </a:xfrm>
            <a:prstGeom prst="rect">
              <a:avLst/>
            </a:prstGeom>
            <a:noFill/>
          </p:spPr>
          <p:txBody>
            <a:bodyPr wrap="none" rtlCol="0">
              <a:spAutoFit/>
            </a:bodyPr>
            <a:lstStyle/>
            <a:p>
              <a:r>
                <a:rPr kumimoji="1" lang="en-US" altLang="zh-CN" sz="2200" dirty="0">
                  <a:latin typeface="Helvetica Regular" pitchFamily="2" charset="0"/>
                </a:rPr>
                <a:t>流程、术语</a:t>
              </a:r>
              <a:endParaRPr kumimoji="1" lang="en-US" altLang="zh-CN" sz="2200" dirty="0">
                <a:latin typeface="Helvetica Regular" pitchFamily="2" charset="0"/>
              </a:endParaRPr>
            </a:p>
            <a:p>
              <a:r>
                <a:rPr kumimoji="1" lang="en-US" altLang="zh-CN" sz="2200" dirty="0">
                  <a:latin typeface="Helvetica Regular" pitchFamily="2" charset="0"/>
                </a:rPr>
                <a:t>工具</a:t>
              </a:r>
              <a:endParaRPr kumimoji="1" lang="zh-CN" altLang="en-US" sz="2200" dirty="0">
                <a:latin typeface="Helvetica Regular" pitchFamily="2" charset="0"/>
              </a:endParaRPr>
            </a:p>
          </p:txBody>
        </p:sp>
      </p:grpSp>
      <p:grpSp>
        <p:nvGrpSpPr>
          <p:cNvPr id="8" name="组合 22"/>
          <p:cNvGrpSpPr/>
          <p:nvPr/>
        </p:nvGrpSpPr>
        <p:grpSpPr>
          <a:xfrm>
            <a:off x="1002347" y="2900163"/>
            <a:ext cx="5020106" cy="1301515"/>
            <a:chOff x="1026732" y="2539881"/>
            <a:chExt cx="5020106" cy="1301515"/>
          </a:xfrm>
        </p:grpSpPr>
        <p:sp>
          <p:nvSpPr>
            <p:cNvPr id="9" name="文本框 24"/>
            <p:cNvSpPr txBox="1"/>
            <p:nvPr/>
          </p:nvSpPr>
          <p:spPr>
            <a:xfrm>
              <a:off x="2550045" y="2539881"/>
              <a:ext cx="3496793" cy="685701"/>
            </a:xfrm>
            <a:prstGeom prst="rect">
              <a:avLst/>
            </a:prstGeom>
            <a:noFill/>
          </p:spPr>
          <p:txBody>
            <a:bodyPr wrap="square" rtlCol="0">
              <a:spAutoFit/>
            </a:bodyPr>
            <a:lstStyle/>
            <a:p>
              <a:pPr>
                <a:lnSpc>
                  <a:spcPct val="130000"/>
                </a:lnSpc>
              </a:pPr>
              <a:r>
                <a:rPr lang="en-US" altLang="zh-CN" sz="3200" b="1" dirty="0">
                  <a:solidFill>
                    <a:schemeClr val="accent1"/>
                  </a:solidFill>
                  <a:latin typeface="Helvetica" pitchFamily="2" charset="0"/>
                  <a:cs typeface="+mn-ea"/>
                  <a:sym typeface="+mn-lt"/>
                </a:rPr>
                <a:t>设计</a:t>
              </a:r>
              <a:endParaRPr lang="zh-CN" altLang="en-US" sz="2800" b="1" dirty="0">
                <a:solidFill>
                  <a:schemeClr val="accent1"/>
                </a:solidFill>
                <a:latin typeface="Helvetica" pitchFamily="2" charset="0"/>
                <a:cs typeface="+mn-ea"/>
                <a:sym typeface="+mn-lt"/>
              </a:endParaRPr>
            </a:p>
          </p:txBody>
        </p:sp>
        <p:sp>
          <p:nvSpPr>
            <p:cNvPr id="10" name="椭圆 25"/>
            <p:cNvSpPr/>
            <p:nvPr/>
          </p:nvSpPr>
          <p:spPr>
            <a:xfrm>
              <a:off x="1026732" y="2539881"/>
              <a:ext cx="1301515" cy="130151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4400" b="1" dirty="0">
                  <a:solidFill>
                    <a:schemeClr val="bg1"/>
                  </a:solidFill>
                  <a:latin typeface="Helvetica" pitchFamily="2" charset="0"/>
                  <a:cs typeface="+mn-ea"/>
                  <a:sym typeface="+mn-lt"/>
                </a:rPr>
                <a:t>03</a:t>
              </a:r>
              <a:endParaRPr lang="zh-CN" altLang="en-US" sz="4400" b="1" dirty="0">
                <a:solidFill>
                  <a:schemeClr val="bg1"/>
                </a:solidFill>
                <a:latin typeface="Helvetica" pitchFamily="2" charset="0"/>
                <a:cs typeface="+mn-ea"/>
                <a:sym typeface="+mn-lt"/>
              </a:endParaRPr>
            </a:p>
          </p:txBody>
        </p:sp>
        <p:sp>
          <p:nvSpPr>
            <p:cNvPr id="11" name="文本框 26"/>
            <p:cNvSpPr txBox="1"/>
            <p:nvPr/>
          </p:nvSpPr>
          <p:spPr>
            <a:xfrm>
              <a:off x="2550046" y="3280792"/>
              <a:ext cx="2805576" cy="430887"/>
            </a:xfrm>
            <a:prstGeom prst="rect">
              <a:avLst/>
            </a:prstGeom>
            <a:noFill/>
          </p:spPr>
          <p:txBody>
            <a:bodyPr wrap="none" rtlCol="0">
              <a:spAutoFit/>
            </a:bodyPr>
            <a:lstStyle/>
            <a:p>
              <a:r>
                <a:rPr kumimoji="1" lang="en-US" altLang="zh-CN" sz="2200" dirty="0">
                  <a:latin typeface="Helvetica Regular" pitchFamily="2" charset="0"/>
                </a:rPr>
                <a:t>用户界面、系统、程序</a:t>
              </a:r>
              <a:endParaRPr kumimoji="1" lang="zh-CN" altLang="en-US" sz="2200" dirty="0">
                <a:latin typeface="Helvetica Regular" pitchFamily="2" charset="0"/>
              </a:endParaRPr>
            </a:p>
          </p:txBody>
        </p:sp>
      </p:grpSp>
      <p:grpSp>
        <p:nvGrpSpPr>
          <p:cNvPr id="12" name="组合 3"/>
          <p:cNvGrpSpPr/>
          <p:nvPr/>
        </p:nvGrpSpPr>
        <p:grpSpPr>
          <a:xfrm>
            <a:off x="6849540" y="1188617"/>
            <a:ext cx="4340112" cy="1301515"/>
            <a:chOff x="7657903" y="3280792"/>
            <a:chExt cx="4340112" cy="1301515"/>
          </a:xfrm>
        </p:grpSpPr>
        <p:sp>
          <p:nvSpPr>
            <p:cNvPr id="13" name="文本框 28"/>
            <p:cNvSpPr txBox="1"/>
            <p:nvPr/>
          </p:nvSpPr>
          <p:spPr>
            <a:xfrm>
              <a:off x="7657903" y="3280792"/>
              <a:ext cx="3350293" cy="685701"/>
            </a:xfrm>
            <a:prstGeom prst="rect">
              <a:avLst/>
            </a:prstGeom>
            <a:noFill/>
          </p:spPr>
          <p:txBody>
            <a:bodyPr wrap="square" rtlCol="0">
              <a:spAutoFit/>
            </a:bodyPr>
            <a:lstStyle/>
            <a:p>
              <a:pPr>
                <a:lnSpc>
                  <a:spcPct val="130000"/>
                </a:lnSpc>
              </a:pPr>
              <a:r>
                <a:rPr lang="en-US" altLang="zh-CN" sz="3200" b="1" dirty="0">
                  <a:solidFill>
                    <a:schemeClr val="accent1"/>
                  </a:solidFill>
                  <a:latin typeface="Helvetica" pitchFamily="2" charset="0"/>
                  <a:cs typeface="+mn-ea"/>
                  <a:sym typeface="+mn-lt"/>
                </a:rPr>
                <a:t>要求</a:t>
              </a:r>
              <a:endParaRPr lang="zh-CN" altLang="en-US" sz="2800" b="1" dirty="0">
                <a:solidFill>
                  <a:schemeClr val="accent1"/>
                </a:solidFill>
                <a:latin typeface="Helvetica" pitchFamily="2" charset="0"/>
                <a:cs typeface="+mn-ea"/>
                <a:sym typeface="+mn-lt"/>
              </a:endParaRPr>
            </a:p>
          </p:txBody>
        </p:sp>
        <p:sp>
          <p:nvSpPr>
            <p:cNvPr id="14" name="椭圆 29"/>
            <p:cNvSpPr/>
            <p:nvPr/>
          </p:nvSpPr>
          <p:spPr>
            <a:xfrm>
              <a:off x="10696500" y="3280792"/>
              <a:ext cx="1301515" cy="130151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4400" b="1" dirty="0">
                  <a:solidFill>
                    <a:schemeClr val="bg1"/>
                  </a:solidFill>
                  <a:latin typeface="Helvetica" pitchFamily="2" charset="0"/>
                  <a:cs typeface="+mn-ea"/>
                  <a:sym typeface="+mn-lt"/>
                </a:rPr>
                <a:t>02</a:t>
              </a:r>
              <a:endParaRPr lang="zh-CN" altLang="en-US" sz="4400" b="1" dirty="0">
                <a:solidFill>
                  <a:schemeClr val="bg1"/>
                </a:solidFill>
                <a:latin typeface="Helvetica" pitchFamily="2" charset="0"/>
                <a:cs typeface="+mn-ea"/>
                <a:sym typeface="+mn-lt"/>
              </a:endParaRPr>
            </a:p>
          </p:txBody>
        </p:sp>
        <p:sp>
          <p:nvSpPr>
            <p:cNvPr id="15" name="文本框 30"/>
            <p:cNvSpPr txBox="1"/>
            <p:nvPr/>
          </p:nvSpPr>
          <p:spPr>
            <a:xfrm>
              <a:off x="7657904" y="4021703"/>
              <a:ext cx="2537874" cy="430887"/>
            </a:xfrm>
            <a:prstGeom prst="rect">
              <a:avLst/>
            </a:prstGeom>
            <a:noFill/>
          </p:spPr>
          <p:txBody>
            <a:bodyPr wrap="none" rtlCol="0">
              <a:spAutoFit/>
            </a:bodyPr>
            <a:lstStyle/>
            <a:p>
              <a:r>
                <a:rPr kumimoji="1" lang="en-US" altLang="zh-CN" sz="2200" dirty="0">
                  <a:latin typeface="Helvetica Regular" pitchFamily="2" charset="0"/>
                </a:rPr>
                <a:t>分析、建模</a:t>
              </a:r>
              <a:endParaRPr kumimoji="1" lang="zh-CN" altLang="en-US" sz="2200" dirty="0">
                <a:latin typeface="Helvetica Regular" pitchFamily="2" charset="0"/>
              </a:endParaRPr>
            </a:p>
          </p:txBody>
        </p:sp>
      </p:grpSp>
      <p:grpSp>
        <p:nvGrpSpPr>
          <p:cNvPr id="16" name="组合 31"/>
          <p:cNvGrpSpPr/>
          <p:nvPr/>
        </p:nvGrpSpPr>
        <p:grpSpPr>
          <a:xfrm>
            <a:off x="6849540" y="2800361"/>
            <a:ext cx="4340111" cy="1301515"/>
            <a:chOff x="7657904" y="3280792"/>
            <a:chExt cx="4340111" cy="1301515"/>
          </a:xfrm>
        </p:grpSpPr>
        <p:sp>
          <p:nvSpPr>
            <p:cNvPr id="17" name="文本框 32"/>
            <p:cNvSpPr txBox="1"/>
            <p:nvPr/>
          </p:nvSpPr>
          <p:spPr>
            <a:xfrm>
              <a:off x="7657904" y="3280792"/>
              <a:ext cx="2681022" cy="685701"/>
            </a:xfrm>
            <a:prstGeom prst="rect">
              <a:avLst/>
            </a:prstGeom>
            <a:noFill/>
          </p:spPr>
          <p:txBody>
            <a:bodyPr wrap="square" rtlCol="0">
              <a:spAutoFit/>
            </a:bodyPr>
            <a:lstStyle/>
            <a:p>
              <a:pPr>
                <a:lnSpc>
                  <a:spcPct val="130000"/>
                </a:lnSpc>
              </a:pPr>
              <a:r>
                <a:rPr lang="en-US" altLang="zh-CN" sz="3200" b="1" dirty="0">
                  <a:solidFill>
                    <a:schemeClr val="accent1"/>
                  </a:solidFill>
                  <a:latin typeface="Helvetica" pitchFamily="2" charset="0"/>
                  <a:cs typeface="+mn-ea"/>
                  <a:sym typeface="+mn-lt"/>
                </a:rPr>
                <a:t>测试</a:t>
              </a:r>
              <a:endParaRPr lang="zh-CN" altLang="en-US" sz="2800" b="1" dirty="0">
                <a:solidFill>
                  <a:schemeClr val="accent1"/>
                </a:solidFill>
                <a:latin typeface="Helvetica" pitchFamily="2" charset="0"/>
                <a:cs typeface="+mn-ea"/>
                <a:sym typeface="+mn-lt"/>
              </a:endParaRPr>
            </a:p>
          </p:txBody>
        </p:sp>
        <p:sp>
          <p:nvSpPr>
            <p:cNvPr id="18" name="椭圆 33"/>
            <p:cNvSpPr/>
            <p:nvPr/>
          </p:nvSpPr>
          <p:spPr>
            <a:xfrm>
              <a:off x="10696500" y="3280792"/>
              <a:ext cx="1301515" cy="130151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4400" b="1" dirty="0">
                  <a:solidFill>
                    <a:schemeClr val="bg1"/>
                  </a:solidFill>
                  <a:latin typeface="Helvetica" pitchFamily="2" charset="0"/>
                  <a:cs typeface="+mn-ea"/>
                  <a:sym typeface="+mn-lt"/>
                </a:rPr>
                <a:t>04</a:t>
              </a:r>
              <a:endParaRPr lang="zh-CN" altLang="en-US" sz="4400" b="1" dirty="0">
                <a:solidFill>
                  <a:schemeClr val="bg1"/>
                </a:solidFill>
                <a:latin typeface="Helvetica" pitchFamily="2" charset="0"/>
                <a:cs typeface="+mn-ea"/>
                <a:sym typeface="+mn-lt"/>
              </a:endParaRPr>
            </a:p>
          </p:txBody>
        </p:sp>
        <p:sp>
          <p:nvSpPr>
            <p:cNvPr id="19" name="文本框 34"/>
            <p:cNvSpPr txBox="1"/>
            <p:nvPr/>
          </p:nvSpPr>
          <p:spPr>
            <a:xfrm>
              <a:off x="7657904" y="4021703"/>
              <a:ext cx="2708434" cy="430887"/>
            </a:xfrm>
            <a:prstGeom prst="rect">
              <a:avLst/>
            </a:prstGeom>
            <a:noFill/>
          </p:spPr>
          <p:txBody>
            <a:bodyPr wrap="none" rtlCol="0">
              <a:spAutoFit/>
            </a:bodyPr>
            <a:lstStyle/>
            <a:p>
              <a:r>
                <a:rPr kumimoji="1" lang="en-US" altLang="zh-CN" sz="2200" dirty="0">
                  <a:latin typeface="Helvetica Regular" pitchFamily="2" charset="0"/>
                </a:rPr>
                <a:t>单元/集成测试</a:t>
              </a:r>
              <a:endParaRPr kumimoji="1" lang="zh-CN" altLang="en-US" sz="2200" dirty="0">
                <a:latin typeface="Helvetica Regular" pitchFamily="2" charset="0"/>
              </a:endParaRPr>
            </a:p>
          </p:txBody>
        </p:sp>
      </p:grpSp>
      <p:grpSp>
        <p:nvGrpSpPr>
          <p:cNvPr id="20" name="组合 22"/>
          <p:cNvGrpSpPr/>
          <p:nvPr/>
        </p:nvGrpSpPr>
        <p:grpSpPr>
          <a:xfrm>
            <a:off x="1002347" y="4432166"/>
            <a:ext cx="5020106" cy="1301515"/>
            <a:chOff x="1026732" y="2539881"/>
            <a:chExt cx="5020106" cy="1301515"/>
          </a:xfrm>
        </p:grpSpPr>
        <p:sp>
          <p:nvSpPr>
            <p:cNvPr id="21" name="文本框 24"/>
            <p:cNvSpPr txBox="1"/>
            <p:nvPr/>
          </p:nvSpPr>
          <p:spPr>
            <a:xfrm>
              <a:off x="2550045" y="2539881"/>
              <a:ext cx="3496793" cy="685701"/>
            </a:xfrm>
            <a:prstGeom prst="rect">
              <a:avLst/>
            </a:prstGeom>
            <a:noFill/>
          </p:spPr>
          <p:txBody>
            <a:bodyPr wrap="square" rtlCol="0">
              <a:spAutoFit/>
            </a:bodyPr>
            <a:lstStyle/>
            <a:p>
              <a:pPr>
                <a:lnSpc>
                  <a:spcPct val="130000"/>
                </a:lnSpc>
              </a:pPr>
              <a:r>
                <a:rPr lang="en-US" altLang="zh-CN" sz="3200" b="1" dirty="0">
                  <a:solidFill>
                    <a:schemeClr val="accent1"/>
                  </a:solidFill>
                  <a:latin typeface="Helvetica" pitchFamily="2" charset="0"/>
                  <a:cs typeface="+mn-ea"/>
                  <a:sym typeface="+mn-lt"/>
                </a:rPr>
                <a:t>经营</a:t>
              </a:r>
              <a:endParaRPr lang="zh-CN" altLang="en-US" sz="2800" b="1" dirty="0">
                <a:solidFill>
                  <a:schemeClr val="accent1"/>
                </a:solidFill>
                <a:latin typeface="Helvetica" pitchFamily="2" charset="0"/>
                <a:cs typeface="+mn-ea"/>
                <a:sym typeface="+mn-lt"/>
              </a:endParaRPr>
            </a:p>
          </p:txBody>
        </p:sp>
        <p:sp>
          <p:nvSpPr>
            <p:cNvPr id="22" name="椭圆 25"/>
            <p:cNvSpPr/>
            <p:nvPr/>
          </p:nvSpPr>
          <p:spPr>
            <a:xfrm>
              <a:off x="1026732" y="2539881"/>
              <a:ext cx="1301515" cy="130151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4400" b="1" dirty="0">
                  <a:solidFill>
                    <a:schemeClr val="bg1"/>
                  </a:solidFill>
                  <a:latin typeface="Helvetica" pitchFamily="2" charset="0"/>
                  <a:cs typeface="+mn-ea"/>
                  <a:sym typeface="+mn-lt"/>
                </a:rPr>
                <a:t>05</a:t>
              </a:r>
              <a:endParaRPr lang="zh-CN" altLang="en-US" sz="4400" b="1" dirty="0">
                <a:solidFill>
                  <a:schemeClr val="bg1"/>
                </a:solidFill>
                <a:latin typeface="Helvetica" pitchFamily="2" charset="0"/>
                <a:cs typeface="+mn-ea"/>
                <a:sym typeface="+mn-lt"/>
              </a:endParaRPr>
            </a:p>
          </p:txBody>
        </p:sp>
        <p:sp>
          <p:nvSpPr>
            <p:cNvPr id="23" name="文本框 26"/>
            <p:cNvSpPr txBox="1"/>
            <p:nvPr/>
          </p:nvSpPr>
          <p:spPr>
            <a:xfrm>
              <a:off x="2550046" y="3280792"/>
              <a:ext cx="2145139" cy="430887"/>
            </a:xfrm>
            <a:prstGeom prst="rect">
              <a:avLst/>
            </a:prstGeom>
            <a:noFill/>
          </p:spPr>
          <p:txBody>
            <a:bodyPr wrap="none" rtlCol="0">
              <a:spAutoFit/>
            </a:bodyPr>
            <a:lstStyle/>
            <a:p>
              <a:r>
                <a:rPr kumimoji="1" lang="en-US" altLang="zh-CN" sz="2200" dirty="0">
                  <a:latin typeface="Helvetica Regular" pitchFamily="2" charset="0"/>
                </a:rPr>
                <a:t>法律、风险、质量保证</a:t>
              </a:r>
              <a:endParaRPr kumimoji="1" lang="zh-CN" altLang="en-US" sz="2200" dirty="0">
                <a:latin typeface="Helvetica Regular" pitchFamily="2" charset="0"/>
              </a:endParaRPr>
            </a:p>
          </p:txBody>
        </p:sp>
      </p:grpSp>
      <p:sp>
        <p:nvSpPr>
          <p:cNvPr id="25" name="TextBox 24"/>
          <p:cNvSpPr txBox="1"/>
          <p:nvPr/>
        </p:nvSpPr>
        <p:spPr>
          <a:xfrm>
            <a:off x="1438656" y="5964169"/>
            <a:ext cx="11867916" cy="984885"/>
          </a:xfrm>
          <a:prstGeom prst="rect">
            <a:avLst/>
          </a:prstGeom>
          <a:noFill/>
        </p:spPr>
        <p:txBody>
          <a:bodyPr wrap="square">
            <a:spAutoFit/>
          </a:bodyPr>
          <a:lstStyle/>
          <a:p>
            <a:pPr lvl="2">
              <a:defRPr/>
            </a:pPr>
            <a:endParaRPr lang="en-US" sz="1600" dirty="0">
              <a:cs typeface="Arial" panose="020B0604020202090204" pitchFamily="34" charset="0"/>
            </a:endParaRPr>
          </a:p>
          <a:p>
            <a:pPr lvl="1">
              <a:defRPr/>
            </a:pPr>
            <a:r>
              <a:rPr lang="en-US" sz="1050" dirty="0">
                <a:cs typeface="Arial" panose="020B0604020202090204" pitchFamily="34" charset="0"/>
              </a:rPr>
              <a:t>[1] Software Engineering, Yue Chen, 等,浙江大学 https://www.bilibili.com/video/BV16g411M7r2?p=1</a:t>
            </a:r>
            <a:endParaRPr lang="en-US" sz="1050" dirty="0">
              <a:cs typeface="Arial" panose="020B0604020202090204" pitchFamily="34" charset="0"/>
            </a:endParaRPr>
          </a:p>
          <a:p>
            <a:pPr lvl="1">
              <a:defRPr/>
            </a:pPr>
            <a:r>
              <a:rPr lang="en-US" sz="1050" dirty="0">
                <a:cs typeface="Arial" panose="020B0604020202090204" pitchFamily="34" charset="0"/>
              </a:rPr>
              <a:t>[2] Software Engineering, Curran Muhlberger, 等人,康奈尔大学, https://www.cs.cornell.edu/courses/cs5150/2022sp/</a:t>
            </a:r>
            <a:endParaRPr lang="en-US" sz="1050" dirty="0">
              <a:cs typeface="Arial" panose="020B0604020202090204" pitchFamily="34" charset="0"/>
            </a:endParaRPr>
          </a:p>
          <a:p>
            <a:pPr lvl="1">
              <a:defRPr/>
            </a:pPr>
            <a:r>
              <a:rPr lang="en-US" sz="1050" dirty="0">
                <a:cs typeface="Arial" panose="020B0604020202090204" pitchFamily="34" charset="0"/>
              </a:rPr>
              <a:t>[3] 伊恩 · 萨默维尔（伊恩·萨默维尔）。</a:t>
            </a:r>
            <a:r>
              <a:rPr lang="zh-CN" altLang="en-US" sz="1050" dirty="0">
                <a:cs typeface="Arial" panose="020B0604020202090204" pitchFamily="34" charset="0"/>
              </a:rPr>
              <a:t>软件工程 (原书第 10版 )，机械工业出版社 (2018-02出版 )</a:t>
            </a:r>
            <a:endParaRPr lang="en-US" sz="1050" dirty="0">
              <a:cs typeface="Arial" panose="020B0604020202090204" pitchFamily="34" charset="0"/>
            </a:endParaRPr>
          </a:p>
          <a:p>
            <a:pPr lvl="1">
              <a:defRPr/>
            </a:pPr>
            <a:endParaRPr lang="en-US" sz="1050" dirty="0">
              <a:cs typeface="Arial" panose="020B060402020209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charset="0"/>
              </a:rPr>
              <a:t>软件开发流程</a:t>
            </a:r>
            <a:endParaRPr 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4"/>
          <p:cNvSpPr txBox="1"/>
          <p:nvPr/>
        </p:nvSpPr>
        <p:spPr>
          <a:xfrm>
            <a:off x="1208689" y="1243051"/>
            <a:ext cx="4500249" cy="4092575"/>
          </a:xfrm>
          <a:prstGeom prst="rect">
            <a:avLst/>
          </a:prstGeom>
          <a:noFill/>
        </p:spPr>
        <p:txBody>
          <a:bodyPr wrap="square">
            <a:spAutoFit/>
          </a:bodyPr>
          <a:lstStyle/>
          <a:p>
            <a:r>
              <a:rPr lang="en-US" sz="2000" b="1" dirty="0">
                <a:solidFill>
                  <a:srgbClr val="515223"/>
                </a:solidFill>
                <a:latin typeface="Helvetica" pitchFamily="2" charset="0"/>
                <a:cs typeface="Arial" panose="020B0604020202090204" pitchFamily="34" charset="0"/>
              </a:rPr>
              <a:t>可行性与规划</a:t>
            </a:r>
            <a:endParaRPr lang="en-US" sz="2000" b="1" dirty="0">
              <a:solidFill>
                <a:srgbClr val="515223"/>
              </a:solidFill>
              <a:latin typeface="Helvetica" pitchFamily="2" charset="0"/>
              <a:cs typeface="Arial" panose="020B0604020202090204" pitchFamily="34" charset="0"/>
            </a:endParaRPr>
          </a:p>
          <a:p>
            <a:endParaRPr lang="en-US" sz="2000" b="1" dirty="0">
              <a:solidFill>
                <a:srgbClr val="515223"/>
              </a:solidFill>
              <a:latin typeface="Helvetica" pitchFamily="2" charset="0"/>
              <a:cs typeface="Arial" panose="020B0604020202090204" pitchFamily="34" charset="0"/>
            </a:endParaRPr>
          </a:p>
          <a:p>
            <a:r>
              <a:rPr lang="zh-CN" altLang="en-US" sz="2000" b="1" dirty="0">
                <a:solidFill>
                  <a:srgbClr val="515223"/>
                </a:solidFill>
                <a:latin typeface="Helvetica" pitchFamily="2" charset="0"/>
                <a:cs typeface="Arial" panose="020B0604020202090204" pitchFamily="34" charset="0"/>
              </a:rPr>
              <a:t>需</a:t>
            </a:r>
            <a:r>
              <a:rPr lang="en-US" sz="2000" b="1" dirty="0">
                <a:solidFill>
                  <a:srgbClr val="515223"/>
                </a:solidFill>
                <a:latin typeface="Helvetica" pitchFamily="2" charset="0"/>
                <a:cs typeface="Arial" panose="020B0604020202090204" pitchFamily="34" charset="0"/>
              </a:rPr>
              <a:t>求</a:t>
            </a:r>
            <a:endParaRPr lang="en-US" sz="2000" b="1" dirty="0">
              <a:solidFill>
                <a:srgbClr val="515223"/>
              </a:solidFill>
              <a:latin typeface="Helvetica" pitchFamily="2" charset="0"/>
              <a:cs typeface="Arial" panose="020B0604020202090204" pitchFamily="34" charset="0"/>
            </a:endParaRPr>
          </a:p>
          <a:p>
            <a:br>
              <a:rPr lang="en-US" sz="2000" b="1" dirty="0">
                <a:solidFill>
                  <a:srgbClr val="515223"/>
                </a:solidFill>
                <a:latin typeface="Helvetica" pitchFamily="2" charset="0"/>
                <a:cs typeface="Arial" panose="020B0604020202090204" pitchFamily="34" charset="0"/>
              </a:rPr>
            </a:br>
            <a:r>
              <a:rPr lang="en-US" sz="2000" b="1" dirty="0">
                <a:solidFill>
                  <a:srgbClr val="515223"/>
                </a:solidFill>
                <a:latin typeface="Helvetica" pitchFamily="2" charset="0"/>
                <a:cs typeface="Arial" panose="020B0604020202090204" pitchFamily="34" charset="0"/>
              </a:rPr>
              <a:t>用户界面/体验设计</a:t>
            </a:r>
            <a:endParaRPr lang="en-US" sz="2000" b="1" dirty="0">
              <a:solidFill>
                <a:srgbClr val="515223"/>
              </a:solidFill>
              <a:latin typeface="Helvetica" pitchFamily="2" charset="0"/>
              <a:cs typeface="Arial" panose="020B0604020202090204" pitchFamily="34" charset="0"/>
            </a:endParaRPr>
          </a:p>
          <a:p>
            <a:endParaRPr lang="en-US" sz="2000" b="1" dirty="0">
              <a:solidFill>
                <a:srgbClr val="515223"/>
              </a:solidFill>
              <a:latin typeface="Helvetica" pitchFamily="2" charset="0"/>
              <a:cs typeface="Arial" panose="020B0604020202090204" pitchFamily="34" charset="0"/>
            </a:endParaRPr>
          </a:p>
          <a:p>
            <a:r>
              <a:rPr lang="en-US" sz="2000" b="1" dirty="0">
                <a:solidFill>
                  <a:srgbClr val="515223"/>
                </a:solidFill>
                <a:latin typeface="Helvetica" pitchFamily="2" charset="0"/>
                <a:cs typeface="Arial" panose="020B0604020202090204" pitchFamily="34" charset="0"/>
              </a:rPr>
              <a:t>系统设计</a:t>
            </a:r>
            <a:endParaRPr lang="en-US" sz="2000" b="1" dirty="0">
              <a:solidFill>
                <a:srgbClr val="515223"/>
              </a:solidFill>
              <a:latin typeface="Helvetica" pitchFamily="2" charset="0"/>
              <a:cs typeface="Arial" panose="020B0604020202090204" pitchFamily="34" charset="0"/>
            </a:endParaRPr>
          </a:p>
          <a:p>
            <a:endParaRPr lang="en-US" sz="2000" b="1" dirty="0">
              <a:solidFill>
                <a:srgbClr val="515223"/>
              </a:solidFill>
              <a:latin typeface="Helvetica" pitchFamily="2" charset="0"/>
              <a:cs typeface="Arial" panose="020B0604020202090204" pitchFamily="34" charset="0"/>
            </a:endParaRPr>
          </a:p>
          <a:p>
            <a:r>
              <a:rPr lang="en-US" sz="2000" b="1" dirty="0">
                <a:solidFill>
                  <a:srgbClr val="515223"/>
                </a:solidFill>
                <a:latin typeface="Helvetica" pitchFamily="2" charset="0"/>
                <a:cs typeface="Arial" panose="020B0604020202090204" pitchFamily="34" charset="0"/>
              </a:rPr>
              <a:t>程序开发（</a:t>
            </a:r>
            <a:r>
              <a:rPr lang="zh-CN" altLang="en-US" sz="2000" b="1" dirty="0">
                <a:solidFill>
                  <a:srgbClr val="515223"/>
                </a:solidFill>
                <a:latin typeface="Helvetica" pitchFamily="2" charset="0"/>
                <a:cs typeface="Arial" panose="020B0604020202090204" pitchFamily="34" charset="0"/>
              </a:rPr>
              <a:t>代码</a:t>
            </a:r>
            <a:r>
              <a:rPr lang="en-US" sz="2000" b="1" dirty="0">
                <a:solidFill>
                  <a:srgbClr val="515223"/>
                </a:solidFill>
                <a:latin typeface="Helvetica" pitchFamily="2" charset="0"/>
                <a:cs typeface="Arial" panose="020B0604020202090204" pitchFamily="34" charset="0"/>
              </a:rPr>
              <a:t>部分）</a:t>
            </a:r>
            <a:endParaRPr lang="en-US" sz="2000" b="1" dirty="0">
              <a:solidFill>
                <a:srgbClr val="515223"/>
              </a:solidFill>
              <a:latin typeface="Helvetica" pitchFamily="2" charset="0"/>
              <a:cs typeface="Arial" panose="020B0604020202090204" pitchFamily="34" charset="0"/>
            </a:endParaRPr>
          </a:p>
          <a:p>
            <a:endParaRPr lang="en-US" sz="2000" b="1" dirty="0">
              <a:solidFill>
                <a:srgbClr val="515223"/>
              </a:solidFill>
              <a:latin typeface="Helvetica" pitchFamily="2" charset="0"/>
              <a:cs typeface="Arial" panose="020B0604020202090204" pitchFamily="34" charset="0"/>
            </a:endParaRPr>
          </a:p>
          <a:p>
            <a:r>
              <a:rPr lang="en-US" sz="2000" b="1" dirty="0">
                <a:solidFill>
                  <a:srgbClr val="515223"/>
                </a:solidFill>
                <a:latin typeface="Helvetica" pitchFamily="2" charset="0"/>
                <a:cs typeface="Arial" panose="020B0604020202090204" pitchFamily="34" charset="0"/>
              </a:rPr>
              <a:t>验收与</a:t>
            </a:r>
            <a:r>
              <a:rPr lang="zh-CN" altLang="en-US" sz="2000" b="1" dirty="0">
                <a:solidFill>
                  <a:srgbClr val="515223"/>
                </a:solidFill>
                <a:latin typeface="Helvetica" pitchFamily="2" charset="0"/>
                <a:cs typeface="Arial" panose="020B0604020202090204" pitchFamily="34" charset="0"/>
              </a:rPr>
              <a:t>发版</a:t>
            </a:r>
            <a:endParaRPr lang="en-US" sz="2000" b="1" dirty="0">
              <a:solidFill>
                <a:srgbClr val="515223"/>
              </a:solidFill>
              <a:latin typeface="Helvetica" pitchFamily="2" charset="0"/>
              <a:cs typeface="Arial" panose="020B0604020202090204" pitchFamily="34" charset="0"/>
            </a:endParaRPr>
          </a:p>
          <a:p>
            <a:br>
              <a:rPr lang="en-US" sz="2000" b="1" dirty="0">
                <a:solidFill>
                  <a:srgbClr val="515223"/>
                </a:solidFill>
                <a:latin typeface="Helvetica" pitchFamily="2" charset="0"/>
                <a:cs typeface="Arial" panose="020B0604020202090204" pitchFamily="34" charset="0"/>
              </a:rPr>
            </a:br>
            <a:r>
              <a:rPr lang="zh-CN" altLang="en-US" sz="2000" b="1" dirty="0">
                <a:solidFill>
                  <a:srgbClr val="515223"/>
                </a:solidFill>
                <a:latin typeface="Helvetica" pitchFamily="2" charset="0"/>
                <a:cs typeface="Arial" panose="020B0604020202090204" pitchFamily="34" charset="0"/>
              </a:rPr>
              <a:t>运行</a:t>
            </a:r>
            <a:r>
              <a:rPr lang="en-US" sz="2000" b="1" dirty="0">
                <a:solidFill>
                  <a:srgbClr val="515223"/>
                </a:solidFill>
                <a:latin typeface="Helvetica" pitchFamily="2" charset="0"/>
                <a:cs typeface="Arial" panose="020B0604020202090204" pitchFamily="34" charset="0"/>
              </a:rPr>
              <a:t>与维护</a:t>
            </a:r>
            <a:endParaRPr lang="en-US" sz="2000" b="1" dirty="0">
              <a:solidFill>
                <a:srgbClr val="515223"/>
              </a:solidFill>
              <a:latin typeface="Helvetica" pitchFamily="2" charset="0"/>
              <a:cs typeface="Arial" panose="020B0604020202090204" pitchFamily="34" charset="0"/>
            </a:endParaRPr>
          </a:p>
        </p:txBody>
      </p:sp>
      <p:sp>
        <p:nvSpPr>
          <p:cNvPr id="7" name="TextBox 6"/>
          <p:cNvSpPr txBox="1"/>
          <p:nvPr/>
        </p:nvSpPr>
        <p:spPr>
          <a:xfrm>
            <a:off x="5708938" y="1755228"/>
            <a:ext cx="5656386" cy="1015663"/>
          </a:xfrm>
          <a:prstGeom prst="rect">
            <a:avLst/>
          </a:prstGeom>
          <a:noFill/>
        </p:spPr>
        <p:txBody>
          <a:bodyPr wrap="square">
            <a:spAutoFit/>
          </a:bodyPr>
          <a:lstStyle/>
          <a:p>
            <a:r>
              <a:rPr lang="en-US" sz="2000" dirty="0">
                <a:latin typeface="Helvetica" pitchFamily="2" charset="0"/>
                <a:cs typeface="Arial" panose="020B0604020202090204" pitchFamily="34" charset="0"/>
              </a:rPr>
              <a:t>可在开发周期内重复执行。</a:t>
            </a:r>
            <a:endParaRPr lang="en-US" sz="2000" dirty="0">
              <a:latin typeface="Helvetica" pitchFamily="2" charset="0"/>
              <a:cs typeface="Arial" panose="020B0604020202090204" pitchFamily="34" charset="0"/>
            </a:endParaRPr>
          </a:p>
          <a:p>
            <a:endParaRPr lang="en-US" sz="2000" dirty="0">
              <a:latin typeface="Helvetica" pitchFamily="2" charset="0"/>
              <a:cs typeface="Arial" panose="020B0604020202090204" pitchFamily="34" charset="0"/>
            </a:endParaRPr>
          </a:p>
          <a:p>
            <a:r>
              <a:rPr lang="en-US" sz="2000" dirty="0">
                <a:latin typeface="Helvetica" pitchFamily="2" charset="0"/>
                <a:cs typeface="Arial" panose="020B0604020202090204" pitchFamily="34" charset="0"/>
              </a:rPr>
              <a:t>区分这些步骤</a:t>
            </a:r>
            <a:endParaRPr lang="en-US" sz="2000" dirty="0">
              <a:latin typeface="Helvetica" pitchFamily="2" charset="0"/>
              <a:cs typeface="Arial" panose="020B0604020202090204" pitchFamily="34" charset="0"/>
            </a:endParaRPr>
          </a:p>
        </p:txBody>
      </p:sp>
      <p:sp>
        <p:nvSpPr>
          <p:cNvPr id="9" name="Rounded Rectangle 8"/>
          <p:cNvSpPr/>
          <p:nvPr/>
        </p:nvSpPr>
        <p:spPr>
          <a:xfrm>
            <a:off x="1091254" y="1755228"/>
            <a:ext cx="4500249" cy="2959815"/>
          </a:xfrm>
          <a:prstGeom prst="roundRect">
            <a:avLst>
              <a:gd name="adj" fmla="val 3927"/>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930165" y="5685553"/>
            <a:ext cx="11193517" cy="400110"/>
          </a:xfrm>
          <a:prstGeom prst="rect">
            <a:avLst/>
          </a:prstGeom>
          <a:noFill/>
        </p:spPr>
        <p:txBody>
          <a:bodyPr wrap="square">
            <a:spAutoFit/>
          </a:bodyPr>
          <a:lstStyle/>
          <a:p>
            <a:r>
              <a:rPr lang="en-US" sz="2000" u="sng" dirty="0">
                <a:solidFill>
                  <a:srgbClr val="C00000"/>
                </a:solidFill>
                <a:latin typeface="Helvetica" pitchFamily="2" charset="0"/>
                <a:cs typeface="Arial" panose="020B0604020202090204" pitchFamily="34" charset="0"/>
              </a:rPr>
              <a:t>这些是本课程涵盖的主要内容，将在您的项目报告中予以阐述。</a:t>
            </a:r>
            <a:endParaRPr lang="en-US" sz="2000" u="sng" dirty="0">
              <a:solidFill>
                <a:srgbClr val="C0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latin typeface="Times New Roman" panose="02020603050405020304" charset="0"/>
              </a:rPr>
              <a:t>软件开发流程</a:t>
            </a:r>
            <a:endParaRPr lang="en-US" altLang="zh-CN"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TextBox 3"/>
          <p:cNvSpPr txBox="1"/>
          <p:nvPr/>
        </p:nvSpPr>
        <p:spPr>
          <a:xfrm>
            <a:off x="493549" y="1372887"/>
            <a:ext cx="10946524" cy="347662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瀑布模型</a:t>
            </a:r>
            <a:endParaRPr lang="en-US" altLang="zh-CN" sz="2000" b="1" dirty="0">
              <a:solidFill>
                <a:srgbClr val="515223"/>
              </a:solidFill>
              <a:latin typeface="Helvetica" pitchFamily="2" charset="0"/>
              <a:cs typeface="Arial" panose="020B0604020202090204" pitchFamily="34" charset="0"/>
            </a:endParaRPr>
          </a:p>
          <a:p>
            <a:r>
              <a:rPr lang="en-US" altLang="zh-CN" sz="2000" dirty="0"/>
              <a:t>在开始下一个流程步骤之前，必须完成每个步骤。</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迭代</a:t>
            </a:r>
            <a:r>
              <a:rPr lang="zh-CN" altLang="en-US" sz="2000" b="1" dirty="0">
                <a:solidFill>
                  <a:srgbClr val="515223"/>
                </a:solidFill>
                <a:latin typeface="Helvetica" pitchFamily="2" charset="0"/>
                <a:cs typeface="Arial" panose="020B0604020202090204" pitchFamily="34" charset="0"/>
              </a:rPr>
              <a:t>细化</a:t>
            </a:r>
            <a:endParaRPr lang="en-US" altLang="zh-CN" sz="2000" b="1" dirty="0">
              <a:solidFill>
                <a:srgbClr val="515223"/>
              </a:solidFill>
              <a:latin typeface="Helvetica" pitchFamily="2" charset="0"/>
              <a:cs typeface="Arial" panose="020B0604020202090204" pitchFamily="34" charset="0"/>
            </a:endParaRPr>
          </a:p>
          <a:p>
            <a:r>
              <a:rPr lang="en-US" altLang="zh-CN" sz="2000"/>
              <a:t>快速完成所有步骤以构建初步系统，随后重复这些步骤以优化系统。</a:t>
            </a:r>
            <a:endParaRPr lang="en-US" altLang="zh-CN" sz="2000" b="1" dirty="0">
              <a:solidFill>
                <a:srgbClr val="515223"/>
              </a:solidFill>
              <a:latin typeface="Helvetica" pitchFamily="2" charset="0"/>
              <a:cs typeface="Arial" panose="020B0604020202090204" pitchFamily="34" charset="0"/>
            </a:endParaRPr>
          </a:p>
          <a:p>
            <a:endParaRPr lang="en-US" sz="2000" b="1" dirty="0">
              <a:solidFill>
                <a:srgbClr val="515223"/>
              </a:solidFill>
              <a:latin typeface="Helvetica" pitchFamily="2" charset="0"/>
              <a:cs typeface="Arial" panose="020B0604020202090204" pitchFamily="34" charset="0"/>
            </a:endParaRPr>
          </a:p>
          <a:p>
            <a:r>
              <a:rPr lang="en-US" altLang="zh-CN" sz="2000" b="1" dirty="0">
                <a:solidFill>
                  <a:srgbClr val="515223"/>
                </a:solidFill>
                <a:latin typeface="Helvetica" pitchFamily="2" charset="0"/>
                <a:cs typeface="Arial" panose="020B0604020202090204" pitchFamily="34" charset="0"/>
              </a:rPr>
              <a:t>螺旋</a:t>
            </a:r>
            <a:r>
              <a:rPr lang="zh-CN" altLang="en-US" sz="2000" b="1" dirty="0">
                <a:solidFill>
                  <a:srgbClr val="515223"/>
                </a:solidFill>
                <a:latin typeface="Helvetica" pitchFamily="2" charset="0"/>
                <a:cs typeface="Arial" panose="020B0604020202090204" pitchFamily="34" charset="0"/>
              </a:rPr>
              <a:t>开发</a:t>
            </a:r>
            <a:endParaRPr lang="en-US" altLang="zh-CN" sz="2000" b="1" dirty="0">
              <a:solidFill>
                <a:srgbClr val="515223"/>
              </a:solidFill>
              <a:latin typeface="Helvetica" pitchFamily="2" charset="0"/>
              <a:cs typeface="Arial" panose="020B0604020202090204" pitchFamily="34" charset="0"/>
            </a:endParaRPr>
          </a:p>
          <a:p>
            <a:r>
              <a:rPr lang="en-US" sz="2000" dirty="0"/>
              <a:t>一种迭代</a:t>
            </a:r>
            <a:r>
              <a:rPr lang="zh-CN" altLang="en-US" sz="2000" dirty="0"/>
              <a:t>细化</a:t>
            </a:r>
            <a:r>
              <a:rPr lang="en-US" sz="2000" dirty="0"/>
              <a:t>的变体，其中新组件及更新后的组件在开发系统完成时被逐步添加。</a:t>
            </a:r>
            <a:endParaRPr lang="en-US" sz="2000" dirty="0"/>
          </a:p>
          <a:p>
            <a:endParaRPr lang="en-US" sz="2000" dirty="0"/>
          </a:p>
          <a:p>
            <a:r>
              <a:rPr lang="en-US" sz="2000" b="1" dirty="0">
                <a:solidFill>
                  <a:srgbClr val="515223"/>
                </a:solidFill>
                <a:latin typeface="Helvetica" pitchFamily="2" charset="0"/>
                <a:cs typeface="Arial" panose="020B0604020202090204" pitchFamily="34" charset="0"/>
              </a:rPr>
              <a:t>敏捷开发</a:t>
            </a:r>
            <a:endParaRPr lang="en-US" sz="2000" b="1" dirty="0">
              <a:solidFill>
                <a:srgbClr val="515223"/>
              </a:solidFill>
              <a:latin typeface="Helvetica" pitchFamily="2" charset="0"/>
              <a:cs typeface="Arial" panose="020B0604020202090204" pitchFamily="34" charset="0"/>
            </a:endParaRPr>
          </a:p>
          <a:p>
            <a:r>
              <a:rPr lang="en-US" sz="2000" dirty="0"/>
              <a:t>软件以小规模增量形式通过一系列冲刺周期进行开发，每个冲刺周期都会生成可部署的代码。</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latin typeface="Times New Roman" panose="02020603050405020304" charset="0"/>
              </a:rPr>
              <a:t>迭代</a:t>
            </a:r>
            <a:r>
              <a:rPr lang="zh-CN" altLang="en-US" dirty="0">
                <a:latin typeface="Times New Roman" panose="02020603050405020304" charset="0"/>
              </a:rPr>
              <a:t>细化</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572376" y="1690062"/>
            <a:ext cx="10946524" cy="255333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概念</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在实际运营系统（尤其是用户界面）上线之前，各项要求往往难以理解。</a:t>
            </a:r>
            <a:endParaRPr lang="en-US" altLang="zh-CN" sz="2000" dirty="0"/>
          </a:p>
          <a:p>
            <a:pPr lvl="1"/>
            <a:r>
              <a:rPr lang="en-US" altLang="zh-CN" sz="2000" dirty="0"/>
              <a:t>原型设计有助于系统和程序的设计。</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过程</a:t>
            </a:r>
            <a:endParaRPr lang="en-US" altLang="zh-CN" sz="2000" dirty="0"/>
          </a:p>
          <a:p>
            <a:pPr lvl="1"/>
            <a:r>
              <a:rPr lang="en-US" altLang="zh-CN" sz="2000" dirty="0"/>
              <a:t>在开发过程的早期阶段创建一个原型系统。</a:t>
            </a:r>
            <a:endParaRPr lang="en-US" altLang="zh-CN" sz="2000" dirty="0"/>
          </a:p>
          <a:p>
            <a:pPr lvl="1"/>
            <a:r>
              <a:rPr lang="en-US" altLang="zh-CN" sz="2000" dirty="0"/>
              <a:t>与客户共同评审原型，并通过用户测试来加深对需求的理解、明确设计方案。</a:t>
            </a:r>
            <a:endParaRPr lang="en-US" altLang="zh-CN" sz="2000" dirty="0"/>
          </a:p>
          <a:p>
            <a:pPr lvl="1"/>
            <a:r>
              <a:rPr lang="en-US" altLang="zh-CN" sz="2000" dirty="0"/>
              <a:t>通过一系列迭代对原型进行优化。</a:t>
            </a:r>
            <a:endParaRPr lang="en-US"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latin typeface="Times New Roman" panose="02020603050405020304" charset="0"/>
              </a:rPr>
              <a:t>迭代细化的讨论</a:t>
            </a:r>
            <a:endParaRPr lang="en-US" altLang="zh-CN"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572376" y="1690062"/>
            <a:ext cx="10946524" cy="316928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这是一项中等复杂度的流程，相关文档均在流程执行期间编制完成。</a:t>
            </a:r>
            <a:endParaRPr lang="en-US" altLang="zh-CN" sz="2000" b="1" dirty="0">
              <a:solidFill>
                <a:srgbClr val="515223"/>
              </a:solidFill>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a:p>
            <a:r>
              <a:rPr lang="en-US" altLang="zh-CN" sz="2000" b="1" dirty="0">
                <a:solidFill>
                  <a:srgbClr val="515223"/>
                </a:solidFill>
                <a:latin typeface="Helvetica" pitchFamily="2" charset="0"/>
                <a:cs typeface="Arial" panose="020B0604020202090204" pitchFamily="34" charset="0"/>
              </a:rPr>
              <a:t>迭代</a:t>
            </a:r>
            <a:r>
              <a:rPr lang="zh-CN" altLang="en-US" sz="2000" b="1" dirty="0">
                <a:solidFill>
                  <a:srgbClr val="515223"/>
                </a:solidFill>
                <a:latin typeface="Helvetica" pitchFamily="2" charset="0"/>
                <a:cs typeface="Arial" panose="020B0604020202090204" pitchFamily="34" charset="0"/>
              </a:rPr>
              <a:t>细化</a:t>
            </a:r>
            <a:r>
              <a:rPr lang="en-US" altLang="zh-CN" sz="2000" b="1" dirty="0">
                <a:solidFill>
                  <a:srgbClr val="515223"/>
                </a:solidFill>
                <a:latin typeface="Helvetica" pitchFamily="2" charset="0"/>
                <a:cs typeface="Arial" panose="020B0604020202090204" pitchFamily="34" charset="0"/>
              </a:rPr>
              <a:t>采用多种技术，使客户能够在开发早期就对规划好的系统进行审查：</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用户界面原型图</a:t>
            </a:r>
            <a:endParaRPr lang="en-US" altLang="zh-CN" sz="2000" dirty="0"/>
          </a:p>
          <a:p>
            <a:pPr lvl="1"/>
            <a:r>
              <a:rPr lang="en-US" altLang="zh-CN" sz="2000" dirty="0"/>
              <a:t>可丢弃的软件组件</a:t>
            </a:r>
            <a:endParaRPr lang="en-US" altLang="zh-CN" sz="2000" dirty="0"/>
          </a:p>
          <a:p>
            <a:pPr lvl="1"/>
            <a:r>
              <a:rPr lang="en-US" altLang="zh-CN" sz="2000" dirty="0"/>
              <a:t>虚拟模块</a:t>
            </a:r>
            <a:endParaRPr lang="en-US" altLang="zh-CN" sz="2000" dirty="0"/>
          </a:p>
          <a:p>
            <a:pPr lvl="1"/>
            <a:r>
              <a:rPr lang="en-US" altLang="zh-CN" sz="2000" dirty="0"/>
              <a:t>快速原型制作</a:t>
            </a:r>
            <a:endParaRPr lang="en-US" altLang="zh-CN" sz="2000" dirty="0"/>
          </a:p>
          <a:p>
            <a:pPr lvl="1"/>
            <a:r>
              <a:rPr lang="en-US" altLang="zh-CN" sz="2000" dirty="0"/>
              <a:t>连续</a:t>
            </a:r>
            <a:r>
              <a:rPr lang="zh-CN" altLang="en-US" sz="2000" dirty="0"/>
              <a:t>细化</a:t>
            </a:r>
            <a:endParaRPr lang="en-US" altLang="zh-CN" sz="2000" dirty="0"/>
          </a:p>
          <a:p>
            <a:pPr lvl="1"/>
            <a:endParaRPr lang="en-US" altLang="zh-CN" sz="2000" dirty="0"/>
          </a:p>
          <a:p>
            <a:r>
              <a:rPr lang="en-US" altLang="zh-CN" sz="2000" b="1" dirty="0">
                <a:solidFill>
                  <a:srgbClr val="515223"/>
                </a:solidFill>
                <a:latin typeface="Helvetica" pitchFamily="2" charset="0"/>
                <a:cs typeface="Arial" panose="020B0604020202090204" pitchFamily="34" charset="0"/>
              </a:rPr>
              <a:t>尽快让系统正常运行，以便客户和用户进行评估，但切勿立即发布。</a:t>
            </a:r>
            <a:endParaRPr lang="en-US"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latin typeface="Times New Roman" panose="02020603050405020304" charset="0"/>
              </a:rPr>
              <a:t>螺旋</a:t>
            </a:r>
            <a:r>
              <a:rPr lang="zh-CN" altLang="en-US" dirty="0">
                <a:latin typeface="Times New Roman" panose="02020603050405020304" charset="0"/>
              </a:rPr>
              <a:t>开发</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572376" y="1184145"/>
            <a:ext cx="10946524" cy="409257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样例</a:t>
            </a:r>
            <a:endParaRPr lang="en-US" altLang="zh-CN" sz="2000" b="1" dirty="0">
              <a:solidFill>
                <a:srgbClr val="515223"/>
              </a:solidFill>
              <a:latin typeface="Helvetica" pitchFamily="2" charset="0"/>
              <a:cs typeface="Arial" panose="020B0604020202090204" pitchFamily="34" charset="0"/>
            </a:endParaRPr>
          </a:p>
          <a:p>
            <a:r>
              <a:rPr lang="en-US" altLang="zh-CN" sz="2000" dirty="0"/>
              <a:t>开发新版操作系统（微软）。</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螺旋</a:t>
            </a:r>
            <a:r>
              <a:rPr lang="zh-CN" altLang="en-US" sz="2000" b="1" dirty="0">
                <a:solidFill>
                  <a:srgbClr val="515223"/>
                </a:solidFill>
                <a:latin typeface="Helvetica" pitchFamily="2" charset="0"/>
                <a:cs typeface="Arial" panose="020B0604020202090204" pitchFamily="34" charset="0"/>
              </a:rPr>
              <a:t>开发</a:t>
            </a:r>
            <a:endParaRPr lang="en-US" altLang="zh-CN" sz="2000" b="1" dirty="0">
              <a:solidFill>
                <a:srgbClr val="515223"/>
              </a:solidFill>
              <a:latin typeface="Helvetica" pitchFamily="2" charset="0"/>
              <a:cs typeface="Arial" panose="020B0604020202090204" pitchFamily="34" charset="0"/>
            </a:endParaRPr>
          </a:p>
          <a:p>
            <a:r>
              <a:rPr lang="en-US" altLang="zh-CN" sz="2000" b="1" dirty="0">
                <a:solidFill>
                  <a:srgbClr val="515223"/>
                </a:solidFill>
                <a:latin typeface="Helvetica" pitchFamily="2" charset="0"/>
                <a:cs typeface="Arial" panose="020B0604020202090204" pitchFamily="34" charset="0"/>
              </a:rPr>
              <a:t>采用螺旋式开发模式时，系统始终经过全面测试，但其功能仍不完善。</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创建一个基础系统，其整体结构与最终产品一致，并包含用于替代缺失组件的虚拟</a:t>
            </a:r>
            <a:r>
              <a:rPr lang="zh-CN" altLang="en-US" sz="2000" dirty="0"/>
              <a:t>组件</a:t>
            </a:r>
            <a:r>
              <a:rPr lang="en-US" altLang="zh-CN" sz="2000" dirty="0"/>
              <a:t>。</a:t>
            </a:r>
            <a:endParaRPr lang="en-US" altLang="zh-CN" sz="2000" dirty="0"/>
          </a:p>
          <a:p>
            <a:pPr lvl="1"/>
            <a:endParaRPr lang="en-US" altLang="zh-CN" sz="2000" dirty="0"/>
          </a:p>
          <a:p>
            <a:pPr lvl="1"/>
            <a:r>
              <a:rPr lang="en-US" altLang="zh-CN" sz="2000" dirty="0"/>
              <a:t>对于每个已完成的组件，均需制定一套全面的测试用例。</a:t>
            </a:r>
            <a:endParaRPr lang="en-US" altLang="zh-CN" sz="2000" dirty="0"/>
          </a:p>
          <a:p>
            <a:pPr lvl="1"/>
            <a:endParaRPr lang="en-US" altLang="zh-CN" sz="2000" dirty="0"/>
          </a:p>
          <a:p>
            <a:pPr lvl="1"/>
            <a:r>
              <a:rPr lang="en-US" altLang="zh-CN" sz="2000" dirty="0"/>
              <a:t>开发团队会创建新的或改进的组件，每个组件都附带一组测试用例。将这些组件添加到源代码库中。</a:t>
            </a:r>
            <a:endParaRPr lang="en-US" altLang="zh-CN" sz="2000" dirty="0"/>
          </a:p>
          <a:p>
            <a:pPr lvl="1"/>
            <a:endParaRPr lang="en-US" altLang="zh-CN" sz="2000" dirty="0"/>
          </a:p>
          <a:p>
            <a:pPr lvl="1"/>
            <a:r>
              <a:rPr lang="en-US" altLang="zh-CN" sz="2000" dirty="0"/>
              <a:t>在每日工作周期中，测试人员会根据源代码库构建整个系统，并运行全部测试用例。</a:t>
            </a:r>
            <a:endParaRPr lang="en-US"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latin typeface="Times New Roman" panose="02020603050405020304" charset="0"/>
              </a:rPr>
              <a:t>螺旋</a:t>
            </a:r>
            <a:r>
              <a:rPr lang="zh-CN" altLang="en-US" dirty="0">
                <a:latin typeface="Times New Roman" panose="02020603050405020304" charset="0"/>
              </a:rPr>
              <a:t>开发</a:t>
            </a:r>
            <a:r>
              <a:rPr lang="en-US" altLang="zh-CN" dirty="0">
                <a:latin typeface="Times New Roman" panose="02020603050405020304" charset="0"/>
              </a:rPr>
              <a:t>的探讨</a:t>
            </a:r>
            <a:endParaRPr lang="en-US" altLang="zh-CN"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572376" y="1690062"/>
            <a:ext cx="10946524" cy="255333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螺旋开发被广泛应用于大型系统的版本更新：</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整个系统架构已得到充分理解。</a:t>
            </a:r>
            <a:endParaRPr lang="en-US" altLang="zh-CN" sz="2000" dirty="0"/>
          </a:p>
          <a:p>
            <a:pPr lvl="1"/>
            <a:r>
              <a:rPr lang="en-US" altLang="zh-CN" sz="2000" dirty="0"/>
              <a:t>大型组件可以单独开发和测试。</a:t>
            </a:r>
            <a:endParaRPr lang="en-US" altLang="zh-CN" sz="2000" dirty="0"/>
          </a:p>
          <a:p>
            <a:pPr lvl="1"/>
            <a:r>
              <a:rPr lang="en-US" altLang="zh-CN" sz="2000" dirty="0"/>
              <a:t>该系统的重要性充分证明了建立一套全面自动化测试方案所涉及的额外工作量是合理的。</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挑战</a:t>
            </a:r>
            <a:endParaRPr lang="en-US" altLang="zh-CN" sz="2000" dirty="0"/>
          </a:p>
          <a:p>
            <a:pPr lvl="1"/>
            <a:r>
              <a:rPr lang="en-US" altLang="zh-CN" sz="2000" dirty="0"/>
              <a:t>难以对架构进行重大修改。</a:t>
            </a:r>
            <a:endParaRPr lang="en-US" altLang="zh-CN" sz="2000" dirty="0"/>
          </a:p>
          <a:p>
            <a:pPr lvl="1"/>
            <a:r>
              <a:rPr lang="en-US" altLang="zh-CN" sz="2000" dirty="0"/>
              <a:t>难以对影响多个组件的设置进行修改。</a:t>
            </a:r>
            <a:endParaRPr lang="en-US"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latin typeface="Times New Roman" panose="02020603050405020304" charset="0"/>
              </a:rPr>
              <a:t>敏捷方法</a:t>
            </a:r>
            <a:endParaRPr lang="en-US" altLang="zh-CN"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622738" y="1690062"/>
            <a:ext cx="10946524" cy="347787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“Agile”这一术语用于指代多种不同的方法。</a:t>
            </a:r>
            <a:endParaRPr lang="en-US" altLang="zh-CN" sz="2000" b="1" dirty="0">
              <a:solidFill>
                <a:srgbClr val="515223"/>
              </a:solidFill>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a:p>
            <a:r>
              <a:rPr lang="en-US" altLang="zh-CN" sz="2000" b="1" dirty="0">
                <a:solidFill>
                  <a:srgbClr val="515223"/>
                </a:solidFill>
                <a:latin typeface="Helvetica" pitchFamily="2" charset="0"/>
                <a:cs typeface="Arial" panose="020B0604020202090204" pitchFamily="34" charset="0"/>
              </a:rPr>
              <a:t>一般原则：</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一个大型项目被划分为若干小阶段，称为“冲刺”。</a:t>
            </a:r>
            <a:endParaRPr lang="en-US" altLang="zh-CN" sz="2000" dirty="0"/>
          </a:p>
          <a:p>
            <a:pPr lvl="1"/>
            <a:r>
              <a:rPr lang="en-US" altLang="zh-CN" sz="2000" dirty="0"/>
              <a:t>该项目由4至9人组成的小团队负责开发。</a:t>
            </a:r>
            <a:endParaRPr lang="en-US" altLang="zh-CN" sz="2000" dirty="0"/>
          </a:p>
          <a:p>
            <a:pPr lvl="1"/>
            <a:r>
              <a:rPr lang="en-US" altLang="zh-CN" sz="2000" dirty="0"/>
              <a:t>该时间表被划分为固定时间段，通常为2至4周。</a:t>
            </a:r>
            <a:endParaRPr lang="en-US" altLang="zh-CN" sz="2000" dirty="0"/>
          </a:p>
          <a:p>
            <a:pPr lvl="1"/>
            <a:r>
              <a:rPr lang="en-US" altLang="zh-CN" sz="2000" dirty="0"/>
              <a:t>每个冲刺周期都是一个时间单元，在此期间团队会完成软件项目的一部分工作。一个完整的冲刺周期会经历多个流程阶段，例如需求分析、设计、编码和测试。每个冲刺周期结束时，代码均已经过全面测试，可直接投入生产使用。</a:t>
            </a:r>
            <a:endParaRPr lang="en-US" altLang="zh-CN" sz="2000" dirty="0"/>
          </a:p>
          <a:p>
            <a:pPr lvl="1"/>
            <a:r>
              <a:rPr lang="en-US" altLang="zh-CN" sz="2000" dirty="0"/>
              <a:t>这是一个轻量级流程，其过程中产生的文档极少；但最终版本需要完整的文档记录以供未来维护使用。</a:t>
            </a:r>
            <a:endParaRPr lang="en-US"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latin typeface="Times New Roman" panose="02020603050405020304" charset="0"/>
              </a:rPr>
              <a:t>敏捷开发</a:t>
            </a:r>
            <a:endParaRPr lang="en-US" altLang="zh-CN"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730996" y="4207686"/>
            <a:ext cx="10946524" cy="1323439"/>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每次冲刺后，代码可能如下所示：</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发布（原始敏捷方法）</a:t>
            </a:r>
            <a:endParaRPr lang="en-US" altLang="zh-CN" sz="2000" dirty="0"/>
          </a:p>
          <a:p>
            <a:pPr lvl="1"/>
            <a:r>
              <a:rPr lang="en-US" altLang="zh-CN" sz="2000" dirty="0"/>
              <a:t>与来自其他冲刺阶段的代码结合，用于后续版本发布</a:t>
            </a:r>
            <a:endParaRPr lang="en-US" altLang="zh-CN" sz="2000" dirty="0"/>
          </a:p>
          <a:p>
            <a:pPr lvl="1"/>
            <a:r>
              <a:rPr lang="en-US" altLang="zh-CN" sz="2000" dirty="0"/>
              <a:t>整合到更大的代码库中（螺旋式开发）</a:t>
            </a:r>
            <a:endParaRPr lang="en-US" sz="2000" b="1" dirty="0">
              <a:solidFill>
                <a:srgbClr val="FF0000"/>
              </a:solidFill>
              <a:latin typeface="Helvetica" pitchFamily="2" charset="0"/>
              <a:cs typeface="Arial" panose="020B0604020202090204" pitchFamily="34" charset="0"/>
            </a:endParaRPr>
          </a:p>
        </p:txBody>
      </p:sp>
      <p:pic>
        <p:nvPicPr>
          <p:cNvPr id="4" name="图片 3"/>
          <p:cNvPicPr>
            <a:picLocks noChangeAspect="1"/>
          </p:cNvPicPr>
          <p:nvPr/>
        </p:nvPicPr>
        <p:blipFill>
          <a:blip r:embed="rId1"/>
          <a:stretch>
            <a:fillRect/>
          </a:stretch>
        </p:blipFill>
        <p:spPr>
          <a:xfrm>
            <a:off x="1820828" y="1303803"/>
            <a:ext cx="8550344" cy="269302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7351" y="233626"/>
            <a:ext cx="10427646" cy="790865"/>
          </a:xfrm>
        </p:spPr>
        <p:txBody>
          <a:bodyPr>
            <a:normAutofit/>
          </a:bodyPr>
          <a:lstStyle/>
          <a:p>
            <a:r>
              <a:rPr lang="en-US" altLang="zh-CN" sz="2800" dirty="0">
                <a:latin typeface="Times New Roman" panose="02020603050405020304" charset="0"/>
              </a:rPr>
              <a:t>重型与轻量级软件开发</a:t>
            </a:r>
            <a:endParaRPr lang="en-US" altLang="zh-CN" sz="28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TextBox 3"/>
          <p:cNvSpPr txBox="1"/>
          <p:nvPr/>
        </p:nvSpPr>
        <p:spPr>
          <a:xfrm>
            <a:off x="498473" y="1690062"/>
            <a:ext cx="10946524" cy="3477875"/>
          </a:xfrm>
          <a:prstGeom prst="rect">
            <a:avLst/>
          </a:prstGeom>
          <a:noFill/>
        </p:spPr>
        <p:txBody>
          <a:bodyPr wrap="square">
            <a:spAutoFit/>
          </a:bodyPr>
          <a:lstStyle/>
          <a:p>
            <a:r>
              <a:rPr lang="en-US" altLang="zh-CN" sz="2000" dirty="0"/>
              <a:t>在一项重量级流程中，其目标是全面完成每个步骤，并尽量减少后续的修改与修订。在开始下一环节之前，必须对每个步骤进行详尽记录。</a:t>
            </a:r>
            <a:endParaRPr lang="en-US" altLang="zh-CN" sz="2000" dirty="0"/>
          </a:p>
          <a:p>
            <a:endParaRPr lang="en-US" sz="2000" dirty="0"/>
          </a:p>
          <a:p>
            <a:r>
              <a:rPr lang="en-US" altLang="zh-CN" sz="2000" dirty="0"/>
              <a:t>示例：改进版瀑布模型</a:t>
            </a:r>
            <a:endParaRPr lang="en-US" altLang="zh-CN" sz="2000" b="1" dirty="0">
              <a:solidFill>
                <a:srgbClr val="FF0000"/>
              </a:solidFill>
            </a:endParaRPr>
          </a:p>
          <a:p>
            <a:endParaRPr lang="en-US" sz="2000" dirty="0"/>
          </a:p>
          <a:p>
            <a:endParaRPr lang="en-US" sz="2000" dirty="0"/>
          </a:p>
          <a:p>
            <a:r>
              <a:rPr lang="en-US" altLang="zh-CN" sz="2000" dirty="0"/>
              <a:t>在这一轻量级流程中，开发团队所需的中间文档极少。各方预期变更将基于实际经验进行，仅最终系统会被正式记录在案。</a:t>
            </a:r>
            <a:endParaRPr lang="en-US" altLang="zh-CN" sz="2000" dirty="0"/>
          </a:p>
          <a:p>
            <a:endParaRPr lang="en-US" altLang="zh-CN" sz="2000" dirty="0"/>
          </a:p>
          <a:p>
            <a:r>
              <a:rPr lang="en-US" altLang="zh-CN" sz="2000" dirty="0"/>
              <a:t>示例：敏捷软件开发</a:t>
            </a:r>
            <a:endParaRPr lang="en-US" sz="2000" b="1" dirty="0">
              <a:solidFill>
                <a:srgbClr val="FF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7351" y="233626"/>
            <a:ext cx="10427646" cy="790865"/>
          </a:xfrm>
        </p:spPr>
        <p:txBody>
          <a:bodyPr>
            <a:normAutofit/>
          </a:bodyPr>
          <a:lstStyle/>
          <a:p>
            <a:r>
              <a:rPr lang="en-US" altLang="zh-CN" sz="3200" dirty="0">
                <a:latin typeface="Times New Roman" panose="02020603050405020304" charset="0"/>
              </a:rPr>
              <a:t>重量级与轻量级方法论</a:t>
            </a:r>
            <a:endParaRPr lang="en-US" altLang="zh-CN" sz="32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5" name="图片 4"/>
          <p:cNvPicPr>
            <a:picLocks noChangeAspect="1"/>
          </p:cNvPicPr>
          <p:nvPr/>
        </p:nvPicPr>
        <p:blipFill>
          <a:blip r:embed="rId1"/>
          <a:stretch>
            <a:fillRect/>
          </a:stretch>
        </p:blipFill>
        <p:spPr>
          <a:xfrm>
            <a:off x="1754549" y="1136841"/>
            <a:ext cx="8682901" cy="2840303"/>
          </a:xfrm>
          <a:prstGeom prst="rect">
            <a:avLst/>
          </a:prstGeom>
        </p:spPr>
      </p:pic>
      <p:sp>
        <p:nvSpPr>
          <p:cNvPr id="6" name="TextBox 3"/>
          <p:cNvSpPr txBox="1"/>
          <p:nvPr/>
        </p:nvSpPr>
        <p:spPr>
          <a:xfrm>
            <a:off x="8423379" y="5768564"/>
            <a:ext cx="3695048" cy="415498"/>
          </a:xfrm>
          <a:prstGeom prst="rect">
            <a:avLst/>
          </a:prstGeom>
          <a:noFill/>
        </p:spPr>
        <p:txBody>
          <a:bodyPr wrap="square">
            <a:spAutoFit/>
          </a:bodyPr>
          <a:lstStyle/>
          <a:p>
            <a:r>
              <a:rPr lang="en-US" altLang="zh-CN" sz="1050" dirty="0"/>
              <a:t>基于《敏捷软件开发宣言》：</a:t>
            </a:r>
            <a:endParaRPr lang="en-US" altLang="zh-CN" sz="1050" dirty="0"/>
          </a:p>
          <a:p>
            <a:r>
              <a:rPr lang="en-US" altLang="zh-CN" sz="1050" dirty="0"/>
              <a:t>http://agilemanifesto.org</a:t>
            </a:r>
            <a:endParaRPr lang="en-US" sz="1050" b="1" dirty="0">
              <a:solidFill>
                <a:srgbClr val="FF0000"/>
              </a:solidFill>
            </a:endParaRPr>
          </a:p>
        </p:txBody>
      </p:sp>
      <p:sp>
        <p:nvSpPr>
          <p:cNvPr id="4" name="TextBox 3"/>
          <p:cNvSpPr txBox="1"/>
          <p:nvPr/>
        </p:nvSpPr>
        <p:spPr>
          <a:xfrm>
            <a:off x="4386744" y="4089494"/>
            <a:ext cx="4656745" cy="1323439"/>
          </a:xfrm>
          <a:prstGeom prst="rect">
            <a:avLst/>
          </a:prstGeom>
          <a:noFill/>
        </p:spPr>
        <p:txBody>
          <a:bodyPr wrap="square">
            <a:spAutoFit/>
          </a:bodyPr>
          <a:lstStyle/>
          <a:p>
            <a:r>
              <a:rPr lang="zh-CN" altLang="en-US" sz="2000" b="1" dirty="0">
                <a:solidFill>
                  <a:srgbClr val="C00000"/>
                </a:solidFill>
                <a:latin typeface="Helvetica" pitchFamily="2" charset="0"/>
                <a:cs typeface="Arial" panose="020B0604020202090204" pitchFamily="34" charset="0"/>
              </a:rPr>
              <a:t>过程和工具  v.s .</a:t>
            </a:r>
            <a:r>
              <a:rPr lang="zh-CN" altLang="en-US" sz="2000" b="1" dirty="0">
                <a:solidFill>
                  <a:srgbClr val="C00000"/>
                </a:solidFill>
                <a:latin typeface="Helvetica" pitchFamily="2" charset="0"/>
                <a:cs typeface="Arial" panose="020B0604020202090204" pitchFamily="34" charset="0"/>
              </a:rPr>
              <a:t>个体和交互</a:t>
            </a:r>
            <a:endParaRPr lang="en-US" altLang="zh-CN" sz="2000" b="1" dirty="0">
              <a:solidFill>
                <a:srgbClr val="C00000"/>
              </a:solidFill>
              <a:latin typeface="Helvetica" pitchFamily="2" charset="0"/>
              <a:cs typeface="Arial" panose="020B0604020202090204" pitchFamily="34" charset="0"/>
            </a:endParaRPr>
          </a:p>
          <a:p>
            <a:pPr algn="l"/>
            <a:r>
              <a:rPr lang="zh-CN" altLang="en-US" sz="2000" b="1" dirty="0">
                <a:solidFill>
                  <a:srgbClr val="C00000"/>
                </a:solidFill>
                <a:latin typeface="Helvetica" pitchFamily="2" charset="0"/>
                <a:cs typeface="Arial" panose="020B0604020202090204" pitchFamily="34" charset="0"/>
              </a:rPr>
              <a:t>面面俱到的文档  v.s .</a:t>
            </a:r>
            <a:r>
              <a:rPr lang="zh-CN" altLang="en-US" sz="2000" b="1" dirty="0">
                <a:solidFill>
                  <a:srgbClr val="C00000"/>
                </a:solidFill>
                <a:latin typeface="Helvetica" pitchFamily="2" charset="0"/>
                <a:cs typeface="Arial" panose="020B0604020202090204" pitchFamily="34" charset="0"/>
              </a:rPr>
              <a:t>可以工作的软件</a:t>
            </a:r>
            <a:endParaRPr lang="zh-CN" altLang="en-US" sz="2000" b="1" dirty="0">
              <a:solidFill>
                <a:srgbClr val="C00000"/>
              </a:solidFill>
              <a:latin typeface="Helvetica" pitchFamily="2" charset="0"/>
              <a:cs typeface="Arial" panose="020B0604020202090204" pitchFamily="34" charset="0"/>
            </a:endParaRPr>
          </a:p>
          <a:p>
            <a:r>
              <a:rPr lang="zh-CN" altLang="en-US" sz="2000" b="1" dirty="0">
                <a:solidFill>
                  <a:srgbClr val="C00000"/>
                </a:solidFill>
                <a:latin typeface="Helvetica" pitchFamily="2" charset="0"/>
                <a:cs typeface="Arial" panose="020B0604020202090204" pitchFamily="34" charset="0"/>
              </a:rPr>
              <a:t>遵循计划  v.s .</a:t>
            </a:r>
            <a:r>
              <a:rPr lang="zh-CN" altLang="en-US" sz="2000" b="1" dirty="0">
                <a:solidFill>
                  <a:srgbClr val="C00000"/>
                </a:solidFill>
                <a:latin typeface="Helvetica" pitchFamily="2" charset="0"/>
                <a:cs typeface="Arial" panose="020B0604020202090204" pitchFamily="34" charset="0"/>
              </a:rPr>
              <a:t>响应变化</a:t>
            </a:r>
            <a:endParaRPr lang="en-US" altLang="zh-CN" sz="2000" b="1" dirty="0">
              <a:solidFill>
                <a:srgbClr val="C00000"/>
              </a:solidFill>
              <a:latin typeface="Helvetica" pitchFamily="2" charset="0"/>
              <a:cs typeface="Arial" panose="020B0604020202090204" pitchFamily="34" charset="0"/>
            </a:endParaRPr>
          </a:p>
          <a:p>
            <a:r>
              <a:rPr lang="zh-CN" altLang="en-US" sz="2000" b="1" dirty="0">
                <a:solidFill>
                  <a:srgbClr val="C00000"/>
                </a:solidFill>
                <a:latin typeface="Helvetica" pitchFamily="2" charset="0"/>
                <a:cs typeface="Arial" panose="020B0604020202090204" pitchFamily="34" charset="0"/>
              </a:rPr>
              <a:t>合同谈判  v.s .</a:t>
            </a:r>
            <a:r>
              <a:rPr lang="zh-CN" altLang="en-US" sz="2000" b="1" dirty="0">
                <a:solidFill>
                  <a:srgbClr val="C00000"/>
                </a:solidFill>
                <a:latin typeface="Helvetica" pitchFamily="2" charset="0"/>
                <a:cs typeface="Arial" panose="020B0604020202090204" pitchFamily="34" charset="0"/>
              </a:rPr>
              <a:t>客户合作</a:t>
            </a:r>
            <a:endParaRPr lang="zh-CN" altLang="en-US" sz="2000" b="1" dirty="0">
              <a:solidFill>
                <a:srgbClr val="C00000"/>
              </a:solidFill>
              <a:latin typeface="Helvetica" pitchFamily="2" charset="0"/>
              <a:cs typeface="Arial" panose="020B060402020209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latin typeface="Times New Roman" panose="02020603050405020304" charset="0"/>
              </a:rPr>
              <a:t>可行性研究</a:t>
            </a:r>
            <a:endParaRPr lang="zh-CN" altLang="en-US">
              <a:latin typeface="Times New Roman" panose="02020603050405020304" charset="0"/>
            </a:endParaRPr>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文本框 4"/>
          <p:cNvSpPr txBox="1"/>
          <p:nvPr/>
        </p:nvSpPr>
        <p:spPr>
          <a:xfrm>
            <a:off x="1091565" y="1458595"/>
            <a:ext cx="9785350" cy="398780"/>
          </a:xfrm>
          <a:prstGeom prst="rect">
            <a:avLst/>
          </a:prstGeom>
          <a:noFill/>
        </p:spPr>
        <p:txBody>
          <a:bodyPr wrap="square" rtlCol="0" anchor="t">
            <a:spAutoFit/>
          </a:bodyPr>
          <a:lstStyle/>
          <a:p>
            <a:pPr algn="l">
              <a:buClrTx/>
              <a:buSzTx/>
              <a:buNone/>
            </a:pPr>
            <a:r>
              <a:rPr lang="en-US" sz="2000" dirty="0"/>
              <a:t>可行性研究是在正式启动项目之前进行的一项研究。</a:t>
            </a:r>
            <a:endParaRPr lang="en-US" sz="2000" dirty="0"/>
          </a:p>
        </p:txBody>
      </p:sp>
      <p:sp>
        <p:nvSpPr>
          <p:cNvPr id="6" name="文本框 5"/>
          <p:cNvSpPr txBox="1"/>
          <p:nvPr/>
        </p:nvSpPr>
        <p:spPr>
          <a:xfrm>
            <a:off x="1091565" y="2374900"/>
            <a:ext cx="6096000" cy="1014730"/>
          </a:xfrm>
          <a:prstGeom prst="rect">
            <a:avLst/>
          </a:prstGeom>
          <a:noFill/>
        </p:spPr>
        <p:txBody>
          <a:bodyPr wrap="square" rtlCol="0" anchor="t">
            <a:spAutoFit/>
          </a:bodyPr>
          <a:lstStyle/>
          <a:p>
            <a:r>
              <a:rPr lang="en-US" sz="2000" dirty="0"/>
              <a:t>可行性研究将导向一项决策：</a:t>
            </a:r>
            <a:endParaRPr lang="en-US" sz="2000" dirty="0"/>
          </a:p>
          <a:p>
            <a:r>
              <a:rPr lang="en-US" sz="2000" dirty="0"/>
              <a:t>• 继续吧</a:t>
            </a:r>
            <a:endParaRPr lang="en-US" sz="2000" dirty="0"/>
          </a:p>
          <a:p>
            <a:r>
              <a:rPr lang="en-US" sz="2000" dirty="0"/>
              <a:t>• 不要继续进行</a:t>
            </a:r>
            <a:endParaRPr lang="en-US" sz="2000" dirty="0"/>
          </a:p>
        </p:txBody>
      </p:sp>
      <p:sp>
        <p:nvSpPr>
          <p:cNvPr id="7" name="文本框 6"/>
          <p:cNvSpPr txBox="1"/>
          <p:nvPr/>
        </p:nvSpPr>
        <p:spPr>
          <a:xfrm>
            <a:off x="1090930" y="3907155"/>
            <a:ext cx="9785985" cy="779145"/>
          </a:xfrm>
          <a:prstGeom prst="rect">
            <a:avLst/>
          </a:prstGeom>
          <a:noFill/>
        </p:spPr>
        <p:txBody>
          <a:bodyPr wrap="square" rtlCol="0" anchor="t">
            <a:noAutofit/>
          </a:bodyPr>
          <a:lstStyle/>
          <a:p>
            <a:pPr algn="l">
              <a:buClrTx/>
              <a:buSzTx/>
              <a:buNone/>
            </a:pPr>
            <a:r>
              <a:rPr lang="en-US" sz="2000" dirty="0"/>
              <a:t>在生产项目中，可行性研究通常会形成预算申请。</a:t>
            </a:r>
            <a:endParaRPr lang="en-US" sz="2000" dirty="0">
              <a:solidFill>
                <a:srgbClr val="C00000"/>
              </a:solidFill>
            </a:endParaRPr>
          </a:p>
          <a:p>
            <a:pPr algn="l">
              <a:buClrTx/>
              <a:buSzTx/>
              <a:buFontTx/>
              <a:buNone/>
            </a:pPr>
            <a:r>
              <a:rPr lang="en-US" sz="2000" dirty="0"/>
              <a:t>可行性研究可采用提案的形式进行。</a:t>
            </a:r>
            <a:endParaRPr lang="en-US" sz="2000" dirty="0">
              <a:solidFill>
                <a:srgbClr val="C0000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latin typeface="Times New Roman" panose="02020603050405020304" charset="0"/>
              </a:rPr>
              <a:t>可行性报告</a:t>
            </a:r>
            <a:endParaRPr lang="zh-CN" altLang="en-US">
              <a:latin typeface="Times New Roman" panose="02020603050405020304" charset="0"/>
            </a:endParaRPr>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文本框 3"/>
          <p:cNvSpPr txBox="1"/>
          <p:nvPr/>
        </p:nvSpPr>
        <p:spPr>
          <a:xfrm>
            <a:off x="1090930" y="1111250"/>
            <a:ext cx="10506710" cy="3630930"/>
          </a:xfrm>
          <a:prstGeom prst="rect">
            <a:avLst/>
          </a:prstGeom>
          <a:noFill/>
        </p:spPr>
        <p:txBody>
          <a:bodyPr wrap="square" rtlCol="0" anchor="t">
            <a:spAutoFit/>
          </a:bodyPr>
          <a:lstStyle/>
          <a:p>
            <a:pPr indent="0" fontAlgn="auto">
              <a:spcBef>
                <a:spcPts val="1800"/>
              </a:spcBef>
            </a:pPr>
            <a:r>
              <a:rPr lang="zh-CN" altLang="en-US" sz="2000"/>
              <a:t>可行性研究应附有书面报告。</a:t>
            </a:r>
            <a:endParaRPr lang="en-US" sz="2000" b="1" dirty="0">
              <a:solidFill>
                <a:srgbClr val="515223"/>
              </a:solidFill>
              <a:latin typeface="Helvetica" pitchFamily="2" charset="0"/>
              <a:cs typeface="Arial" panose="020B0604020202090204" pitchFamily="34" charset="0"/>
            </a:endParaRPr>
          </a:p>
          <a:p>
            <a:pPr indent="0" fontAlgn="auto">
              <a:spcBef>
                <a:spcPts val="1800"/>
              </a:spcBef>
            </a:pPr>
            <a:r>
              <a:rPr lang="zh-CN" altLang="en-US" sz="2000">
                <a:solidFill>
                  <a:srgbClr val="C00000"/>
                </a:solidFill>
              </a:rPr>
              <a:t>这应该是一份写得出色、专业的文件。</a:t>
            </a:r>
            <a:endParaRPr lang="zh-CN" altLang="en-US" sz="2000">
              <a:solidFill>
                <a:srgbClr val="C00000"/>
              </a:solidFill>
            </a:endParaRPr>
          </a:p>
          <a:p>
            <a:pPr indent="0" fontAlgn="auto">
              <a:spcBef>
                <a:spcPts val="1800"/>
              </a:spcBef>
            </a:pPr>
            <a:r>
              <a:rPr lang="zh-CN" altLang="en-US" sz="2000"/>
              <a:t>• 面向普通读者：客户、财务管理、技术管理等领域。</a:t>
            </a:r>
            <a:endParaRPr lang="zh-CN" altLang="en-US" sz="2000"/>
          </a:p>
          <a:p>
            <a:pPr indent="0" fontAlgn="auto">
              <a:spcBef>
                <a:spcPts val="1800"/>
              </a:spcBef>
            </a:pPr>
            <a:r>
              <a:rPr lang="zh-CN" altLang="en-US" sz="2000"/>
              <a:t>• 长度适中，便于所有人阅读。</a:t>
            </a:r>
            <a:endParaRPr lang="zh-CN" altLang="en-US" sz="2000"/>
          </a:p>
          <a:p>
            <a:pPr indent="0" fontAlgn="auto">
              <a:spcBef>
                <a:spcPts val="1800"/>
              </a:spcBef>
            </a:pPr>
            <a:r>
              <a:rPr lang="zh-CN" altLang="en-US" sz="2000"/>
              <a:t>• 时间足够长，不会遗漏任何重要议题。</a:t>
            </a:r>
            <a:endParaRPr lang="zh-CN" altLang="en-US" sz="2000"/>
          </a:p>
          <a:p>
            <a:pPr indent="0" fontAlgn="auto">
              <a:spcBef>
                <a:spcPts val="1800"/>
              </a:spcBef>
            </a:pPr>
            <a:r>
              <a:rPr lang="zh-CN" altLang="en-US" sz="2000"/>
              <a:t>• 具体细节可包含在支持文件中。</a:t>
            </a:r>
            <a:endParaRPr lang="zh-CN" altLang="en-US" sz="2000"/>
          </a:p>
          <a:p>
            <a:pPr indent="0" fontAlgn="auto">
              <a:spcBef>
                <a:spcPts val="1800"/>
              </a:spcBef>
            </a:pPr>
            <a:r>
              <a:rPr lang="zh-CN" altLang="en-US" sz="2000">
                <a:solidFill>
                  <a:srgbClr val="C00000"/>
                </a:solidFill>
              </a:rPr>
              <a:t>一份未被阅读和理解的报告毫无用处。</a:t>
            </a:r>
            <a:endParaRPr lang="zh-CN" altLang="en-US" sz="2000">
              <a:solidFill>
                <a:srgbClr val="C0000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latin typeface="Times New Roman" panose="02020603050405020304" charset="0"/>
              </a:rPr>
              <a:t>项目管理的目标</a:t>
            </a:r>
            <a:endParaRPr lang="zh-CN" altLang="en-US">
              <a:latin typeface="Times New Roman" panose="02020603050405020304" charset="0"/>
            </a:endParaRPr>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文本框 3"/>
          <p:cNvSpPr txBox="1"/>
          <p:nvPr/>
        </p:nvSpPr>
        <p:spPr>
          <a:xfrm>
            <a:off x="1091565" y="1149985"/>
            <a:ext cx="10427335" cy="4208145"/>
          </a:xfrm>
          <a:prstGeom prst="rect">
            <a:avLst/>
          </a:prstGeom>
          <a:noFill/>
        </p:spPr>
        <p:txBody>
          <a:bodyPr wrap="square" rtlCol="0" anchor="t">
            <a:noAutofit/>
          </a:bodyPr>
          <a:lstStyle/>
          <a:p>
            <a:pPr indent="0" fontAlgn="auto">
              <a:spcBef>
                <a:spcPts val="1800"/>
              </a:spcBef>
            </a:pPr>
            <a:r>
              <a:rPr lang="zh-CN" altLang="en-US" dirty="0"/>
              <a:t>要完成一个项目：</a:t>
            </a:r>
            <a:endParaRPr lang="zh-CN" altLang="en-US" dirty="0"/>
          </a:p>
          <a:p>
            <a:pPr indent="0" fontAlgn="auto">
              <a:spcBef>
                <a:spcPts val="1800"/>
              </a:spcBef>
            </a:pPr>
            <a:r>
              <a:rPr lang="zh-CN" altLang="en-US" dirty="0"/>
              <a:t>• </a:t>
            </a:r>
            <a:r>
              <a:rPr lang="zh-CN" altLang="en-US" dirty="0"/>
              <a:t>准时</a:t>
            </a:r>
            <a:endParaRPr lang="zh-CN" altLang="en-US" dirty="0"/>
          </a:p>
          <a:p>
            <a:pPr indent="0" fontAlgn="auto">
              <a:spcBef>
                <a:spcPts val="1800"/>
              </a:spcBef>
            </a:pPr>
            <a:r>
              <a:rPr lang="zh-CN" altLang="en-US" dirty="0"/>
              <a:t>• 遵守预算</a:t>
            </a:r>
            <a:endParaRPr lang="zh-CN" altLang="en-US" dirty="0"/>
          </a:p>
          <a:p>
            <a:pPr indent="0" fontAlgn="auto">
              <a:spcBef>
                <a:spcPts val="1800"/>
              </a:spcBef>
            </a:pPr>
            <a:r>
              <a:rPr lang="zh-CN" altLang="en-US" dirty="0"/>
              <a:t>• 具备所需的功能性</a:t>
            </a:r>
            <a:endParaRPr lang="zh-CN" altLang="en-US" dirty="0"/>
          </a:p>
          <a:p>
            <a:pPr indent="0" fontAlgn="auto">
              <a:spcBef>
                <a:spcPts val="1800"/>
              </a:spcBef>
            </a:pPr>
            <a:r>
              <a:rPr lang="zh-CN" altLang="en-US" dirty="0"/>
              <a:t>• 以客户满意为</a:t>
            </a:r>
            <a:r>
              <a:rPr lang="zh-CN" altLang="en-US" dirty="0"/>
              <a:t>目标</a:t>
            </a:r>
            <a:endParaRPr lang="zh-CN" altLang="en-US" dirty="0"/>
          </a:p>
          <a:p>
            <a:pPr indent="0" fontAlgn="auto">
              <a:spcBef>
                <a:spcPts val="1800"/>
              </a:spcBef>
            </a:pPr>
            <a:r>
              <a:rPr lang="zh-CN" altLang="en-US" dirty="0"/>
              <a:t>• </a:t>
            </a:r>
            <a:r>
              <a:rPr lang="zh-CN" altLang="en-US" dirty="0"/>
              <a:t>不要耗尽资源</a:t>
            </a:r>
            <a:endParaRPr lang="zh-CN" altLang="en-US" dirty="0"/>
          </a:p>
          <a:p>
            <a:pPr indent="0" fontAlgn="auto">
              <a:spcBef>
                <a:spcPts val="1800"/>
              </a:spcBef>
            </a:pPr>
            <a:r>
              <a:rPr lang="zh-CN" altLang="en-US" dirty="0">
                <a:solidFill>
                  <a:srgbClr val="C00000"/>
                </a:solidFill>
              </a:rPr>
              <a:t>提供项目进展的</a:t>
            </a:r>
            <a:r>
              <a:rPr lang="zh-CN" altLang="en-US" dirty="0">
                <a:solidFill>
                  <a:srgbClr val="C00000"/>
                </a:solidFill>
              </a:rPr>
              <a:t>可见性信息</a:t>
            </a:r>
            <a:endParaRPr lang="zh-CN" altLang="en-US" dirty="0">
              <a:solidFill>
                <a:srgbClr val="C00000"/>
              </a:solidFill>
            </a:endParaRPr>
          </a:p>
          <a:p>
            <a:pPr indent="0" fontAlgn="auto">
              <a:spcBef>
                <a:spcPts val="1800"/>
              </a:spcBef>
            </a:pPr>
            <a:r>
              <a:rPr lang="zh-CN" altLang="en-US" dirty="0">
                <a:solidFill>
                  <a:srgbClr val="C00000"/>
                </a:solidFill>
              </a:rPr>
              <a:t>及时预警问题，以便及时进行修正。</a:t>
            </a:r>
            <a:endParaRPr lang="zh-CN" altLang="en-US" dirty="0">
              <a:solidFill>
                <a:srgbClr val="C0000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latin typeface="Times New Roman" panose="02020603050405020304" charset="0"/>
              </a:rPr>
              <a:t>一个简单的甘</a:t>
            </a:r>
            <a:r>
              <a:rPr lang="zh-CN" altLang="en-US">
                <a:latin typeface="Times New Roman" panose="02020603050405020304" charset="0"/>
              </a:rPr>
              <a:t>特图</a:t>
            </a:r>
            <a:endParaRPr lang="zh-CN" altLang="en-US">
              <a:latin typeface="Times New Roman" panose="02020603050405020304" charset="0"/>
            </a:endParaRPr>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4" name="图片 3"/>
          <p:cNvPicPr>
            <a:picLocks noChangeAspect="1"/>
          </p:cNvPicPr>
          <p:nvPr>
            <p:custDataLst>
              <p:tags r:id="rId1"/>
            </p:custDataLst>
          </p:nvPr>
        </p:nvPicPr>
        <p:blipFill>
          <a:blip r:embed="rId2"/>
          <a:stretch>
            <a:fillRect/>
          </a:stretch>
        </p:blipFill>
        <p:spPr>
          <a:xfrm>
            <a:off x="2022475" y="1402715"/>
            <a:ext cx="7167245" cy="3284220"/>
          </a:xfrm>
          <a:prstGeom prst="rect">
            <a:avLst/>
          </a:prstGeom>
        </p:spPr>
      </p:pic>
      <p:sp>
        <p:nvSpPr>
          <p:cNvPr id="5" name="文本框 4"/>
          <p:cNvSpPr txBox="1"/>
          <p:nvPr/>
        </p:nvSpPr>
        <p:spPr>
          <a:xfrm>
            <a:off x="4102100" y="5151120"/>
            <a:ext cx="5523230" cy="368300"/>
          </a:xfrm>
          <a:prstGeom prst="rect">
            <a:avLst/>
          </a:prstGeom>
          <a:noFill/>
        </p:spPr>
        <p:txBody>
          <a:bodyPr wrap="square" rtlCol="0" anchor="t">
            <a:spAutoFit/>
          </a:bodyPr>
          <a:lstStyle/>
          <a:p>
            <a:r>
              <a:rPr lang="zh-CN" altLang="en-US"/>
              <a:t>来源：Advanced Software Engineering Limited</a:t>
            </a:r>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latin typeface="Times New Roman" panose="02020603050405020304" charset="0"/>
              </a:rPr>
              <a:t>甘特图</a:t>
            </a:r>
            <a:endParaRPr lang="zh-CN" altLang="en-US">
              <a:latin typeface="Times New Roman" panose="02020603050405020304" charset="0"/>
            </a:endParaRPr>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文本框 3"/>
          <p:cNvSpPr txBox="1"/>
          <p:nvPr/>
        </p:nvSpPr>
        <p:spPr>
          <a:xfrm>
            <a:off x="1091565" y="1167130"/>
            <a:ext cx="10083165" cy="4625975"/>
          </a:xfrm>
          <a:prstGeom prst="rect">
            <a:avLst/>
          </a:prstGeom>
          <a:noFill/>
        </p:spPr>
        <p:txBody>
          <a:bodyPr wrap="square" rtlCol="0" anchor="t">
            <a:noAutofit/>
          </a:bodyPr>
          <a:lstStyle/>
          <a:p>
            <a:pPr indent="0" fontAlgn="auto">
              <a:spcBef>
                <a:spcPts val="1800"/>
              </a:spcBef>
            </a:pPr>
            <a:r>
              <a:rPr lang="zh-CN" altLang="en-US" b="1" dirty="0">
                <a:solidFill>
                  <a:schemeClr val="accent1"/>
                </a:solidFill>
                <a:latin typeface="Times New Roman" panose="02020603050405020304" charset="0"/>
                <a:ea typeface="微软雅黑" panose="020B0503020204020204" pitchFamily="34" charset="-122"/>
                <a:cs typeface="+mj-lt"/>
              </a:rPr>
              <a:t>适用于小型项目、单次任务框和冲刺任务。</a:t>
            </a:r>
            <a:endParaRPr lang="zh-CN" altLang="en-US" b="1" dirty="0">
              <a:solidFill>
                <a:schemeClr val="accent1"/>
              </a:solidFill>
              <a:latin typeface="Times New Roman" panose="02020603050405020304" charset="0"/>
              <a:ea typeface="微软雅黑" panose="020B0503020204020204" pitchFamily="34" charset="-122"/>
              <a:cs typeface="+mj-lt"/>
            </a:endParaRPr>
          </a:p>
          <a:p>
            <a:pPr indent="0" fontAlgn="auto">
              <a:spcBef>
                <a:spcPts val="1800"/>
              </a:spcBef>
            </a:pPr>
            <a:r>
              <a:rPr lang="zh-CN" altLang="en-US" dirty="0">
                <a:latin typeface="Times New Roman" panose="02020603050405020304" charset="0"/>
                <a:ea typeface="微软雅黑" panose="020B0503020204020204" pitchFamily="34" charset="-122"/>
              </a:rPr>
              <a:t>• 日期沿顶部排列（天、周或月）。</a:t>
            </a:r>
            <a:endParaRPr lang="zh-CN" altLang="en-US" dirty="0">
              <a:latin typeface="Times New Roman" panose="02020603050405020304" charset="0"/>
              <a:ea typeface="微软雅黑" panose="020B0503020204020204" pitchFamily="34" charset="-122"/>
            </a:endParaRPr>
          </a:p>
          <a:p>
            <a:pPr indent="0" fontAlgn="auto">
              <a:spcBef>
                <a:spcPts val="1800"/>
              </a:spcBef>
            </a:pPr>
            <a:r>
              <a:rPr lang="zh-CN" altLang="en-US" dirty="0">
                <a:latin typeface="Times New Roman" panose="02020603050405020304" charset="0"/>
                <a:ea typeface="微软雅黑" panose="020B0503020204020204" pitchFamily="34" charset="-122"/>
              </a:rPr>
              <a:t>• 每一行代表一项活动。这些事件可以是连续的、并行的或重叠的。</a:t>
            </a:r>
            <a:endParaRPr lang="zh-CN" altLang="en-US" dirty="0">
              <a:latin typeface="Times New Roman" panose="02020603050405020304" charset="0"/>
              <a:ea typeface="微软雅黑" panose="020B0503020204020204" pitchFamily="34" charset="-122"/>
            </a:endParaRPr>
          </a:p>
          <a:p>
            <a:pPr indent="0" fontAlgn="auto">
              <a:spcBef>
                <a:spcPts val="1800"/>
              </a:spcBef>
            </a:pPr>
            <a:r>
              <a:rPr lang="zh-CN" altLang="en-US" dirty="0">
                <a:latin typeface="Times New Roman" panose="02020603050405020304" charset="0"/>
                <a:ea typeface="微软雅黑" panose="020B0503020204020204" pitchFamily="34" charset="-122"/>
              </a:rPr>
              <a:t>• 活动的时间表为一条水平条。左端标记了任务计划开始的位置。右侧末端标示了预期结束日期。</a:t>
            </a:r>
            <a:endParaRPr lang="zh-CN" altLang="en-US" dirty="0">
              <a:latin typeface="Times New Roman" panose="02020603050405020304" charset="0"/>
              <a:ea typeface="微软雅黑" panose="020B0503020204020204" pitchFamily="34" charset="-122"/>
            </a:endParaRPr>
          </a:p>
          <a:p>
            <a:pPr indent="0" fontAlgn="auto">
              <a:spcBef>
                <a:spcPts val="1800"/>
              </a:spcBef>
            </a:pPr>
            <a:r>
              <a:rPr lang="zh-CN" altLang="en-US" dirty="0">
                <a:latin typeface="Times New Roman" panose="02020603050405020304" charset="0"/>
                <a:ea typeface="微软雅黑" panose="020B0503020204020204" pitchFamily="34" charset="-122"/>
              </a:rPr>
              <a:t>• 该图表通过将每项活动填入与其完成工作量成比例的长度来更新。</a:t>
            </a:r>
            <a:r>
              <a:rPr lang="zh-CN" altLang="en-US" dirty="0">
                <a:solidFill>
                  <a:srgbClr val="C00000"/>
                </a:solidFill>
                <a:latin typeface="Times New Roman" panose="02020603050405020304" charset="0"/>
                <a:ea typeface="微软雅黑" panose="020B0503020204020204" pitchFamily="34" charset="-122"/>
              </a:rPr>
              <a:t>这通常很困难。</a:t>
            </a:r>
            <a:endParaRPr lang="zh-CN" altLang="en-US" dirty="0">
              <a:solidFill>
                <a:srgbClr val="C00000"/>
              </a:solidFill>
              <a:latin typeface="Times New Roman" panose="02020603050405020304" charset="0"/>
              <a:ea typeface="微软雅黑" panose="020B0503020204020204" pitchFamily="34" charset="-122"/>
            </a:endParaRPr>
          </a:p>
          <a:p>
            <a:pPr indent="0" fontAlgn="auto">
              <a:spcBef>
                <a:spcPts val="1800"/>
              </a:spcBef>
            </a:pPr>
            <a:r>
              <a:rPr lang="zh-CN" altLang="en-US" dirty="0">
                <a:latin typeface="Times New Roman" panose="02020603050405020304" charset="0"/>
                <a:ea typeface="微软雅黑" panose="020B0503020204020204" pitchFamily="34" charset="-122"/>
              </a:rPr>
              <a:t>• 可通过在当前日期的图表上绘制一条垂直线，将实际进展与计划进行对比。</a:t>
            </a:r>
            <a:endParaRPr lang="zh-CN" altLang="en-US" dirty="0">
              <a:latin typeface="Times New Roman" panose="02020603050405020304" charset="0"/>
              <a:ea typeface="微软雅黑" panose="020B0503020204020204" pitchFamily="34"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91565" y="238125"/>
            <a:ext cx="8717280" cy="790575"/>
          </a:xfrm>
        </p:spPr>
        <p:txBody>
          <a:bodyPr>
            <a:normAutofit fontScale="90000"/>
          </a:bodyPr>
          <a:lstStyle/>
          <a:p>
            <a:r>
              <a:rPr lang="zh-CN" altLang="en-US" dirty="0">
                <a:latin typeface="Times New Roman" panose="02020603050405020304" charset="0"/>
              </a:rPr>
              <a:t>示例：带时间预估的活动图</a:t>
            </a:r>
            <a:r>
              <a:rPr lang="en-US" altLang="zh-CN" dirty="0">
                <a:latin typeface="Times New Roman" panose="02020603050405020304" charset="0"/>
              </a:rPr>
              <a:t> （</a:t>
            </a:r>
            <a:r>
              <a:rPr lang="en-US" altLang="zh-CN" dirty="0">
                <a:latin typeface="Times New Roman" panose="02020603050405020304" charset="0"/>
              </a:rPr>
              <a:t>Activity Graph）</a:t>
            </a:r>
            <a:endParaRPr lang="en-US" altLang="zh-CN" dirty="0">
              <a:latin typeface="Times New Roman" panose="02020603050405020304" charset="0"/>
            </a:endParaRPr>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4" name="图片 3"/>
          <p:cNvPicPr>
            <a:picLocks noChangeAspect="1"/>
          </p:cNvPicPr>
          <p:nvPr>
            <p:custDataLst>
              <p:tags r:id="rId1"/>
            </p:custDataLst>
          </p:nvPr>
        </p:nvPicPr>
        <p:blipFill>
          <a:blip r:embed="rId2"/>
          <a:stretch>
            <a:fillRect/>
          </a:stretch>
        </p:blipFill>
        <p:spPr>
          <a:xfrm>
            <a:off x="1585595" y="1329055"/>
            <a:ext cx="8496935" cy="391414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91565" y="238125"/>
            <a:ext cx="9333230" cy="790575"/>
          </a:xfrm>
        </p:spPr>
        <p:txBody>
          <a:bodyPr>
            <a:normAutofit/>
          </a:bodyPr>
          <a:lstStyle/>
          <a:p>
            <a:r>
              <a:rPr lang="zh-CN" altLang="en-US">
                <a:latin typeface="Times New Roman" panose="02020603050405020304" charset="0"/>
              </a:rPr>
              <a:t>最早的事件日期与最早的开始日期</a:t>
            </a:r>
            <a:endParaRPr lang="zh-CN" altLang="en-US">
              <a:latin typeface="Times New Roman" panose="02020603050405020304" charset="0"/>
            </a:endParaRPr>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文本框 3"/>
          <p:cNvSpPr txBox="1"/>
          <p:nvPr/>
        </p:nvSpPr>
        <p:spPr>
          <a:xfrm>
            <a:off x="1091565" y="1430020"/>
            <a:ext cx="9880600" cy="3084195"/>
          </a:xfrm>
          <a:prstGeom prst="rect">
            <a:avLst/>
          </a:prstGeom>
          <a:noFill/>
        </p:spPr>
        <p:txBody>
          <a:bodyPr wrap="square" rtlCol="0" anchor="t">
            <a:noAutofit/>
          </a:bodyPr>
          <a:lstStyle/>
          <a:p>
            <a:pPr indent="0" fontAlgn="auto">
              <a:spcBef>
                <a:spcPts val="1800"/>
              </a:spcBef>
            </a:pPr>
            <a:r>
              <a:rPr lang="zh-CN" altLang="en-US" b="1">
                <a:solidFill>
                  <a:schemeClr val="accent1"/>
                </a:solidFill>
                <a:latin typeface="Times New Roman" panose="02020603050405020304" charset="0"/>
                <a:ea typeface="微软雅黑" panose="020B0503020204020204" pitchFamily="34" charset="-122"/>
                <a:cs typeface="+mj-lt"/>
              </a:rPr>
              <a:t>最早开始日期：指可以启动某项活动的最早日期。</a:t>
            </a:r>
            <a:endParaRPr lang="zh-CN" altLang="en-US">
              <a:latin typeface="Times New Roman" panose="02020603050405020304" charset="0"/>
              <a:ea typeface="微软雅黑" panose="020B0503020204020204" pitchFamily="34" charset="-122"/>
            </a:endParaRPr>
          </a:p>
          <a:p>
            <a:pPr indent="0" fontAlgn="auto">
              <a:spcBef>
                <a:spcPts val="1800"/>
              </a:spcBef>
            </a:pPr>
            <a:r>
              <a:rPr lang="zh-CN" altLang="en-US" b="1">
                <a:solidFill>
                  <a:schemeClr val="accent1"/>
                </a:solidFill>
                <a:latin typeface="Times New Roman" panose="02020603050405020304" charset="0"/>
                <a:ea typeface="微软雅黑" panose="020B0503020204020204" pitchFamily="34" charset="-122"/>
                <a:cs typeface="+mj-lt"/>
              </a:rPr>
              <a:t>最早事件日期：指所有在该节点结束的活动均已完成的日期，前提是每个活动均从其最早的开始日期启动。</a:t>
            </a:r>
            <a:endParaRPr lang="zh-CN" altLang="en-US">
              <a:latin typeface="Times New Roman" panose="02020603050405020304" charset="0"/>
              <a:ea typeface="微软雅黑" panose="020B0503020204020204" pitchFamily="34" charset="-122"/>
            </a:endParaRPr>
          </a:p>
          <a:p>
            <a:pPr indent="0" fontAlgn="auto">
              <a:spcBef>
                <a:spcPts val="1800"/>
              </a:spcBef>
            </a:pPr>
            <a:r>
              <a:rPr lang="zh-CN" altLang="en-US" b="1">
                <a:solidFill>
                  <a:schemeClr val="accent1"/>
                </a:solidFill>
                <a:latin typeface="Times New Roman" panose="02020603050405020304" charset="0"/>
                <a:ea typeface="微软雅黑" panose="020B0503020204020204" pitchFamily="34" charset="-122"/>
                <a:cs typeface="+mj-lt"/>
              </a:rPr>
              <a:t>项目最早完工日期：指在假设所有活动均按其最早开始日期启动的前提下，项目完成的日期。</a:t>
            </a:r>
            <a:endParaRPr lang="zh-CN" altLang="en-US">
              <a:latin typeface="Times New Roman" panose="02020603050405020304" charset="0"/>
              <a:ea typeface="微软雅黑" panose="020B0503020204020204" pitchFamily="34" charset="-122"/>
            </a:endParaRPr>
          </a:p>
          <a:p>
            <a:pPr indent="0" fontAlgn="auto">
              <a:spcBef>
                <a:spcPts val="1800"/>
              </a:spcBef>
            </a:pPr>
            <a:r>
              <a:rPr lang="zh-CN" altLang="en-US">
                <a:latin typeface="Times New Roman" panose="02020603050405020304" charset="0"/>
                <a:ea typeface="微软雅黑" panose="020B0503020204020204" pitchFamily="34" charset="-122"/>
              </a:rPr>
              <a:t>所有这些计算均依赖于活动图所表示的依赖关系，以及对各项任务执行时间估算的准确性。</a:t>
            </a:r>
            <a:endParaRPr lang="zh-CN" altLang="en-US">
              <a:latin typeface="Times New Roman" panose="02020603050405020304" charset="0"/>
              <a:ea typeface="微软雅黑" panose="020B0503020204020204" pitchFamily="34"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91565" y="238125"/>
            <a:ext cx="9015095" cy="790575"/>
          </a:xfrm>
        </p:spPr>
        <p:txBody>
          <a:bodyPr>
            <a:normAutofit/>
          </a:bodyPr>
          <a:lstStyle/>
          <a:p>
            <a:r>
              <a:rPr lang="zh-CN" altLang="en-US">
                <a:latin typeface="Times New Roman" panose="02020603050405020304" charset="0"/>
              </a:rPr>
              <a:t>最早的事件日期与最早的开始日期</a:t>
            </a:r>
            <a:endParaRPr lang="zh-CN" altLang="en-US">
              <a:latin typeface="Times New Roman" panose="02020603050405020304" charset="0"/>
            </a:endParaRPr>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4" name="图片 3"/>
          <p:cNvPicPr>
            <a:picLocks noChangeAspect="1"/>
          </p:cNvPicPr>
          <p:nvPr>
            <p:custDataLst>
              <p:tags r:id="rId1"/>
            </p:custDataLst>
          </p:nvPr>
        </p:nvPicPr>
        <p:blipFill>
          <a:blip r:embed="rId2"/>
          <a:stretch>
            <a:fillRect/>
          </a:stretch>
        </p:blipFill>
        <p:spPr>
          <a:xfrm>
            <a:off x="1313180" y="1351280"/>
            <a:ext cx="7545705" cy="433705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latin typeface="Times New Roman" panose="02020603050405020304" charset="0"/>
              </a:rPr>
              <a:t>最晚活动日期及最</a:t>
            </a:r>
            <a:r>
              <a:rPr lang="zh-CN" altLang="en-US">
                <a:latin typeface="Times New Roman" panose="02020603050405020304" charset="0"/>
              </a:rPr>
              <a:t>晚开始日期</a:t>
            </a:r>
            <a:endParaRPr lang="zh-CN" altLang="en-US">
              <a:latin typeface="Times New Roman" panose="02020603050405020304" charset="0"/>
            </a:endParaRPr>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文本框 3"/>
          <p:cNvSpPr txBox="1"/>
          <p:nvPr/>
        </p:nvSpPr>
        <p:spPr>
          <a:xfrm>
            <a:off x="1091565" y="1482725"/>
            <a:ext cx="8470265" cy="3440430"/>
          </a:xfrm>
          <a:prstGeom prst="rect">
            <a:avLst/>
          </a:prstGeom>
          <a:noFill/>
        </p:spPr>
        <p:txBody>
          <a:bodyPr wrap="square" rtlCol="0" anchor="t">
            <a:noAutofit/>
          </a:bodyPr>
          <a:lstStyle/>
          <a:p>
            <a:pPr indent="0" fontAlgn="auto">
              <a:spcBef>
                <a:spcPts val="1800"/>
              </a:spcBef>
            </a:pPr>
            <a:r>
              <a:rPr lang="zh-CN" altLang="en-US" b="1">
                <a:solidFill>
                  <a:schemeClr val="accent1"/>
                </a:solidFill>
                <a:latin typeface="Times New Roman" panose="02020603050405020304" charset="0"/>
                <a:ea typeface="微软雅黑" panose="020B0503020204020204" pitchFamily="34" charset="-122"/>
                <a:cs typeface="+mj-lt"/>
              </a:rPr>
              <a:t>最</a:t>
            </a:r>
            <a:r>
              <a:rPr lang="zh-CN" altLang="en-US" b="1">
                <a:solidFill>
                  <a:schemeClr val="accent1"/>
                </a:solidFill>
                <a:latin typeface="Times New Roman" panose="02020603050405020304" charset="0"/>
                <a:ea typeface="微软雅黑" panose="020B0503020204020204" pitchFamily="34" charset="-122"/>
                <a:cs typeface="+mj-lt"/>
              </a:rPr>
              <a:t>晚开始日期：指能够启动某项活动并仍能在项目最早完成日期前完成整个项目的最晚日期。</a:t>
            </a:r>
            <a:endParaRPr lang="zh-CN" altLang="en-US">
              <a:latin typeface="Times New Roman" panose="02020603050405020304" charset="0"/>
              <a:ea typeface="微软雅黑" panose="020B0503020204020204" pitchFamily="34" charset="-122"/>
            </a:endParaRPr>
          </a:p>
          <a:p>
            <a:pPr indent="0" fontAlgn="auto">
              <a:spcBef>
                <a:spcPts val="1800"/>
              </a:spcBef>
            </a:pPr>
            <a:r>
              <a:rPr lang="zh-CN" altLang="en-US" b="1">
                <a:solidFill>
                  <a:schemeClr val="accent1"/>
                </a:solidFill>
                <a:latin typeface="Times New Roman" panose="02020603050405020304" charset="0"/>
                <a:ea typeface="微软雅黑" panose="020B0503020204020204" pitchFamily="34" charset="-122"/>
                <a:cs typeface="+mj-lt"/>
              </a:rPr>
              <a:t>最</a:t>
            </a:r>
            <a:r>
              <a:rPr lang="zh-CN" altLang="en-US" b="1">
                <a:solidFill>
                  <a:schemeClr val="accent1"/>
                </a:solidFill>
                <a:latin typeface="Times New Roman" panose="02020603050405020304" charset="0"/>
                <a:ea typeface="微软雅黑" panose="020B0503020204020204" pitchFamily="34" charset="-122"/>
                <a:cs typeface="+mj-lt"/>
              </a:rPr>
              <a:t>晚事件日期：所有在该节点结束的活动必须完成的最晚日期，以确保项目能在最早的项目完成日期前顺利完成。</a:t>
            </a:r>
            <a:endParaRPr lang="zh-CN" altLang="en-US">
              <a:latin typeface="Times New Roman" panose="02020603050405020304" charset="0"/>
              <a:ea typeface="微软雅黑" panose="020B0503020204020204" pitchFamily="34"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latin typeface="Times New Roman" panose="02020603050405020304" charset="0"/>
              </a:rPr>
              <a:t>最晚活动日期及最</a:t>
            </a:r>
            <a:r>
              <a:rPr lang="zh-CN" altLang="en-US">
                <a:latin typeface="Times New Roman" panose="02020603050405020304" charset="0"/>
              </a:rPr>
              <a:t>晚开始日期</a:t>
            </a:r>
            <a:endParaRPr lang="zh-CN" altLang="en-US">
              <a:latin typeface="Times New Roman" panose="02020603050405020304" charset="0"/>
            </a:endParaRPr>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文本框 3"/>
          <p:cNvSpPr txBox="1"/>
          <p:nvPr/>
        </p:nvSpPr>
        <p:spPr>
          <a:xfrm>
            <a:off x="4707890" y="1156970"/>
            <a:ext cx="5742305" cy="645160"/>
          </a:xfrm>
          <a:prstGeom prst="rect">
            <a:avLst/>
          </a:prstGeom>
          <a:noFill/>
        </p:spPr>
        <p:txBody>
          <a:bodyPr wrap="square" rtlCol="0" anchor="t">
            <a:spAutoFit/>
          </a:bodyPr>
          <a:lstStyle/>
          <a:p>
            <a:r>
              <a:rPr lang="zh-CN" altLang="en-US"/>
              <a:t>所有任务必须在所示日期前完成，否则将无法达到最终截止日期。</a:t>
            </a:r>
            <a:endParaRPr lang="zh-CN" altLang="en-US"/>
          </a:p>
        </p:txBody>
      </p:sp>
      <p:sp>
        <p:nvSpPr>
          <p:cNvPr id="5" name="文本框 4"/>
          <p:cNvSpPr txBox="1"/>
          <p:nvPr/>
        </p:nvSpPr>
        <p:spPr>
          <a:xfrm>
            <a:off x="1091565" y="1211580"/>
            <a:ext cx="2027555" cy="680085"/>
          </a:xfrm>
          <a:prstGeom prst="rect">
            <a:avLst/>
          </a:prstGeom>
          <a:noFill/>
          <a:ln>
            <a:solidFill>
              <a:srgbClr val="00B0F0"/>
            </a:solidFill>
          </a:ln>
        </p:spPr>
        <p:txBody>
          <a:bodyPr wrap="square" rtlCol="0" anchor="t">
            <a:noAutofit/>
          </a:bodyPr>
          <a:lstStyle/>
          <a:p>
            <a:pPr algn="ctr"/>
            <a:r>
              <a:rPr lang="zh-CN" altLang="en-US">
                <a:solidFill>
                  <a:srgbClr val="00B0F0"/>
                </a:solidFill>
                <a:latin typeface="+mj-lt"/>
                <a:ea typeface="微软雅黑" panose="020B0503020204020204" pitchFamily="34" charset="-122"/>
                <a:cs typeface="+mj-lt"/>
              </a:rPr>
              <a:t>最新事件</a:t>
            </a:r>
            <a:endParaRPr lang="zh-CN" altLang="en-US">
              <a:solidFill>
                <a:srgbClr val="00B0F0"/>
              </a:solidFill>
              <a:latin typeface="+mj-lt"/>
              <a:ea typeface="微软雅黑" panose="020B0503020204020204" pitchFamily="34" charset="-122"/>
              <a:cs typeface="+mj-lt"/>
            </a:endParaRPr>
          </a:p>
          <a:p>
            <a:pPr algn="ctr"/>
            <a:r>
              <a:rPr lang="zh-CN" altLang="en-US">
                <a:solidFill>
                  <a:srgbClr val="00B0F0"/>
                </a:solidFill>
                <a:latin typeface="+mj-lt"/>
                <a:ea typeface="微软雅黑" panose="020B0503020204020204" pitchFamily="34" charset="-122"/>
                <a:cs typeface="+mj-lt"/>
              </a:rPr>
              <a:t>日期以蓝色显示</a:t>
            </a:r>
            <a:endParaRPr lang="zh-CN" altLang="en-US">
              <a:solidFill>
                <a:srgbClr val="00B0F0"/>
              </a:solidFill>
              <a:latin typeface="+mj-lt"/>
              <a:ea typeface="微软雅黑" panose="020B0503020204020204" pitchFamily="34" charset="-122"/>
              <a:cs typeface="+mj-lt"/>
            </a:endParaRPr>
          </a:p>
        </p:txBody>
      </p:sp>
      <p:pic>
        <p:nvPicPr>
          <p:cNvPr id="6" name="图片 5"/>
          <p:cNvPicPr>
            <a:picLocks noChangeAspect="1"/>
          </p:cNvPicPr>
          <p:nvPr>
            <p:custDataLst>
              <p:tags r:id="rId1"/>
            </p:custDataLst>
          </p:nvPr>
        </p:nvPicPr>
        <p:blipFill>
          <a:blip r:embed="rId2"/>
          <a:stretch>
            <a:fillRect/>
          </a:stretch>
        </p:blipFill>
        <p:spPr>
          <a:xfrm>
            <a:off x="1091565" y="2021205"/>
            <a:ext cx="8350250" cy="376682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latin typeface="Times New Roman" panose="02020603050405020304" charset="0"/>
              </a:rPr>
              <a:t>创建此路径</a:t>
            </a:r>
            <a:endParaRPr lang="zh-CN" altLang="en-US">
              <a:latin typeface="Times New Roman" panose="02020603050405020304" charset="0"/>
            </a:endParaRPr>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文本框 3"/>
          <p:cNvSpPr txBox="1"/>
          <p:nvPr/>
        </p:nvSpPr>
        <p:spPr>
          <a:xfrm>
            <a:off x="3348990" y="1155065"/>
            <a:ext cx="7401560" cy="1234440"/>
          </a:xfrm>
          <a:prstGeom prst="rect">
            <a:avLst/>
          </a:prstGeom>
          <a:noFill/>
        </p:spPr>
        <p:txBody>
          <a:bodyPr wrap="square" rtlCol="0" anchor="t">
            <a:noAutofit/>
          </a:bodyPr>
          <a:lstStyle/>
          <a:p>
            <a:pPr indent="0" fontAlgn="auto">
              <a:spcBef>
                <a:spcPts val="1800"/>
              </a:spcBef>
            </a:pPr>
            <a:r>
              <a:rPr lang="zh-CN" altLang="en-US"/>
              <a:t>关键路径上的事件，其最早事件日期等于最晚事件日期。</a:t>
            </a:r>
            <a:endParaRPr lang="zh-CN" altLang="en-US"/>
          </a:p>
          <a:p>
            <a:pPr indent="0" fontAlgn="auto">
              <a:spcBef>
                <a:spcPts val="1800"/>
              </a:spcBef>
            </a:pPr>
            <a:r>
              <a:rPr lang="zh-CN" altLang="en-US"/>
              <a:t>关键路径上的每项活动都必须从最早的开始日期启动。</a:t>
            </a:r>
            <a:endParaRPr lang="zh-CN" altLang="en-US"/>
          </a:p>
        </p:txBody>
      </p:sp>
      <p:sp>
        <p:nvSpPr>
          <p:cNvPr id="5" name="文本框 4"/>
          <p:cNvSpPr txBox="1"/>
          <p:nvPr/>
        </p:nvSpPr>
        <p:spPr>
          <a:xfrm>
            <a:off x="1091565" y="1449705"/>
            <a:ext cx="2125345" cy="368300"/>
          </a:xfrm>
          <a:prstGeom prst="rect">
            <a:avLst/>
          </a:prstGeom>
          <a:noFill/>
          <a:ln>
            <a:solidFill>
              <a:srgbClr val="FFC000"/>
            </a:solidFill>
          </a:ln>
        </p:spPr>
        <p:txBody>
          <a:bodyPr wrap="square" rtlCol="0" anchor="t">
            <a:spAutoFit/>
          </a:bodyPr>
          <a:lstStyle/>
          <a:p>
            <a:pPr algn="ctr"/>
            <a:r>
              <a:rPr lang="zh-CN" altLang="en-US">
                <a:solidFill>
                  <a:srgbClr val="FFC000"/>
                </a:solidFill>
              </a:rPr>
              <a:t>用橙色绘制此路径。</a:t>
            </a:r>
            <a:endParaRPr lang="zh-CN" altLang="en-US">
              <a:solidFill>
                <a:srgbClr val="FFC000"/>
              </a:solidFill>
            </a:endParaRPr>
          </a:p>
        </p:txBody>
      </p:sp>
      <p:graphicFrame>
        <p:nvGraphicFramePr>
          <p:cNvPr id="6" name="对象 5"/>
          <p:cNvGraphicFramePr/>
          <p:nvPr>
            <p:custDataLst>
              <p:tags r:id="rId1"/>
            </p:custDataLst>
          </p:nvPr>
        </p:nvGraphicFramePr>
        <p:xfrm>
          <a:off x="1177290" y="2247265"/>
          <a:ext cx="9279255" cy="3761740"/>
        </p:xfrm>
        <a:graphic>
          <a:graphicData uri="http://schemas.openxmlformats.org/presentationml/2006/ole">
            <mc:AlternateContent xmlns:mc="http://schemas.openxmlformats.org/markup-compatibility/2006">
              <mc:Choice xmlns:v="urn:schemas-microsoft-com:vml" Requires="v">
                <p:oleObj spid="_x0000_s7" name="" r:id="rId2" imgW="10895965" imgH="6029325" progId="Paint.Picture">
                  <p:embed/>
                </p:oleObj>
              </mc:Choice>
              <mc:Fallback>
                <p:oleObj name="" r:id="rId2" imgW="10895965" imgH="6029325" progId="Paint.Picture">
                  <p:embed/>
                  <p:pic>
                    <p:nvPicPr>
                      <p:cNvPr id="0" name="对象 5"/>
                      <p:cNvPicPr/>
                      <p:nvPr/>
                    </p:nvPicPr>
                    <p:blipFill>
                      <a:blip r:embed="rId3"/>
                      <a:stretch>
                        <a:fillRect/>
                      </a:stretch>
                    </p:blipFill>
                    <p:spPr>
                      <a:xfrm>
                        <a:off x="1177290" y="2247265"/>
                        <a:ext cx="9279255" cy="3761740"/>
                      </a:xfrm>
                      <a:prstGeom prst="rect">
                        <a:avLst/>
                      </a:prstGeom>
                    </p:spPr>
                  </p:pic>
                </p:oleObj>
              </mc:Fallback>
            </mc:AlternateContent>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latin typeface="Times New Roman" panose="02020603050405020304" charset="0"/>
              </a:rPr>
              <a:t>用户体验</a:t>
            </a:r>
            <a:endParaRPr lang="en-US" altLang="zh-CN"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TextBox 3"/>
          <p:cNvSpPr txBox="1"/>
          <p:nvPr/>
        </p:nvSpPr>
        <p:spPr>
          <a:xfrm>
            <a:off x="572376" y="1384252"/>
            <a:ext cx="10946524" cy="347787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用户体验（UX）</a:t>
            </a:r>
            <a:endParaRPr lang="en-US" altLang="zh-CN" sz="2000" b="1" dirty="0">
              <a:solidFill>
                <a:srgbClr val="515223"/>
              </a:solidFill>
              <a:latin typeface="Helvetica" pitchFamily="2" charset="0"/>
              <a:cs typeface="Arial" panose="020B0604020202090204" pitchFamily="34" charset="0"/>
            </a:endParaRPr>
          </a:p>
          <a:p>
            <a:r>
              <a:rPr lang="en-US" altLang="zh-CN" sz="2000" dirty="0"/>
              <a:t>用户体验（UX）是指所有影响计算机及其系统可用性（或反之）的因素的总和。</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用户界面（UI）</a:t>
            </a:r>
            <a:endParaRPr lang="en-US" altLang="zh-CN" sz="2000" dirty="0"/>
          </a:p>
          <a:p>
            <a:r>
              <a:rPr lang="en-US" altLang="zh-CN" sz="2000" dirty="0"/>
              <a:t>用户界面（UI）指的是产品屏幕或网页的交互性、外观及使用体验。</a:t>
            </a:r>
            <a:endParaRPr lang="en-US" altLang="zh-CN" sz="2000" dirty="0"/>
          </a:p>
          <a:p>
            <a:endParaRPr lang="en-US" altLang="zh-CN" sz="2000" b="1" dirty="0">
              <a:solidFill>
                <a:srgbClr val="515223"/>
              </a:solidFill>
              <a:latin typeface="Helvetica" pitchFamily="2" charset="0"/>
              <a:cs typeface="Arial" panose="020B0604020202090204" pitchFamily="34" charset="0"/>
            </a:endParaRPr>
          </a:p>
          <a:p>
            <a:r>
              <a:rPr lang="en-US" altLang="zh-CN" sz="2000" b="1" dirty="0">
                <a:solidFill>
                  <a:srgbClr val="515223"/>
                </a:solidFill>
                <a:latin typeface="Helvetica" pitchFamily="2" charset="0"/>
                <a:cs typeface="Arial" panose="020B0604020202090204" pitchFamily="34" charset="0"/>
              </a:rPr>
              <a:t>人机交互（HCI）</a:t>
            </a:r>
            <a:endParaRPr lang="en-US" altLang="zh-CN" sz="2000" b="1" dirty="0">
              <a:solidFill>
                <a:srgbClr val="515223"/>
              </a:solidFill>
              <a:latin typeface="Helvetica" pitchFamily="2" charset="0"/>
              <a:cs typeface="Arial" panose="020B0604020202090204" pitchFamily="34" charset="0"/>
            </a:endParaRPr>
          </a:p>
          <a:p>
            <a:r>
              <a:rPr lang="en-US" altLang="zh-CN" sz="2000" b="1" dirty="0">
                <a:solidFill>
                  <a:srgbClr val="FF0000"/>
                </a:solidFill>
              </a:rPr>
              <a:t>人机交互是一门研究人类如何与计算机进行交互的学术学科。</a:t>
            </a:r>
            <a:endParaRPr lang="en-US" altLang="zh-CN" sz="2000" dirty="0"/>
          </a:p>
          <a:p>
            <a:endParaRPr lang="en-US" sz="2000" b="1" dirty="0">
              <a:solidFill>
                <a:srgbClr val="515223"/>
              </a:solidFill>
              <a:latin typeface="Helvetica" pitchFamily="2" charset="0"/>
              <a:cs typeface="Arial" panose="020B0604020202090204" pitchFamily="34" charset="0"/>
            </a:endParaRPr>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097564" y="4762731"/>
            <a:ext cx="2704403" cy="1422033"/>
          </a:xfrm>
          <a:prstGeom prst="rect">
            <a:avLst/>
          </a:prstGeom>
        </p:spPr>
      </p:pic>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50978" y="4787928"/>
            <a:ext cx="1812248" cy="1422033"/>
          </a:xfrm>
          <a:prstGeom prst="rect">
            <a:avLst/>
          </a:prstGeom>
        </p:spPr>
      </p:pic>
      <p:pic>
        <p:nvPicPr>
          <p:cNvPr id="13" name="Picture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35095" y="4762731"/>
            <a:ext cx="1921809" cy="1447230"/>
          </a:xfrm>
          <a:prstGeom prst="rect">
            <a:avLst/>
          </a:prstGeom>
        </p:spPr>
      </p:pic>
      <p:sp>
        <p:nvSpPr>
          <p:cNvPr id="14" name="TextBox 13"/>
          <p:cNvSpPr txBox="1"/>
          <p:nvPr/>
        </p:nvSpPr>
        <p:spPr>
          <a:xfrm>
            <a:off x="503385" y="4765861"/>
            <a:ext cx="4187026" cy="707886"/>
          </a:xfrm>
          <a:prstGeom prst="rect">
            <a:avLst/>
          </a:prstGeom>
          <a:noFill/>
        </p:spPr>
        <p:txBody>
          <a:bodyPr wrap="square">
            <a:spAutoFit/>
          </a:bodyPr>
          <a:lstStyle/>
          <a:p>
            <a:r>
              <a:rPr lang="en-US" altLang="zh-CN" sz="2000" dirty="0"/>
              <a:t>无用户界面的计算机：</a:t>
            </a:r>
            <a:endParaRPr lang="en-US" altLang="zh-CN" sz="2000" dirty="0"/>
          </a:p>
          <a:p>
            <a:endParaRPr lang="en-US"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latin typeface="Times New Roman" panose="02020603050405020304" charset="0"/>
              </a:rPr>
              <a:t>心智模型与计算机模型</a:t>
            </a:r>
            <a:endParaRPr lang="en-US" altLang="zh-CN"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TextBox 3"/>
          <p:cNvSpPr txBox="1"/>
          <p:nvPr/>
        </p:nvSpPr>
        <p:spPr>
          <a:xfrm>
            <a:off x="3329941" y="1646262"/>
            <a:ext cx="8110132" cy="2861310"/>
          </a:xfrm>
          <a:prstGeom prst="rect">
            <a:avLst/>
          </a:prstGeom>
          <a:noFill/>
        </p:spPr>
        <p:txBody>
          <a:bodyPr wrap="square">
            <a:spAutoFit/>
          </a:bodyPr>
          <a:lstStyle/>
          <a:p>
            <a:r>
              <a:rPr lang="zh-CN" altLang="en-US" sz="2000" b="1" dirty="0">
                <a:solidFill>
                  <a:srgbClr val="515223"/>
                </a:solidFill>
                <a:latin typeface="Helvetica" pitchFamily="2" charset="0"/>
                <a:cs typeface="Arial" panose="020B0604020202090204" pitchFamily="34" charset="0"/>
              </a:rPr>
              <a:t>心智</a:t>
            </a:r>
            <a:r>
              <a:rPr lang="en-US" altLang="zh-CN" sz="2000" b="1" dirty="0">
                <a:solidFill>
                  <a:srgbClr val="515223"/>
                </a:solidFill>
                <a:latin typeface="Helvetica" pitchFamily="2" charset="0"/>
                <a:cs typeface="Arial" panose="020B0604020202090204" pitchFamily="34" charset="0"/>
              </a:rPr>
              <a:t>模型</a:t>
            </a:r>
            <a:endParaRPr lang="en-US" altLang="zh-CN" sz="2000" b="1" dirty="0">
              <a:solidFill>
                <a:srgbClr val="515223"/>
              </a:solidFill>
              <a:latin typeface="Helvetica" pitchFamily="2" charset="0"/>
              <a:cs typeface="Arial" panose="020B0604020202090204" pitchFamily="34" charset="0"/>
            </a:endParaRPr>
          </a:p>
          <a:p>
            <a:r>
              <a:rPr lang="en-US" altLang="zh-CN" sz="2000" dirty="0"/>
              <a:t>心智模型是指用户对系统的认知及其所获得的用户体验。</a:t>
            </a:r>
            <a:endParaRPr lang="en-US" altLang="zh-CN" sz="2000" dirty="0"/>
          </a:p>
          <a:p>
            <a:endParaRPr lang="en-US" altLang="zh-CN" sz="2000" dirty="0"/>
          </a:p>
          <a:p>
            <a:endParaRPr lang="en-US" altLang="zh-CN" sz="2000" dirty="0"/>
          </a:p>
          <a:p>
            <a:endParaRPr lang="en-US" altLang="zh-CN" sz="2000" dirty="0"/>
          </a:p>
          <a:p>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计算机模型</a:t>
            </a:r>
            <a:endParaRPr lang="en-US" altLang="zh-CN" sz="2000" b="1" dirty="0">
              <a:solidFill>
                <a:srgbClr val="515223"/>
              </a:solidFill>
              <a:latin typeface="Helvetica" pitchFamily="2" charset="0"/>
              <a:cs typeface="Arial" panose="020B0604020202090204" pitchFamily="34" charset="0"/>
            </a:endParaRPr>
          </a:p>
          <a:p>
            <a:r>
              <a:rPr lang="en-US" altLang="zh-CN" sz="2000" dirty="0"/>
              <a:t>该计算机模型是指系统所提供的功能、数据、内容等。</a:t>
            </a:r>
            <a:endParaRPr lang="en-US" altLang="zh-CN" sz="2000" dirty="0"/>
          </a:p>
        </p:txBody>
      </p:sp>
      <p:pic>
        <p:nvPicPr>
          <p:cNvPr id="5" name="图片 4"/>
          <p:cNvPicPr>
            <a:picLocks noChangeAspect="1"/>
          </p:cNvPicPr>
          <p:nvPr/>
        </p:nvPicPr>
        <p:blipFill>
          <a:blip r:embed="rId1"/>
          <a:stretch>
            <a:fillRect/>
          </a:stretch>
        </p:blipFill>
        <p:spPr>
          <a:xfrm>
            <a:off x="864771" y="1527718"/>
            <a:ext cx="2278577" cy="2126164"/>
          </a:xfrm>
          <a:prstGeom prst="rect">
            <a:avLst/>
          </a:prstGeom>
        </p:spPr>
      </p:pic>
      <p:pic>
        <p:nvPicPr>
          <p:cNvPr id="6" name="图片 5"/>
          <p:cNvPicPr>
            <a:picLocks noChangeAspect="1"/>
          </p:cNvPicPr>
          <p:nvPr/>
        </p:nvPicPr>
        <p:blipFill>
          <a:blip r:embed="rId2"/>
          <a:stretch>
            <a:fillRect/>
          </a:stretch>
        </p:blipFill>
        <p:spPr>
          <a:xfrm>
            <a:off x="864771" y="4053841"/>
            <a:ext cx="2217612" cy="2126164"/>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438486" cy="790865"/>
          </a:xfrm>
        </p:spPr>
        <p:txBody>
          <a:bodyPr>
            <a:normAutofit/>
          </a:bodyPr>
          <a:lstStyle/>
          <a:p>
            <a:r>
              <a:rPr lang="en-US" altLang="zh-CN" dirty="0">
                <a:latin typeface="Times New Roman" panose="02020603050405020304" charset="0"/>
              </a:rPr>
              <a:t>模型视图控制器</a:t>
            </a:r>
            <a:endParaRPr lang="en-US" altLang="zh-CN"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622738" y="1484322"/>
            <a:ext cx="10946524" cy="1323439"/>
          </a:xfrm>
          <a:prstGeom prst="rect">
            <a:avLst/>
          </a:prstGeom>
          <a:noFill/>
        </p:spPr>
        <p:txBody>
          <a:bodyPr wrap="square">
            <a:spAutoFit/>
          </a:bodyPr>
          <a:lstStyle/>
          <a:p>
            <a:r>
              <a:rPr lang="en-US" altLang="zh-CN" sz="2000" dirty="0"/>
              <a:t>模型视图控制器（MVC）是一种计算机模型，其层级结构与心理模型的层级相对应。</a:t>
            </a:r>
            <a:endParaRPr lang="en-US" altLang="zh-CN" sz="2000" dirty="0"/>
          </a:p>
          <a:p>
            <a:endParaRPr lang="en-US" altLang="zh-CN" sz="2000" dirty="0"/>
          </a:p>
          <a:p>
            <a:r>
              <a:rPr lang="en-US" altLang="zh-CN" sz="2000" dirty="0"/>
              <a:t>这是交互式系统中应用极为广泛的模型。</a:t>
            </a:r>
            <a:endParaRPr lang="en-US" sz="2000" b="1" dirty="0">
              <a:solidFill>
                <a:srgbClr val="FF0000"/>
              </a:solidFill>
              <a:latin typeface="Helvetica" pitchFamily="2" charset="0"/>
              <a:cs typeface="Arial" panose="020B0604020202090204" pitchFamily="34" charset="0"/>
            </a:endParaRPr>
          </a:p>
        </p:txBody>
      </p:sp>
      <p:pic>
        <p:nvPicPr>
          <p:cNvPr id="4" name="图片 3"/>
          <p:cNvPicPr>
            <a:picLocks noChangeAspect="1"/>
          </p:cNvPicPr>
          <p:nvPr/>
        </p:nvPicPr>
        <p:blipFill>
          <a:blip r:embed="rId1"/>
          <a:stretch>
            <a:fillRect/>
          </a:stretch>
        </p:blipFill>
        <p:spPr>
          <a:xfrm>
            <a:off x="408931" y="3117664"/>
            <a:ext cx="11374138" cy="243731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7351" y="233626"/>
            <a:ext cx="10427646" cy="790865"/>
          </a:xfrm>
        </p:spPr>
        <p:txBody>
          <a:bodyPr>
            <a:normAutofit/>
          </a:bodyPr>
          <a:lstStyle/>
          <a:p>
            <a:r>
              <a:rPr lang="zh-CN" altLang="en-US" dirty="0">
                <a:latin typeface="Times New Roman" panose="02020603050405020304" charset="0"/>
              </a:rPr>
              <a:t>需求</a:t>
            </a:r>
            <a:r>
              <a:rPr lang="en-US" altLang="zh-CN" dirty="0">
                <a:latin typeface="Times New Roman" panose="02020603050405020304" charset="0"/>
              </a:rPr>
              <a:t>步骤</a:t>
            </a:r>
            <a:endParaRPr lang="en-US" altLang="zh-CN"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5" name="图片 4"/>
          <p:cNvPicPr>
            <a:picLocks noChangeAspect="1"/>
          </p:cNvPicPr>
          <p:nvPr/>
        </p:nvPicPr>
        <p:blipFill>
          <a:blip r:embed="rId1"/>
          <a:stretch>
            <a:fillRect/>
          </a:stretch>
        </p:blipFill>
        <p:spPr>
          <a:xfrm>
            <a:off x="1645439" y="1128622"/>
            <a:ext cx="8901121" cy="4895106"/>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dirty="0">
                <a:latin typeface="Times New Roman" panose="02020603050405020304" charset="0"/>
              </a:rPr>
              <a:t>需求</a:t>
            </a:r>
            <a:r>
              <a:rPr lang="en-US" altLang="zh-CN" dirty="0">
                <a:latin typeface="Times New Roman" panose="02020603050405020304" charset="0"/>
              </a:rPr>
              <a:t>目标</a:t>
            </a:r>
            <a:endParaRPr lang="en-US" altLang="zh-CN"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572376" y="1356887"/>
            <a:ext cx="10946524" cy="3169285"/>
          </a:xfrm>
          <a:prstGeom prst="rect">
            <a:avLst/>
          </a:prstGeom>
          <a:noFill/>
        </p:spPr>
        <p:txBody>
          <a:bodyPr wrap="square">
            <a:spAutoFit/>
          </a:bodyPr>
          <a:lstStyle/>
          <a:p>
            <a:r>
              <a:rPr lang="en-US" altLang="zh-CN" sz="2000" b="1" dirty="0">
                <a:solidFill>
                  <a:srgbClr val="FF0000"/>
                </a:solidFill>
              </a:rPr>
              <a:t>详细了解</a:t>
            </a:r>
            <a:r>
              <a:rPr lang="en-US" altLang="zh-CN" sz="2000" b="1" dirty="0">
                <a:solidFill>
                  <a:schemeClr val="tx1"/>
                </a:solidFill>
              </a:rPr>
              <a:t>相关</a:t>
            </a:r>
            <a:r>
              <a:rPr lang="zh-CN" altLang="en-US" sz="2000" b="1" dirty="0">
                <a:solidFill>
                  <a:schemeClr val="tx1"/>
                </a:solidFill>
              </a:rPr>
              <a:t>需求</a:t>
            </a:r>
            <a:r>
              <a:rPr lang="en-US" altLang="zh-CN" sz="2000" b="1" dirty="0">
                <a:solidFill>
                  <a:schemeClr val="tx1"/>
                </a:solidFill>
              </a:rPr>
              <a:t>。</a:t>
            </a:r>
            <a:endParaRPr lang="en-US" altLang="zh-CN" sz="2000" dirty="0"/>
          </a:p>
          <a:p>
            <a:endParaRPr lang="en-US" altLang="zh-CN" sz="2000" b="1" dirty="0">
              <a:solidFill>
                <a:srgbClr val="515223"/>
              </a:solidFill>
              <a:latin typeface="Helvetica" pitchFamily="2" charset="0"/>
              <a:cs typeface="Arial" panose="020B0604020202090204" pitchFamily="34" charset="0"/>
            </a:endParaRPr>
          </a:p>
          <a:p>
            <a:r>
              <a:rPr lang="en-US" altLang="zh-CN" sz="2000" b="1" dirty="0">
                <a:solidFill>
                  <a:srgbClr val="FF0000"/>
                </a:solidFill>
              </a:rPr>
              <a:t>确保客户</a:t>
            </a:r>
            <a:r>
              <a:rPr lang="en-US" altLang="zh-CN" sz="2000" b="1" dirty="0">
                <a:solidFill>
                  <a:schemeClr val="tx1"/>
                </a:solidFill>
              </a:rPr>
              <a:t>和</a:t>
            </a:r>
            <a:r>
              <a:rPr lang="en-US" altLang="zh-CN" sz="2000" b="1" dirty="0">
                <a:solidFill>
                  <a:srgbClr val="FF0000"/>
                </a:solidFill>
              </a:rPr>
              <a:t>开发人员</a:t>
            </a:r>
            <a:r>
              <a:rPr lang="en-US" altLang="zh-CN" sz="2000" b="1" dirty="0">
                <a:solidFill>
                  <a:schemeClr val="tx1"/>
                </a:solidFill>
              </a:rPr>
              <a:t>充分理解各项</a:t>
            </a:r>
            <a:r>
              <a:rPr lang="zh-CN" altLang="en-US" sz="2000" b="1" dirty="0">
                <a:solidFill>
                  <a:schemeClr val="tx1"/>
                </a:solidFill>
              </a:rPr>
              <a:t>需求</a:t>
            </a:r>
            <a:r>
              <a:rPr lang="en-US" altLang="zh-CN" sz="2000" b="1" dirty="0">
                <a:solidFill>
                  <a:schemeClr val="tx1"/>
                </a:solidFill>
              </a:rPr>
              <a:t>及其</a:t>
            </a:r>
            <a:r>
              <a:rPr lang="en-US" altLang="zh-CN" sz="2000" b="1" dirty="0">
                <a:solidFill>
                  <a:srgbClr val="FF0000"/>
                </a:solidFill>
              </a:rPr>
              <a:t>影响</a:t>
            </a:r>
            <a:r>
              <a:rPr lang="en-US" altLang="zh-CN" sz="2000" b="1" dirty="0">
                <a:solidFill>
                  <a:schemeClr val="tx1"/>
                </a:solidFill>
              </a:rPr>
              <a:t>。</a:t>
            </a:r>
            <a:endParaRPr lang="en-US" altLang="zh-CN" sz="2000" b="1" dirty="0">
              <a:solidFill>
                <a:schemeClr val="tx1"/>
              </a:solidFill>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a:p>
            <a:r>
              <a:rPr lang="en-US" altLang="zh-CN" sz="2000" b="1" dirty="0">
                <a:solidFill>
                  <a:schemeClr val="tx1"/>
                </a:solidFill>
              </a:rPr>
              <a:t>以客户能够</a:t>
            </a:r>
            <a:r>
              <a:rPr lang="en-US" altLang="zh-CN" sz="2000" b="1" dirty="0">
                <a:solidFill>
                  <a:srgbClr val="FF0000"/>
                </a:solidFill>
              </a:rPr>
              <a:t>清晰理解</a:t>
            </a:r>
            <a:r>
              <a:rPr lang="en-US" altLang="zh-CN" sz="2000" b="1" dirty="0">
                <a:solidFill>
                  <a:schemeClr val="tx1"/>
                </a:solidFill>
              </a:rPr>
              <a:t>的方式明确需求。这可以是书面规范、原型系统或其他形式的沟通方式。</a:t>
            </a:r>
            <a:endParaRPr lang="en-US" altLang="zh-CN" sz="2000" dirty="0">
              <a:solidFill>
                <a:schemeClr val="tx1"/>
              </a:solidFill>
            </a:endParaRPr>
          </a:p>
          <a:p>
            <a:endParaRPr lang="en-US" altLang="zh-CN" sz="2000" b="1" dirty="0">
              <a:solidFill>
                <a:schemeClr val="tx1"/>
              </a:solidFill>
              <a:latin typeface="Helvetica" pitchFamily="2" charset="0"/>
              <a:cs typeface="Arial" panose="020B0604020202090204" pitchFamily="34" charset="0"/>
            </a:endParaRPr>
          </a:p>
          <a:p>
            <a:r>
              <a:rPr lang="en-US" altLang="zh-CN" sz="2000" b="1" dirty="0">
                <a:solidFill>
                  <a:schemeClr val="tx1"/>
                </a:solidFill>
              </a:rPr>
              <a:t>以清晰易懂的方式定义系统需求，确保</a:t>
            </a:r>
            <a:r>
              <a:rPr lang="en-US" altLang="zh-CN" sz="2000" b="1" dirty="0">
                <a:solidFill>
                  <a:srgbClr val="FF0000"/>
                </a:solidFill>
              </a:rPr>
              <a:t>设计</a:t>
            </a:r>
            <a:r>
              <a:rPr lang="en-US" altLang="zh-CN" sz="2000" b="1" dirty="0">
                <a:solidFill>
                  <a:schemeClr val="tx1"/>
                </a:solidFill>
              </a:rPr>
              <a:t>、</a:t>
            </a:r>
            <a:r>
              <a:rPr lang="en-US" altLang="zh-CN" sz="2000" b="1" dirty="0">
                <a:solidFill>
                  <a:srgbClr val="FF0000"/>
                </a:solidFill>
              </a:rPr>
              <a:t>实施</a:t>
            </a:r>
            <a:r>
              <a:rPr lang="en-US" altLang="zh-CN" sz="2000" b="1" dirty="0">
                <a:solidFill>
                  <a:schemeClr val="tx1"/>
                </a:solidFill>
              </a:rPr>
              <a:t>及</a:t>
            </a:r>
            <a:r>
              <a:rPr lang="en-US" altLang="zh-CN" sz="2000" b="1" dirty="0">
                <a:solidFill>
                  <a:srgbClr val="FF0000"/>
                </a:solidFill>
              </a:rPr>
              <a:t>维护</a:t>
            </a:r>
            <a:r>
              <a:rPr lang="en-US" altLang="zh-CN" sz="2000" b="1" dirty="0">
                <a:solidFill>
                  <a:schemeClr val="tx1"/>
                </a:solidFill>
              </a:rPr>
              <a:t>系统的人员都能准确理解。</a:t>
            </a:r>
            <a:endParaRPr lang="en-US" altLang="zh-CN" sz="2000" b="1" dirty="0">
              <a:solidFill>
                <a:schemeClr val="tx1"/>
              </a:solidFill>
            </a:endParaRPr>
          </a:p>
          <a:p>
            <a:endParaRPr lang="en-US" altLang="zh-CN" sz="2000" b="1" dirty="0">
              <a:solidFill>
                <a:srgbClr val="515223"/>
              </a:solidFill>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a:p>
            <a:r>
              <a:rPr lang="en-US" altLang="zh-CN" sz="2000" b="1" dirty="0">
                <a:solidFill>
                  <a:srgbClr val="515223"/>
                </a:solidFill>
                <a:latin typeface="Helvetica" pitchFamily="2" charset="0"/>
                <a:cs typeface="Arial" panose="020B0604020202090204" pitchFamily="34" charset="0"/>
              </a:rPr>
              <a:t>“我们对您需求的理解是……”</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latin typeface="Times New Roman" panose="02020603050405020304" charset="0"/>
              </a:rPr>
              <a:t>非功能性需求</a:t>
            </a:r>
            <a:endParaRPr lang="en-US" altLang="zh-CN"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572376" y="1690062"/>
            <a:ext cx="10946524" cy="316928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与系统必须执行的功能无直接关联的</a:t>
            </a:r>
            <a:r>
              <a:rPr lang="zh-CN" altLang="en-US" sz="2000" b="1" dirty="0">
                <a:solidFill>
                  <a:srgbClr val="515223"/>
                </a:solidFill>
                <a:latin typeface="Helvetica" pitchFamily="2" charset="0"/>
                <a:cs typeface="Arial" panose="020B0604020202090204" pitchFamily="34" charset="0"/>
              </a:rPr>
              <a:t>需求</a:t>
            </a:r>
            <a:endParaRPr lang="en-US" altLang="zh-CN" sz="2000" b="1" dirty="0">
              <a:solidFill>
                <a:srgbClr val="515223"/>
              </a:solidFill>
              <a:latin typeface="Helvetica" pitchFamily="2" charset="0"/>
              <a:cs typeface="Arial" panose="020B0604020202090204" pitchFamily="34" charset="0"/>
            </a:endParaRPr>
          </a:p>
          <a:p>
            <a:endParaRPr lang="en-US" altLang="zh-CN" sz="2000" dirty="0"/>
          </a:p>
          <a:p>
            <a:r>
              <a:rPr lang="en-US" altLang="zh-CN" sz="2000" b="1" dirty="0">
                <a:solidFill>
                  <a:srgbClr val="515223"/>
                </a:solidFill>
                <a:latin typeface="Helvetica" pitchFamily="2" charset="0"/>
                <a:cs typeface="Arial" panose="020B0604020202090204" pitchFamily="34" charset="0"/>
              </a:rPr>
              <a:t>产品</a:t>
            </a:r>
            <a:r>
              <a:rPr lang="zh-CN" altLang="en-US" sz="2000" b="1" dirty="0">
                <a:solidFill>
                  <a:srgbClr val="515223"/>
                </a:solidFill>
                <a:latin typeface="Helvetica" pitchFamily="2" charset="0"/>
                <a:cs typeface="Arial" panose="020B0604020202090204" pitchFamily="34" charset="0"/>
              </a:rPr>
              <a:t>需</a:t>
            </a:r>
            <a:r>
              <a:rPr lang="en-US" altLang="zh-CN" sz="2000" b="1" dirty="0">
                <a:solidFill>
                  <a:srgbClr val="515223"/>
                </a:solidFill>
                <a:latin typeface="Helvetica" pitchFamily="2" charset="0"/>
                <a:cs typeface="Arial" panose="020B0604020202090204" pitchFamily="34" charset="0"/>
              </a:rPr>
              <a:t>求：性能、可靠性、便携性等……</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组织</a:t>
            </a:r>
            <a:r>
              <a:rPr lang="zh-CN" altLang="en-US" sz="2000" b="1" dirty="0">
                <a:solidFill>
                  <a:srgbClr val="515223"/>
                </a:solidFill>
                <a:latin typeface="Helvetica" pitchFamily="2" charset="0"/>
                <a:cs typeface="Arial" panose="020B0604020202090204" pitchFamily="34" charset="0"/>
              </a:rPr>
              <a:t>需</a:t>
            </a:r>
            <a:r>
              <a:rPr lang="en-US" altLang="zh-CN" sz="2000" b="1" dirty="0">
                <a:solidFill>
                  <a:srgbClr val="515223"/>
                </a:solidFill>
                <a:latin typeface="Helvetica" pitchFamily="2" charset="0"/>
                <a:cs typeface="Arial" panose="020B0604020202090204" pitchFamily="34" charset="0"/>
              </a:rPr>
              <a:t>求：交付、培训、标准等……</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外部</a:t>
            </a:r>
            <a:r>
              <a:rPr lang="zh-CN" altLang="en-US" sz="2000" b="1" dirty="0">
                <a:solidFill>
                  <a:srgbClr val="515223"/>
                </a:solidFill>
                <a:latin typeface="Helvetica" pitchFamily="2" charset="0"/>
                <a:cs typeface="Arial" panose="020B0604020202090204" pitchFamily="34" charset="0"/>
              </a:rPr>
              <a:t>需</a:t>
            </a:r>
            <a:r>
              <a:rPr lang="en-US" altLang="zh-CN" sz="2000" b="1" dirty="0">
                <a:solidFill>
                  <a:srgbClr val="515223"/>
                </a:solidFill>
                <a:latin typeface="Helvetica" pitchFamily="2" charset="0"/>
                <a:cs typeface="Arial" panose="020B0604020202090204" pitchFamily="34" charset="0"/>
              </a:rPr>
              <a:t>求：法律合规、互操作性等……</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市场营销与公共关系</a:t>
            </a:r>
            <a:endParaRPr lang="en-US" altLang="zh-CN" sz="2000" b="1" dirty="0">
              <a:solidFill>
                <a:srgbClr val="515223"/>
              </a:solidFill>
              <a:latin typeface="Helvetica" pitchFamily="2" charset="0"/>
              <a:cs typeface="Arial" panose="020B0604020202090204" pitchFamily="34" charset="0"/>
            </a:endParaRPr>
          </a:p>
          <a:p>
            <a:endParaRPr lang="en-US" altLang="zh-CN" sz="2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latin typeface="Times New Roman" panose="02020603050405020304" charset="0"/>
              </a:rPr>
              <a:t>需求与系统设计</a:t>
            </a:r>
            <a:endParaRPr lang="en-US" altLang="zh-CN"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572375" y="1954013"/>
            <a:ext cx="11163995" cy="255454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技术决策</a:t>
            </a:r>
            <a:endParaRPr lang="en-US" altLang="zh-CN" sz="2000" b="1" dirty="0">
              <a:solidFill>
                <a:srgbClr val="515223"/>
              </a:solidFill>
              <a:latin typeface="Helvetica" pitchFamily="2" charset="0"/>
              <a:cs typeface="Arial" panose="020B0604020202090204" pitchFamily="34" charset="0"/>
            </a:endParaRPr>
          </a:p>
          <a:p>
            <a:r>
              <a:rPr lang="en-US" altLang="zh-CN" sz="2000" dirty="0"/>
              <a:t>需求分析应对系统设计做出最少的假设。</a:t>
            </a:r>
            <a:endParaRPr lang="en-US" altLang="zh-CN" sz="2000" dirty="0"/>
          </a:p>
          <a:p>
            <a:r>
              <a:rPr lang="en-US" altLang="zh-CN" sz="2000" dirty="0"/>
              <a:t>但需求定义必须与计算技术及可用资源相一致。</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在实践中，分析与设计是相互交织的。然而：</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1. 不得让对设计的假设影响需求分析。</a:t>
            </a:r>
            <a:endParaRPr lang="en-US" altLang="zh-CN" sz="2000" dirty="0"/>
          </a:p>
          <a:p>
            <a:pPr lvl="1"/>
            <a:r>
              <a:rPr lang="en-US" altLang="zh-CN" sz="2000" dirty="0"/>
              <a:t>2. 不应让需求分析预先影响系统设计。</a:t>
            </a:r>
            <a:endParaRPr lang="en-US" altLang="zh-CN" sz="2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dirty="0">
                <a:latin typeface="Times New Roman" panose="02020603050405020304" charset="0"/>
              </a:rPr>
              <a:t>场景</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572375" y="1954013"/>
            <a:ext cx="11163995" cy="2861310"/>
          </a:xfrm>
          <a:prstGeom prst="rect">
            <a:avLst/>
          </a:prstGeom>
          <a:noFill/>
        </p:spPr>
        <p:txBody>
          <a:bodyPr wrap="square">
            <a:spAutoFit/>
          </a:bodyPr>
          <a:lstStyle/>
          <a:p>
            <a:r>
              <a:rPr lang="zh-CN" altLang="en-US" sz="2000" b="1" dirty="0">
                <a:solidFill>
                  <a:srgbClr val="515223"/>
                </a:solidFill>
                <a:latin typeface="Helvetica" pitchFamily="2" charset="0"/>
                <a:cs typeface="Arial" panose="020B0604020202090204" pitchFamily="34" charset="0"/>
              </a:rPr>
              <a:t>场景</a:t>
            </a:r>
            <a:endParaRPr lang="en-US" altLang="zh-CN" sz="2000" b="1" dirty="0">
              <a:solidFill>
                <a:srgbClr val="515223"/>
              </a:solidFill>
              <a:latin typeface="Helvetica" pitchFamily="2" charset="0"/>
              <a:cs typeface="Arial" panose="020B0604020202090204" pitchFamily="34" charset="0"/>
            </a:endParaRPr>
          </a:p>
          <a:p>
            <a:r>
              <a:rPr lang="en-US" altLang="zh-CN" sz="2000" dirty="0"/>
              <a:t>场景用于展示与所提议系统之间某种交互关系。</a:t>
            </a:r>
            <a:endParaRPr lang="en-US" altLang="zh-CN" sz="2000" dirty="0"/>
          </a:p>
          <a:p>
            <a:r>
              <a:rPr lang="en-US" altLang="zh-CN" sz="2000" dirty="0"/>
              <a:t>场景是需求分析过程中用于描述所提议系统特定用途的工具。场景通过具体示例，从外部视角（例如用户视角）来呈现该系统。</a:t>
            </a:r>
            <a:endParaRPr lang="en-US" altLang="zh-CN" sz="2000" dirty="0"/>
          </a:p>
          <a:p>
            <a:endParaRPr lang="en-US" altLang="zh-CN" sz="2000" b="1" dirty="0">
              <a:solidFill>
                <a:srgbClr val="515223"/>
              </a:solidFill>
              <a:latin typeface="Helvetica" pitchFamily="2" charset="0"/>
              <a:cs typeface="Arial" panose="020B0604020202090204" pitchFamily="34" charset="0"/>
            </a:endParaRPr>
          </a:p>
          <a:p>
            <a:r>
              <a:rPr lang="en-US" altLang="zh-CN" sz="2000" b="1" dirty="0">
                <a:solidFill>
                  <a:srgbClr val="515223"/>
                </a:solidFill>
                <a:latin typeface="Helvetica" pitchFamily="2" charset="0"/>
                <a:cs typeface="Arial" panose="020B0604020202090204" pitchFamily="34" charset="0"/>
              </a:rPr>
              <a:t>术语说明</a:t>
            </a:r>
            <a:endParaRPr lang="en-US" altLang="zh-CN" sz="2000" b="1" dirty="0">
              <a:solidFill>
                <a:srgbClr val="515223"/>
              </a:solidFill>
              <a:latin typeface="Helvetica" pitchFamily="2" charset="0"/>
              <a:cs typeface="Arial" panose="020B0604020202090204" pitchFamily="34" charset="0"/>
            </a:endParaRPr>
          </a:p>
          <a:p>
            <a:r>
              <a:rPr lang="en-US" altLang="zh-CN" sz="2000" dirty="0"/>
              <a:t>部分学者将“scenario”一词限定为指用户与系统的整体交互过程。</a:t>
            </a:r>
            <a:endParaRPr lang="en-US" altLang="zh-CN" sz="2000" dirty="0"/>
          </a:p>
          <a:p>
            <a:r>
              <a:rPr lang="en-US" altLang="zh-CN" sz="2000" dirty="0"/>
              <a:t>其他作者使用“</a:t>
            </a:r>
            <a:r>
              <a:rPr lang="zh-CN" altLang="en-US" sz="2000" dirty="0"/>
              <a:t>场景</a:t>
            </a:r>
            <a:r>
              <a:rPr lang="en-US" altLang="zh-CN" sz="2000" dirty="0"/>
              <a:t>”一词来指代互动过程中的特定环节。</a:t>
            </a:r>
            <a:endParaRPr lang="en-US" altLang="zh-CN" sz="2000" dirty="0"/>
          </a:p>
          <a:p>
            <a:r>
              <a:rPr lang="en-US" altLang="zh-CN" sz="2000" dirty="0"/>
              <a:t>在本课程中，该术语同时具有这两种含义。</a:t>
            </a:r>
            <a:endParaRPr lang="en-US" altLang="zh-CN" sz="2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latin typeface="Times New Roman" panose="02020603050405020304" charset="0"/>
              </a:rPr>
              <a:t>描述一个场景</a:t>
            </a:r>
            <a:endParaRPr lang="en-US" altLang="zh-CN"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572375" y="1954013"/>
            <a:ext cx="11163995" cy="3785652"/>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某些组织制定了复杂的文档标准来描述特定场景。</a:t>
            </a:r>
            <a:endParaRPr lang="en-US" altLang="zh-CN" sz="2000" b="1" dirty="0">
              <a:solidFill>
                <a:srgbClr val="515223"/>
              </a:solidFill>
              <a:latin typeface="Helvetica" pitchFamily="2" charset="0"/>
              <a:cs typeface="Arial" panose="020B0604020202090204" pitchFamily="34" charset="0"/>
            </a:endParaRPr>
          </a:p>
          <a:p>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至少，描述应包括：</a:t>
            </a:r>
            <a:endParaRPr lang="en-US" altLang="zh-CN" sz="2000" b="1" dirty="0">
              <a:solidFill>
                <a:srgbClr val="515223"/>
              </a:solidFill>
              <a:latin typeface="Helvetica" pitchFamily="2" charset="0"/>
              <a:cs typeface="Arial" panose="020B0604020202090204" pitchFamily="34" charset="0"/>
            </a:endParaRPr>
          </a:p>
          <a:p>
            <a:r>
              <a:rPr lang="en-US" altLang="zh-CN" sz="2000" dirty="0"/>
              <a:t>该情景的目的说明</a:t>
            </a:r>
            <a:endParaRPr lang="en-US" altLang="zh-CN" sz="2000" dirty="0"/>
          </a:p>
          <a:p>
            <a:r>
              <a:rPr lang="en-US" altLang="zh-CN" sz="2000" dirty="0"/>
              <a:t>选择一个视角</a:t>
            </a:r>
            <a:endParaRPr lang="en-US" altLang="zh-CN" sz="2000" b="1" dirty="0">
              <a:solidFill>
                <a:srgbClr val="FF0000"/>
              </a:solidFill>
            </a:endParaRPr>
          </a:p>
          <a:p>
            <a:r>
              <a:rPr lang="en-US" altLang="zh-CN" sz="2000" dirty="0"/>
              <a:t>在该场景中被追踪的特定用户或交易；关于设备或软件的假设</a:t>
            </a:r>
            <a:endParaRPr lang="en-US" altLang="zh-CN" sz="2000" dirty="0"/>
          </a:p>
          <a:p>
            <a:r>
              <a:rPr lang="en-US" altLang="zh-CN" sz="2000" dirty="0"/>
              <a:t>该情景的步骤</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在敏捷开发中，场景被定义为用户故事。</a:t>
            </a:r>
            <a:endParaRPr lang="en-US" altLang="zh-CN" sz="2000" b="1" dirty="0">
              <a:solidFill>
                <a:srgbClr val="515223"/>
              </a:solidFill>
              <a:latin typeface="Helvetica" pitchFamily="2" charset="0"/>
              <a:cs typeface="Arial" panose="020B0604020202090204" pitchFamily="34" charset="0"/>
            </a:endParaRPr>
          </a:p>
          <a:p>
            <a:endParaRPr lang="en-US" altLang="zh-CN" sz="2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sz="3200" dirty="0">
                <a:latin typeface="Times New Roman" panose="02020603050405020304" charset="0"/>
              </a:rPr>
              <a:t>需求建模</a:t>
            </a:r>
            <a:endParaRPr lang="en-US" altLang="zh-CN" sz="32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572375" y="1689853"/>
            <a:ext cx="11163995" cy="3476625"/>
          </a:xfrm>
          <a:prstGeom prst="rect">
            <a:avLst/>
          </a:prstGeom>
          <a:noFill/>
        </p:spPr>
        <p:txBody>
          <a:bodyPr wrap="square">
            <a:spAutoFit/>
          </a:bodyPr>
          <a:lstStyle/>
          <a:p>
            <a:r>
              <a:rPr lang="en-US" altLang="zh-CN" sz="2000" b="1" dirty="0">
                <a:solidFill>
                  <a:srgbClr val="FF0000"/>
                </a:solidFill>
              </a:rPr>
              <a:t>模型</a:t>
            </a:r>
            <a:endParaRPr lang="en-US" altLang="zh-CN" sz="2000" b="1" dirty="0">
              <a:solidFill>
                <a:srgbClr val="FF0000"/>
              </a:solidFill>
            </a:endParaRPr>
          </a:p>
          <a:p>
            <a:endParaRPr lang="en-US" altLang="zh-CN" sz="2000" b="1" dirty="0">
              <a:solidFill>
                <a:srgbClr val="FF0000"/>
              </a:solidFill>
            </a:endParaRPr>
          </a:p>
          <a:p>
            <a:r>
              <a:rPr lang="en-US" altLang="zh-CN" sz="2000" b="1" dirty="0">
                <a:solidFill>
                  <a:srgbClr val="FF0000"/>
                </a:solidFill>
              </a:rPr>
              <a:t>场景分析有助于与客户讨论拟建系统，但在全面理解系统之前，需求必须更加明确。</a:t>
            </a:r>
            <a:endParaRPr lang="en-US" altLang="zh-CN" sz="2000" dirty="0"/>
          </a:p>
          <a:p>
            <a:endParaRPr lang="en-US" altLang="zh-CN" sz="2000" dirty="0"/>
          </a:p>
          <a:p>
            <a:r>
              <a:rPr lang="en-US" altLang="zh-CN" sz="2000" dirty="0"/>
              <a:t>这就是需求建模的目的。</a:t>
            </a:r>
            <a:endParaRPr lang="en-US" altLang="zh-CN" sz="2000" dirty="0"/>
          </a:p>
          <a:p>
            <a:endParaRPr lang="en-US" altLang="zh-CN" sz="2000" dirty="0"/>
          </a:p>
          <a:p>
            <a:r>
              <a:rPr lang="en-US" altLang="zh-CN" sz="2000" dirty="0"/>
              <a:t>一个用例（Use Case）提供了这样的模型。</a:t>
            </a:r>
            <a:endParaRPr lang="en-US" altLang="zh-CN" sz="2000" dirty="0"/>
          </a:p>
          <a:p>
            <a:endParaRPr lang="en-US" altLang="zh-CN" sz="2000" dirty="0"/>
          </a:p>
          <a:p>
            <a:endParaRPr lang="en-US" altLang="zh-CN" sz="2000" dirty="0"/>
          </a:p>
          <a:p>
            <a:endParaRPr lang="en-US" altLang="zh-CN" sz="2000" dirty="0"/>
          </a:p>
          <a:p>
            <a:endParaRPr lang="en-US" altLang="zh-CN" sz="2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sz="3200" dirty="0">
                <a:latin typeface="Times New Roman" panose="02020603050405020304" charset="0"/>
              </a:rPr>
              <a:t>用例图</a:t>
            </a:r>
            <a:endParaRPr lang="en-US" altLang="zh-CN" sz="32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5" y="1689853"/>
            <a:ext cx="11163995" cy="1631216"/>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用例图</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用例图展示了参与者之间的关系及其与系统的交互方式。</a:t>
            </a:r>
            <a:endParaRPr lang="en-US" altLang="zh-CN" sz="2000" dirty="0"/>
          </a:p>
          <a:p>
            <a:pPr lvl="1"/>
            <a:endParaRPr lang="en-US" altLang="zh-CN" sz="2000" dirty="0"/>
          </a:p>
          <a:p>
            <a:pPr lvl="1"/>
            <a:r>
              <a:rPr lang="en-US" altLang="zh-CN" sz="2000" dirty="0"/>
              <a:t>它并未阐明这些互动背后的逻辑。</a:t>
            </a:r>
            <a:endParaRPr lang="en-US" altLang="zh-CN" sz="2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8883325" cy="790865"/>
          </a:xfrm>
        </p:spPr>
        <p:txBody>
          <a:bodyPr>
            <a:noAutofit/>
          </a:bodyPr>
          <a:lstStyle/>
          <a:p>
            <a:r>
              <a:rPr lang="en-US" altLang="zh-CN" dirty="0">
                <a:latin typeface="Times New Roman" panose="02020603050405020304" charset="0"/>
              </a:rPr>
              <a:t>UML模型</a:t>
            </a:r>
            <a:endParaRPr lang="en-US" altLang="zh-CN"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TextBox 3"/>
          <p:cNvSpPr txBox="1"/>
          <p:nvPr/>
        </p:nvSpPr>
        <p:spPr>
          <a:xfrm>
            <a:off x="493549" y="1886302"/>
            <a:ext cx="10946524" cy="4093428"/>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主要用于需求分析的模型</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solidFill>
                  <a:srgbClr val="FF0000"/>
                </a:solidFill>
              </a:rPr>
              <a:t>用例图</a:t>
            </a:r>
            <a:r>
              <a:rPr lang="en-US" altLang="zh-CN" sz="2000" dirty="0">
                <a:solidFill>
                  <a:schemeClr val="tx1"/>
                </a:solidFill>
              </a:rPr>
              <a:t>展示了若干用例、参与者及其相互关系。</a:t>
            </a:r>
            <a:endParaRPr lang="en-US" altLang="zh-CN" sz="2000" dirty="0">
              <a:solidFill>
                <a:schemeClr val="tx1"/>
              </a:solidFill>
            </a:endParaRPr>
          </a:p>
          <a:p>
            <a:endParaRPr lang="en-US" altLang="zh-CN" sz="2000" dirty="0"/>
          </a:p>
          <a:p>
            <a:r>
              <a:rPr lang="en-US" altLang="zh-CN" sz="2000" b="1" dirty="0">
                <a:solidFill>
                  <a:srgbClr val="515223"/>
                </a:solidFill>
                <a:latin typeface="Helvetica" pitchFamily="2" charset="0"/>
                <a:cs typeface="Arial" panose="020B0604020202090204" pitchFamily="34" charset="0"/>
              </a:rPr>
              <a:t>这些模型主要用于系统架构设计。</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solidFill>
                  <a:srgbClr val="FF0000"/>
                </a:solidFill>
              </a:rPr>
              <a:t>组件图</a:t>
            </a:r>
            <a:r>
              <a:rPr lang="en-US" altLang="zh-CN" sz="2000" dirty="0">
                <a:solidFill>
                  <a:schemeClr val="tx1"/>
                </a:solidFill>
              </a:rPr>
              <a:t>展示了组件集合之间的组织结构及依赖关系。</a:t>
            </a:r>
            <a:endParaRPr lang="en-US" altLang="zh-CN" sz="2000" dirty="0">
              <a:solidFill>
                <a:schemeClr val="tx1"/>
              </a:solidFill>
            </a:endParaRPr>
          </a:p>
          <a:p>
            <a:pPr marL="800100" lvl="1" indent="-342900">
              <a:buFont typeface="Arial" panose="020B0604020202090204" pitchFamily="34" charset="0"/>
              <a:buChar char="•"/>
            </a:pPr>
            <a:r>
              <a:rPr lang="en-US" altLang="zh-CN" sz="2000" dirty="0">
                <a:solidFill>
                  <a:srgbClr val="FF0000"/>
                </a:solidFill>
              </a:rPr>
              <a:t>部署图</a:t>
            </a:r>
            <a:r>
              <a:rPr lang="en-US" altLang="zh-CN" sz="2000" dirty="0">
                <a:solidFill>
                  <a:schemeClr val="tx1"/>
                </a:solidFill>
              </a:rPr>
              <a:t>展示了处理节点的配置及其上运行的组件。</a:t>
            </a:r>
            <a:endParaRPr lang="en-US" altLang="zh-CN" sz="2000" dirty="0">
              <a:solidFill>
                <a:schemeClr val="tx1"/>
              </a:solidFill>
            </a:endParaRPr>
          </a:p>
          <a:p>
            <a:endParaRPr lang="en-US" altLang="zh-CN" sz="2000" dirty="0"/>
          </a:p>
          <a:p>
            <a:r>
              <a:rPr lang="en-US" altLang="zh-CN" sz="2000" b="1" dirty="0">
                <a:solidFill>
                  <a:srgbClr val="515223"/>
                </a:solidFill>
                <a:latin typeface="Helvetica" pitchFamily="2" charset="0"/>
                <a:cs typeface="Arial" panose="020B0604020202090204" pitchFamily="34" charset="0"/>
              </a:rPr>
              <a:t>这些模型主要用于程序设计。</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solidFill>
                  <a:srgbClr val="FF0000"/>
                </a:solidFill>
              </a:rPr>
              <a:t>类图</a:t>
            </a:r>
            <a:r>
              <a:rPr lang="en-US" altLang="zh-CN" sz="2000" dirty="0">
                <a:solidFill>
                  <a:schemeClr val="tx1"/>
                </a:solidFill>
              </a:rPr>
              <a:t>展示了各类别、接口及其协作关系。</a:t>
            </a:r>
            <a:endParaRPr lang="en-US" altLang="zh-CN" sz="2000" dirty="0"/>
          </a:p>
          <a:p>
            <a:pPr marL="800100" lvl="1" indent="-342900">
              <a:buFont typeface="Arial" panose="020B0604020202090204" pitchFamily="34" charset="0"/>
              <a:buChar char="•"/>
            </a:pPr>
            <a:r>
              <a:rPr lang="en-US" altLang="zh-CN" sz="2000" dirty="0">
                <a:solidFill>
                  <a:srgbClr val="FF0000"/>
                </a:solidFill>
              </a:rPr>
              <a:t>对象图</a:t>
            </a:r>
            <a:r>
              <a:rPr lang="en-US" altLang="zh-CN" sz="2000" dirty="0">
                <a:solidFill>
                  <a:schemeClr val="tx1"/>
                </a:solidFill>
              </a:rPr>
              <a:t>或</a:t>
            </a:r>
            <a:r>
              <a:rPr lang="en-US" altLang="zh-CN" sz="2000" dirty="0">
                <a:solidFill>
                  <a:srgbClr val="FF0000"/>
                </a:solidFill>
              </a:rPr>
              <a:t>序列图</a:t>
            </a:r>
            <a:r>
              <a:rPr lang="en-US" altLang="zh-CN" sz="2000" dirty="0">
                <a:solidFill>
                  <a:schemeClr val="tx1"/>
                </a:solidFill>
              </a:rPr>
              <a:t>展示了多个对象及其相互关系。</a:t>
            </a:r>
            <a:endParaRPr lang="en-US" altLang="zh-CN" sz="2000" b="1" dirty="0">
              <a:solidFill>
                <a:schemeClr val="tx1"/>
              </a:solidFill>
              <a:latin typeface="Helvetica" pitchFamily="2" charset="0"/>
              <a:cs typeface="Arial" panose="020B0604020202090204" pitchFamily="34"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sz="3200" dirty="0">
                <a:latin typeface="Times New Roman" panose="02020603050405020304" charset="0"/>
              </a:rPr>
              <a:t>模型：UML中的图示与规范</a:t>
            </a:r>
            <a:endParaRPr lang="en-US" altLang="zh-CN" sz="32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5" y="1689853"/>
            <a:ext cx="11163995" cy="2246769"/>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在UML中，模型由一张图和一份规范组成。</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图是一种元素集合的图形化表示，通常呈现为由顶点（事物）和弧线（关系）构成的连通图。</a:t>
            </a:r>
            <a:endParaRPr lang="en-US" altLang="zh-CN" sz="2000" dirty="0"/>
          </a:p>
          <a:p>
            <a:pPr lvl="1"/>
            <a:r>
              <a:rPr lang="en-US" altLang="zh-CN" sz="2000" dirty="0"/>
              <a:t>每张图表均配有技术文档作为支持，该文档详细说明了图表所表示的模型。</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没有详细说明的图表几乎毫无用处。</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zh-CN" altLang="en-US" sz="3200" dirty="0">
                <a:latin typeface="Times New Roman" panose="02020603050405020304" charset="0"/>
              </a:rPr>
              <a:t>行动者（</a:t>
            </a:r>
            <a:r>
              <a:rPr lang="en-US" altLang="zh-CN" sz="3200" dirty="0">
                <a:latin typeface="Times New Roman" panose="02020603050405020304" charset="0"/>
              </a:rPr>
              <a:t>actor</a:t>
            </a:r>
            <a:r>
              <a:rPr lang="zh-CN" altLang="en-US" sz="3200" dirty="0">
                <a:latin typeface="Times New Roman" panose="02020603050405020304" charset="0"/>
              </a:rPr>
              <a:t>）</a:t>
            </a:r>
            <a:r>
              <a:rPr lang="en-US" altLang="zh-CN" sz="3200" dirty="0">
                <a:latin typeface="Times New Roman" panose="02020603050405020304" charset="0"/>
              </a:rPr>
              <a:t>与用例图</a:t>
            </a:r>
            <a:endParaRPr lang="en-US" altLang="zh-CN" sz="32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4" name="图片 3"/>
          <p:cNvPicPr>
            <a:picLocks noChangeAspect="1"/>
          </p:cNvPicPr>
          <p:nvPr/>
        </p:nvPicPr>
        <p:blipFill>
          <a:blip r:embed="rId1"/>
          <a:stretch>
            <a:fillRect/>
          </a:stretch>
        </p:blipFill>
        <p:spPr>
          <a:xfrm>
            <a:off x="2256689" y="1204921"/>
            <a:ext cx="2293819" cy="2540724"/>
          </a:xfrm>
          <a:prstGeom prst="rect">
            <a:avLst/>
          </a:prstGeom>
        </p:spPr>
      </p:pic>
      <p:pic>
        <p:nvPicPr>
          <p:cNvPr id="5" name="图片 4"/>
          <p:cNvPicPr>
            <a:picLocks noChangeAspect="1"/>
          </p:cNvPicPr>
          <p:nvPr/>
        </p:nvPicPr>
        <p:blipFill>
          <a:blip r:embed="rId2"/>
          <a:stretch>
            <a:fillRect/>
          </a:stretch>
        </p:blipFill>
        <p:spPr>
          <a:xfrm>
            <a:off x="2190002" y="3656232"/>
            <a:ext cx="2427191" cy="2378808"/>
          </a:xfrm>
          <a:prstGeom prst="rect">
            <a:avLst/>
          </a:prstGeom>
        </p:spPr>
      </p:pic>
      <p:sp>
        <p:nvSpPr>
          <p:cNvPr id="6" name="TextBox 3"/>
          <p:cNvSpPr txBox="1"/>
          <p:nvPr/>
        </p:nvSpPr>
        <p:spPr>
          <a:xfrm>
            <a:off x="4947920" y="1834515"/>
            <a:ext cx="5588635" cy="706755"/>
          </a:xfrm>
          <a:prstGeom prst="rect">
            <a:avLst/>
          </a:prstGeom>
          <a:noFill/>
        </p:spPr>
        <p:txBody>
          <a:bodyPr wrap="square">
            <a:spAutoFit/>
          </a:bodyPr>
          <a:lstStyle/>
          <a:p>
            <a:r>
              <a:rPr lang="zh-CN" altLang="en-US" sz="2000" dirty="0"/>
              <a:t>行动者</a:t>
            </a:r>
            <a:r>
              <a:rPr lang="en-US" altLang="zh-CN" sz="2000" dirty="0"/>
              <a:t>是指以特定角色使用该系统的用户。</a:t>
            </a:r>
            <a:endParaRPr lang="en-US" altLang="zh-CN" sz="2000" dirty="0"/>
          </a:p>
          <a:p>
            <a:r>
              <a:rPr lang="zh-CN" altLang="en-US" sz="2000" dirty="0"/>
              <a:t>行动者</a:t>
            </a:r>
            <a:r>
              <a:rPr lang="en-US" altLang="zh-CN" sz="2000" dirty="0"/>
              <a:t>可以是人类，也可以是外部系统。</a:t>
            </a:r>
            <a:endParaRPr lang="en-US" altLang="zh-CN" sz="2000" dirty="0"/>
          </a:p>
        </p:txBody>
      </p:sp>
      <p:sp>
        <p:nvSpPr>
          <p:cNvPr id="7" name="TextBox 3"/>
          <p:cNvSpPr txBox="1"/>
          <p:nvPr/>
        </p:nvSpPr>
        <p:spPr>
          <a:xfrm>
            <a:off x="4947920" y="4459605"/>
            <a:ext cx="6257290" cy="398780"/>
          </a:xfrm>
          <a:prstGeom prst="rect">
            <a:avLst/>
          </a:prstGeom>
          <a:noFill/>
        </p:spPr>
        <p:txBody>
          <a:bodyPr wrap="square">
            <a:spAutoFit/>
          </a:bodyPr>
          <a:lstStyle/>
          <a:p>
            <a:r>
              <a:rPr lang="en-US" altLang="zh-CN" sz="2000" dirty="0"/>
              <a:t>用例是指行动者需要借助系统来完成的任务。</a:t>
            </a:r>
            <a:endParaRPr lang="en-US" altLang="zh-CN" sz="2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353226" cy="790865"/>
          </a:xfrm>
        </p:spPr>
        <p:txBody>
          <a:bodyPr>
            <a:noAutofit/>
          </a:bodyPr>
          <a:lstStyle/>
          <a:p>
            <a:r>
              <a:rPr lang="en-US" altLang="zh-CN" sz="3000" dirty="0">
                <a:latin typeface="Times New Roman" panose="02020603050405020304" charset="0"/>
              </a:rPr>
              <a:t>用例之间的关系：&lt;&lt;extends&gt;&gt;</a:t>
            </a:r>
            <a:r>
              <a:rPr lang="zh-CN" altLang="en-US" sz="3000" dirty="0">
                <a:latin typeface="Times New Roman" panose="02020603050405020304" charset="0"/>
              </a:rPr>
              <a:t>（</a:t>
            </a:r>
            <a:r>
              <a:rPr lang="zh-CN" altLang="en-US" sz="3000" dirty="0">
                <a:latin typeface="Times New Roman" panose="02020603050405020304" charset="0"/>
              </a:rPr>
              <a:t>扩展）</a:t>
            </a:r>
            <a:endParaRPr lang="zh-CN" altLang="en-US" sz="30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4" name="图片 3"/>
          <p:cNvPicPr>
            <a:picLocks noChangeAspect="1"/>
          </p:cNvPicPr>
          <p:nvPr/>
        </p:nvPicPr>
        <p:blipFill>
          <a:blip r:embed="rId1"/>
          <a:stretch>
            <a:fillRect/>
          </a:stretch>
        </p:blipFill>
        <p:spPr>
          <a:xfrm>
            <a:off x="1506701" y="1589967"/>
            <a:ext cx="9178598" cy="3678066"/>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sz="3200" dirty="0">
                <a:latin typeface="Times New Roman" panose="02020603050405020304" charset="0"/>
              </a:rPr>
              <a:t>&lt;&lt;extends&gt;&gt; 关系</a:t>
            </a:r>
            <a:endParaRPr lang="en-US" altLang="zh-CN" sz="32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572375" y="1689853"/>
            <a:ext cx="11163995" cy="1631216"/>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“extends”关系</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用例可以利用其他用例。</a:t>
            </a:r>
            <a:endParaRPr lang="en-US" altLang="zh-CN" sz="2000" dirty="0"/>
          </a:p>
          <a:p>
            <a:pPr lvl="1"/>
            <a:endParaRPr lang="en-US" altLang="zh-CN" sz="2000" dirty="0"/>
          </a:p>
          <a:p>
            <a:pPr lvl="1"/>
            <a:r>
              <a:rPr lang="en-US" altLang="zh-CN" sz="2000" dirty="0"/>
              <a:t>若某个替代流程或异常需要更详细的描述，可通过「extends」关系将其建模为独立用例。</a:t>
            </a:r>
            <a:endParaRPr lang="en-US" altLang="zh-CN" sz="2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sz="3200" dirty="0">
                <a:latin typeface="Times New Roman" panose="02020603050405020304" charset="0"/>
              </a:rPr>
              <a:t>&lt;&lt;includes&gt;&gt;</a:t>
            </a:r>
            <a:r>
              <a:rPr lang="zh-CN" altLang="en-US" sz="3200" dirty="0">
                <a:latin typeface="Times New Roman" panose="02020603050405020304" charset="0"/>
              </a:rPr>
              <a:t>（</a:t>
            </a:r>
            <a:r>
              <a:rPr lang="zh-CN" altLang="en-US" sz="3200" dirty="0">
                <a:latin typeface="Times New Roman" panose="02020603050405020304" charset="0"/>
              </a:rPr>
              <a:t>包含）</a:t>
            </a:r>
            <a:r>
              <a:rPr lang="en-US" altLang="zh-CN" sz="3200" dirty="0">
                <a:latin typeface="Times New Roman" panose="02020603050405020304" charset="0"/>
              </a:rPr>
              <a:t>关系</a:t>
            </a:r>
            <a:endParaRPr lang="en-US" altLang="zh-CN" sz="32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5" y="1689853"/>
            <a:ext cx="11163995" cy="1322070"/>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a:t>
            </a:r>
            <a:r>
              <a:rPr lang="zh-CN" altLang="en-US" sz="2000" b="1" dirty="0">
                <a:solidFill>
                  <a:srgbClr val="515223"/>
                </a:solidFill>
                <a:latin typeface="Helvetica" pitchFamily="2" charset="0"/>
                <a:cs typeface="Arial" panose="020B0604020202090204" pitchFamily="34" charset="0"/>
              </a:rPr>
              <a:t>包含</a:t>
            </a:r>
            <a:r>
              <a:rPr lang="en-US" altLang="zh-CN" sz="2000" b="1" dirty="0">
                <a:solidFill>
                  <a:srgbClr val="515223"/>
                </a:solidFill>
                <a:latin typeface="Helvetica" pitchFamily="2" charset="0"/>
                <a:cs typeface="Arial" panose="020B0604020202090204" pitchFamily="34" charset="0"/>
              </a:rPr>
              <a:t>”关系</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a:t>
            </a:r>
            <a:r>
              <a:rPr lang="zh-CN" altLang="en-US" sz="2000" dirty="0"/>
              <a:t>包含</a:t>
            </a:r>
            <a:r>
              <a:rPr lang="en-US" altLang="zh-CN" sz="2000" dirty="0"/>
              <a:t>”关系允许某个用例包含来自其他用例的步骤。</a:t>
            </a:r>
            <a:endParaRPr lang="en-US" altLang="zh-CN" sz="2000" dirty="0"/>
          </a:p>
          <a:p>
            <a:pPr lvl="1"/>
            <a:endParaRPr lang="en-US" altLang="zh-CN" sz="2000" dirty="0"/>
          </a:p>
          <a:p>
            <a:pPr lvl="1"/>
            <a:r>
              <a:rPr lang="en-US" altLang="zh-CN" sz="2000" dirty="0"/>
              <a:t>当所包含的用例出现在其他场景中时，这一点尤为宝贵。此类功能通常独立开发而成。</a:t>
            </a:r>
            <a:endParaRPr lang="en-US" altLang="zh-CN" sz="2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sz="3000" dirty="0">
                <a:latin typeface="Times New Roman" panose="02020603050405020304" charset="0"/>
              </a:rPr>
              <a:t>用例之间的关系：&lt;&lt;</a:t>
            </a:r>
            <a:r>
              <a:rPr lang="en-US" altLang="zh-CN" sz="3000" dirty="0">
                <a:latin typeface="Times New Roman" panose="02020603050405020304" charset="0"/>
              </a:rPr>
              <a:t>includes&gt;&gt;</a:t>
            </a:r>
            <a:endParaRPr lang="en-US" altLang="zh-CN" sz="30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4" name="图片 3"/>
          <p:cNvPicPr>
            <a:picLocks noChangeAspect="1"/>
          </p:cNvPicPr>
          <p:nvPr/>
        </p:nvPicPr>
        <p:blipFill>
          <a:blip r:embed="rId1"/>
          <a:stretch>
            <a:fillRect/>
          </a:stretch>
        </p:blipFill>
        <p:spPr>
          <a:xfrm>
            <a:off x="1157066" y="1453516"/>
            <a:ext cx="9877868" cy="2841096"/>
          </a:xfrm>
          <a:prstGeom prst="rect">
            <a:avLst/>
          </a:prstGeom>
        </p:spPr>
      </p:pic>
      <p:sp>
        <p:nvSpPr>
          <p:cNvPr id="5" name="TextBox 3"/>
          <p:cNvSpPr txBox="1"/>
          <p:nvPr/>
        </p:nvSpPr>
        <p:spPr>
          <a:xfrm>
            <a:off x="6496374" y="4617594"/>
            <a:ext cx="4029386" cy="707886"/>
          </a:xfrm>
          <a:prstGeom prst="rect">
            <a:avLst/>
          </a:prstGeom>
          <a:noFill/>
        </p:spPr>
        <p:txBody>
          <a:bodyPr wrap="square">
            <a:spAutoFit/>
          </a:bodyPr>
          <a:lstStyle/>
          <a:p>
            <a:r>
              <a:rPr lang="en-US" altLang="zh-CN" sz="2000" dirty="0"/>
              <a:t>该认证用例也可应用于其他场景。</a:t>
            </a:r>
            <a:endParaRPr lang="en-US" altLang="zh-CN" sz="2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sz="3200" dirty="0">
                <a:latin typeface="Times New Roman" panose="02020603050405020304" charset="0"/>
              </a:rPr>
              <a:t>涉及多个</a:t>
            </a:r>
            <a:r>
              <a:rPr lang="zh-CN" altLang="en-US" sz="3200" dirty="0">
                <a:latin typeface="Times New Roman" panose="02020603050405020304" charset="0"/>
              </a:rPr>
              <a:t>行动者</a:t>
            </a:r>
            <a:r>
              <a:rPr lang="en-US" altLang="zh-CN" sz="3200" dirty="0">
                <a:latin typeface="Times New Roman" panose="02020603050405020304" charset="0"/>
              </a:rPr>
              <a:t>的用例</a:t>
            </a:r>
            <a:endParaRPr lang="en-US" altLang="zh-CN" sz="32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4" name="图片 3"/>
          <p:cNvPicPr>
            <a:picLocks noChangeAspect="1"/>
          </p:cNvPicPr>
          <p:nvPr/>
        </p:nvPicPr>
        <p:blipFill>
          <a:blip r:embed="rId1"/>
          <a:stretch>
            <a:fillRect/>
          </a:stretch>
        </p:blipFill>
        <p:spPr>
          <a:xfrm>
            <a:off x="2530950" y="1178130"/>
            <a:ext cx="7130100" cy="4314813"/>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sz="3200" dirty="0">
                <a:latin typeface="Times New Roman" panose="02020603050405020304" charset="0"/>
              </a:rPr>
              <a:t>数据流</a:t>
            </a:r>
            <a:r>
              <a:rPr lang="zh-CN" altLang="en-US" sz="3200" dirty="0">
                <a:latin typeface="Times New Roman" panose="02020603050405020304" charset="0"/>
              </a:rPr>
              <a:t>（</a:t>
            </a:r>
            <a:r>
              <a:rPr lang="en-US" altLang="zh-CN" sz="3200" dirty="0">
                <a:latin typeface="Times New Roman" panose="02020603050405020304" charset="0"/>
              </a:rPr>
              <a:t>Data-Flow</a:t>
            </a:r>
            <a:r>
              <a:rPr lang="zh-CN" altLang="en-US" sz="3200" dirty="0">
                <a:latin typeface="Times New Roman" panose="02020603050405020304" charset="0"/>
              </a:rPr>
              <a:t>）</a:t>
            </a:r>
            <a:r>
              <a:rPr lang="en-US" altLang="zh-CN" sz="3200" dirty="0">
                <a:latin typeface="Times New Roman" panose="02020603050405020304" charset="0"/>
              </a:rPr>
              <a:t>模型</a:t>
            </a:r>
            <a:endParaRPr lang="en-US" altLang="zh-CN" sz="32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14002" y="1435853"/>
            <a:ext cx="11163995" cy="400110"/>
          </a:xfrm>
          <a:prstGeom prst="rect">
            <a:avLst/>
          </a:prstGeom>
          <a:noFill/>
        </p:spPr>
        <p:txBody>
          <a:bodyPr wrap="square">
            <a:spAutoFit/>
          </a:bodyPr>
          <a:lstStyle/>
          <a:p>
            <a:r>
              <a:rPr lang="en-US" altLang="zh-CN" sz="2000" dirty="0"/>
              <a:t>一种非正式的建模技术，用于展示数据在系统中的流动过程。</a:t>
            </a:r>
            <a:endParaRPr lang="en-US" altLang="zh-CN" sz="2000" dirty="0"/>
          </a:p>
        </p:txBody>
      </p:sp>
      <p:pic>
        <p:nvPicPr>
          <p:cNvPr id="4" name="图片 3"/>
          <p:cNvPicPr>
            <a:picLocks noChangeAspect="1"/>
          </p:cNvPicPr>
          <p:nvPr/>
        </p:nvPicPr>
        <p:blipFill>
          <a:blip r:embed="rId1"/>
          <a:stretch>
            <a:fillRect/>
          </a:stretch>
        </p:blipFill>
        <p:spPr>
          <a:xfrm>
            <a:off x="3784599" y="2112393"/>
            <a:ext cx="4622800" cy="3728439"/>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sz="3200" dirty="0">
                <a:latin typeface="Times New Roman" panose="02020603050405020304" charset="0"/>
              </a:rPr>
              <a:t>数据流模型示例：大学招生（首次尝试）</a:t>
            </a:r>
            <a:br>
              <a:rPr lang="en-US" altLang="zh-CN" sz="3200" dirty="0">
                <a:latin typeface="Times New Roman" panose="02020603050405020304" charset="0"/>
              </a:rPr>
            </a:br>
            <a:endParaRPr lang="en-US" altLang="zh-CN" sz="32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6" name="图片 5"/>
          <p:cNvPicPr>
            <a:picLocks noChangeAspect="1"/>
          </p:cNvPicPr>
          <p:nvPr/>
        </p:nvPicPr>
        <p:blipFill>
          <a:blip r:embed="rId1"/>
          <a:stretch>
            <a:fillRect/>
          </a:stretch>
        </p:blipFill>
        <p:spPr>
          <a:xfrm>
            <a:off x="1424809" y="1349168"/>
            <a:ext cx="9342381" cy="4159664"/>
          </a:xfrm>
          <a:prstGeom prst="rect">
            <a:avLst/>
          </a:prstGeom>
        </p:spPr>
      </p:pic>
      <p:sp>
        <p:nvSpPr>
          <p:cNvPr id="4" name="Rectangle 3"/>
          <p:cNvSpPr/>
          <p:nvPr/>
        </p:nvSpPr>
        <p:spPr>
          <a:xfrm>
            <a:off x="1719470" y="3985591"/>
            <a:ext cx="4502426" cy="15232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有什么问题吗？</a:t>
            </a:r>
            <a:endParaRPr lang="en-US" dirty="0">
              <a:solidFill>
                <a:schemeClr val="tx1"/>
              </a:solidFill>
            </a:endParaRPr>
          </a:p>
        </p:txBody>
      </p:sp>
      <p:pic>
        <p:nvPicPr>
          <p:cNvPr id="5" name="图片 3"/>
          <p:cNvPicPr>
            <a:picLocks noChangeAspect="1"/>
          </p:cNvPicPr>
          <p:nvPr/>
        </p:nvPicPr>
        <p:blipFill>
          <a:blip r:embed="rId2"/>
          <a:stretch>
            <a:fillRect/>
          </a:stretch>
        </p:blipFill>
        <p:spPr>
          <a:xfrm>
            <a:off x="97753" y="4513601"/>
            <a:ext cx="2177034" cy="1755849"/>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sz="3200" dirty="0">
                <a:latin typeface="Times New Roman" panose="02020603050405020304" charset="0"/>
              </a:rPr>
              <a:t>数据流模型示例：大学招生（首次尝试）</a:t>
            </a:r>
            <a:br>
              <a:rPr lang="en-US" altLang="zh-CN" sz="3200" dirty="0">
                <a:latin typeface="Times New Roman" panose="02020603050405020304" charset="0"/>
              </a:rPr>
            </a:br>
            <a:endParaRPr lang="en-US" altLang="zh-CN" sz="32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6" name="图片 5"/>
          <p:cNvPicPr>
            <a:picLocks noChangeAspect="1"/>
          </p:cNvPicPr>
          <p:nvPr/>
        </p:nvPicPr>
        <p:blipFill>
          <a:blip r:embed="rId1"/>
          <a:stretch>
            <a:fillRect/>
          </a:stretch>
        </p:blipFill>
        <p:spPr>
          <a:xfrm>
            <a:off x="1424809" y="1349168"/>
            <a:ext cx="9342381" cy="4159664"/>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sz="3200" dirty="0">
                <a:latin typeface="Times New Roman" panose="02020603050405020304" charset="0"/>
              </a:rPr>
              <a:t>数据流模型示例：组装应用程序</a:t>
            </a:r>
            <a:br>
              <a:rPr lang="en-US" altLang="zh-CN" sz="3200" dirty="0">
                <a:latin typeface="Times New Roman" panose="02020603050405020304" charset="0"/>
              </a:rPr>
            </a:br>
            <a:endParaRPr lang="en-US" altLang="zh-CN" sz="32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4" name="图片 3"/>
          <p:cNvPicPr>
            <a:picLocks noChangeAspect="1"/>
          </p:cNvPicPr>
          <p:nvPr/>
        </p:nvPicPr>
        <p:blipFill>
          <a:blip r:embed="rId1"/>
          <a:stretch>
            <a:fillRect/>
          </a:stretch>
        </p:blipFill>
        <p:spPr>
          <a:xfrm>
            <a:off x="1404356" y="1306410"/>
            <a:ext cx="9383288" cy="4474630"/>
          </a:xfrm>
          <a:prstGeom prst="rect">
            <a:avLst/>
          </a:prstGeom>
        </p:spPr>
      </p:pic>
      <p:pic>
        <p:nvPicPr>
          <p:cNvPr id="5" name="图片 3"/>
          <p:cNvPicPr>
            <a:picLocks noChangeAspect="1"/>
          </p:cNvPicPr>
          <p:nvPr/>
        </p:nvPicPr>
        <p:blipFill>
          <a:blip r:embed="rId2"/>
          <a:stretch>
            <a:fillRect/>
          </a:stretch>
        </p:blipFill>
        <p:spPr>
          <a:xfrm>
            <a:off x="0" y="4461352"/>
            <a:ext cx="2177034" cy="1755849"/>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sz="3200" dirty="0">
                <a:latin typeface="Times New Roman" panose="02020603050405020304" charset="0"/>
              </a:rPr>
              <a:t>数据流模型示例：已完成的应用程序处理流程</a:t>
            </a:r>
            <a:br>
              <a:rPr lang="en-US" altLang="zh-CN" sz="3200" dirty="0">
                <a:latin typeface="Times New Roman" panose="02020603050405020304" charset="0"/>
              </a:rPr>
            </a:br>
            <a:endParaRPr lang="en-US" altLang="zh-CN" sz="32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4" name="图片 3"/>
          <p:cNvPicPr>
            <a:picLocks noChangeAspect="1"/>
          </p:cNvPicPr>
          <p:nvPr/>
        </p:nvPicPr>
        <p:blipFill>
          <a:blip r:embed="rId1"/>
          <a:stretch>
            <a:fillRect/>
          </a:stretch>
        </p:blipFill>
        <p:spPr>
          <a:xfrm>
            <a:off x="1811611" y="1128068"/>
            <a:ext cx="8568778" cy="4774892"/>
          </a:xfrm>
          <a:prstGeom prst="rect">
            <a:avLst/>
          </a:prstGeom>
        </p:spPr>
      </p:pic>
      <p:pic>
        <p:nvPicPr>
          <p:cNvPr id="5" name="图片 3"/>
          <p:cNvPicPr>
            <a:picLocks noChangeAspect="1"/>
          </p:cNvPicPr>
          <p:nvPr/>
        </p:nvPicPr>
        <p:blipFill>
          <a:blip r:embed="rId2"/>
          <a:stretch>
            <a:fillRect/>
          </a:stretch>
        </p:blipFill>
        <p:spPr>
          <a:xfrm>
            <a:off x="0" y="4461352"/>
            <a:ext cx="2177034" cy="1755849"/>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sz="3200" dirty="0">
                <a:latin typeface="Times New Roman" panose="02020603050405020304" charset="0"/>
              </a:rPr>
              <a:t>流程图</a:t>
            </a:r>
            <a:r>
              <a:rPr lang="zh-CN" altLang="en-US" sz="3200" dirty="0">
                <a:latin typeface="Times New Roman" panose="02020603050405020304" charset="0"/>
              </a:rPr>
              <a:t>（</a:t>
            </a:r>
            <a:r>
              <a:rPr lang="en-US" altLang="zh-CN" sz="3200" dirty="0">
                <a:latin typeface="Times New Roman" panose="02020603050405020304" charset="0"/>
              </a:rPr>
              <a:t>Flow Chat</a:t>
            </a:r>
            <a:r>
              <a:rPr lang="zh-CN" altLang="en-US" sz="3200" dirty="0">
                <a:latin typeface="Times New Roman" panose="02020603050405020304" charset="0"/>
              </a:rPr>
              <a:t>）</a:t>
            </a:r>
            <a:r>
              <a:rPr lang="en-US" altLang="zh-CN" sz="3200" dirty="0">
                <a:latin typeface="Times New Roman" panose="02020603050405020304" charset="0"/>
              </a:rPr>
              <a:t>模型</a:t>
            </a:r>
            <a:endParaRPr lang="en-US" altLang="zh-CN" sz="32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5" y="1364733"/>
            <a:ext cx="11163995" cy="707886"/>
          </a:xfrm>
          <a:prstGeom prst="rect">
            <a:avLst/>
          </a:prstGeom>
          <a:noFill/>
        </p:spPr>
        <p:txBody>
          <a:bodyPr wrap="square">
            <a:spAutoFit/>
          </a:bodyPr>
          <a:lstStyle/>
          <a:p>
            <a:r>
              <a:rPr lang="en-US" altLang="zh-CN" sz="2000" dirty="0"/>
              <a:t>一种非正式建模技术，用于展示系统某部分的逻辑结构以及数据在系统中的传输路径。</a:t>
            </a:r>
            <a:endParaRPr lang="en-US" altLang="zh-CN" sz="2000" b="1" dirty="0">
              <a:solidFill>
                <a:srgbClr val="515223"/>
              </a:solidFill>
              <a:latin typeface="Helvetica" pitchFamily="2" charset="0"/>
              <a:cs typeface="Arial" panose="020B0604020202090204" pitchFamily="34" charset="0"/>
            </a:endParaRPr>
          </a:p>
        </p:txBody>
      </p:sp>
      <p:pic>
        <p:nvPicPr>
          <p:cNvPr id="5" name="图片 4"/>
          <p:cNvPicPr>
            <a:picLocks noChangeAspect="1"/>
          </p:cNvPicPr>
          <p:nvPr/>
        </p:nvPicPr>
        <p:blipFill>
          <a:blip r:embed="rId1"/>
          <a:stretch>
            <a:fillRect/>
          </a:stretch>
        </p:blipFill>
        <p:spPr>
          <a:xfrm>
            <a:off x="3955120" y="2072619"/>
            <a:ext cx="4281759" cy="3862189"/>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10318867" cy="790865"/>
          </a:xfrm>
        </p:spPr>
        <p:txBody>
          <a:bodyPr>
            <a:normAutofit/>
          </a:bodyPr>
          <a:lstStyle/>
          <a:p>
            <a:r>
              <a:rPr lang="en-US" dirty="0">
                <a:latin typeface="Times New Roman" panose="02020603050405020304" charset="0"/>
              </a:rPr>
              <a:t>示例：大学招生处接收申请表</a:t>
            </a:r>
            <a:endParaRPr 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182756" y="1480931"/>
            <a:ext cx="9569711" cy="4747710"/>
          </a:xfrm>
          <a:prstGeom prst="rect">
            <a:avLst/>
          </a:prstGeom>
        </p:spPr>
      </p:pic>
      <p:sp>
        <p:nvSpPr>
          <p:cNvPr id="6" name="Rectangle 5"/>
          <p:cNvSpPr/>
          <p:nvPr/>
        </p:nvSpPr>
        <p:spPr>
          <a:xfrm>
            <a:off x="6096000" y="4373217"/>
            <a:ext cx="3041926" cy="18554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与 Data-flow 相比？</a:t>
            </a:r>
            <a:endParaRPr lang="en-US" dirty="0">
              <a:solidFill>
                <a:srgbClr val="C00000"/>
              </a:solidFill>
            </a:endParaRPr>
          </a:p>
        </p:txBody>
      </p:sp>
      <p:pic>
        <p:nvPicPr>
          <p:cNvPr id="4" name="图片 4"/>
          <p:cNvPicPr>
            <a:picLocks noChangeAspect="1"/>
          </p:cNvPicPr>
          <p:nvPr/>
        </p:nvPicPr>
        <p:blipFill>
          <a:blip r:embed="rId2"/>
          <a:stretch>
            <a:fillRect/>
          </a:stretch>
        </p:blipFill>
        <p:spPr>
          <a:xfrm>
            <a:off x="0" y="3836505"/>
            <a:ext cx="2662408" cy="2401518"/>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charset="0"/>
              </a:rPr>
              <a:t>系统架构图</a:t>
            </a:r>
            <a:endParaRPr 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585076" y="1619250"/>
            <a:ext cx="8562224" cy="4146548"/>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charset="0"/>
              </a:rPr>
              <a:t>各种图表的用途</a:t>
            </a:r>
            <a:endParaRPr 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234267" y="1657609"/>
            <a:ext cx="6143733" cy="4242547"/>
          </a:xfrm>
          <a:prstGeom prst="rect">
            <a:avLst/>
          </a:prstGeom>
        </p:spPr>
      </p:pic>
      <p:sp>
        <p:nvSpPr>
          <p:cNvPr id="7" name="TextBox 6"/>
          <p:cNvSpPr txBox="1"/>
          <p:nvPr/>
        </p:nvSpPr>
        <p:spPr>
          <a:xfrm>
            <a:off x="412115" y="1832610"/>
            <a:ext cx="3991610" cy="2553335"/>
          </a:xfrm>
          <a:prstGeom prst="rect">
            <a:avLst/>
          </a:prstGeom>
          <a:noFill/>
        </p:spPr>
        <p:txBody>
          <a:bodyPr wrap="square">
            <a:spAutoFit/>
          </a:bodyPr>
          <a:lstStyle/>
          <a:p>
            <a:pPr>
              <a:spcBef>
                <a:spcPts val="1800"/>
              </a:spcBef>
            </a:pPr>
            <a:r>
              <a:rPr lang="en-US" sz="2000" b="1" dirty="0">
                <a:solidFill>
                  <a:srgbClr val="515223"/>
                </a:solidFill>
                <a:latin typeface="Helvetica" pitchFamily="2" charset="0"/>
                <a:cs typeface="Arial" panose="020B0604020202090204" pitchFamily="34" charset="0"/>
              </a:rPr>
              <a:t>用例</a:t>
            </a:r>
            <a:r>
              <a:rPr lang="zh-CN" altLang="en-US" sz="2000" b="1" dirty="0">
                <a:solidFill>
                  <a:srgbClr val="515223"/>
                </a:solidFill>
                <a:latin typeface="Helvetica" pitchFamily="2" charset="0"/>
                <a:cs typeface="Arial" panose="020B0604020202090204" pitchFamily="34" charset="0"/>
              </a:rPr>
              <a:t>（</a:t>
            </a:r>
            <a:r>
              <a:rPr lang="en-US" altLang="zh-CN" sz="2000" b="1" dirty="0">
                <a:solidFill>
                  <a:srgbClr val="515223"/>
                </a:solidFill>
                <a:latin typeface="Helvetica" pitchFamily="2" charset="0"/>
                <a:cs typeface="Arial" panose="020B0604020202090204" pitchFamily="34" charset="0"/>
              </a:rPr>
              <a:t>Use Case</a:t>
            </a:r>
            <a:r>
              <a:rPr lang="zh-CN" altLang="en-US" sz="2000" b="1" dirty="0">
                <a:solidFill>
                  <a:srgbClr val="515223"/>
                </a:solidFill>
                <a:latin typeface="Helvetica" pitchFamily="2" charset="0"/>
                <a:cs typeface="Arial" panose="020B0604020202090204" pitchFamily="34" charset="0"/>
              </a:rPr>
              <a:t>）</a:t>
            </a:r>
            <a:r>
              <a:rPr lang="en-US" sz="2000" b="1" dirty="0">
                <a:solidFill>
                  <a:srgbClr val="515223"/>
                </a:solidFill>
                <a:latin typeface="Helvetica" pitchFamily="2" charset="0"/>
                <a:cs typeface="Arial" panose="020B0604020202090204" pitchFamily="34" charset="0"/>
              </a:rPr>
              <a:t>视图</a:t>
            </a:r>
            <a:endParaRPr lang="en-US" sz="2000" b="1" dirty="0">
              <a:solidFill>
                <a:srgbClr val="515223"/>
              </a:solidFill>
              <a:latin typeface="Helvetica" pitchFamily="2" charset="0"/>
              <a:cs typeface="Arial" panose="020B0604020202090204" pitchFamily="34" charset="0"/>
            </a:endParaRPr>
          </a:p>
          <a:p>
            <a:pPr>
              <a:spcBef>
                <a:spcPts val="1800"/>
              </a:spcBef>
            </a:pPr>
            <a:r>
              <a:rPr lang="en-US" sz="2000" b="1" dirty="0">
                <a:solidFill>
                  <a:srgbClr val="515223"/>
                </a:solidFill>
                <a:latin typeface="Helvetica" pitchFamily="2" charset="0"/>
                <a:cs typeface="Arial" panose="020B0604020202090204" pitchFamily="34" charset="0"/>
              </a:rPr>
              <a:t>逻辑</a:t>
            </a:r>
            <a:r>
              <a:rPr lang="zh-CN" altLang="en-US" sz="2000" b="1" dirty="0">
                <a:solidFill>
                  <a:srgbClr val="515223"/>
                </a:solidFill>
                <a:latin typeface="Helvetica" pitchFamily="2" charset="0"/>
                <a:cs typeface="Arial" panose="020B0604020202090204" pitchFamily="34" charset="0"/>
              </a:rPr>
              <a:t>（</a:t>
            </a:r>
            <a:r>
              <a:rPr lang="en-US" altLang="zh-CN" sz="2000" b="1" dirty="0">
                <a:solidFill>
                  <a:srgbClr val="515223"/>
                </a:solidFill>
                <a:latin typeface="Helvetica" pitchFamily="2" charset="0"/>
                <a:cs typeface="Arial" panose="020B0604020202090204" pitchFamily="34" charset="0"/>
              </a:rPr>
              <a:t>Logical</a:t>
            </a:r>
            <a:r>
              <a:rPr lang="zh-CN" altLang="en-US" sz="2000" b="1" dirty="0">
                <a:solidFill>
                  <a:srgbClr val="515223"/>
                </a:solidFill>
                <a:latin typeface="Helvetica" pitchFamily="2" charset="0"/>
                <a:cs typeface="Arial" panose="020B0604020202090204" pitchFamily="34" charset="0"/>
              </a:rPr>
              <a:t>）</a:t>
            </a:r>
            <a:r>
              <a:rPr lang="en-US" sz="2000" b="1" dirty="0">
                <a:solidFill>
                  <a:srgbClr val="515223"/>
                </a:solidFill>
                <a:latin typeface="Helvetica" pitchFamily="2" charset="0"/>
                <a:cs typeface="Arial" panose="020B0604020202090204" pitchFamily="34" charset="0"/>
              </a:rPr>
              <a:t>视图</a:t>
            </a:r>
            <a:endParaRPr lang="en-US" sz="2000" b="1" dirty="0">
              <a:solidFill>
                <a:srgbClr val="515223"/>
              </a:solidFill>
              <a:latin typeface="Helvetica" pitchFamily="2" charset="0"/>
              <a:cs typeface="Arial" panose="020B0604020202090204" pitchFamily="34" charset="0"/>
            </a:endParaRPr>
          </a:p>
          <a:p>
            <a:pPr>
              <a:spcBef>
                <a:spcPts val="1800"/>
              </a:spcBef>
            </a:pPr>
            <a:r>
              <a:rPr lang="en-US" sz="2000" b="1" dirty="0">
                <a:solidFill>
                  <a:srgbClr val="515223"/>
                </a:solidFill>
                <a:latin typeface="Helvetica" pitchFamily="2" charset="0"/>
                <a:cs typeface="Arial" panose="020B0604020202090204" pitchFamily="34" charset="0"/>
              </a:rPr>
              <a:t>实现</a:t>
            </a:r>
            <a:r>
              <a:rPr lang="zh-CN" altLang="en-US" sz="2000" b="1" dirty="0">
                <a:solidFill>
                  <a:srgbClr val="515223"/>
                </a:solidFill>
                <a:latin typeface="Helvetica" pitchFamily="2" charset="0"/>
                <a:cs typeface="Arial" panose="020B0604020202090204" pitchFamily="34" charset="0"/>
              </a:rPr>
              <a:t>（</a:t>
            </a:r>
            <a:r>
              <a:rPr lang="en-US" altLang="zh-CN" sz="2000" b="1" dirty="0">
                <a:solidFill>
                  <a:srgbClr val="515223"/>
                </a:solidFill>
                <a:latin typeface="Helvetica" pitchFamily="2" charset="0"/>
                <a:cs typeface="Arial" panose="020B0604020202090204" pitchFamily="34" charset="0"/>
              </a:rPr>
              <a:t>Implementation</a:t>
            </a:r>
            <a:r>
              <a:rPr lang="zh-CN" altLang="en-US" sz="2000" b="1" dirty="0">
                <a:solidFill>
                  <a:srgbClr val="515223"/>
                </a:solidFill>
                <a:latin typeface="Helvetica" pitchFamily="2" charset="0"/>
                <a:cs typeface="Arial" panose="020B0604020202090204" pitchFamily="34" charset="0"/>
              </a:rPr>
              <a:t>）</a:t>
            </a:r>
            <a:r>
              <a:rPr lang="en-US" sz="2000" b="1" dirty="0">
                <a:solidFill>
                  <a:srgbClr val="515223"/>
                </a:solidFill>
                <a:latin typeface="Helvetica" pitchFamily="2" charset="0"/>
                <a:cs typeface="Arial" panose="020B0604020202090204" pitchFamily="34" charset="0"/>
              </a:rPr>
              <a:t>视图</a:t>
            </a:r>
            <a:endParaRPr lang="en-US" sz="2000" b="1" dirty="0">
              <a:solidFill>
                <a:srgbClr val="515223"/>
              </a:solidFill>
              <a:latin typeface="Helvetica" pitchFamily="2" charset="0"/>
              <a:cs typeface="Arial" panose="020B0604020202090204" pitchFamily="34" charset="0"/>
            </a:endParaRPr>
          </a:p>
          <a:p>
            <a:pPr>
              <a:spcBef>
                <a:spcPts val="1800"/>
              </a:spcBef>
            </a:pPr>
            <a:r>
              <a:rPr lang="en-US" sz="2000" b="1" dirty="0">
                <a:solidFill>
                  <a:srgbClr val="515223"/>
                </a:solidFill>
                <a:latin typeface="Helvetica" pitchFamily="2" charset="0"/>
                <a:cs typeface="Arial" panose="020B0604020202090204" pitchFamily="34" charset="0"/>
              </a:rPr>
              <a:t>流程</a:t>
            </a:r>
            <a:r>
              <a:rPr lang="zh-CN" altLang="en-US" sz="2000" b="1" dirty="0">
                <a:solidFill>
                  <a:srgbClr val="515223"/>
                </a:solidFill>
                <a:latin typeface="Helvetica" pitchFamily="2" charset="0"/>
                <a:cs typeface="Arial" panose="020B0604020202090204" pitchFamily="34" charset="0"/>
              </a:rPr>
              <a:t>（</a:t>
            </a:r>
            <a:r>
              <a:rPr lang="en-US" altLang="zh-CN" sz="2000" b="1" dirty="0">
                <a:solidFill>
                  <a:srgbClr val="515223"/>
                </a:solidFill>
                <a:latin typeface="Helvetica" pitchFamily="2" charset="0"/>
                <a:cs typeface="Arial" panose="020B0604020202090204" pitchFamily="34" charset="0"/>
              </a:rPr>
              <a:t>Process</a:t>
            </a:r>
            <a:r>
              <a:rPr lang="zh-CN" altLang="en-US" sz="2000" b="1" dirty="0">
                <a:solidFill>
                  <a:srgbClr val="515223"/>
                </a:solidFill>
                <a:latin typeface="Helvetica" pitchFamily="2" charset="0"/>
                <a:cs typeface="Arial" panose="020B0604020202090204" pitchFamily="34" charset="0"/>
              </a:rPr>
              <a:t>）</a:t>
            </a:r>
            <a:r>
              <a:rPr lang="en-US" sz="2000" b="1" dirty="0">
                <a:solidFill>
                  <a:srgbClr val="515223"/>
                </a:solidFill>
                <a:latin typeface="Helvetica" pitchFamily="2" charset="0"/>
                <a:cs typeface="Arial" panose="020B0604020202090204" pitchFamily="34" charset="0"/>
              </a:rPr>
              <a:t>视图</a:t>
            </a:r>
            <a:endParaRPr lang="en-US" sz="2000" b="1" dirty="0">
              <a:solidFill>
                <a:srgbClr val="515223"/>
              </a:solidFill>
              <a:latin typeface="Helvetica" pitchFamily="2" charset="0"/>
              <a:cs typeface="Arial" panose="020B0604020202090204" pitchFamily="34" charset="0"/>
            </a:endParaRPr>
          </a:p>
          <a:p>
            <a:pPr>
              <a:spcBef>
                <a:spcPts val="1800"/>
              </a:spcBef>
            </a:pPr>
            <a:r>
              <a:rPr lang="en-US" sz="2000" b="1" dirty="0">
                <a:solidFill>
                  <a:srgbClr val="515223"/>
                </a:solidFill>
                <a:latin typeface="Helvetica" pitchFamily="2" charset="0"/>
                <a:cs typeface="Arial" panose="020B0604020202090204" pitchFamily="34" charset="0"/>
              </a:rPr>
              <a:t>部署</a:t>
            </a:r>
            <a:r>
              <a:rPr lang="zh-CN" altLang="en-US" sz="2000" b="1" dirty="0">
                <a:solidFill>
                  <a:srgbClr val="515223"/>
                </a:solidFill>
                <a:latin typeface="Helvetica" pitchFamily="2" charset="0"/>
                <a:cs typeface="Arial" panose="020B0604020202090204" pitchFamily="34" charset="0"/>
              </a:rPr>
              <a:t>（</a:t>
            </a:r>
            <a:r>
              <a:rPr lang="en-US" altLang="zh-CN" sz="2000" b="1" dirty="0">
                <a:solidFill>
                  <a:srgbClr val="515223"/>
                </a:solidFill>
                <a:latin typeface="Helvetica" pitchFamily="2" charset="0"/>
                <a:cs typeface="Arial" panose="020B0604020202090204" pitchFamily="34" charset="0"/>
              </a:rPr>
              <a:t>Deployment</a:t>
            </a:r>
            <a:r>
              <a:rPr lang="zh-CN" altLang="en-US" sz="2000" b="1" dirty="0">
                <a:solidFill>
                  <a:srgbClr val="515223"/>
                </a:solidFill>
                <a:latin typeface="Helvetica" pitchFamily="2" charset="0"/>
                <a:cs typeface="Arial" panose="020B0604020202090204" pitchFamily="34" charset="0"/>
              </a:rPr>
              <a:t>）</a:t>
            </a:r>
            <a:r>
              <a:rPr lang="en-US" sz="2000" b="1" dirty="0">
                <a:solidFill>
                  <a:srgbClr val="515223"/>
                </a:solidFill>
                <a:latin typeface="Helvetica" pitchFamily="2" charset="0"/>
                <a:cs typeface="Arial" panose="020B0604020202090204" pitchFamily="34" charset="0"/>
              </a:rPr>
              <a:t>视图</a:t>
            </a:r>
            <a:endParaRPr lang="en-US"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Times New Roman" panose="02020603050405020304" charset="0"/>
              </a:rPr>
              <a:t>组件图</a:t>
            </a:r>
            <a:endParaRPr lang="zh-CN" altLang="en-US" dirty="0">
              <a:latin typeface="Times New Roman" panose="02020603050405020304" charset="0"/>
            </a:endParaRPr>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文本框 3"/>
          <p:cNvSpPr txBox="1"/>
          <p:nvPr/>
        </p:nvSpPr>
        <p:spPr>
          <a:xfrm>
            <a:off x="1090612" y="2069465"/>
            <a:ext cx="10010775" cy="2719070"/>
          </a:xfrm>
          <a:prstGeom prst="rect">
            <a:avLst/>
          </a:prstGeom>
          <a:noFill/>
        </p:spPr>
        <p:txBody>
          <a:bodyPr wrap="square" rtlCol="0" anchor="t">
            <a:noAutofit/>
          </a:bodyPr>
          <a:lstStyle/>
          <a:p>
            <a:pPr algn="l" fontAlgn="auto">
              <a:spcBef>
                <a:spcPts val="1800"/>
              </a:spcBef>
              <a:buClrTx/>
              <a:buSzTx/>
              <a:buFontTx/>
            </a:pPr>
            <a:r>
              <a:rPr lang="zh-CN" altLang="en-US" dirty="0">
                <a:solidFill>
                  <a:srgbClr val="C00000"/>
                </a:solidFill>
              </a:rPr>
              <a:t>组件</a:t>
            </a:r>
            <a:r>
              <a:rPr lang="zh-CN" altLang="en-US" dirty="0"/>
              <a:t>是系统中可替换的部件，其符合并实现了一组接口的功能。</a:t>
            </a:r>
            <a:endParaRPr lang="zh-CN" altLang="en-US" dirty="0"/>
          </a:p>
          <a:p>
            <a:pPr algn="l" fontAlgn="auto">
              <a:spcBef>
                <a:spcPts val="1800"/>
              </a:spcBef>
              <a:buClrTx/>
              <a:buSzTx/>
              <a:buFontTx/>
            </a:pPr>
            <a:r>
              <a:rPr lang="zh-CN" altLang="en-US" dirty="0">
                <a:solidFill>
                  <a:srgbClr val="C00000"/>
                </a:solidFill>
              </a:rPr>
              <a:t>组件</a:t>
            </a:r>
            <a:r>
              <a:rPr lang="zh-CN" altLang="en-US" dirty="0"/>
              <a:t>可被视为子系统的具体实现形式。</a:t>
            </a:r>
            <a:endParaRPr lang="zh-CN" altLang="en-US" dirty="0"/>
          </a:p>
          <a:p>
            <a:pPr algn="l" fontAlgn="auto">
              <a:spcBef>
                <a:spcPts val="1800"/>
              </a:spcBef>
              <a:buClrTx/>
              <a:buSzTx/>
              <a:buFontTx/>
            </a:pPr>
            <a:r>
              <a:rPr lang="en-US" altLang="zh-CN" b="1" dirty="0">
                <a:solidFill>
                  <a:srgbClr val="C00000"/>
                </a:solidFill>
              </a:rPr>
              <a:t>组件的 UML 定义</a:t>
            </a:r>
            <a:endParaRPr lang="en-US" altLang="zh-CN" b="1" dirty="0">
              <a:solidFill>
                <a:srgbClr val="C00000"/>
              </a:solidFill>
            </a:endParaRPr>
          </a:p>
          <a:p>
            <a:pPr algn="l" fontAlgn="auto">
              <a:spcBef>
                <a:spcPts val="1800"/>
              </a:spcBef>
              <a:buClrTx/>
              <a:buSzTx/>
              <a:buFontTx/>
            </a:pPr>
            <a:r>
              <a:rPr lang="zh-CN" altLang="en-US" dirty="0"/>
              <a:t>“系统中可分发的实现组件，包括软件代码（源代码、二进制文件或可执行文件），同时也涵盖业务文档等，均存储于人类系统中。”</a:t>
            </a:r>
            <a:endParaRPr lang="zh-CN" alt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latin typeface="Times New Roman" panose="02020603050405020304" charset="0"/>
              </a:rPr>
              <a:t>组件作为可更换元件</a:t>
            </a:r>
            <a:endParaRPr lang="zh-CN" altLang="en-US">
              <a:latin typeface="Times New Roman" panose="02020603050405020304" charset="0"/>
            </a:endParaRPr>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文本框 3"/>
          <p:cNvSpPr txBox="1"/>
          <p:nvPr/>
        </p:nvSpPr>
        <p:spPr>
          <a:xfrm>
            <a:off x="1091565" y="1583055"/>
            <a:ext cx="10223500" cy="3006090"/>
          </a:xfrm>
          <a:prstGeom prst="rect">
            <a:avLst/>
          </a:prstGeom>
          <a:noFill/>
        </p:spPr>
        <p:txBody>
          <a:bodyPr wrap="square" rtlCol="0" anchor="t">
            <a:noAutofit/>
          </a:bodyPr>
          <a:lstStyle/>
          <a:p>
            <a:pPr indent="0" fontAlgn="auto">
              <a:spcBef>
                <a:spcPts val="1800"/>
              </a:spcBef>
            </a:pPr>
            <a:r>
              <a:rPr lang="zh-CN" altLang="en-US" dirty="0"/>
              <a:t>组件使得系统能够由二进制可替换元件组装而成。</a:t>
            </a:r>
            <a:endParaRPr lang="en-US" altLang="zh-CN" b="1" dirty="0">
              <a:solidFill>
                <a:srgbClr val="C00000"/>
              </a:solidFill>
            </a:endParaRPr>
          </a:p>
          <a:p>
            <a:pPr indent="0" fontAlgn="auto">
              <a:spcBef>
                <a:spcPts val="1800"/>
              </a:spcBef>
            </a:pPr>
            <a:r>
              <a:rPr lang="zh-CN" altLang="en-US" dirty="0"/>
              <a:t>• 组件是比特，而非概念。</a:t>
            </a:r>
            <a:endParaRPr lang="zh-CN" altLang="en-US" dirty="0"/>
          </a:p>
          <a:p>
            <a:pPr indent="0" fontAlgn="auto">
              <a:spcBef>
                <a:spcPts val="1800"/>
              </a:spcBef>
            </a:pPr>
            <a:r>
              <a:rPr lang="zh-CN" altLang="en-US" dirty="0"/>
              <a:t>• 任何符合接口要求的其他组件均可替换该组件。</a:t>
            </a:r>
            <a:endParaRPr lang="zh-CN" altLang="en-US" dirty="0"/>
          </a:p>
          <a:p>
            <a:pPr indent="0" fontAlgn="auto">
              <a:spcBef>
                <a:spcPts val="1800"/>
              </a:spcBef>
            </a:pPr>
            <a:r>
              <a:rPr lang="zh-CN" altLang="en-US" dirty="0"/>
              <a:t>• 组件是系统的一部分。</a:t>
            </a:r>
            <a:endParaRPr lang="zh-CN" altLang="en-US" dirty="0"/>
          </a:p>
          <a:p>
            <a:pPr indent="0" fontAlgn="auto">
              <a:spcBef>
                <a:spcPts val="1800"/>
              </a:spcBef>
            </a:pPr>
            <a:r>
              <a:rPr lang="zh-CN" altLang="en-US" dirty="0"/>
              <a:t>• 该组件实现了多组接口。</a:t>
            </a:r>
            <a:endParaRPr lang="zh-CN" alt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91565" y="238125"/>
            <a:ext cx="9270365" cy="790575"/>
          </a:xfrm>
        </p:spPr>
        <p:txBody>
          <a:bodyPr>
            <a:normAutofit/>
          </a:bodyPr>
          <a:lstStyle/>
          <a:p>
            <a:r>
              <a:rPr lang="zh-CN" altLang="en-US" dirty="0">
                <a:latin typeface="Times New Roman" panose="02020603050405020304" charset="0"/>
              </a:rPr>
              <a:t>组件图与类图</a:t>
            </a:r>
            <a:endParaRPr lang="zh-CN" altLang="en-US" dirty="0">
              <a:latin typeface="Times New Roman" panose="02020603050405020304" charset="0"/>
            </a:endParaRPr>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文本框 3"/>
          <p:cNvSpPr txBox="1"/>
          <p:nvPr/>
        </p:nvSpPr>
        <p:spPr>
          <a:xfrm>
            <a:off x="1031053" y="1229061"/>
            <a:ext cx="11333517" cy="2399665"/>
          </a:xfrm>
          <a:prstGeom prst="rect">
            <a:avLst/>
          </a:prstGeom>
          <a:noFill/>
        </p:spPr>
        <p:txBody>
          <a:bodyPr wrap="square" rtlCol="0" anchor="t">
            <a:spAutoFit/>
          </a:bodyPr>
          <a:lstStyle/>
          <a:p>
            <a:pPr indent="0" fontAlgn="auto">
              <a:spcBef>
                <a:spcPts val="1800"/>
              </a:spcBef>
            </a:pPr>
            <a:r>
              <a:rPr lang="en-US" altLang="zh-CN" b="1" dirty="0">
                <a:solidFill>
                  <a:srgbClr val="515223"/>
                </a:solidFill>
              </a:rPr>
              <a:t>类代表逻辑抽象</a:t>
            </a:r>
            <a:r>
              <a:rPr lang="zh-CN" altLang="en-US" b="1" dirty="0">
                <a:solidFill>
                  <a:srgbClr val="515223"/>
                </a:solidFill>
              </a:rPr>
              <a:t>。</a:t>
            </a:r>
            <a:endParaRPr lang="zh-CN" altLang="en-US" b="1" dirty="0">
              <a:solidFill>
                <a:srgbClr val="515223"/>
              </a:solidFill>
            </a:endParaRPr>
          </a:p>
          <a:p>
            <a:pPr indent="0" fontAlgn="auto">
              <a:spcBef>
                <a:spcPts val="1800"/>
              </a:spcBef>
            </a:pPr>
            <a:r>
              <a:rPr lang="zh-CN" altLang="en-US" dirty="0"/>
              <a:t>它们包含“Tributes”（数据）和“Operations”（方法）。</a:t>
            </a:r>
            <a:endParaRPr lang="en-US" altLang="zh-CN" dirty="0"/>
          </a:p>
          <a:p>
            <a:pPr indent="0" fontAlgn="auto">
              <a:spcBef>
                <a:spcPts val="1800"/>
              </a:spcBef>
            </a:pPr>
            <a:r>
              <a:rPr lang="zh-CN" altLang="en-US" dirty="0"/>
              <a:t>各类课程可组合成完整的程序（即用于程序设计）。</a:t>
            </a:r>
            <a:endParaRPr lang="zh-CN" altLang="en-US" dirty="0"/>
          </a:p>
          <a:p>
            <a:pPr indent="0" fontAlgn="auto">
              <a:spcBef>
                <a:spcPts val="1800"/>
              </a:spcBef>
            </a:pPr>
            <a:r>
              <a:rPr lang="en-US" altLang="zh-CN" b="1" dirty="0">
                <a:solidFill>
                  <a:srgbClr val="515223"/>
                </a:solidFill>
              </a:rPr>
              <a:t>组件的操作仅能通过接口进行调用。</a:t>
            </a:r>
            <a:endParaRPr lang="en-US" altLang="zh-CN" dirty="0"/>
          </a:p>
          <a:p>
            <a:pPr indent="0" fontAlgn="auto">
              <a:spcBef>
                <a:spcPts val="1800"/>
              </a:spcBef>
            </a:pPr>
            <a:r>
              <a:rPr lang="zh-CN" altLang="en-US" dirty="0"/>
              <a:t>各组件可组合形成系统（即用于系统设计）。</a:t>
            </a:r>
            <a:endParaRPr lang="zh-CN" alt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452232" y="3629718"/>
            <a:ext cx="6666367" cy="3228415"/>
          </a:xfrm>
          <a:prstGeom prst="rect">
            <a:avLst/>
          </a:prstGeom>
        </p:spPr>
      </p:pic>
      <p:sp>
        <p:nvSpPr>
          <p:cNvPr id="6" name="Rectangle 5"/>
          <p:cNvSpPr/>
          <p:nvPr/>
        </p:nvSpPr>
        <p:spPr>
          <a:xfrm>
            <a:off x="3052483" y="5009031"/>
            <a:ext cx="981636" cy="43030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4092389" y="5009031"/>
            <a:ext cx="981636" cy="43030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stretch>
            <a:fillRect/>
          </a:stretch>
        </p:blipFill>
        <p:spPr>
          <a:xfrm>
            <a:off x="1159698" y="1028700"/>
            <a:ext cx="7757160" cy="4904105"/>
          </a:xfrm>
          <a:prstGeom prst="rect">
            <a:avLst/>
          </a:prstGeom>
        </p:spPr>
      </p:pic>
      <p:sp>
        <p:nvSpPr>
          <p:cNvPr id="2" name="标题 1"/>
          <p:cNvSpPr>
            <a:spLocks noGrp="1"/>
          </p:cNvSpPr>
          <p:nvPr>
            <p:ph type="title"/>
          </p:nvPr>
        </p:nvSpPr>
        <p:spPr>
          <a:xfrm>
            <a:off x="1091565" y="238125"/>
            <a:ext cx="9015095" cy="790575"/>
          </a:xfrm>
        </p:spPr>
        <p:txBody>
          <a:bodyPr>
            <a:normAutofit/>
          </a:bodyPr>
          <a:lstStyle/>
          <a:p>
            <a:r>
              <a:rPr lang="zh-CN" altLang="en-US">
                <a:latin typeface="Times New Roman" panose="02020603050405020304" charset="0"/>
              </a:rPr>
              <a:t>一道旧考试题目：</a:t>
            </a:r>
            <a:endParaRPr lang="zh-CN" altLang="en-US">
              <a:latin typeface="Times New Roman" panose="02020603050405020304" charset="0"/>
            </a:endParaRPr>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8" name="Block Arc 7"/>
          <p:cNvSpPr/>
          <p:nvPr/>
        </p:nvSpPr>
        <p:spPr>
          <a:xfrm>
            <a:off x="7303705" y="4140933"/>
            <a:ext cx="725213" cy="609600"/>
          </a:xfrm>
          <a:prstGeom prst="blockArc">
            <a:avLst>
              <a:gd name="adj1" fmla="val 10800000"/>
              <a:gd name="adj2" fmla="val 93518"/>
              <a:gd name="adj3" fmla="val 4344"/>
            </a:avLst>
          </a:prstGeom>
          <a:solidFill>
            <a:schemeClr val="tx1"/>
          </a:solidFill>
          <a:ln>
            <a:solidFill>
              <a:srgbClr val="017AB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Block Arc 8"/>
          <p:cNvSpPr/>
          <p:nvPr/>
        </p:nvSpPr>
        <p:spPr>
          <a:xfrm rot="16200000">
            <a:off x="3368490" y="3267637"/>
            <a:ext cx="576206" cy="544605"/>
          </a:xfrm>
          <a:prstGeom prst="blockArc">
            <a:avLst>
              <a:gd name="adj1" fmla="val 10800000"/>
              <a:gd name="adj2" fmla="val 295421"/>
              <a:gd name="adj3" fmla="val 1997"/>
            </a:avLst>
          </a:prstGeom>
          <a:noFill/>
          <a:ln>
            <a:solidFill>
              <a:srgbClr val="017AB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Block Arc 9"/>
          <p:cNvSpPr/>
          <p:nvPr/>
        </p:nvSpPr>
        <p:spPr>
          <a:xfrm rot="10800000">
            <a:off x="7375713" y="2454089"/>
            <a:ext cx="576206" cy="544605"/>
          </a:xfrm>
          <a:prstGeom prst="blockArc">
            <a:avLst>
              <a:gd name="adj1" fmla="val 10800000"/>
              <a:gd name="adj2" fmla="val 295421"/>
              <a:gd name="adj3" fmla="val 1997"/>
            </a:avLst>
          </a:prstGeom>
          <a:noFill/>
          <a:ln>
            <a:solidFill>
              <a:srgbClr val="017AB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charset="0"/>
              </a:rPr>
              <a:t>虚拟化比较</a:t>
            </a:r>
            <a:endParaRPr 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006165" y="1939533"/>
            <a:ext cx="6179670" cy="2400813"/>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10211484" cy="790865"/>
          </a:xfrm>
        </p:spPr>
        <p:txBody>
          <a:bodyPr>
            <a:noAutofit/>
          </a:bodyPr>
          <a:lstStyle/>
          <a:p>
            <a:r>
              <a:rPr lang="en-US" altLang="zh-CN" dirty="0">
                <a:latin typeface="Times New Roman" panose="02020603050405020304" charset="0"/>
              </a:rPr>
              <a:t>安全技术：AuthN 和 AuthZ</a:t>
            </a:r>
            <a:endParaRPr lang="en-US" altLang="zh-CN"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TextBox 3"/>
          <p:cNvSpPr txBox="1"/>
          <p:nvPr/>
        </p:nvSpPr>
        <p:spPr>
          <a:xfrm>
            <a:off x="572376" y="1591061"/>
            <a:ext cx="10946524" cy="2861310"/>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身份验证（Authentication）用于确认</a:t>
            </a:r>
            <a:r>
              <a:rPr lang="zh-CN" altLang="en-US" sz="2000" b="1" dirty="0">
                <a:solidFill>
                  <a:srgbClr val="515223"/>
                </a:solidFill>
                <a:latin typeface="Helvetica" pitchFamily="2" charset="0"/>
                <a:cs typeface="Arial" panose="020B0604020202090204" pitchFamily="34" charset="0"/>
              </a:rPr>
              <a:t>访问者</a:t>
            </a:r>
            <a:r>
              <a:rPr lang="en-US" altLang="zh-CN" sz="2000" b="1" dirty="0">
                <a:solidFill>
                  <a:srgbClr val="515223"/>
                </a:solidFill>
                <a:latin typeface="Helvetica" pitchFamily="2" charset="0"/>
                <a:cs typeface="Arial" panose="020B0604020202090204" pitchFamily="34" charset="0"/>
              </a:rPr>
              <a:t>的身份：</a:t>
            </a:r>
            <a:endParaRPr lang="en-US" altLang="zh-CN" sz="2000" dirty="0"/>
          </a:p>
          <a:p>
            <a:pPr lvl="1"/>
            <a:r>
              <a:rPr lang="en-US" altLang="zh-CN" sz="2000" dirty="0"/>
              <a:t>该</a:t>
            </a:r>
            <a:r>
              <a:rPr lang="zh-CN" altLang="en-US" sz="2000" dirty="0"/>
              <a:t>访问者</a:t>
            </a:r>
            <a:r>
              <a:rPr lang="en-US" altLang="zh-CN" sz="2000" dirty="0"/>
              <a:t>知道什么信息（例如密码）？</a:t>
            </a:r>
            <a:endParaRPr lang="en-US" altLang="zh-CN" sz="2000" dirty="0"/>
          </a:p>
          <a:p>
            <a:pPr lvl="1"/>
            <a:r>
              <a:rPr lang="en-US" altLang="zh-CN" sz="2000" dirty="0"/>
              <a:t>该</a:t>
            </a:r>
            <a:r>
              <a:rPr lang="zh-CN" altLang="en-US" sz="2000" dirty="0"/>
              <a:t>访问者</a:t>
            </a:r>
            <a:r>
              <a:rPr lang="en-US" altLang="zh-CN" sz="2000" dirty="0"/>
              <a:t>具备哪些功能（例如智能卡）？</a:t>
            </a:r>
            <a:endParaRPr lang="en-US" altLang="zh-CN" sz="2000" dirty="0"/>
          </a:p>
          <a:p>
            <a:pPr lvl="1"/>
            <a:r>
              <a:rPr lang="en-US" altLang="zh-CN" sz="2000" dirty="0"/>
              <a:t>该</a:t>
            </a:r>
            <a:r>
              <a:rPr lang="zh-CN" altLang="en-US" sz="2000" dirty="0">
                <a:sym typeface="+mn-ea"/>
              </a:rPr>
              <a:t>访问者</a:t>
            </a:r>
            <a:r>
              <a:rPr lang="en-US" altLang="zh-CN" sz="2000" dirty="0"/>
              <a:t>可直接访问哪些物理资源（例如：crt-alt-del）？</a:t>
            </a:r>
            <a:endParaRPr lang="en-US" altLang="zh-CN" sz="2000" dirty="0"/>
          </a:p>
          <a:p>
            <a:pPr lvl="1"/>
            <a:r>
              <a:rPr lang="en-US" altLang="zh-CN" sz="2000" dirty="0"/>
              <a:t>该</a:t>
            </a:r>
            <a:r>
              <a:rPr lang="zh-CN" altLang="en-US" sz="2000" dirty="0">
                <a:sym typeface="+mn-ea"/>
              </a:rPr>
              <a:t>访问者</a:t>
            </a:r>
            <a:r>
              <a:rPr lang="en-US" altLang="zh-CN" sz="2000" dirty="0"/>
              <a:t>的物理特性是什么（例如，指纹特征）？</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授权（Authorization）规定了经过身份验证的代理可执行的操作：</a:t>
            </a:r>
            <a:endParaRPr lang="en-US" altLang="zh-CN" sz="2000" dirty="0"/>
          </a:p>
          <a:p>
            <a:pPr lvl="1"/>
            <a:r>
              <a:rPr lang="en-US" altLang="zh-CN" sz="2000" dirty="0"/>
              <a:t>访问控制列表</a:t>
            </a:r>
            <a:endParaRPr lang="en-US" altLang="zh-CN" sz="2000" dirty="0"/>
          </a:p>
          <a:p>
            <a:pPr lvl="1"/>
            <a:r>
              <a:rPr lang="en-US" altLang="zh-CN" sz="2000" dirty="0"/>
              <a:t>组成员资格</a:t>
            </a:r>
            <a:endParaRPr lang="en-US" altLang="zh-CN" sz="20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91565" y="0"/>
            <a:ext cx="8168208" cy="790865"/>
          </a:xfrm>
        </p:spPr>
        <p:txBody>
          <a:bodyPr>
            <a:normAutofit fontScale="90000"/>
          </a:bodyPr>
          <a:lstStyle/>
          <a:p>
            <a:pPr>
              <a:lnSpc>
                <a:spcPct val="150000"/>
              </a:lnSpc>
              <a:spcBef>
                <a:spcPts val="600"/>
              </a:spcBef>
            </a:pPr>
            <a:r>
              <a:rPr lang="en-US" altLang="zh-CN" sz="3600" b="1" dirty="0">
                <a:solidFill>
                  <a:srgbClr val="515223"/>
                </a:solidFill>
                <a:latin typeface="Times New Roman" panose="02020603050405020304" charset="0"/>
                <a:cs typeface="Arial" panose="020B0604020202090204" pitchFamily="34" charset="0"/>
              </a:rPr>
              <a:t>非对称 vs. 对称</a:t>
            </a:r>
            <a:endParaRPr lang="en-US" altLang="zh-CN" sz="3600" b="1" dirty="0">
              <a:solidFill>
                <a:srgbClr val="515223"/>
              </a:solidFill>
              <a:latin typeface="Times New Roman" panose="02020603050405020304" charset="0"/>
              <a:cs typeface="Arial" panose="020B0604020202090204" pitchFamily="34" charset="0"/>
            </a:endParaRPr>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12" name="Picture 1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81503" y="1162487"/>
            <a:ext cx="5492824" cy="3041651"/>
          </a:xfrm>
          <a:prstGeom prst="rect">
            <a:avLst/>
          </a:prstGeom>
        </p:spPr>
      </p:pic>
      <p:pic>
        <p:nvPicPr>
          <p:cNvPr id="14" name="Picture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2746" y="3427879"/>
            <a:ext cx="5157752" cy="2807383"/>
          </a:xfrm>
          <a:prstGeom prst="rect">
            <a:avLst/>
          </a:prstGeom>
        </p:spPr>
      </p:pic>
      <p:sp>
        <p:nvSpPr>
          <p:cNvPr id="15" name="TextBox 14"/>
          <p:cNvSpPr txBox="1"/>
          <p:nvPr/>
        </p:nvSpPr>
        <p:spPr>
          <a:xfrm>
            <a:off x="608881" y="4285539"/>
            <a:ext cx="6580195" cy="923330"/>
          </a:xfrm>
          <a:prstGeom prst="rect">
            <a:avLst/>
          </a:prstGeom>
          <a:noFill/>
        </p:spPr>
        <p:txBody>
          <a:bodyPr wrap="square" rtlCol="0">
            <a:spAutoFit/>
          </a:bodyPr>
          <a:lstStyle/>
          <a:p>
            <a:r>
              <a:rPr lang="en-US" altLang="zh-CN" sz="1800" b="1" dirty="0">
                <a:solidFill>
                  <a:srgbClr val="515223"/>
                </a:solidFill>
                <a:latin typeface="Helvetica" pitchFamily="2" charset="0"/>
                <a:cs typeface="Arial" panose="020B0604020202090204" pitchFamily="34" charset="0"/>
              </a:rPr>
              <a:t>对称加密</a:t>
            </a:r>
            <a:endParaRPr lang="en-US" dirty="0"/>
          </a:p>
          <a:p>
            <a:r>
              <a:rPr lang="en-US" dirty="0"/>
              <a:t>由一方生成，供多方共享</a:t>
            </a:r>
            <a:endParaRPr lang="en-US" dirty="0"/>
          </a:p>
          <a:p>
            <a:r>
              <a:rPr lang="en-US" dirty="0"/>
              <a:t>快速，但风险较高（密钥分发）</a:t>
            </a:r>
            <a:endParaRPr lang="en-US" dirty="0"/>
          </a:p>
        </p:txBody>
      </p:sp>
      <p:sp>
        <p:nvSpPr>
          <p:cNvPr id="16" name="TextBox 15"/>
          <p:cNvSpPr txBox="1"/>
          <p:nvPr/>
        </p:nvSpPr>
        <p:spPr>
          <a:xfrm>
            <a:off x="5837778" y="1604537"/>
            <a:ext cx="6172719" cy="923330"/>
          </a:xfrm>
          <a:prstGeom prst="rect">
            <a:avLst/>
          </a:prstGeom>
          <a:noFill/>
        </p:spPr>
        <p:txBody>
          <a:bodyPr wrap="square" rtlCol="0">
            <a:spAutoFit/>
          </a:bodyPr>
          <a:lstStyle/>
          <a:p>
            <a:r>
              <a:rPr lang="en-US" altLang="zh-CN" sz="1800" b="1" dirty="0">
                <a:solidFill>
                  <a:srgbClr val="515223"/>
                </a:solidFill>
                <a:latin typeface="Helvetica" pitchFamily="2" charset="0"/>
                <a:cs typeface="Arial" panose="020B0604020202090204" pitchFamily="34" charset="0"/>
              </a:rPr>
              <a:t>非对称加密</a:t>
            </a:r>
            <a:endParaRPr lang="en-US" dirty="0"/>
          </a:p>
          <a:p>
            <a:r>
              <a:rPr lang="en-US" dirty="0"/>
              <a:t>由一方生成，仅共享公钥。</a:t>
            </a:r>
            <a:endParaRPr lang="en-US" dirty="0"/>
          </a:p>
          <a:p>
            <a:r>
              <a:rPr lang="en-US" dirty="0"/>
              <a:t>安全，但对PC的开销较高</a:t>
            </a:r>
            <a:endParaRPr lang="en-US" dirty="0"/>
          </a:p>
        </p:txBody>
      </p:sp>
      <p:sp>
        <p:nvSpPr>
          <p:cNvPr id="17" name="TextBox 16"/>
          <p:cNvSpPr txBox="1"/>
          <p:nvPr/>
        </p:nvSpPr>
        <p:spPr>
          <a:xfrm>
            <a:off x="740187" y="2179205"/>
            <a:ext cx="351378" cy="369332"/>
          </a:xfrm>
          <a:prstGeom prst="rect">
            <a:avLst/>
          </a:prstGeom>
          <a:noFill/>
        </p:spPr>
        <p:txBody>
          <a:bodyPr wrap="none" rtlCol="0">
            <a:spAutoFit/>
          </a:bodyPr>
          <a:lstStyle/>
          <a:p>
            <a:r>
              <a:rPr lang="en-US" dirty="0"/>
              <a:t>X</a:t>
            </a:r>
            <a:endParaRPr lang="en-US" dirty="0"/>
          </a:p>
        </p:txBody>
      </p:sp>
      <p:sp>
        <p:nvSpPr>
          <p:cNvPr id="18" name="TextBox 17"/>
          <p:cNvSpPr txBox="1"/>
          <p:nvPr/>
        </p:nvSpPr>
        <p:spPr>
          <a:xfrm>
            <a:off x="4999980" y="2179205"/>
            <a:ext cx="351378" cy="369332"/>
          </a:xfrm>
          <a:prstGeom prst="rect">
            <a:avLst/>
          </a:prstGeom>
          <a:noFill/>
        </p:spPr>
        <p:txBody>
          <a:bodyPr wrap="none" rtlCol="0">
            <a:spAutoFit/>
          </a:bodyPr>
          <a:lstStyle/>
          <a:p>
            <a:r>
              <a:rPr lang="en-US" dirty="0"/>
              <a:t>Y</a:t>
            </a:r>
            <a:endParaRPr lang="en-US" dirty="0"/>
          </a:p>
        </p:txBody>
      </p:sp>
      <p:sp>
        <p:nvSpPr>
          <p:cNvPr id="19" name="TextBox 18"/>
          <p:cNvSpPr txBox="1"/>
          <p:nvPr/>
        </p:nvSpPr>
        <p:spPr>
          <a:xfrm>
            <a:off x="7189076" y="4389272"/>
            <a:ext cx="351378" cy="369332"/>
          </a:xfrm>
          <a:prstGeom prst="rect">
            <a:avLst/>
          </a:prstGeom>
          <a:noFill/>
        </p:spPr>
        <p:txBody>
          <a:bodyPr wrap="none" rtlCol="0">
            <a:spAutoFit/>
          </a:bodyPr>
          <a:lstStyle/>
          <a:p>
            <a:r>
              <a:rPr lang="en-US" dirty="0"/>
              <a:t>X</a:t>
            </a:r>
            <a:endParaRPr lang="en-US" dirty="0"/>
          </a:p>
        </p:txBody>
      </p:sp>
      <p:sp>
        <p:nvSpPr>
          <p:cNvPr id="20" name="TextBox 19"/>
          <p:cNvSpPr txBox="1"/>
          <p:nvPr/>
        </p:nvSpPr>
        <p:spPr>
          <a:xfrm>
            <a:off x="11343211" y="4389272"/>
            <a:ext cx="351378" cy="369332"/>
          </a:xfrm>
          <a:prstGeom prst="rect">
            <a:avLst/>
          </a:prstGeom>
          <a:noFill/>
        </p:spPr>
        <p:txBody>
          <a:bodyPr wrap="none" rtlCol="0">
            <a:spAutoFit/>
          </a:bodyPr>
          <a:lstStyle/>
          <a:p>
            <a:r>
              <a:rPr lang="en-US" dirty="0"/>
              <a:t>Y</a:t>
            </a:r>
            <a:endParaRPr 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latin typeface="Times New Roman" panose="02020603050405020304" charset="0"/>
              </a:rPr>
              <a:t>查找瓶颈：CPU性能</a:t>
            </a:r>
            <a:endParaRPr lang="en-US" altLang="zh-CN"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572375" y="1953515"/>
            <a:ext cx="11163995" cy="3170099"/>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在某些领域，CPU性能是制约因素，例如：</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大数据分析（例如搜索）</a:t>
            </a:r>
            <a:endParaRPr lang="en-US" altLang="zh-CN" sz="2000" dirty="0"/>
          </a:p>
          <a:p>
            <a:pPr marL="800100" lvl="1" indent="-342900">
              <a:buFont typeface="Arial" panose="020B0604020202090204" pitchFamily="34" charset="0"/>
              <a:buChar char="•"/>
            </a:pPr>
            <a:endParaRPr lang="en-US" altLang="zh-CN" sz="2000" dirty="0"/>
          </a:p>
          <a:p>
            <a:pPr lvl="1"/>
            <a:r>
              <a:rPr lang="en-US" altLang="zh-CN" sz="2000" dirty="0"/>
              <a:t>数学计算（例如特征工程）</a:t>
            </a:r>
            <a:endParaRPr lang="en-US" altLang="zh-CN" sz="2000" dirty="0"/>
          </a:p>
          <a:p>
            <a:pPr marL="800100" lvl="1" indent="-342900">
              <a:buFont typeface="Arial" panose="020B0604020202090204" pitchFamily="34" charset="0"/>
              <a:buChar char="•"/>
            </a:pPr>
            <a:endParaRPr lang="en-US" altLang="zh-CN" sz="2000" dirty="0"/>
          </a:p>
          <a:p>
            <a:pPr lvl="1"/>
            <a:r>
              <a:rPr lang="en-US" altLang="zh-CN" sz="2000" dirty="0"/>
              <a:t>压缩与加密</a:t>
            </a:r>
            <a:endParaRPr lang="en-US" altLang="zh-CN" sz="2000" dirty="0"/>
          </a:p>
          <a:p>
            <a:pPr marL="800100" lvl="1" indent="-342900">
              <a:buFont typeface="Arial" panose="020B0604020202090204" pitchFamily="34" charset="0"/>
              <a:buChar char="•"/>
            </a:pPr>
            <a:endParaRPr lang="en-US" altLang="zh-CN" sz="2000" dirty="0"/>
          </a:p>
          <a:p>
            <a:pPr lvl="1"/>
            <a:r>
              <a:rPr lang="en-US" altLang="zh-CN" sz="2000" dirty="0"/>
              <a:t>多媒体（例如视频）</a:t>
            </a:r>
            <a:endParaRPr lang="en-US" altLang="zh-CN" sz="2000" dirty="0"/>
          </a:p>
          <a:p>
            <a:pPr marL="800100" lvl="1" indent="-342900">
              <a:buFont typeface="Arial" panose="020B0604020202090204" pitchFamily="34" charset="0"/>
              <a:buChar char="•"/>
            </a:pPr>
            <a:endParaRPr lang="en-US" altLang="zh-CN" sz="2000" dirty="0"/>
          </a:p>
          <a:p>
            <a:pPr lvl="1"/>
            <a:r>
              <a:rPr lang="en-US" altLang="zh-CN" sz="2000" dirty="0"/>
              <a:t>感知（例如图像处理）</a:t>
            </a:r>
            <a:endParaRPr lang="zh-CN" altLang="en-US"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latin typeface="Times New Roman" panose="02020603050405020304" charset="0"/>
              </a:rPr>
              <a:t>寻找瓶颈</a:t>
            </a:r>
            <a:endParaRPr lang="en-US" altLang="zh-CN" sz="60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572375" y="1738113"/>
            <a:ext cx="11619625" cy="3476625"/>
          </a:xfrm>
          <a:prstGeom prst="rect">
            <a:avLst/>
          </a:prstGeom>
          <a:noFill/>
        </p:spPr>
        <p:txBody>
          <a:bodyPr wrap="square">
            <a:spAutoFit/>
          </a:bodyPr>
          <a:lstStyle/>
          <a:p>
            <a:r>
              <a:rPr lang="en-US" altLang="zh-CN" sz="2000" b="1" dirty="0">
                <a:solidFill>
                  <a:srgbClr val="C00000"/>
                </a:solidFill>
              </a:rPr>
              <a:t>然而，CPU性能通常并非限制因素，因为如今多核处理器已十分普遍。</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硬件瓶颈</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从磁盘读取数据</a:t>
            </a:r>
            <a:endParaRPr lang="en-US" altLang="zh-CN" sz="2000" dirty="0"/>
          </a:p>
          <a:p>
            <a:pPr lvl="1"/>
            <a:r>
              <a:rPr lang="en-US" altLang="zh-CN" sz="2000" dirty="0"/>
              <a:t>内存不足（包括分页）</a:t>
            </a:r>
            <a:endParaRPr lang="en-US" altLang="zh-CN" sz="2000" dirty="0"/>
          </a:p>
          <a:p>
            <a:pPr lvl="1"/>
            <a:r>
              <a:rPr lang="en-US" altLang="zh-CN" sz="2000" dirty="0"/>
              <a:t>将数据从内存传输到 CPU</a:t>
            </a:r>
            <a:endParaRPr lang="en-US" altLang="zh-CN" sz="2000" dirty="0"/>
          </a:p>
          <a:p>
            <a:pPr lvl="1"/>
            <a:r>
              <a:rPr lang="en-US" altLang="zh-CN" sz="2000" dirty="0"/>
              <a:t>网络容量</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软件效率低下</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扩展性较差的算法（例如在</a:t>
            </a:r>
            <a:r>
              <a:rPr lang="zh-CN" altLang="en-US" sz="2000" dirty="0"/>
              <a:t>遗留</a:t>
            </a:r>
            <a:r>
              <a:rPr lang="en-US" altLang="zh-CN" sz="2000" dirty="0"/>
              <a:t>系统中）</a:t>
            </a:r>
            <a:endParaRPr lang="en-US" altLang="zh-CN" sz="2000" dirty="0"/>
          </a:p>
          <a:p>
            <a:pPr lvl="1"/>
            <a:r>
              <a:rPr lang="en-US" altLang="zh-CN" sz="2000" dirty="0"/>
              <a:t>并行与顺序处理</a:t>
            </a:r>
            <a:endParaRPr lang="en-US" altLang="zh-CN" sz="20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latin typeface="Times New Roman" panose="02020603050405020304" charset="0"/>
              </a:rPr>
              <a:t>数学模型</a:t>
            </a:r>
            <a:endParaRPr lang="en-US" altLang="zh-CN" sz="60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572375" y="1981611"/>
            <a:ext cx="11163995" cy="2861310"/>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排队论</a:t>
            </a:r>
            <a:endParaRPr lang="en-US" altLang="zh-CN" sz="2000" b="1" dirty="0">
              <a:solidFill>
                <a:srgbClr val="515223"/>
              </a:solidFill>
              <a:latin typeface="Helvetica" pitchFamily="2" charset="0"/>
              <a:cs typeface="Arial" panose="020B0604020202090204" pitchFamily="34" charset="0"/>
            </a:endParaRPr>
          </a:p>
          <a:p>
            <a:endParaRPr lang="en-US" altLang="zh-CN" sz="2000" dirty="0"/>
          </a:p>
          <a:p>
            <a:r>
              <a:rPr lang="en-US" altLang="zh-CN" sz="2000" b="1" dirty="0">
                <a:solidFill>
                  <a:srgbClr val="515223"/>
                </a:solidFill>
                <a:latin typeface="Helvetica" pitchFamily="2" charset="0"/>
                <a:cs typeface="Arial" panose="020B0604020202090204" pitchFamily="34" charset="0"/>
              </a:rPr>
              <a:t>对于单服务器队列，可以准确估算其拥塞程度：</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抵达事件是独立且随机的（泊松过程）</a:t>
            </a:r>
            <a:endParaRPr lang="en-US" altLang="zh-CN" sz="2000" dirty="0"/>
          </a:p>
          <a:p>
            <a:pPr lvl="1"/>
            <a:r>
              <a:rPr lang="en-US" altLang="zh-CN" sz="2000" dirty="0"/>
              <a:t>遵循分布族（例如负指数分布、伽马分布）的服务时间</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其中许多研究结果可推广至多服务器队列场景。</a:t>
            </a:r>
            <a:endParaRPr lang="en-US" altLang="zh-CN" sz="2000" b="1" dirty="0">
              <a:solidFill>
                <a:srgbClr val="515223"/>
              </a:solidFill>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a:p>
            <a:r>
              <a:rPr lang="en-US" altLang="zh-CN" sz="2000" i="1" dirty="0"/>
              <a:t>排队论领域的早期研究主要致力于模拟电话网络中的拥塞现象。</a:t>
            </a:r>
            <a:endParaRPr lang="en-US" altLang="zh-CN" sz="2000" i="1"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latin typeface="Times New Roman" panose="02020603050405020304" charset="0"/>
              </a:rPr>
              <a:t>程序设计</a:t>
            </a:r>
            <a:endParaRPr lang="en-US" altLang="zh-CN"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TextBox 3"/>
          <p:cNvSpPr txBox="1"/>
          <p:nvPr/>
        </p:nvSpPr>
        <p:spPr>
          <a:xfrm>
            <a:off x="572376" y="1918459"/>
            <a:ext cx="10946524" cy="2554545"/>
          </a:xfrm>
          <a:prstGeom prst="rect">
            <a:avLst/>
          </a:prstGeom>
          <a:noFill/>
        </p:spPr>
        <p:txBody>
          <a:bodyPr wrap="square">
            <a:spAutoFit/>
          </a:bodyPr>
          <a:lstStyle/>
          <a:p>
            <a:r>
              <a:rPr lang="en-US" altLang="zh-CN" sz="2000" dirty="0"/>
              <a:t>程序设计的任务是将软件架构以可实现为一个或多个可执行程序的形式进行呈现。</a:t>
            </a:r>
            <a:endParaRPr lang="en-US" altLang="zh-CN" sz="2000" dirty="0"/>
          </a:p>
          <a:p>
            <a:endParaRPr lang="en-US" altLang="zh-CN" sz="2000" dirty="0"/>
          </a:p>
          <a:p>
            <a:endParaRPr lang="en-US" altLang="zh-CN" sz="2000" dirty="0"/>
          </a:p>
          <a:p>
            <a:r>
              <a:rPr lang="en-US" altLang="zh-CN" sz="2000" dirty="0"/>
              <a:t>在给定系统架构的情况下，程序设计需明确以下内容：</a:t>
            </a:r>
            <a:endParaRPr lang="en-US" altLang="zh-CN" sz="2000" dirty="0"/>
          </a:p>
          <a:p>
            <a:pPr marL="800100" lvl="1" indent="-342900">
              <a:buFont typeface="Arial" panose="020B0604020202090204" pitchFamily="34" charset="0"/>
              <a:buChar char="•"/>
            </a:pPr>
            <a:r>
              <a:rPr lang="en-US" altLang="zh-CN" sz="2000" dirty="0"/>
              <a:t>程序、组件、包、类、类层次结构等。</a:t>
            </a:r>
            <a:endParaRPr lang="en-US" altLang="zh-CN" sz="2000" dirty="0"/>
          </a:p>
          <a:p>
            <a:pPr marL="800100" lvl="1" indent="-342900">
              <a:buFont typeface="Arial" panose="020B0604020202090204" pitchFamily="34" charset="0"/>
              <a:buChar char="•"/>
            </a:pPr>
            <a:r>
              <a:rPr lang="en-US" altLang="zh-CN" sz="2000" dirty="0"/>
              <a:t>接口、协议（若不属于系统架构的一部分）</a:t>
            </a:r>
            <a:endParaRPr lang="en-US" altLang="zh-CN" sz="2000" dirty="0"/>
          </a:p>
          <a:p>
            <a:pPr marL="800100" lvl="1" indent="-342900">
              <a:buFont typeface="Arial" panose="020B0604020202090204" pitchFamily="34" charset="0"/>
              <a:buChar char="•"/>
            </a:pPr>
            <a:r>
              <a:rPr lang="en-US" altLang="zh-CN" sz="2000" dirty="0"/>
              <a:t>算法、数据结构、安全机制、操作流程</a:t>
            </a:r>
            <a:endParaRPr lang="en-US"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8712621" cy="790865"/>
          </a:xfrm>
        </p:spPr>
        <p:txBody>
          <a:bodyPr>
            <a:normAutofit/>
          </a:bodyPr>
          <a:lstStyle/>
          <a:p>
            <a:r>
              <a:rPr lang="en-US" altLang="zh-CN" dirty="0">
                <a:latin typeface="Times New Roman" panose="02020603050405020304" charset="0"/>
              </a:rPr>
              <a:t>泛化/继承</a:t>
            </a:r>
            <a:endParaRPr lang="en-US" altLang="zh-CN"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4"/>
          <p:cNvSpPr txBox="1"/>
          <p:nvPr/>
        </p:nvSpPr>
        <p:spPr>
          <a:xfrm>
            <a:off x="715020" y="1377898"/>
            <a:ext cx="10917798" cy="1015663"/>
          </a:xfrm>
          <a:prstGeom prst="rect">
            <a:avLst/>
          </a:prstGeom>
          <a:noFill/>
        </p:spPr>
        <p:txBody>
          <a:bodyPr wrap="square">
            <a:spAutoFit/>
          </a:bodyPr>
          <a:lstStyle/>
          <a:p>
            <a:r>
              <a:rPr lang="en-US" sz="2000" dirty="0"/>
              <a:t>泛化关系是指更广泛的类别与更具体的类别之间的分类学关联。每个具体的分类实例同时也是该更广泛类别的间接实例。因此，具体类别继承了更广泛类别的特征。</a:t>
            </a:r>
            <a:endParaRPr lang="en-US" sz="2000" dirty="0"/>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75245" y="3163923"/>
            <a:ext cx="3111500" cy="2235200"/>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8712621" cy="790865"/>
          </a:xfrm>
        </p:spPr>
        <p:txBody>
          <a:bodyPr>
            <a:normAutofit/>
          </a:bodyPr>
          <a:lstStyle/>
          <a:p>
            <a:r>
              <a:rPr lang="en-US" altLang="zh-CN" dirty="0">
                <a:latin typeface="Times New Roman" panose="02020603050405020304" charset="0"/>
              </a:rPr>
              <a:t>实现</a:t>
            </a:r>
            <a:endParaRPr lang="en-US" altLang="zh-CN"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4"/>
          <p:cNvSpPr txBox="1"/>
          <p:nvPr/>
        </p:nvSpPr>
        <p:spPr>
          <a:xfrm>
            <a:off x="472096" y="1028699"/>
            <a:ext cx="10917798" cy="1015663"/>
          </a:xfrm>
          <a:prstGeom prst="rect">
            <a:avLst/>
          </a:prstGeom>
          <a:noFill/>
        </p:spPr>
        <p:txBody>
          <a:bodyPr wrap="square">
            <a:spAutoFit/>
          </a:bodyPr>
          <a:lstStyle/>
          <a:p>
            <a:r>
              <a:rPr lang="en-US" sz="2000" b="1" dirty="0">
                <a:solidFill>
                  <a:schemeClr val="accent1"/>
                </a:solidFill>
              </a:rPr>
              <a:t>实现是指蓝图类与其派生类之间的关系，其中派生类包含了相应的实现细节。该对象被称为实现了蓝图类。</a:t>
            </a:r>
            <a:endParaRPr lang="en-US" sz="2000" b="1" dirty="0">
              <a:solidFill>
                <a:schemeClr val="accent1"/>
              </a:solidFill>
            </a:endParaRPr>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015027" y="2890299"/>
            <a:ext cx="3967782" cy="2809231"/>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charset="0"/>
              </a:rPr>
              <a:t>比较</a:t>
            </a:r>
            <a:endParaRPr 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155114" y="1603897"/>
            <a:ext cx="2912217" cy="1618876"/>
          </a:xfrm>
          <a:prstGeom prst="rect">
            <a:avLst/>
          </a:prstGeom>
        </p:spPr>
      </p:pic>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78974" y="1499347"/>
            <a:ext cx="4580489" cy="1929653"/>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9918" y="2053574"/>
            <a:ext cx="3724013" cy="719522"/>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4503" y="1499347"/>
            <a:ext cx="3442038" cy="680629"/>
          </a:xfrm>
          <a:prstGeom prst="rect">
            <a:avLst/>
          </a:prstGeom>
        </p:spPr>
      </p:pic>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9918" y="2684907"/>
            <a:ext cx="3471208" cy="593120"/>
          </a:xfrm>
          <a:prstGeom prst="rect">
            <a:avLst/>
          </a:prstGeom>
        </p:spPr>
      </p:pic>
      <p:sp>
        <p:nvSpPr>
          <p:cNvPr id="10" name="TextBox 9"/>
          <p:cNvSpPr txBox="1"/>
          <p:nvPr/>
        </p:nvSpPr>
        <p:spPr>
          <a:xfrm>
            <a:off x="208429" y="3797971"/>
            <a:ext cx="11858902" cy="2338070"/>
          </a:xfrm>
          <a:prstGeom prst="rect">
            <a:avLst/>
          </a:prstGeom>
          <a:noFill/>
        </p:spPr>
        <p:txBody>
          <a:bodyPr wrap="square">
            <a:spAutoFit/>
          </a:bodyPr>
          <a:lstStyle/>
          <a:p>
            <a:pPr algn="l"/>
            <a:r>
              <a:rPr lang="en-US" sz="2000" b="1" dirty="0">
                <a:solidFill>
                  <a:srgbClr val="C00000"/>
                </a:solidFill>
                <a:latin typeface="Helvetica" pitchFamily="2" charset="0"/>
                <a:cs typeface="Arial" panose="020B0604020202090204" pitchFamily="34" charset="0"/>
              </a:rPr>
              <a:t>聚合(Aggregation)与组合(Composition)是关联的特例。</a:t>
            </a:r>
            <a:endParaRPr lang="en-US" sz="2000" b="1" dirty="0">
              <a:solidFill>
                <a:srgbClr val="C00000"/>
              </a:solidFill>
              <a:latin typeface="Helvetica" pitchFamily="2" charset="0"/>
              <a:cs typeface="Arial" panose="020B0604020202090204" pitchFamily="34" charset="0"/>
            </a:endParaRPr>
          </a:p>
          <a:p>
            <a:pPr algn="l"/>
            <a:r>
              <a:rPr lang="en-US" dirty="0"/>
              <a:t>在聚合和组合对象中，一个类“拥有”另一个类的对象。</a:t>
            </a:r>
            <a:endParaRPr lang="en-US" dirty="0"/>
          </a:p>
          <a:p>
            <a:pPr algn="l"/>
            <a:endParaRPr lang="en-US" dirty="0"/>
          </a:p>
          <a:p>
            <a:pPr algn="l"/>
            <a:r>
              <a:rPr lang="en-US" dirty="0">
                <a:solidFill>
                  <a:srgbClr val="C00000"/>
                </a:solidFill>
              </a:rPr>
              <a:t>聚合性意味着一种关系，即</a:t>
            </a:r>
            <a:r>
              <a:rPr lang="zh-CN" altLang="en-US" dirty="0">
                <a:solidFill>
                  <a:srgbClr val="C00000"/>
                </a:solidFill>
              </a:rPr>
              <a:t>子类</a:t>
            </a:r>
            <a:r>
              <a:rPr lang="en-US" dirty="0">
                <a:solidFill>
                  <a:srgbClr val="C00000"/>
                </a:solidFill>
              </a:rPr>
              <a:t>能够独立于父</a:t>
            </a:r>
            <a:r>
              <a:rPr lang="zh-CN" altLang="en-US" dirty="0">
                <a:solidFill>
                  <a:srgbClr val="C00000"/>
                </a:solidFill>
              </a:rPr>
              <a:t>类</a:t>
            </a:r>
            <a:r>
              <a:rPr lang="en-US" dirty="0">
                <a:solidFill>
                  <a:srgbClr val="C00000"/>
                </a:solidFill>
              </a:rPr>
              <a:t>而存在。</a:t>
            </a:r>
            <a:endParaRPr lang="en-US" dirty="0"/>
          </a:p>
          <a:p>
            <a:pPr algn="l"/>
            <a:r>
              <a:rPr lang="en-US" dirty="0"/>
              <a:t>示例：</a:t>
            </a:r>
            <a:r>
              <a:rPr lang="zh-CN" altLang="en-US" dirty="0"/>
              <a:t>班级</a:t>
            </a:r>
            <a:r>
              <a:rPr lang="en-US" dirty="0"/>
              <a:t>（父类）和 </a:t>
            </a:r>
            <a:r>
              <a:rPr lang="zh-CN" altLang="en-US" dirty="0"/>
              <a:t>学生</a:t>
            </a:r>
            <a:r>
              <a:rPr lang="en-US" dirty="0"/>
              <a:t>（子类）。删除 </a:t>
            </a:r>
            <a:r>
              <a:rPr lang="zh-CN" altLang="en-US" dirty="0"/>
              <a:t>班级</a:t>
            </a:r>
            <a:r>
              <a:rPr lang="en-US" dirty="0"/>
              <a:t> 后，</a:t>
            </a:r>
            <a:r>
              <a:rPr lang="zh-CN" altLang="en-US" dirty="0"/>
              <a:t>学生</a:t>
            </a:r>
            <a:r>
              <a:rPr lang="en-US" dirty="0"/>
              <a:t> 仍然存在。</a:t>
            </a:r>
            <a:endParaRPr lang="en-US" dirty="0"/>
          </a:p>
          <a:p>
            <a:pPr algn="l"/>
            <a:endParaRPr lang="en-US" dirty="0"/>
          </a:p>
          <a:p>
            <a:pPr algn="l"/>
            <a:r>
              <a:rPr lang="zh-CN" altLang="en-US" dirty="0">
                <a:solidFill>
                  <a:srgbClr val="C00000"/>
                </a:solidFill>
              </a:rPr>
              <a:t>组合</a:t>
            </a:r>
            <a:r>
              <a:rPr lang="en-US" dirty="0">
                <a:solidFill>
                  <a:srgbClr val="C00000"/>
                </a:solidFill>
              </a:rPr>
              <a:t>关系意味着</a:t>
            </a:r>
            <a:r>
              <a:rPr lang="zh-CN" altLang="en-US" dirty="0">
                <a:solidFill>
                  <a:srgbClr val="C00000"/>
                </a:solidFill>
              </a:rPr>
              <a:t>子类</a:t>
            </a:r>
            <a:r>
              <a:rPr lang="en-US" dirty="0">
                <a:solidFill>
                  <a:srgbClr val="C00000"/>
                </a:solidFill>
              </a:rPr>
              <a:t>无法脱离父</a:t>
            </a:r>
            <a:r>
              <a:rPr lang="zh-CN" altLang="en-US" dirty="0">
                <a:solidFill>
                  <a:srgbClr val="C00000"/>
                </a:solidFill>
              </a:rPr>
              <a:t>类</a:t>
            </a:r>
            <a:r>
              <a:rPr lang="en-US" dirty="0">
                <a:solidFill>
                  <a:srgbClr val="C00000"/>
                </a:solidFill>
              </a:rPr>
              <a:t>而独立存在。</a:t>
            </a:r>
            <a:endParaRPr lang="en-US" dirty="0"/>
          </a:p>
          <a:p>
            <a:pPr algn="l"/>
            <a:r>
              <a:rPr lang="en-US" dirty="0"/>
              <a:t>示例：房屋（</a:t>
            </a:r>
            <a:r>
              <a:rPr lang="zh-CN" altLang="en-US" dirty="0"/>
              <a:t>父类</a:t>
            </a:r>
            <a:r>
              <a:rPr lang="en-US" dirty="0"/>
              <a:t>）和房间（子级）。房间并非独立于房屋而存在。</a:t>
            </a:r>
            <a:endParaRPr 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latin typeface="Times New Roman" panose="02020603050405020304" charset="0"/>
              </a:rPr>
              <a:t>设计模式</a:t>
            </a:r>
            <a:endParaRPr lang="en-US" altLang="zh-CN"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48304" y="2572201"/>
            <a:ext cx="9550399" cy="1323439"/>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设计模式</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solidFill>
                  <a:srgbClr val="FF0000"/>
                </a:solidFill>
              </a:rPr>
              <a:t>设计模式是一种可应用于多种系统的模板设计。在类可能随时间推移而被重复使用的系统中，设计模式尤为适用。</a:t>
            </a:r>
            <a:endParaRPr lang="en-US" altLang="zh-CN"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latin typeface="Times New Roman" panose="02020603050405020304" charset="0"/>
              </a:rPr>
              <a:t>继承与抽象类</a:t>
            </a:r>
            <a:endParaRPr lang="en-US" altLang="zh-CN" sz="96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3169285"/>
          </a:xfrm>
          <a:prstGeom prst="rect">
            <a:avLst/>
          </a:prstGeom>
          <a:noFill/>
        </p:spPr>
        <p:txBody>
          <a:bodyPr wrap="square">
            <a:spAutoFit/>
          </a:bodyPr>
          <a:lstStyle/>
          <a:p>
            <a:r>
              <a:rPr lang="en-US" altLang="zh-CN" sz="2000" dirty="0"/>
              <a:t>设计模式广泛运用了继承与实现机制。</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继承（泛化）</a:t>
            </a:r>
            <a:endParaRPr lang="en-US" altLang="zh-CN" sz="2000" b="1" dirty="0">
              <a:solidFill>
                <a:srgbClr val="515223"/>
              </a:solidFill>
              <a:latin typeface="Helvetica" pitchFamily="2" charset="0"/>
              <a:cs typeface="Arial" panose="020B0604020202090204" pitchFamily="34" charset="0"/>
            </a:endParaRPr>
          </a:p>
          <a:p>
            <a:r>
              <a:rPr lang="en-US" altLang="zh-CN" sz="2000" dirty="0"/>
              <a:t>类可以通过继承机制基于其他类进行定义。这种泛化类称为</a:t>
            </a:r>
            <a:r>
              <a:rPr lang="zh-CN" altLang="en-US" sz="2000" dirty="0"/>
              <a:t>父</a:t>
            </a:r>
            <a:r>
              <a:rPr lang="en-US" altLang="zh-CN" sz="2000" dirty="0"/>
              <a:t>类（SuperClss），而具体实现的类则称为子类（Subcl</a:t>
            </a:r>
            <a:r>
              <a:rPr lang="en-US" altLang="zh-CN" sz="2000" dirty="0"/>
              <a:t>ass）。</a:t>
            </a:r>
            <a:endParaRPr lang="en-US" altLang="zh-CN" sz="2000" dirty="0"/>
          </a:p>
          <a:p>
            <a:endParaRPr lang="en-US" altLang="zh-CN" sz="2000" b="1" dirty="0">
              <a:solidFill>
                <a:srgbClr val="515223"/>
              </a:solidFill>
              <a:latin typeface="Helvetica" pitchFamily="2" charset="0"/>
              <a:cs typeface="Arial" panose="020B0604020202090204" pitchFamily="34" charset="0"/>
            </a:endParaRPr>
          </a:p>
          <a:p>
            <a:r>
              <a:rPr lang="en-US" altLang="zh-CN" sz="2000" b="1" dirty="0">
                <a:solidFill>
                  <a:srgbClr val="515223"/>
                </a:solidFill>
                <a:latin typeface="Helvetica" pitchFamily="2" charset="0"/>
                <a:cs typeface="Arial" panose="020B0604020202090204" pitchFamily="34" charset="0"/>
              </a:rPr>
              <a:t>实现</a:t>
            </a:r>
            <a:endParaRPr lang="en-US" altLang="zh-CN" sz="2000" b="1" dirty="0">
              <a:solidFill>
                <a:srgbClr val="515223"/>
              </a:solidFill>
              <a:latin typeface="Helvetica" pitchFamily="2" charset="0"/>
              <a:cs typeface="Arial" panose="020B0604020202090204" pitchFamily="34" charset="0"/>
            </a:endParaRPr>
          </a:p>
          <a:p>
            <a:r>
              <a:rPr lang="en-US" altLang="zh-CN" sz="2000" dirty="0"/>
              <a:t>在实现中，会定义包含抽象方法的超类，使得具体的子类通过实现这些抽象方法（接口）来继承它们。从抽象类派生的类在被实例化之前，必须为其父类的所有抽象方法实现相应的具体方法。</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sz="2800" dirty="0">
                <a:latin typeface="Times New Roman" panose="02020603050405020304" charset="0"/>
              </a:rPr>
              <a:t>适配器（包装器）：围绕遗留代码进行封装</a:t>
            </a:r>
            <a:endParaRPr lang="en-US" altLang="zh-CN" sz="28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347787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问题描述：</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将传统类的接口转换为客户端所需的不同接口，从而使客户端与传统类无需任何修改即可协同工作。</a:t>
            </a:r>
            <a:endParaRPr lang="en-US" altLang="zh-CN" sz="2000" dirty="0"/>
          </a:p>
          <a:p>
            <a:pPr lvl="1"/>
            <a:r>
              <a:rPr lang="en-US" altLang="zh-CN" sz="2000" dirty="0"/>
              <a:t>该问题通常发生在过渡期，此时长期计划是逐步淘汰旧系统。</a:t>
            </a:r>
            <a:endParaRPr lang="en-US" altLang="zh-CN" sz="2000" dirty="0"/>
          </a:p>
          <a:p>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例如：</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如何使用网页浏览器访问专为其他客户端设计的信息检索系统？</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latin typeface="Times New Roman" panose="02020603050405020304" charset="0"/>
              </a:rPr>
              <a:t>适配器模式：问题所在</a:t>
            </a:r>
            <a:endParaRPr lang="en-US" altLang="zh-CN" sz="96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40275" y="1401690"/>
            <a:ext cx="5305373" cy="2498979"/>
          </a:xfrm>
          <a:prstGeom prst="rect">
            <a:avLst/>
          </a:prstGeom>
        </p:spPr>
      </p:pic>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45648" y="3315478"/>
            <a:ext cx="4291486" cy="2912633"/>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sz="2800" dirty="0">
                <a:latin typeface="Times New Roman" panose="02020603050405020304" charset="0"/>
              </a:rPr>
              <a:t>适配器模式：对象图</a:t>
            </a:r>
            <a:endParaRPr lang="en-US" altLang="zh-CN" sz="28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504781" y="1729967"/>
            <a:ext cx="5575402" cy="3226421"/>
          </a:xfrm>
          <a:prstGeom prst="rect">
            <a:avLst/>
          </a:prstGeom>
        </p:spPr>
      </p:pic>
      <p:sp>
        <p:nvSpPr>
          <p:cNvPr id="8" name="TextBox 7"/>
          <p:cNvSpPr txBox="1"/>
          <p:nvPr/>
        </p:nvSpPr>
        <p:spPr>
          <a:xfrm>
            <a:off x="478680" y="1526827"/>
            <a:ext cx="6094854" cy="3784600"/>
          </a:xfrm>
          <a:prstGeom prst="rect">
            <a:avLst/>
          </a:prstGeom>
          <a:noFill/>
        </p:spPr>
        <p:txBody>
          <a:bodyPr wrap="square">
            <a:spAutoFit/>
          </a:bodyPr>
          <a:lstStyle/>
          <a:p>
            <a:pPr algn="l">
              <a:buFont typeface="+mj-lt"/>
              <a:buAutoNum type="arabicPeriod"/>
            </a:pPr>
            <a:r>
              <a:rPr lang="zh-CN" altLang="en-US" sz="2000" dirty="0"/>
              <a:t>客户端</a:t>
            </a:r>
            <a:r>
              <a:rPr lang="en-US" altLang="zh-CN" sz="2000" dirty="0"/>
              <a:t>（</a:t>
            </a:r>
            <a:r>
              <a:rPr lang="en-US" sz="2000" dirty="0"/>
              <a:t>Client）是一个类，其中包含了程序现有的业务逻辑。</a:t>
            </a:r>
            <a:endParaRPr lang="en-US" sz="2000" dirty="0"/>
          </a:p>
          <a:p>
            <a:pPr algn="l">
              <a:buFont typeface="+mj-lt"/>
              <a:buAutoNum type="arabicPeriod"/>
            </a:pPr>
            <a:endParaRPr lang="en-US" sz="2000" dirty="0"/>
          </a:p>
          <a:p>
            <a:pPr algn="l">
              <a:buFont typeface="+mj-lt"/>
              <a:buAutoNum type="arabicPeriod"/>
            </a:pPr>
            <a:r>
              <a:rPr lang="en-US" sz="2000" dirty="0"/>
              <a:t>客户端接口描述了一种协议，其他类必须遵循该协议才能与客户端代码协同工作。</a:t>
            </a:r>
            <a:endParaRPr lang="en-US" sz="2000" dirty="0"/>
          </a:p>
          <a:p>
            <a:pPr algn="l">
              <a:buFont typeface="+mj-lt"/>
              <a:buAutoNum type="arabicPeriod"/>
            </a:pPr>
            <a:endParaRPr lang="en-US" sz="2000" dirty="0"/>
          </a:p>
          <a:p>
            <a:pPr algn="l">
              <a:buFont typeface="+mj-lt"/>
              <a:buAutoNum type="arabicPeriod"/>
            </a:pPr>
            <a:r>
              <a:rPr lang="zh-CN" altLang="en-US" sz="2000" dirty="0"/>
              <a:t>适配者</a:t>
            </a:r>
            <a:r>
              <a:rPr lang="en-US" sz="2000" dirty="0"/>
              <a:t>（Adaptee）是一个实用的类（通常为第三方或遗留类）。客户端无法直接使用该类，因为其接口不兼容。</a:t>
            </a:r>
            <a:endParaRPr lang="en-US" sz="2000" dirty="0"/>
          </a:p>
          <a:p>
            <a:pPr algn="l">
              <a:buFont typeface="+mj-lt"/>
              <a:buAutoNum type="arabicPeriod"/>
            </a:pPr>
            <a:endParaRPr lang="en-US" sz="2000" dirty="0"/>
          </a:p>
          <a:p>
            <a:pPr algn="l">
              <a:buFont typeface="+mj-lt"/>
              <a:buAutoNum type="arabicPeriod"/>
            </a:pPr>
            <a:r>
              <a:rPr lang="en-US" sz="2000" dirty="0"/>
              <a:t>该适配器是一个能够同时与客户端和服务端协同工作的类。</a:t>
            </a:r>
            <a:endParaRPr lang="en-US" sz="2000" dirty="0"/>
          </a:p>
        </p:txBody>
      </p:sp>
      <p:sp>
        <p:nvSpPr>
          <p:cNvPr id="5" name="TextBox 4"/>
          <p:cNvSpPr txBox="1"/>
          <p:nvPr/>
        </p:nvSpPr>
        <p:spPr>
          <a:xfrm>
            <a:off x="10330406" y="2973845"/>
            <a:ext cx="1035934" cy="369332"/>
          </a:xfrm>
          <a:prstGeom prst="rect">
            <a:avLst/>
          </a:prstGeom>
          <a:noFill/>
        </p:spPr>
        <p:txBody>
          <a:bodyPr wrap="square">
            <a:spAutoFit/>
          </a:bodyPr>
          <a:lstStyle/>
          <a:p>
            <a:r>
              <a:rPr lang="en-US" sz="1800" dirty="0" err="1">
                <a:solidFill>
                  <a:srgbClr val="C00000"/>
                </a:solidFill>
              </a:rPr>
              <a:t>适配器</a:t>
            </a:r>
            <a:endParaRPr 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46613" y="1049168"/>
            <a:ext cx="6716469" cy="4228888"/>
          </a:xfrm>
          <a:prstGeom prst="rect">
            <a:avLst/>
          </a:prstGeom>
        </p:spPr>
      </p:pic>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99488" y="1328863"/>
            <a:ext cx="5345899" cy="3057942"/>
          </a:xfrm>
          <a:prstGeom prst="rect">
            <a:avLst/>
          </a:prstGeom>
        </p:spPr>
      </p:pic>
      <p:sp>
        <p:nvSpPr>
          <p:cNvPr id="2" name="Rectangle 1"/>
          <p:cNvSpPr/>
          <p:nvPr/>
        </p:nvSpPr>
        <p:spPr>
          <a:xfrm>
            <a:off x="6699488" y="1415744"/>
            <a:ext cx="5345899" cy="1820942"/>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38100">
                <a:solidFill>
                  <a:schemeClr val="tx1"/>
                </a:solidFill>
              </a:ln>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92331" y="1199638"/>
            <a:ext cx="6716469" cy="4228888"/>
          </a:xfrm>
          <a:prstGeom prst="rect">
            <a:avLst/>
          </a:prstGeom>
        </p:spPr>
      </p:pic>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08800" y="1671040"/>
            <a:ext cx="5283200" cy="2730500"/>
          </a:xfrm>
          <a:prstGeom prst="rect">
            <a:avLst/>
          </a:prstGeom>
        </p:spPr>
      </p:pic>
      <p:sp>
        <p:nvSpPr>
          <p:cNvPr id="5" name="Rectangle 4"/>
          <p:cNvSpPr/>
          <p:nvPr/>
        </p:nvSpPr>
        <p:spPr>
          <a:xfrm>
            <a:off x="1072157" y="1444772"/>
            <a:ext cx="5023843" cy="1591518"/>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38100">
                <a:solidFill>
                  <a:schemeClr val="tx1"/>
                </a:solidFill>
              </a:ln>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08800" y="4532910"/>
            <a:ext cx="4076700" cy="1308100"/>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9291" y="1211213"/>
            <a:ext cx="6716469" cy="4228888"/>
          </a:xfrm>
          <a:prstGeom prst="rect">
            <a:avLst/>
          </a:prstGeom>
        </p:spPr>
      </p:pic>
      <p:sp>
        <p:nvSpPr>
          <p:cNvPr id="5" name="Rectangle 4"/>
          <p:cNvSpPr/>
          <p:nvPr/>
        </p:nvSpPr>
        <p:spPr>
          <a:xfrm>
            <a:off x="865603" y="3325657"/>
            <a:ext cx="5567948" cy="1963973"/>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38100">
                <a:solidFill>
                  <a:schemeClr val="tx1"/>
                </a:solidFill>
              </a:ln>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04761" y="653970"/>
            <a:ext cx="4622800" cy="1587500"/>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4761" y="2476821"/>
            <a:ext cx="5567948" cy="3727209"/>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46613" y="1049168"/>
            <a:ext cx="6716469" cy="4228888"/>
          </a:xfrm>
          <a:prstGeom prst="rect">
            <a:avLst/>
          </a:prstGeom>
        </p:spPr>
      </p:pic>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99488" y="1328863"/>
            <a:ext cx="5345899" cy="3057942"/>
          </a:xfrm>
          <a:prstGeom prst="rect">
            <a:avLst/>
          </a:prstGeom>
        </p:spPr>
      </p:pic>
      <p:sp>
        <p:nvSpPr>
          <p:cNvPr id="2" name="Rectangle 1"/>
          <p:cNvSpPr/>
          <p:nvPr/>
        </p:nvSpPr>
        <p:spPr>
          <a:xfrm>
            <a:off x="6699487" y="3346144"/>
            <a:ext cx="5345899" cy="971856"/>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38100">
                <a:solidFill>
                  <a:schemeClr val="tx1"/>
                </a:solidFill>
              </a:ln>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latin typeface="Times New Roman" panose="02020603050405020304" charset="0"/>
              </a:rPr>
              <a:t>适配器模式</a:t>
            </a:r>
            <a:r>
              <a:rPr lang="zh-CN" altLang="en-US" dirty="0">
                <a:latin typeface="Times New Roman" panose="02020603050405020304" charset="0"/>
              </a:rPr>
              <a:t>效</a:t>
            </a:r>
            <a:r>
              <a:rPr lang="en-US" altLang="zh-CN" dirty="0">
                <a:latin typeface="Times New Roman" panose="02020603050405020304" charset="0"/>
              </a:rPr>
              <a:t>果</a:t>
            </a:r>
            <a:endParaRPr lang="en-US" altLang="zh-CN" sz="239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2245360"/>
          </a:xfrm>
          <a:prstGeom prst="rect">
            <a:avLst/>
          </a:prstGeom>
          <a:noFill/>
        </p:spPr>
        <p:txBody>
          <a:bodyPr wrap="square">
            <a:spAutoFit/>
          </a:bodyPr>
          <a:lstStyle/>
          <a:p>
            <a:r>
              <a:rPr lang="en-US" altLang="zh-CN" sz="2000" dirty="0"/>
              <a:t>每当使用适配器设计模式时，均适用以下后果。</a:t>
            </a:r>
            <a:endParaRPr lang="en-US" altLang="zh-CN" sz="2000" dirty="0"/>
          </a:p>
          <a:p>
            <a:endParaRPr lang="en-US" altLang="zh-CN" sz="2000" dirty="0"/>
          </a:p>
          <a:p>
            <a:pPr marL="800100" lvl="1" indent="-342900">
              <a:buFont typeface="Arial" panose="020B0604020202090204" pitchFamily="34" charset="0"/>
              <a:buChar char="•"/>
            </a:pPr>
            <a:r>
              <a:rPr lang="zh-CN" altLang="en-US" sz="2000" dirty="0">
                <a:solidFill>
                  <a:srgbClr val="FF0000"/>
                </a:solidFill>
              </a:rPr>
              <a:t>客户端</a:t>
            </a:r>
            <a:r>
              <a:rPr lang="en-US" altLang="zh-CN" sz="2000" dirty="0">
                <a:solidFill>
                  <a:srgbClr val="FF0000"/>
                </a:solidFill>
              </a:rPr>
              <a:t>与</a:t>
            </a:r>
            <a:r>
              <a:rPr lang="zh-CN" altLang="en-US" sz="2000" dirty="0">
                <a:solidFill>
                  <a:srgbClr val="FF0000"/>
                </a:solidFill>
              </a:rPr>
              <a:t>适配者</a:t>
            </a:r>
            <a:r>
              <a:rPr lang="en-US" altLang="zh-CN" sz="2000" dirty="0">
                <a:solidFill>
                  <a:srgbClr val="FF0000"/>
                </a:solidFill>
              </a:rPr>
              <a:t>共同合作，且双方均无需对自身</a:t>
            </a:r>
            <a:r>
              <a:rPr lang="zh-CN" altLang="en-US" sz="2000" dirty="0">
                <a:solidFill>
                  <a:srgbClr val="FF0000"/>
                </a:solidFill>
              </a:rPr>
              <a:t>代码</a:t>
            </a:r>
            <a:r>
              <a:rPr lang="en-US" altLang="zh-CN" sz="2000" dirty="0">
                <a:solidFill>
                  <a:srgbClr val="FF0000"/>
                </a:solidFill>
              </a:rPr>
              <a:t>进行修改。</a:t>
            </a:r>
            <a:endParaRPr lang="en-US" altLang="zh-CN" sz="2000" dirty="0"/>
          </a:p>
          <a:p>
            <a:pPr marL="800100" lvl="1" indent="-342900">
              <a:buFont typeface="Arial" panose="020B0604020202090204" pitchFamily="34" charset="0"/>
              <a:buChar char="•"/>
            </a:pPr>
            <a:endParaRPr lang="en-US" altLang="zh-CN" sz="2000" dirty="0"/>
          </a:p>
          <a:p>
            <a:pPr marL="800100" lvl="1" indent="-342900">
              <a:buFont typeface="Arial" panose="020B0604020202090204" pitchFamily="34" charset="0"/>
              <a:buChar char="•"/>
            </a:pPr>
            <a:r>
              <a:rPr lang="zh-CN" altLang="en-US" sz="2000" dirty="0">
                <a:solidFill>
                  <a:srgbClr val="FF0000"/>
                </a:solidFill>
              </a:rPr>
              <a:t>适配器</a:t>
            </a:r>
            <a:r>
              <a:rPr lang="en-US" altLang="zh-CN" sz="2000" dirty="0">
                <a:solidFill>
                  <a:srgbClr val="FF0000"/>
                </a:solidFill>
              </a:rPr>
              <a:t>与 </a:t>
            </a:r>
            <a:r>
              <a:rPr lang="zh-CN" altLang="en-US" sz="2000" dirty="0">
                <a:solidFill>
                  <a:srgbClr val="FF0000"/>
                </a:solidFill>
              </a:rPr>
              <a:t>适配者</a:t>
            </a:r>
            <a:r>
              <a:rPr lang="en-US" altLang="zh-CN" sz="2000" dirty="0">
                <a:solidFill>
                  <a:srgbClr val="FF0000"/>
                </a:solidFill>
              </a:rPr>
              <a:t> 及其所有子类协同工作。</a:t>
            </a:r>
            <a:endParaRPr lang="en-US" altLang="zh-CN" sz="2000" dirty="0"/>
          </a:p>
          <a:p>
            <a:pPr marL="800100" lvl="1" indent="-342900">
              <a:buFont typeface="Arial" panose="020B0604020202090204" pitchFamily="34" charset="0"/>
              <a:buChar char="•"/>
            </a:pPr>
            <a:endParaRPr lang="en-US" altLang="zh-CN" sz="2000" dirty="0"/>
          </a:p>
          <a:p>
            <a:pPr marL="800100" lvl="1" indent="-342900">
              <a:buFont typeface="Arial" panose="020B0604020202090204" pitchFamily="34" charset="0"/>
              <a:buChar char="•"/>
            </a:pPr>
            <a:r>
              <a:rPr lang="en-US" altLang="zh-CN" sz="2000" dirty="0"/>
              <a:t>若</a:t>
            </a:r>
            <a:r>
              <a:rPr lang="zh-CN" altLang="en-US" sz="2000" dirty="0"/>
              <a:t>客户端</a:t>
            </a:r>
            <a:r>
              <a:rPr lang="en-US" altLang="zh-CN" sz="2000" dirty="0"/>
              <a:t>被子类替代，则需编写新的适配器。</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2800" dirty="0">
                <a:latin typeface="Times New Roman" panose="02020603050405020304" charset="0"/>
              </a:rPr>
              <a:t>桥接模式</a:t>
            </a:r>
            <a:r>
              <a:rPr lang="en-US" altLang="zh-CN" sz="2800" dirty="0">
                <a:latin typeface="Times New Roman" panose="02020603050405020304" charset="0"/>
              </a:rPr>
              <a:t>：允许替代实施方案</a:t>
            </a:r>
            <a:endParaRPr lang="en-US" altLang="zh-CN" sz="28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255333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名称：</a:t>
            </a:r>
            <a:r>
              <a:rPr lang="zh-CN" altLang="en-US" sz="2000" b="1" dirty="0">
                <a:solidFill>
                  <a:srgbClr val="515223"/>
                </a:solidFill>
                <a:latin typeface="Helvetica" pitchFamily="2" charset="0"/>
                <a:cs typeface="Arial" panose="020B0604020202090204" pitchFamily="34" charset="0"/>
              </a:rPr>
              <a:t>桥接</a:t>
            </a:r>
            <a:r>
              <a:rPr lang="en-US" altLang="zh-CN" sz="2000" b="1" dirty="0">
                <a:solidFill>
                  <a:srgbClr val="515223"/>
                </a:solidFill>
                <a:latin typeface="Helvetica" pitchFamily="2" charset="0"/>
                <a:cs typeface="Arial" panose="020B0604020202090204" pitchFamily="34" charset="0"/>
              </a:rPr>
              <a:t>设计模式</a:t>
            </a:r>
            <a:endParaRPr lang="en-US" altLang="zh-CN" sz="2000" dirty="0"/>
          </a:p>
          <a:p>
            <a:r>
              <a:rPr lang="en-US" altLang="zh-CN" sz="2000" b="1" dirty="0">
                <a:solidFill>
                  <a:srgbClr val="515223"/>
                </a:solidFill>
                <a:latin typeface="Helvetica" pitchFamily="2" charset="0"/>
                <a:cs typeface="Arial" panose="020B0604020202090204" pitchFamily="34" charset="0"/>
              </a:rPr>
              <a:t>问题描述：</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将接口与其实现解耦，以便能够替换为不同的实现（例如在运行时测试同一接口的不同实现）。</a:t>
            </a:r>
            <a:endParaRPr lang="en-US" altLang="zh-CN" sz="2000" dirty="0"/>
          </a:p>
          <a:p>
            <a:endParaRPr lang="en-US" altLang="zh-CN" sz="2000" dirty="0"/>
          </a:p>
          <a:p>
            <a:r>
              <a:rPr lang="en-US" altLang="zh-CN" sz="2000" dirty="0">
                <a:solidFill>
                  <a:srgbClr val="FF0000"/>
                </a:solidFill>
              </a:rPr>
              <a:t>桥接模式与适配器设计模式的比较</a:t>
            </a:r>
            <a:endParaRPr lang="en-US" altLang="zh-CN" sz="2000" dirty="0">
              <a:solidFill>
                <a:srgbClr val="FF0000"/>
              </a:solidFill>
            </a:endParaRPr>
          </a:p>
          <a:p>
            <a:pPr marL="800100" lvl="1" indent="-342900">
              <a:buFont typeface="Arial" panose="020B0604020202090204" pitchFamily="34" charset="0"/>
              <a:buChar char="•"/>
            </a:pPr>
            <a:r>
              <a:rPr lang="zh-CN" altLang="en-US" sz="2000" dirty="0"/>
              <a:t>桥接</a:t>
            </a:r>
            <a:r>
              <a:rPr lang="en-US" altLang="zh-CN" sz="2000" dirty="0"/>
              <a:t>：</a:t>
            </a:r>
            <a:r>
              <a:rPr lang="zh-CN" altLang="en-US" sz="2000" dirty="0"/>
              <a:t>用于</a:t>
            </a:r>
            <a:r>
              <a:rPr lang="en-US" altLang="zh-CN" sz="2000" dirty="0"/>
              <a:t>定义</a:t>
            </a:r>
            <a:r>
              <a:rPr lang="en-US" altLang="zh-CN" sz="2000" dirty="0">
                <a:solidFill>
                  <a:srgbClr val="C00000"/>
                </a:solidFill>
              </a:rPr>
              <a:t>不</a:t>
            </a:r>
            <a:r>
              <a:rPr lang="zh-CN" altLang="en-US" sz="2000" dirty="0">
                <a:solidFill>
                  <a:srgbClr val="C00000"/>
                </a:solidFill>
              </a:rPr>
              <a:t>需要变更</a:t>
            </a:r>
            <a:r>
              <a:rPr lang="en-US" altLang="zh-CN" sz="2000" dirty="0"/>
              <a:t>的接口</a:t>
            </a:r>
            <a:endParaRPr lang="en-US" altLang="zh-CN" sz="2000" dirty="0"/>
          </a:p>
          <a:p>
            <a:pPr marL="800100" lvl="1" indent="-342900">
              <a:buFont typeface="Arial" panose="020B0604020202090204" pitchFamily="34" charset="0"/>
              <a:buChar char="•"/>
            </a:pPr>
            <a:r>
              <a:rPr lang="en-US" altLang="zh-CN" sz="2000" dirty="0"/>
              <a:t>适配器：</a:t>
            </a:r>
            <a:r>
              <a:rPr lang="zh-CN" altLang="en-US" sz="2000" dirty="0"/>
              <a:t>用于定义</a:t>
            </a:r>
            <a:r>
              <a:rPr lang="en-US" altLang="zh-CN" sz="2000" dirty="0">
                <a:solidFill>
                  <a:srgbClr val="C00000"/>
                </a:solidFill>
              </a:rPr>
              <a:t>需要协同工作</a:t>
            </a:r>
            <a:r>
              <a:rPr lang="en-US" altLang="zh-CN" sz="2000" dirty="0"/>
              <a:t>的旧版与新版接口</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latin typeface="Times New Roman" panose="02020603050405020304" charset="0"/>
              </a:rPr>
              <a:t>桥</a:t>
            </a:r>
            <a:r>
              <a:rPr lang="zh-CN" altLang="en-US" dirty="0">
                <a:latin typeface="Times New Roman" panose="02020603050405020304" charset="0"/>
              </a:rPr>
              <a:t>接</a:t>
            </a:r>
            <a:r>
              <a:rPr lang="zh-CN" altLang="en-US" dirty="0">
                <a:latin typeface="Times New Roman" panose="02020603050405020304" charset="0"/>
              </a:rPr>
              <a:t>模式</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54575" y="1536557"/>
            <a:ext cx="4021409" cy="2877314"/>
          </a:xfrm>
          <a:prstGeom prst="rect">
            <a:avLst/>
          </a:prstGeom>
        </p:spPr>
      </p:pic>
      <p:sp>
        <p:nvSpPr>
          <p:cNvPr id="8" name="Rectangle 7"/>
          <p:cNvSpPr/>
          <p:nvPr/>
        </p:nvSpPr>
        <p:spPr>
          <a:xfrm>
            <a:off x="983150" y="1317457"/>
            <a:ext cx="2145059" cy="94877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10" name="TextBox 9"/>
          <p:cNvSpPr txBox="1"/>
          <p:nvPr/>
        </p:nvSpPr>
        <p:spPr>
          <a:xfrm>
            <a:off x="982980" y="1317625"/>
            <a:ext cx="1590675" cy="368300"/>
          </a:xfrm>
          <a:prstGeom prst="rect">
            <a:avLst/>
          </a:prstGeom>
          <a:noFill/>
        </p:spPr>
        <p:txBody>
          <a:bodyPr wrap="square">
            <a:spAutoFit/>
          </a:bodyPr>
          <a:lstStyle/>
          <a:p>
            <a:r>
              <a:rPr lang="zh-CN" altLang="en-US" dirty="0">
                <a:solidFill>
                  <a:srgbClr val="C00000"/>
                </a:solidFill>
              </a:rPr>
              <a:t>遗留</a:t>
            </a:r>
            <a:r>
              <a:rPr lang="zh-CN" altLang="en-US" dirty="0">
                <a:solidFill>
                  <a:srgbClr val="C00000"/>
                </a:solidFill>
              </a:rPr>
              <a:t>代码</a:t>
            </a:r>
            <a:endParaRPr lang="zh-CN" altLang="en-US" dirty="0">
              <a:solidFill>
                <a:srgbClr val="C00000"/>
              </a:solidFill>
            </a:endParaRPr>
          </a:p>
        </p:txBody>
      </p:sp>
      <p:sp>
        <p:nvSpPr>
          <p:cNvPr id="12" name="TextBox 11"/>
          <p:cNvSpPr txBox="1"/>
          <p:nvPr/>
        </p:nvSpPr>
        <p:spPr>
          <a:xfrm>
            <a:off x="3427842" y="1289956"/>
            <a:ext cx="920989" cy="368300"/>
          </a:xfrm>
          <a:prstGeom prst="rect">
            <a:avLst/>
          </a:prstGeom>
          <a:noFill/>
        </p:spPr>
        <p:txBody>
          <a:bodyPr wrap="square">
            <a:spAutoFit/>
          </a:bodyPr>
          <a:lstStyle/>
          <a:p>
            <a:r>
              <a:rPr lang="en-US" altLang="zh-CN" sz="1800" dirty="0">
                <a:solidFill>
                  <a:schemeClr val="accent1"/>
                </a:solidFill>
              </a:rPr>
              <a:t>新</a:t>
            </a:r>
            <a:r>
              <a:rPr lang="zh-CN" altLang="en-US" sz="1800" dirty="0">
                <a:solidFill>
                  <a:schemeClr val="accent1"/>
                </a:solidFill>
              </a:rPr>
              <a:t>代码</a:t>
            </a:r>
            <a:endParaRPr lang="zh-CN" altLang="en-US" sz="1800" dirty="0">
              <a:solidFill>
                <a:schemeClr val="accent1"/>
              </a:solidFill>
            </a:endParaRPr>
          </a:p>
        </p:txBody>
      </p:sp>
      <p:sp>
        <p:nvSpPr>
          <p:cNvPr id="13" name="Rectangle 12"/>
          <p:cNvSpPr/>
          <p:nvPr/>
        </p:nvSpPr>
        <p:spPr>
          <a:xfrm>
            <a:off x="3455362" y="1317456"/>
            <a:ext cx="893469" cy="948777"/>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pic>
        <p:nvPicPr>
          <p:cNvPr id="15" name="Picture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72508" y="1985378"/>
            <a:ext cx="4418268" cy="1979672"/>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dirty="0">
                <a:latin typeface="Times New Roman" panose="02020603050405020304" charset="0"/>
              </a:rPr>
              <a:t>桥接</a:t>
            </a:r>
            <a:r>
              <a:rPr lang="zh-CN" altLang="en-US" dirty="0">
                <a:latin typeface="Times New Roman" panose="02020603050405020304" charset="0"/>
              </a:rPr>
              <a:t>模式</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904551" y="1419917"/>
            <a:ext cx="5106403" cy="3558231"/>
          </a:xfrm>
          <a:prstGeom prst="rect">
            <a:avLst/>
          </a:prstGeom>
        </p:spPr>
      </p:pic>
      <p:sp>
        <p:nvSpPr>
          <p:cNvPr id="9" name="TextBox 8"/>
          <p:cNvSpPr txBox="1"/>
          <p:nvPr/>
        </p:nvSpPr>
        <p:spPr>
          <a:xfrm>
            <a:off x="572359" y="1028699"/>
            <a:ext cx="6094854" cy="3169285"/>
          </a:xfrm>
          <a:prstGeom prst="rect">
            <a:avLst/>
          </a:prstGeom>
          <a:noFill/>
        </p:spPr>
        <p:txBody>
          <a:bodyPr wrap="square">
            <a:spAutoFit/>
          </a:bodyPr>
          <a:lstStyle/>
          <a:p>
            <a:pPr algn="l">
              <a:buFont typeface="+mj-lt"/>
              <a:buAutoNum type="arabicPeriod"/>
            </a:pPr>
            <a:r>
              <a:rPr lang="en-US" sz="2000" dirty="0"/>
              <a:t>该抽象层提供了高级控制逻辑，其实际底层实现工作则由实现对象负责完成。</a:t>
            </a:r>
            <a:endParaRPr lang="en-US" sz="2000" dirty="0"/>
          </a:p>
          <a:p>
            <a:pPr algn="l">
              <a:buFont typeface="+mj-lt"/>
              <a:buAutoNum type="arabicPeriod"/>
            </a:pPr>
            <a:endParaRPr lang="en-US" sz="2000" dirty="0"/>
          </a:p>
          <a:p>
            <a:pPr algn="l">
              <a:buFont typeface="+mj-lt"/>
              <a:buAutoNum type="arabicPeriod"/>
            </a:pPr>
            <a:r>
              <a:rPr lang="en-US" sz="2000" dirty="0"/>
              <a:t>实现部分声明了所有具体实现共用的接口。抽象体只能通过此处声明的方法与实现对象进行通信。</a:t>
            </a:r>
            <a:endParaRPr lang="en-US" sz="2000" dirty="0"/>
          </a:p>
          <a:p>
            <a:pPr algn="l">
              <a:buFont typeface="+mj-lt"/>
              <a:buAutoNum type="arabicPeriod"/>
            </a:pPr>
            <a:endParaRPr lang="en-US" sz="2000" dirty="0"/>
          </a:p>
          <a:p>
            <a:pPr algn="l">
              <a:buFont typeface="+mj-lt"/>
              <a:buAutoNum type="arabicPeriod"/>
            </a:pPr>
            <a:r>
              <a:rPr lang="en-US" sz="2000" dirty="0">
                <a:solidFill>
                  <a:srgbClr val="C00000"/>
                </a:solidFill>
              </a:rPr>
              <a:t>具体实现包含平台特定的代码。</a:t>
            </a:r>
            <a:endParaRPr lang="en-US" sz="2000" dirty="0"/>
          </a:p>
          <a:p>
            <a:pPr algn="l">
              <a:buFont typeface="+mj-lt"/>
              <a:buAutoNum type="arabicPeriod"/>
            </a:pPr>
            <a:endParaRPr lang="en-US" sz="2000" dirty="0"/>
          </a:p>
          <a:p>
            <a:pPr algn="l">
              <a:buFont typeface="+mj-lt"/>
              <a:buAutoNum type="arabicPeriod"/>
            </a:pPr>
            <a:r>
              <a:rPr lang="zh-CN" altLang="en-US" sz="2000" dirty="0">
                <a:solidFill>
                  <a:schemeClr val="tx1"/>
                </a:solidFill>
              </a:rPr>
              <a:t>改进</a:t>
            </a:r>
            <a:r>
              <a:rPr lang="en-US" sz="2000" dirty="0">
                <a:solidFill>
                  <a:schemeClr val="tx1"/>
                </a:solidFill>
              </a:rPr>
              <a:t>抽象通过</a:t>
            </a:r>
            <a:r>
              <a:rPr lang="en-US" sz="2000" dirty="0">
                <a:solidFill>
                  <a:srgbClr val="FF0000"/>
                </a:solidFill>
              </a:rPr>
              <a:t>通用实现接口</a:t>
            </a:r>
            <a:r>
              <a:rPr lang="en-US" sz="2000" dirty="0">
                <a:solidFill>
                  <a:schemeClr val="tx1"/>
                </a:solidFill>
              </a:rPr>
              <a:t>提供了多种</a:t>
            </a:r>
            <a:r>
              <a:rPr lang="en-US" sz="2000" dirty="0">
                <a:solidFill>
                  <a:srgbClr val="FF0000"/>
                </a:solidFill>
              </a:rPr>
              <a:t>实现变体</a:t>
            </a:r>
            <a:r>
              <a:rPr lang="en-US" sz="2000" dirty="0">
                <a:solidFill>
                  <a:schemeClr val="tx1"/>
                </a:solidFill>
              </a:rPr>
              <a:t>。</a:t>
            </a:r>
            <a:endParaRPr lang="en-US" sz="2000" dirty="0">
              <a:solidFill>
                <a:schemeClr val="tx1"/>
              </a:solidFill>
            </a:endParaRPr>
          </a:p>
          <a:p>
            <a:pPr algn="l">
              <a:buFont typeface="+mj-lt"/>
              <a:buAutoNum type="arabicPeriod"/>
            </a:pPr>
            <a:endParaRPr lang="en-US" sz="2000" dirty="0">
              <a:solidFill>
                <a:schemeClr val="tx1"/>
              </a:solidFill>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4936" y="1146412"/>
            <a:ext cx="5504521" cy="4243423"/>
          </a:xfrm>
          <a:prstGeom prst="rect">
            <a:avLst/>
          </a:prstGeom>
        </p:spPr>
      </p:pic>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95885" y="1363528"/>
            <a:ext cx="4165600" cy="1790700"/>
          </a:xfrm>
          <a:prstGeom prst="rect">
            <a:avLst/>
          </a:prstGeom>
        </p:spPr>
      </p:pic>
      <p:sp>
        <p:nvSpPr>
          <p:cNvPr id="15" name="Title 1"/>
          <p:cNvSpPr>
            <a:spLocks noGrp="1"/>
          </p:cNvSpPr>
          <p:nvPr>
            <p:ph type="title"/>
          </p:nvPr>
        </p:nvSpPr>
        <p:spPr>
          <a:xfrm>
            <a:off x="1091254" y="237834"/>
            <a:ext cx="9099225" cy="790865"/>
          </a:xfrm>
        </p:spPr>
        <p:txBody>
          <a:bodyPr>
            <a:noAutofit/>
          </a:bodyPr>
          <a:p>
            <a:r>
              <a:rPr lang="zh-CN" altLang="en-US" sz="4400" dirty="0">
                <a:latin typeface="Times New Roman" panose="02020603050405020304" charset="0"/>
              </a:rPr>
              <a:t>桥接模式</a:t>
            </a:r>
            <a:r>
              <a:rPr lang="zh-CN" altLang="en-US" sz="4400" dirty="0">
                <a:latin typeface="Times New Roman" panose="02020603050405020304" charset="0"/>
              </a:rPr>
              <a:t>样例</a:t>
            </a:r>
            <a:endParaRPr lang="zh-CN" altLang="en-US" sz="4400" dirty="0">
              <a:latin typeface="Times New Roman" panose="02020603050405020304" charset="0"/>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5061" y="1398895"/>
            <a:ext cx="5504521" cy="4243423"/>
          </a:xfrm>
          <a:prstGeom prst="rect">
            <a:avLst/>
          </a:prstGeom>
        </p:spPr>
      </p:pic>
      <p:sp>
        <p:nvSpPr>
          <p:cNvPr id="15" name="Title 1"/>
          <p:cNvSpPr>
            <a:spLocks noGrp="1"/>
          </p:cNvSpPr>
          <p:nvPr>
            <p:ph type="title"/>
          </p:nvPr>
        </p:nvSpPr>
        <p:spPr>
          <a:xfrm>
            <a:off x="1091254" y="237834"/>
            <a:ext cx="9099225" cy="790865"/>
          </a:xfrm>
        </p:spPr>
        <p:txBody>
          <a:bodyPr>
            <a:noAutofit/>
          </a:bodyPr>
          <a:lstStyle/>
          <a:p>
            <a:r>
              <a:rPr lang="zh-CN" altLang="en-US" sz="4400" dirty="0">
                <a:latin typeface="Times New Roman" panose="02020603050405020304" charset="0"/>
              </a:rPr>
              <a:t>桥接模式</a:t>
            </a:r>
            <a:r>
              <a:rPr lang="zh-CN" altLang="en-US" sz="4400" dirty="0">
                <a:latin typeface="Times New Roman" panose="02020603050405020304" charset="0"/>
              </a:rPr>
              <a:t>样例</a:t>
            </a:r>
            <a:endParaRPr lang="zh-CN" altLang="en-US" sz="4400" dirty="0">
              <a:latin typeface="Times New Roman" panose="02020603050405020304" charset="0"/>
            </a:endParaRPr>
          </a:p>
        </p:txBody>
      </p:sp>
      <p:sp>
        <p:nvSpPr>
          <p:cNvPr id="16" name="Rectangle 15"/>
          <p:cNvSpPr/>
          <p:nvPr/>
        </p:nvSpPr>
        <p:spPr>
          <a:xfrm>
            <a:off x="3447143" y="2040339"/>
            <a:ext cx="2408084" cy="3540403"/>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38100">
                <a:solidFill>
                  <a:schemeClr val="tx1"/>
                </a:solidFill>
              </a:ln>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36774" y="1451428"/>
            <a:ext cx="4737511" cy="4332515"/>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5061" y="1398895"/>
            <a:ext cx="5504521" cy="4243423"/>
          </a:xfrm>
          <a:prstGeom prst="rect">
            <a:avLst/>
          </a:prstGeom>
        </p:spPr>
      </p:pic>
      <p:sp>
        <p:nvSpPr>
          <p:cNvPr id="15" name="Title 1"/>
          <p:cNvSpPr>
            <a:spLocks noGrp="1"/>
          </p:cNvSpPr>
          <p:nvPr>
            <p:ph type="title"/>
          </p:nvPr>
        </p:nvSpPr>
        <p:spPr>
          <a:xfrm>
            <a:off x="1091254" y="237834"/>
            <a:ext cx="9099225" cy="790865"/>
          </a:xfrm>
        </p:spPr>
        <p:txBody>
          <a:bodyPr>
            <a:noAutofit/>
          </a:bodyPr>
          <a:lstStyle/>
          <a:p>
            <a:r>
              <a:rPr lang="zh-CN" altLang="en-US" dirty="0">
                <a:latin typeface="Times New Roman" panose="02020603050405020304" charset="0"/>
                <a:sym typeface="+mn-ea"/>
              </a:rPr>
              <a:t>桥接模式样例</a:t>
            </a:r>
            <a:endParaRPr lang="en-US" sz="23900" dirty="0">
              <a:latin typeface="Times New Roman" panose="02020603050405020304" charset="0"/>
            </a:endParaRPr>
          </a:p>
        </p:txBody>
      </p:sp>
      <p:sp>
        <p:nvSpPr>
          <p:cNvPr id="4" name="Rectangle 3"/>
          <p:cNvSpPr/>
          <p:nvPr/>
        </p:nvSpPr>
        <p:spPr>
          <a:xfrm>
            <a:off x="1740089" y="2204113"/>
            <a:ext cx="1644556" cy="2060812"/>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38100">
                <a:solidFill>
                  <a:schemeClr val="tx1"/>
                </a:solidFill>
              </a:ln>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48979" y="1764020"/>
            <a:ext cx="4264934" cy="3576061"/>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5061" y="1398895"/>
            <a:ext cx="5504521" cy="4243423"/>
          </a:xfrm>
          <a:prstGeom prst="rect">
            <a:avLst/>
          </a:prstGeom>
        </p:spPr>
      </p:pic>
      <p:sp>
        <p:nvSpPr>
          <p:cNvPr id="15" name="Title 1"/>
          <p:cNvSpPr>
            <a:spLocks noGrp="1"/>
          </p:cNvSpPr>
          <p:nvPr>
            <p:ph type="title"/>
          </p:nvPr>
        </p:nvSpPr>
        <p:spPr>
          <a:xfrm>
            <a:off x="1091254" y="237834"/>
            <a:ext cx="9099225" cy="790865"/>
          </a:xfrm>
        </p:spPr>
        <p:txBody>
          <a:bodyPr>
            <a:noAutofit/>
          </a:bodyPr>
          <a:lstStyle/>
          <a:p>
            <a:r>
              <a:rPr lang="zh-CN" altLang="en-US" dirty="0">
                <a:latin typeface="Times New Roman" panose="02020603050405020304" charset="0"/>
                <a:sym typeface="+mn-ea"/>
              </a:rPr>
              <a:t>桥接模式样例</a:t>
            </a:r>
            <a:endParaRPr lang="en-US" sz="23900" dirty="0">
              <a:latin typeface="Times New Roman" panose="02020603050405020304" charset="0"/>
            </a:endParaRPr>
          </a:p>
        </p:txBody>
      </p:sp>
      <p:sp>
        <p:nvSpPr>
          <p:cNvPr id="4" name="Rectangle 3"/>
          <p:cNvSpPr/>
          <p:nvPr/>
        </p:nvSpPr>
        <p:spPr>
          <a:xfrm>
            <a:off x="3275462" y="4353636"/>
            <a:ext cx="2141196" cy="45720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38100">
                <a:solidFill>
                  <a:schemeClr val="tx1"/>
                </a:solidFill>
              </a:ln>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22591" y="2555406"/>
            <a:ext cx="4203700" cy="1930400"/>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91254" y="1378424"/>
            <a:ext cx="5504521" cy="4243423"/>
          </a:xfrm>
          <a:prstGeom prst="rect">
            <a:avLst/>
          </a:prstGeom>
        </p:spPr>
      </p:pic>
      <p:sp>
        <p:nvSpPr>
          <p:cNvPr id="15" name="Title 1"/>
          <p:cNvSpPr>
            <a:spLocks noGrp="1"/>
          </p:cNvSpPr>
          <p:nvPr>
            <p:ph type="title"/>
          </p:nvPr>
        </p:nvSpPr>
        <p:spPr>
          <a:xfrm>
            <a:off x="1091254" y="237834"/>
            <a:ext cx="9099225" cy="790865"/>
          </a:xfrm>
        </p:spPr>
        <p:txBody>
          <a:bodyPr>
            <a:noAutofit/>
          </a:bodyPr>
          <a:lstStyle/>
          <a:p>
            <a:r>
              <a:rPr lang="zh-CN" altLang="en-US" dirty="0">
                <a:latin typeface="Times New Roman" panose="02020603050405020304" charset="0"/>
                <a:sym typeface="+mn-ea"/>
              </a:rPr>
              <a:t>桥接模式样例</a:t>
            </a:r>
            <a:endParaRPr lang="en-US" sz="23900" dirty="0">
              <a:latin typeface="Times New Roman" panose="02020603050405020304" charset="0"/>
            </a:endParaRPr>
          </a:p>
        </p:txBody>
      </p:sp>
      <p:sp>
        <p:nvSpPr>
          <p:cNvPr id="4" name="Rectangle 3"/>
          <p:cNvSpPr/>
          <p:nvPr/>
        </p:nvSpPr>
        <p:spPr>
          <a:xfrm>
            <a:off x="5206181" y="4346812"/>
            <a:ext cx="1057702" cy="45720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38100">
                <a:solidFill>
                  <a:schemeClr val="tx1"/>
                </a:solidFill>
              </a:ln>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09912" y="1574800"/>
            <a:ext cx="2890834" cy="3000612"/>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36345" y="1307288"/>
            <a:ext cx="5504521" cy="4243423"/>
          </a:xfrm>
          <a:prstGeom prst="rect">
            <a:avLst/>
          </a:prstGeom>
        </p:spPr>
      </p:pic>
      <p:sp>
        <p:nvSpPr>
          <p:cNvPr id="15" name="Title 1"/>
          <p:cNvSpPr>
            <a:spLocks noGrp="1"/>
          </p:cNvSpPr>
          <p:nvPr>
            <p:ph type="title"/>
          </p:nvPr>
        </p:nvSpPr>
        <p:spPr>
          <a:xfrm>
            <a:off x="1091254" y="237834"/>
            <a:ext cx="9099225" cy="790865"/>
          </a:xfrm>
        </p:spPr>
        <p:txBody>
          <a:bodyPr>
            <a:noAutofit/>
          </a:bodyPr>
          <a:lstStyle/>
          <a:p>
            <a:r>
              <a:rPr lang="zh-CN" altLang="en-US" dirty="0">
                <a:latin typeface="Times New Roman" panose="02020603050405020304" charset="0"/>
                <a:sym typeface="+mn-ea"/>
              </a:rPr>
              <a:t>桥接模式样例</a:t>
            </a:r>
            <a:endParaRPr lang="en-US" sz="23900" dirty="0">
              <a:latin typeface="Times New Roman" panose="02020603050405020304" charset="0"/>
            </a:endParaRPr>
          </a:p>
        </p:txBody>
      </p:sp>
      <p:sp>
        <p:nvSpPr>
          <p:cNvPr id="4" name="Rectangle 3"/>
          <p:cNvSpPr/>
          <p:nvPr/>
        </p:nvSpPr>
        <p:spPr>
          <a:xfrm>
            <a:off x="1799057" y="2358166"/>
            <a:ext cx="1388129" cy="2926756"/>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38100">
                <a:solidFill>
                  <a:schemeClr val="tx1"/>
                </a:solidFill>
              </a:ln>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86966" y="1215163"/>
            <a:ext cx="4457219" cy="4954722"/>
          </a:xfrm>
          <a:prstGeom prst="rect">
            <a:avLst/>
          </a:prstGeom>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2800" dirty="0">
                <a:latin typeface="Times New Roman" panose="02020603050405020304" charset="0"/>
                <a:sym typeface="+mn-ea"/>
              </a:rPr>
              <a:t>桥接模式</a:t>
            </a:r>
            <a:r>
              <a:rPr lang="en-US" altLang="zh-CN" sz="2800" dirty="0">
                <a:latin typeface="Times New Roman" panose="02020603050405020304" charset="0"/>
              </a:rPr>
              <a:t>：允许替代实施方案</a:t>
            </a:r>
            <a:endParaRPr lang="en-US" altLang="zh-CN" sz="28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255333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解决方案：</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抽象类定义了客户端可见的接口。</a:t>
            </a:r>
            <a:endParaRPr lang="en-US" altLang="zh-CN" sz="2000" dirty="0"/>
          </a:p>
          <a:p>
            <a:pPr marL="800100" lvl="1" indent="-342900">
              <a:buFont typeface="Arial" panose="020B0604020202090204" pitchFamily="34" charset="0"/>
              <a:buChar char="•"/>
            </a:pPr>
            <a:endParaRPr lang="en-US" altLang="zh-CN" sz="2000" dirty="0"/>
          </a:p>
          <a:p>
            <a:pPr marL="800100" lvl="1" indent="-342900">
              <a:buFont typeface="Arial" panose="020B0604020202090204" pitchFamily="34" charset="0"/>
              <a:buChar char="•"/>
            </a:pPr>
            <a:r>
              <a:rPr lang="en-US" altLang="zh-CN" sz="2000" dirty="0">
                <a:solidFill>
                  <a:srgbClr val="FF0000"/>
                </a:solidFill>
              </a:rPr>
              <a:t>Implementer 是一个抽象类，它定义了抽象层可调用的底层方法。</a:t>
            </a:r>
            <a:endParaRPr lang="en-US" altLang="zh-CN" sz="2000" dirty="0"/>
          </a:p>
          <a:p>
            <a:pPr marL="800100" lvl="1" indent="-342900">
              <a:buFont typeface="Arial" panose="020B0604020202090204" pitchFamily="34" charset="0"/>
              <a:buChar char="•"/>
            </a:pPr>
            <a:endParaRPr lang="en-US" altLang="zh-CN" sz="2000" dirty="0"/>
          </a:p>
          <a:p>
            <a:pPr marL="800100" lvl="1" indent="-342900">
              <a:buFont typeface="Arial" panose="020B0604020202090204" pitchFamily="34" charset="0"/>
              <a:buChar char="•"/>
            </a:pPr>
            <a:r>
              <a:rPr lang="en-US" altLang="zh-CN" sz="2000" dirty="0"/>
              <a:t>抽象实例会维护对其对应实现器实例的引用。</a:t>
            </a:r>
            <a:endParaRPr lang="en-US" altLang="zh-CN" sz="2000" dirty="0"/>
          </a:p>
          <a:p>
            <a:pPr marL="800100" lvl="1" indent="-342900">
              <a:buFont typeface="Arial" panose="020B0604020202090204" pitchFamily="34" charset="0"/>
              <a:buChar char="•"/>
            </a:pPr>
            <a:endParaRPr lang="en-US" altLang="zh-CN" sz="2000" dirty="0"/>
          </a:p>
          <a:p>
            <a:pPr marL="800100" lvl="1" indent="-342900">
              <a:buFont typeface="Arial" panose="020B0604020202090204" pitchFamily="34" charset="0"/>
              <a:buChar char="•"/>
            </a:pPr>
            <a:r>
              <a:rPr lang="en-US" altLang="zh-CN" sz="2000" dirty="0">
                <a:solidFill>
                  <a:srgbClr val="FF0000"/>
                </a:solidFill>
              </a:rPr>
              <a:t>抽象层和实现层可以独立进行</a:t>
            </a:r>
            <a:r>
              <a:rPr lang="zh-CN" altLang="en-US" sz="2000" dirty="0">
                <a:solidFill>
                  <a:srgbClr val="FF0000"/>
                </a:solidFill>
              </a:rPr>
              <a:t>改进</a:t>
            </a:r>
            <a:r>
              <a:rPr lang="en-US" altLang="zh-CN" sz="2000" dirty="0">
                <a:solidFill>
                  <a:srgbClr val="FF0000"/>
                </a:solidFill>
              </a:rPr>
              <a:t>。</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dirty="0">
                <a:latin typeface="Times New Roman" panose="02020603050405020304" charset="0"/>
              </a:rPr>
              <a:t>桥接模式</a:t>
            </a:r>
            <a:r>
              <a:rPr lang="zh-CN" altLang="en-US" dirty="0">
                <a:latin typeface="Times New Roman" panose="02020603050405020304" charset="0"/>
              </a:rPr>
              <a:t>效果</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1323439"/>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后果：</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solidFill>
                  <a:srgbClr val="FF0000"/>
                </a:solidFill>
              </a:rPr>
              <a:t>客户端被屏蔽在抽象与具体实现之外。</a:t>
            </a:r>
            <a:endParaRPr lang="en-US" altLang="zh-CN" sz="2000" dirty="0"/>
          </a:p>
          <a:p>
            <a:pPr marL="800100" lvl="1" indent="-342900">
              <a:buFont typeface="Arial" panose="020B0604020202090204" pitchFamily="34" charset="0"/>
              <a:buChar char="•"/>
            </a:pPr>
            <a:endParaRPr lang="en-US" altLang="zh-CN" sz="2000" dirty="0"/>
          </a:p>
          <a:p>
            <a:pPr marL="800100" lvl="1" indent="-342900">
              <a:buFont typeface="Arial" panose="020B0604020202090204" pitchFamily="34" charset="0"/>
              <a:buChar char="•"/>
            </a:pPr>
            <a:r>
              <a:rPr lang="en-US" altLang="zh-CN" sz="2000" dirty="0"/>
              <a:t>接口和实现可以分别进行测试。</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latin typeface="Times New Roman" panose="02020603050405020304" charset="0"/>
              </a:rPr>
              <a:t>策略</a:t>
            </a:r>
            <a:r>
              <a:rPr lang="zh-CN" altLang="en-US" dirty="0">
                <a:latin typeface="Times New Roman" panose="02020603050405020304" charset="0"/>
              </a:rPr>
              <a:t>模式</a:t>
            </a:r>
            <a:r>
              <a:rPr lang="en-US" altLang="zh-CN" dirty="0">
                <a:latin typeface="Times New Roman" panose="02020603050405020304" charset="0"/>
              </a:rPr>
              <a:t>：封装算法</a:t>
            </a:r>
            <a:endParaRPr lang="en-US" altLang="zh-CN" sz="239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2245360"/>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名称：策略模式 （</a:t>
            </a:r>
            <a:r>
              <a:rPr lang="en-US" altLang="zh-CN" sz="2000" b="1" dirty="0">
                <a:solidFill>
                  <a:srgbClr val="515223"/>
                </a:solidFill>
                <a:latin typeface="Helvetica" pitchFamily="2" charset="0"/>
                <a:cs typeface="Arial" panose="020B0604020202090204" pitchFamily="34" charset="0"/>
              </a:rPr>
              <a:t>Strategy）</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例如：</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在计算器中，你需要执行各种运算（加法、乘法、减法、除法等）。</a:t>
            </a:r>
            <a:endParaRPr lang="en-US" altLang="zh-CN" sz="2000" dirty="0"/>
          </a:p>
          <a:p>
            <a:pPr lvl="1"/>
            <a:endParaRPr lang="en-US" altLang="zh-CN" sz="2000" dirty="0"/>
          </a:p>
          <a:p>
            <a:r>
              <a:rPr lang="en-US" altLang="zh-CN" sz="2000" b="1" dirty="0">
                <a:solidFill>
                  <a:srgbClr val="515223"/>
                </a:solidFill>
                <a:latin typeface="Helvetica" pitchFamily="2" charset="0"/>
                <a:cs typeface="Arial" panose="020B0604020202090204" pitchFamily="34" charset="0"/>
              </a:rPr>
              <a:t>问题描述：</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将决策类与一组机制解耦，从而使不同机制能够实现透明化修改。</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dirty="0">
                <a:latin typeface="Times New Roman" panose="02020603050405020304" charset="0"/>
              </a:rPr>
              <a:t>策略</a:t>
            </a:r>
            <a:r>
              <a:rPr lang="zh-CN" altLang="en-US" dirty="0">
                <a:latin typeface="Times New Roman" panose="02020603050405020304" charset="0"/>
              </a:rPr>
              <a:t>模式</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11" name="Picture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119367" y="2387600"/>
            <a:ext cx="6565900" cy="3302000"/>
          </a:xfrm>
          <a:prstGeom prst="rect">
            <a:avLst/>
          </a:prstGeom>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8" name="Picture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54666" y="1500353"/>
            <a:ext cx="7772400" cy="4291830"/>
          </a:xfrm>
          <a:prstGeom prst="rect">
            <a:avLst/>
          </a:prstGeom>
        </p:spPr>
      </p:pic>
      <p:sp>
        <p:nvSpPr>
          <p:cNvPr id="6" name="Title 1"/>
          <p:cNvSpPr txBox="1"/>
          <p:nvPr/>
        </p:nvSpPr>
        <p:spPr>
          <a:xfrm>
            <a:off x="1207370" y="136526"/>
            <a:ext cx="9099225" cy="790865"/>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600" b="1" i="0" kern="1200">
                <a:solidFill>
                  <a:schemeClr val="accent1"/>
                </a:solidFill>
                <a:latin typeface="Helvetica" pitchFamily="2" charset="0"/>
                <a:ea typeface="微软雅黑" panose="020B0503020204020204" pitchFamily="34" charset="-122"/>
                <a:cs typeface="Arial" panose="020B0604020202090204" pitchFamily="34" charset="0"/>
              </a:defRPr>
            </a:lvl1pPr>
          </a:lstStyle>
          <a:p>
            <a:r>
              <a:rPr lang="zh-CN" altLang="en-US" dirty="0">
                <a:latin typeface="Times New Roman" panose="02020603050405020304" charset="0"/>
              </a:rPr>
              <a:t>策略</a:t>
            </a:r>
            <a:r>
              <a:rPr lang="zh-CN" altLang="en-US" dirty="0">
                <a:latin typeface="Times New Roman" panose="02020603050405020304" charset="0"/>
              </a:rPr>
              <a:t>模式</a:t>
            </a:r>
            <a:endParaRPr lang="zh-CN" altLang="en-US" dirty="0">
              <a:latin typeface="Times New Roman" panose="02020603050405020304" charset="0"/>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2400" dirty="0">
                <a:latin typeface="Times New Roman" panose="02020603050405020304" charset="0"/>
                <a:sym typeface="+mn-ea"/>
              </a:rPr>
              <a:t>策略模式</a:t>
            </a:r>
            <a:endParaRPr lang="zh-CN" altLang="en-US" sz="2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8" name="Picture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24028" y="1469356"/>
            <a:ext cx="7772400" cy="4291830"/>
          </a:xfrm>
          <a:prstGeom prst="rect">
            <a:avLst/>
          </a:prstGeom>
        </p:spPr>
      </p:pic>
      <p:sp>
        <p:nvSpPr>
          <p:cNvPr id="6" name="Rectangle 5"/>
          <p:cNvSpPr/>
          <p:nvPr/>
        </p:nvSpPr>
        <p:spPr>
          <a:xfrm>
            <a:off x="2917818" y="1903615"/>
            <a:ext cx="1615436" cy="1087558"/>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38100">
                <a:solidFill>
                  <a:schemeClr val="tx1"/>
                </a:solidFill>
              </a:ln>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69990" y="1712561"/>
            <a:ext cx="4308025" cy="3235379"/>
          </a:xfrm>
          <a:prstGeom prst="rect">
            <a:avLst/>
          </a:prstGeom>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2400" dirty="0">
                <a:latin typeface="Times New Roman" panose="02020603050405020304" charset="0"/>
              </a:rPr>
              <a:t>策略</a:t>
            </a:r>
            <a:r>
              <a:rPr lang="zh-CN" altLang="en-US" sz="2400" dirty="0">
                <a:latin typeface="Times New Roman" panose="02020603050405020304" charset="0"/>
              </a:rPr>
              <a:t>模式</a:t>
            </a:r>
            <a:endParaRPr lang="zh-CN" altLang="en-US" sz="2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8" name="Picture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24028" y="1469356"/>
            <a:ext cx="7772400" cy="4291830"/>
          </a:xfrm>
          <a:prstGeom prst="rect">
            <a:avLst/>
          </a:prstGeom>
        </p:spPr>
      </p:pic>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16051" y="3287869"/>
            <a:ext cx="5445023" cy="1528229"/>
          </a:xfrm>
          <a:prstGeom prst="rect">
            <a:avLst/>
          </a:prstGeom>
        </p:spPr>
      </p:pic>
      <p:sp>
        <p:nvSpPr>
          <p:cNvPr id="6" name="Rectangle 5"/>
          <p:cNvSpPr/>
          <p:nvPr/>
        </p:nvSpPr>
        <p:spPr>
          <a:xfrm>
            <a:off x="4827922" y="1965622"/>
            <a:ext cx="1388129" cy="88159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38100">
                <a:solidFill>
                  <a:schemeClr val="tx1"/>
                </a:solidFill>
              </a:ln>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565" y="238125"/>
            <a:ext cx="2282825" cy="790575"/>
          </a:xfrm>
        </p:spPr>
        <p:txBody>
          <a:bodyPr>
            <a:noAutofit/>
          </a:bodyPr>
          <a:lstStyle/>
          <a:p>
            <a:r>
              <a:rPr lang="zh-CN" altLang="en-US" sz="2400" dirty="0">
                <a:latin typeface="Times New Roman" panose="02020603050405020304" charset="0"/>
              </a:rPr>
              <a:t>策略模式</a:t>
            </a:r>
            <a:endParaRPr lang="zh-CN" altLang="en-US" sz="2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8" name="Picture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24028" y="1469356"/>
            <a:ext cx="7772400" cy="4291830"/>
          </a:xfrm>
          <a:prstGeom prst="rect">
            <a:avLst/>
          </a:prstGeom>
        </p:spPr>
      </p:pic>
      <p:sp>
        <p:nvSpPr>
          <p:cNvPr id="6" name="Rectangle 5"/>
          <p:cNvSpPr/>
          <p:nvPr/>
        </p:nvSpPr>
        <p:spPr>
          <a:xfrm>
            <a:off x="4669126" y="3174476"/>
            <a:ext cx="1491451" cy="88159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38100">
                <a:solidFill>
                  <a:schemeClr val="tx1"/>
                </a:solidFill>
              </a:ln>
            </a:endParaRP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7889" y="78568"/>
            <a:ext cx="4862857" cy="2959100"/>
          </a:xfrm>
          <a:prstGeom prst="rect">
            <a:avLst/>
          </a:prstGeom>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2400" dirty="0">
                <a:latin typeface="Times New Roman" panose="02020603050405020304" charset="0"/>
              </a:rPr>
              <a:t>策略</a:t>
            </a:r>
            <a:r>
              <a:rPr lang="zh-CN" altLang="en-US" sz="2400" dirty="0">
                <a:latin typeface="Times New Roman" panose="02020603050405020304" charset="0"/>
              </a:rPr>
              <a:t>模式</a:t>
            </a:r>
            <a:endParaRPr lang="zh-CN" altLang="en-US" sz="2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8" name="Picture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24028" y="1469356"/>
            <a:ext cx="7772400" cy="4291830"/>
          </a:xfrm>
          <a:prstGeom prst="rect">
            <a:avLst/>
          </a:prstGeom>
        </p:spPr>
      </p:pic>
      <p:sp>
        <p:nvSpPr>
          <p:cNvPr id="6" name="Rectangle 5"/>
          <p:cNvSpPr/>
          <p:nvPr/>
        </p:nvSpPr>
        <p:spPr>
          <a:xfrm>
            <a:off x="2817079" y="3337208"/>
            <a:ext cx="1708426" cy="1761734"/>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38100">
                <a:solidFill>
                  <a:schemeClr val="tx1"/>
                </a:solidFill>
              </a:ln>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84256" y="1504227"/>
            <a:ext cx="4982887" cy="4291830"/>
          </a:xfrm>
          <a:prstGeom prst="rect">
            <a:avLst/>
          </a:prstGeom>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latin typeface="Times New Roman" panose="02020603050405020304" charset="0"/>
              </a:rPr>
              <a:t>策略</a:t>
            </a:r>
            <a:r>
              <a:rPr lang="zh-CN" altLang="en-US" dirty="0">
                <a:latin typeface="Times New Roman" panose="02020603050405020304" charset="0"/>
              </a:rPr>
              <a:t>模式</a:t>
            </a:r>
            <a:r>
              <a:rPr lang="en-US" altLang="zh-CN" dirty="0">
                <a:latin typeface="Times New Roman" panose="02020603050405020304" charset="0"/>
              </a:rPr>
              <a:t>：封装算法</a:t>
            </a:r>
            <a:endParaRPr lang="en-US" altLang="zh-CN" sz="239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1938020"/>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解决方案：</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客户端访问由上下文（</a:t>
            </a:r>
            <a:r>
              <a:rPr lang="en-US" altLang="zh-CN" sz="2000" dirty="0"/>
              <a:t>Context）提供的服务。</a:t>
            </a:r>
            <a:endParaRPr lang="en-US" altLang="zh-CN" sz="2000" dirty="0"/>
          </a:p>
          <a:p>
            <a:pPr lvl="1"/>
            <a:endParaRPr lang="en-US" altLang="zh-CN" sz="2000" dirty="0"/>
          </a:p>
          <a:p>
            <a:pPr lvl="1"/>
            <a:r>
              <a:rPr lang="en-US" altLang="zh-CN" sz="2000" dirty="0"/>
              <a:t>上下文服务是通过多种机制之一实现的。</a:t>
            </a:r>
            <a:endParaRPr lang="en-US" altLang="zh-CN" sz="2000" dirty="0"/>
          </a:p>
          <a:p>
            <a:pPr lvl="1"/>
            <a:endParaRPr lang="en-US" altLang="zh-CN" sz="2000" dirty="0"/>
          </a:p>
          <a:p>
            <a:pPr lvl="1"/>
            <a:r>
              <a:rPr lang="en-US" altLang="zh-CN" sz="2000" dirty="0"/>
              <a:t>抽象类Strategy描述了</a:t>
            </a:r>
            <a:r>
              <a:rPr lang="zh-CN" altLang="en-US" sz="2000" dirty="0"/>
              <a:t>上下文</a:t>
            </a:r>
            <a:r>
              <a:rPr lang="en-US" altLang="zh-CN" sz="2000" dirty="0"/>
              <a:t>可使用的所有机制共有的接口。</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latin typeface="Times New Roman" panose="02020603050405020304" charset="0"/>
              </a:rPr>
              <a:t>策略</a:t>
            </a:r>
            <a:r>
              <a:rPr lang="zh-CN" altLang="en-US" dirty="0">
                <a:latin typeface="Times New Roman" panose="02020603050405020304" charset="0"/>
              </a:rPr>
              <a:t>模式</a:t>
            </a:r>
            <a:r>
              <a:rPr lang="zh-CN" altLang="en-US" dirty="0">
                <a:latin typeface="Times New Roman" panose="02020603050405020304" charset="0"/>
              </a:rPr>
              <a:t>效果</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1938020"/>
          </a:xfrm>
          <a:prstGeom prst="rect">
            <a:avLst/>
          </a:prstGeom>
          <a:noFill/>
        </p:spPr>
        <p:txBody>
          <a:bodyPr wrap="square">
            <a:spAutoFit/>
          </a:bodyPr>
          <a:lstStyle/>
          <a:p>
            <a:r>
              <a:rPr lang="zh-CN" altLang="en-US" sz="2000" b="1" dirty="0">
                <a:solidFill>
                  <a:srgbClr val="515223"/>
                </a:solidFill>
                <a:latin typeface="Helvetica" pitchFamily="2" charset="0"/>
                <a:cs typeface="Arial" panose="020B0604020202090204" pitchFamily="34" charset="0"/>
              </a:rPr>
              <a:t>效果</a:t>
            </a:r>
            <a:r>
              <a:rPr lang="en-US" altLang="zh-CN" sz="2000" b="1" dirty="0">
                <a:solidFill>
                  <a:srgbClr val="515223"/>
                </a:solidFill>
                <a:latin typeface="Helvetica" pitchFamily="2" charset="0"/>
                <a:cs typeface="Arial" panose="020B0604020202090204" pitchFamily="34" charset="0"/>
              </a:rPr>
              <a:t>：</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err="1">
                <a:solidFill>
                  <a:srgbClr val="FF0000"/>
                </a:solidFill>
              </a:rPr>
              <a:t>ConcreteStrategies 可以从</a:t>
            </a:r>
            <a:r>
              <a:rPr lang="zh-CN" altLang="en-US" sz="2000" dirty="0" err="1">
                <a:solidFill>
                  <a:srgbClr val="FF0000"/>
                </a:solidFill>
              </a:rPr>
              <a:t>上下文</a:t>
            </a:r>
            <a:r>
              <a:rPr lang="en-US" altLang="zh-CN" sz="2000" dirty="0" err="1">
                <a:solidFill>
                  <a:srgbClr val="FF0000"/>
                </a:solidFill>
              </a:rPr>
              <a:t>中透明地进行替换。</a:t>
            </a:r>
            <a:endParaRPr lang="en-US" altLang="zh-CN" sz="2000" dirty="0"/>
          </a:p>
          <a:p>
            <a:pPr marL="800100" lvl="1" indent="-342900">
              <a:buFont typeface="Arial" panose="020B0604020202090204" pitchFamily="34" charset="0"/>
              <a:buChar char="•"/>
            </a:pPr>
            <a:endParaRPr lang="en-US" altLang="zh-CN" sz="2000" dirty="0"/>
          </a:p>
          <a:p>
            <a:pPr marL="800100" lvl="1" indent="-342900">
              <a:buFont typeface="Arial" panose="020B0604020202090204" pitchFamily="34" charset="0"/>
              <a:buChar char="•"/>
            </a:pPr>
            <a:r>
              <a:rPr lang="en-US" altLang="zh-CN" sz="2000" dirty="0">
                <a:solidFill>
                  <a:srgbClr val="FF0000"/>
                </a:solidFill>
              </a:rPr>
              <a:t>该政策会根据当前情况决定哪种策略最为合适。</a:t>
            </a:r>
            <a:endParaRPr lang="en-US" altLang="zh-CN" sz="2000" dirty="0"/>
          </a:p>
          <a:p>
            <a:pPr marL="800100" lvl="1" indent="-342900">
              <a:buFont typeface="Arial" panose="020B0604020202090204" pitchFamily="34" charset="0"/>
              <a:buChar char="•"/>
            </a:pPr>
            <a:endParaRPr lang="en-US" altLang="zh-CN" sz="2000" dirty="0"/>
          </a:p>
          <a:p>
            <a:pPr marL="800100" lvl="1" indent="-342900">
              <a:buFont typeface="Arial" panose="020B0604020202090204" pitchFamily="34" charset="0"/>
              <a:buChar char="•"/>
            </a:pPr>
            <a:r>
              <a:rPr lang="en-US" altLang="zh-CN" sz="2000" dirty="0"/>
              <a:t>无需修改 Context 或 Client 即可添加新的策略算法。</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3197" y="237834"/>
            <a:ext cx="9966387" cy="790865"/>
          </a:xfrm>
        </p:spPr>
        <p:txBody>
          <a:bodyPr>
            <a:normAutofit/>
          </a:bodyPr>
          <a:lstStyle/>
          <a:p>
            <a:r>
              <a:rPr lang="en-US" altLang="zh-CN" dirty="0">
                <a:latin typeface="Times New Roman" panose="02020603050405020304" charset="0"/>
              </a:rPr>
              <a:t>漏洞、故障与</a:t>
            </a:r>
            <a:r>
              <a:rPr lang="zh-CN" altLang="en-US" dirty="0">
                <a:latin typeface="Times New Roman" panose="02020603050405020304" charset="0"/>
              </a:rPr>
              <a:t>失败</a:t>
            </a:r>
            <a:endParaRPr lang="en-US" altLang="zh-CN"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572376" y="2321041"/>
            <a:ext cx="10946524" cy="1938020"/>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漏洞（Bug</a:t>
            </a:r>
            <a:r>
              <a:rPr lang="zh-CN" altLang="en-US" sz="2000" b="1" dirty="0">
                <a:solidFill>
                  <a:srgbClr val="515223"/>
                </a:solidFill>
                <a:latin typeface="Helvetica" pitchFamily="2" charset="0"/>
                <a:cs typeface="Arial" panose="020B0604020202090204" pitchFamily="34" charset="0"/>
              </a:rPr>
              <a:t>，</a:t>
            </a:r>
            <a:r>
              <a:rPr lang="en-US" altLang="zh-CN" sz="2000" b="1" dirty="0">
                <a:solidFill>
                  <a:srgbClr val="515223"/>
                </a:solidFill>
                <a:latin typeface="Helvetica" pitchFamily="2" charset="0"/>
                <a:cs typeface="Arial" panose="020B0604020202090204" pitchFamily="34" charset="0"/>
              </a:rPr>
              <a:t>故障）：</a:t>
            </a:r>
            <a:endParaRPr lang="en-US" altLang="zh-CN" sz="2000" b="1" dirty="0">
              <a:solidFill>
                <a:srgbClr val="515223"/>
              </a:solidFill>
              <a:latin typeface="Helvetica" pitchFamily="2" charset="0"/>
              <a:cs typeface="Arial" panose="020B0604020202090204" pitchFamily="34" charset="0"/>
            </a:endParaRPr>
          </a:p>
          <a:p>
            <a:r>
              <a:rPr lang="en-US" altLang="zh-CN" sz="2000" dirty="0"/>
              <a:t>编程或设计错误导致交付的系统不符合规格要求（例如：编码错误、协议错误）</a:t>
            </a:r>
            <a:endParaRPr lang="en-US" altLang="zh-CN" sz="2000" dirty="0"/>
          </a:p>
          <a:p>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失败：</a:t>
            </a:r>
            <a:endParaRPr lang="en-US" altLang="zh-CN" sz="2000" b="1" dirty="0">
              <a:solidFill>
                <a:srgbClr val="515223"/>
              </a:solidFill>
              <a:latin typeface="Helvetica" pitchFamily="2" charset="0"/>
              <a:cs typeface="Arial" panose="020B0604020202090204" pitchFamily="34" charset="0"/>
            </a:endParaRPr>
          </a:p>
          <a:p>
            <a:r>
              <a:rPr lang="en-US" altLang="zh-CN" sz="2000" dirty="0"/>
              <a:t>该软件未能提供用户预期的服务（例如：需求描述有误、用户界面设计混乱）。</a:t>
            </a:r>
            <a:endParaRPr lang="en-US"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5" y="237834"/>
            <a:ext cx="8701256" cy="790865"/>
          </a:xfrm>
        </p:spPr>
        <p:txBody>
          <a:bodyPr>
            <a:noAutofit/>
          </a:bodyPr>
          <a:lstStyle/>
          <a:p>
            <a:r>
              <a:rPr lang="en-US" altLang="zh-CN" sz="3200" dirty="0">
                <a:latin typeface="Times New Roman" panose="02020603050405020304" charset="0"/>
              </a:rPr>
              <a:t>构建可靠的软件：容错性</a:t>
            </a:r>
            <a:endParaRPr lang="en-US" altLang="zh-CN" sz="32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622737" y="1414444"/>
            <a:ext cx="10946524" cy="4093428"/>
          </a:xfrm>
          <a:prstGeom prst="rect">
            <a:avLst/>
          </a:prstGeom>
          <a:noFill/>
        </p:spPr>
        <p:txBody>
          <a:bodyPr wrap="square">
            <a:spAutoFit/>
          </a:bodyPr>
          <a:lstStyle/>
          <a:p>
            <a:pPr marL="0" lvl="1"/>
            <a:r>
              <a:rPr lang="en-US" altLang="zh-CN" sz="2000" b="1" dirty="0">
                <a:solidFill>
                  <a:srgbClr val="515223"/>
                </a:solidFill>
                <a:latin typeface="Helvetica" pitchFamily="2" charset="0"/>
                <a:cs typeface="Arial" panose="020B0604020202090204" pitchFamily="34" charset="0"/>
              </a:rPr>
              <a:t>旨在:</a:t>
            </a:r>
            <a:endParaRPr lang="en-US" altLang="zh-CN" sz="2000" b="1" dirty="0">
              <a:solidFill>
                <a:srgbClr val="515223"/>
              </a:solidFill>
              <a:latin typeface="Helvetica" pitchFamily="2" charset="0"/>
              <a:cs typeface="Arial" panose="020B0604020202090204" pitchFamily="34" charset="0"/>
            </a:endParaRPr>
          </a:p>
          <a:p>
            <a:pPr marL="457200" lvl="2"/>
            <a:r>
              <a:rPr lang="en-US" altLang="zh-CN" sz="2000" dirty="0"/>
              <a:t>一种在出现问题时仍能持续运行的系统。</a:t>
            </a:r>
            <a:endParaRPr lang="en-US" altLang="zh-CN" sz="2000" dirty="0"/>
          </a:p>
          <a:p>
            <a:pPr marL="0" lvl="1"/>
            <a:endParaRPr lang="en-US" altLang="zh-CN" sz="2000" dirty="0"/>
          </a:p>
          <a:p>
            <a:pPr marL="0" lvl="1"/>
            <a:r>
              <a:rPr lang="en-US" altLang="zh-CN" sz="2000" b="1" dirty="0">
                <a:solidFill>
                  <a:srgbClr val="515223"/>
                </a:solidFill>
                <a:latin typeface="Helvetica" pitchFamily="2" charset="0"/>
                <a:cs typeface="Arial" panose="020B0604020202090204" pitchFamily="34" charset="0"/>
              </a:rPr>
              <a:t>例如：</a:t>
            </a:r>
            <a:endParaRPr lang="en-US" altLang="zh-CN" sz="2000" b="1" dirty="0">
              <a:solidFill>
                <a:srgbClr val="515223"/>
              </a:solidFill>
              <a:latin typeface="Helvetica" pitchFamily="2" charset="0"/>
              <a:cs typeface="Arial" panose="020B0604020202090204" pitchFamily="34" charset="0"/>
            </a:endParaRPr>
          </a:p>
          <a:p>
            <a:pPr marL="800100" lvl="2" indent="-342900">
              <a:buFont typeface="Arial" panose="020B0604020202090204" pitchFamily="34" charset="0"/>
              <a:buChar char="•"/>
            </a:pPr>
            <a:r>
              <a:rPr lang="en-US" altLang="zh-CN" sz="2000" dirty="0"/>
              <a:t>输入数据无效（例如，在数据处理应用程序中）</a:t>
            </a:r>
            <a:endParaRPr lang="en-US" altLang="zh-CN" sz="2000" dirty="0"/>
          </a:p>
          <a:p>
            <a:pPr marL="800100" lvl="2" indent="-342900">
              <a:buFont typeface="Arial" panose="020B0604020202090204" pitchFamily="34" charset="0"/>
              <a:buChar char="•"/>
            </a:pPr>
            <a:r>
              <a:rPr lang="en-US" altLang="zh-CN" sz="2000" dirty="0"/>
              <a:t>过载（例如，在网络系统中）</a:t>
            </a:r>
            <a:endParaRPr lang="en-US" altLang="zh-CN" sz="2000" dirty="0"/>
          </a:p>
          <a:p>
            <a:pPr marL="800100" lvl="2" indent="-342900">
              <a:buFont typeface="Arial" panose="020B0604020202090204" pitchFamily="34" charset="0"/>
              <a:buChar char="•"/>
            </a:pPr>
            <a:r>
              <a:rPr lang="en-US" altLang="zh-CN" sz="2000" dirty="0"/>
              <a:t>硬件故障（例如，在控制系统中）</a:t>
            </a:r>
            <a:endParaRPr lang="en-US" altLang="zh-CN" sz="2000" dirty="0"/>
          </a:p>
          <a:p>
            <a:pPr marL="0" lvl="1"/>
            <a:endParaRPr lang="en-US" altLang="zh-CN" sz="2000" dirty="0"/>
          </a:p>
          <a:p>
            <a:pPr marL="0" lvl="1"/>
            <a:r>
              <a:rPr lang="en-US" altLang="zh-CN" sz="2000" b="1" dirty="0">
                <a:solidFill>
                  <a:srgbClr val="515223"/>
                </a:solidFill>
                <a:latin typeface="Helvetica" pitchFamily="2" charset="0"/>
                <a:cs typeface="Arial" panose="020B0604020202090204" pitchFamily="34" charset="0"/>
              </a:rPr>
              <a:t>一般方法：</a:t>
            </a:r>
            <a:endParaRPr lang="en-US" altLang="zh-CN" sz="2000" b="1" dirty="0">
              <a:solidFill>
                <a:srgbClr val="515223"/>
              </a:solidFill>
              <a:latin typeface="Helvetica" pitchFamily="2" charset="0"/>
              <a:cs typeface="Arial" panose="020B0604020202090204" pitchFamily="34" charset="0"/>
            </a:endParaRPr>
          </a:p>
          <a:p>
            <a:pPr marL="800100" lvl="2" indent="-342900">
              <a:buFont typeface="Arial" panose="020B0604020202090204" pitchFamily="34" charset="0"/>
              <a:buChar char="•"/>
            </a:pPr>
            <a:r>
              <a:rPr lang="en-US" altLang="zh-CN" sz="2000" dirty="0"/>
              <a:t>故障检测</a:t>
            </a:r>
            <a:endParaRPr lang="en-US" altLang="zh-CN" sz="2000" dirty="0"/>
          </a:p>
          <a:p>
            <a:pPr marL="800100" lvl="2" indent="-342900">
              <a:buFont typeface="Arial" panose="020B0604020202090204" pitchFamily="34" charset="0"/>
              <a:buChar char="•"/>
            </a:pPr>
            <a:r>
              <a:rPr lang="en-US" altLang="zh-CN" sz="2000" dirty="0"/>
              <a:t>损害评估</a:t>
            </a:r>
            <a:endParaRPr lang="en-US" altLang="zh-CN" sz="2000" dirty="0"/>
          </a:p>
          <a:p>
            <a:pPr marL="800100" lvl="2" indent="-342900">
              <a:buFont typeface="Arial" panose="020B0604020202090204" pitchFamily="34" charset="0"/>
              <a:buChar char="•"/>
            </a:pPr>
            <a:r>
              <a:rPr lang="en-US" altLang="zh-CN" sz="2000" dirty="0"/>
              <a:t>故障恢复</a:t>
            </a:r>
            <a:endParaRPr lang="en-US" altLang="zh-CN" sz="2000" dirty="0"/>
          </a:p>
          <a:p>
            <a:pPr marL="800100" lvl="2" indent="-342900">
              <a:buFont typeface="Arial" panose="020B0604020202090204" pitchFamily="34" charset="0"/>
              <a:buChar char="•"/>
            </a:pPr>
            <a:r>
              <a:rPr lang="en-US" altLang="zh-CN" sz="2000" dirty="0"/>
              <a:t>故障修复</a:t>
            </a:r>
            <a:endParaRPr lang="en-US" altLang="zh-CN"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315937" cy="790865"/>
          </a:xfrm>
        </p:spPr>
        <p:txBody>
          <a:bodyPr>
            <a:normAutofit/>
          </a:bodyPr>
          <a:lstStyle/>
          <a:p>
            <a:r>
              <a:rPr lang="en-US" altLang="zh-CN" dirty="0">
                <a:latin typeface="Times New Roman" panose="02020603050405020304" charset="0"/>
              </a:rPr>
              <a:t>静态与动态验证</a:t>
            </a:r>
            <a:endParaRPr lang="en-US" altLang="zh-CN" sz="5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572375" y="2205107"/>
            <a:ext cx="11163995" cy="255454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静态验证：</a:t>
            </a:r>
            <a:endParaRPr lang="en-US" altLang="zh-CN" sz="2000" b="1" dirty="0">
              <a:solidFill>
                <a:srgbClr val="515223"/>
              </a:solidFill>
              <a:latin typeface="Helvetica" pitchFamily="2" charset="0"/>
              <a:cs typeface="Arial" panose="020B0604020202090204" pitchFamily="34" charset="0"/>
            </a:endParaRPr>
          </a:p>
          <a:p>
            <a:r>
              <a:rPr lang="en-US" altLang="zh-CN" sz="2000" dirty="0"/>
              <a:t>无需执行软件即可完成的验证技术。</a:t>
            </a:r>
            <a:endParaRPr lang="en-US" altLang="zh-CN" sz="2000" dirty="0"/>
          </a:p>
          <a:p>
            <a:pPr lvl="1"/>
            <a:r>
              <a:rPr lang="en-US" altLang="zh-CN" sz="2000" dirty="0"/>
              <a:t>• 可采用手动方式或使用计算机工具。</a:t>
            </a:r>
            <a:endParaRPr lang="en-US" altLang="zh-CN" sz="2000" dirty="0"/>
          </a:p>
          <a:p>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动态验证：</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solidFill>
                  <a:schemeClr val="tx1"/>
                </a:solidFill>
              </a:rPr>
              <a:t>使用试验数据</a:t>
            </a:r>
            <a:r>
              <a:rPr lang="en-US" altLang="zh-CN" sz="2000" dirty="0">
                <a:solidFill>
                  <a:srgbClr val="FF0000"/>
                </a:solidFill>
              </a:rPr>
              <a:t>测试</a:t>
            </a:r>
            <a:r>
              <a:rPr lang="en-US" altLang="zh-CN" sz="2000" dirty="0">
                <a:solidFill>
                  <a:schemeClr val="tx1"/>
                </a:solidFill>
              </a:rPr>
              <a:t>软件。</a:t>
            </a:r>
            <a:endParaRPr lang="en-US" altLang="zh-CN" sz="2000" dirty="0">
              <a:solidFill>
                <a:schemeClr val="tx1"/>
              </a:solidFill>
            </a:endParaRPr>
          </a:p>
          <a:p>
            <a:pPr marL="800100" lvl="1" indent="-342900">
              <a:buFont typeface="Arial" panose="020B0604020202090204" pitchFamily="34" charset="0"/>
              <a:buChar char="•"/>
            </a:pPr>
            <a:r>
              <a:rPr lang="en-US" altLang="zh-CN" sz="2000" dirty="0">
                <a:solidFill>
                  <a:srgbClr val="FF0000"/>
                </a:solidFill>
              </a:rPr>
              <a:t>调试</a:t>
            </a:r>
            <a:r>
              <a:rPr lang="en-US" altLang="zh-CN" sz="2000" dirty="0">
                <a:solidFill>
                  <a:schemeClr val="tx1"/>
                </a:solidFill>
              </a:rPr>
              <a:t>以消除错误。</a:t>
            </a:r>
            <a:endParaRPr lang="en-US" altLang="zh-CN" sz="2000" b="1" dirty="0">
              <a:solidFill>
                <a:schemeClr val="tx1"/>
              </a:solidFill>
              <a:latin typeface="Helvetica" pitchFamily="2" charset="0"/>
              <a:cs typeface="Arial" panose="020B0604020202090204" pitchFamily="34" charset="0"/>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latin typeface="Times New Roman" panose="02020603050405020304" charset="0"/>
              </a:rPr>
              <a:t>动态验证</a:t>
            </a:r>
            <a:endParaRPr lang="en-US" altLang="zh-CN" sz="60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6" y="1394179"/>
            <a:ext cx="9618104" cy="4093428"/>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如果将测试分为多个阶段进行，效果最为显著。</a:t>
            </a:r>
            <a:endParaRPr lang="en-US" altLang="zh-CN" sz="2000" b="1" dirty="0">
              <a:solidFill>
                <a:srgbClr val="515223"/>
              </a:solidFill>
              <a:latin typeface="Helvetica" pitchFamily="2" charset="0"/>
              <a:cs typeface="Arial" panose="020B0604020202090204" pitchFamily="34" charset="0"/>
            </a:endParaRPr>
          </a:p>
          <a:p>
            <a:r>
              <a:rPr lang="en-US" altLang="zh-CN" sz="2000" dirty="0">
                <a:solidFill>
                  <a:srgbClr val="FF0000"/>
                </a:solidFill>
              </a:rPr>
              <a:t>用户界面测试（单独进行）</a:t>
            </a:r>
            <a:endParaRPr lang="en-US" altLang="zh-CN" sz="2000" dirty="0">
              <a:solidFill>
                <a:srgbClr val="FF0000"/>
              </a:solidFill>
            </a:endParaRPr>
          </a:p>
          <a:p>
            <a:endParaRPr lang="en-US" altLang="zh-CN" sz="2000" dirty="0"/>
          </a:p>
          <a:p>
            <a:r>
              <a:rPr lang="en-US" altLang="zh-CN" sz="2000" b="1" dirty="0">
                <a:solidFill>
                  <a:srgbClr val="515223"/>
                </a:solidFill>
                <a:latin typeface="Helvetica" pitchFamily="2" charset="0"/>
                <a:cs typeface="Arial" panose="020B0604020202090204" pitchFamily="34" charset="0"/>
              </a:rPr>
              <a:t>单元测试</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单元测试</a:t>
            </a:r>
            <a:br>
              <a:rPr lang="en-US" altLang="zh-CN" sz="2000" dirty="0"/>
            </a:br>
            <a:endParaRPr lang="en-US" altLang="zh-CN" sz="2000" dirty="0"/>
          </a:p>
          <a:p>
            <a:r>
              <a:rPr lang="en-US" altLang="zh-CN" sz="2000" b="1" dirty="0">
                <a:solidFill>
                  <a:srgbClr val="515223"/>
                </a:solidFill>
                <a:latin typeface="Helvetica" pitchFamily="2" charset="0"/>
                <a:cs typeface="Arial" panose="020B0604020202090204" pitchFamily="34" charset="0"/>
              </a:rPr>
              <a:t>系统测试</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对接联调</a:t>
            </a:r>
            <a:endParaRPr lang="en-US" altLang="zh-CN" sz="2000" dirty="0"/>
          </a:p>
          <a:p>
            <a:pPr marL="800100" lvl="1" indent="-342900">
              <a:buFont typeface="Arial" panose="020B0604020202090204" pitchFamily="34" charset="0"/>
              <a:buChar char="•"/>
            </a:pPr>
            <a:r>
              <a:rPr lang="en-US" altLang="zh-CN" sz="2000" dirty="0"/>
              <a:t>功能检测</a:t>
            </a:r>
            <a:endParaRPr lang="en-US" altLang="zh-CN" sz="2000" dirty="0"/>
          </a:p>
          <a:p>
            <a:pPr marL="800100" lvl="1" indent="-342900">
              <a:buFont typeface="Arial" panose="020B0604020202090204" pitchFamily="34" charset="0"/>
              <a:buChar char="•"/>
            </a:pPr>
            <a:r>
              <a:rPr lang="en-US" altLang="zh-CN" sz="2000" dirty="0"/>
              <a:t>特性试验</a:t>
            </a:r>
            <a:endParaRPr lang="en-US" altLang="zh-CN" sz="2000" dirty="0"/>
          </a:p>
          <a:p>
            <a:pPr marL="800100" lvl="1" indent="-342900">
              <a:buFont typeface="Arial" panose="020B0604020202090204" pitchFamily="34" charset="0"/>
              <a:buChar char="•"/>
            </a:pPr>
            <a:r>
              <a:rPr lang="en-US" altLang="zh-CN" sz="2000" dirty="0"/>
              <a:t>安装试验</a:t>
            </a:r>
            <a:endParaRPr lang="en-US" altLang="zh-CN" sz="2000" dirty="0"/>
          </a:p>
          <a:p>
            <a:endParaRPr lang="en-US" altLang="zh-CN" sz="2000" dirty="0"/>
          </a:p>
          <a:p>
            <a:r>
              <a:rPr lang="en-US" altLang="zh-CN" sz="2000" dirty="0">
                <a:solidFill>
                  <a:srgbClr val="FF0000"/>
                </a:solidFill>
              </a:rPr>
              <a:t>验收测试（单独进行）</a:t>
            </a:r>
            <a:endParaRPr lang="en-US" altLang="zh-CN"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latin typeface="Times New Roman" panose="02020603050405020304" charset="0"/>
              </a:rPr>
              <a:t>术语表</a:t>
            </a:r>
            <a:endParaRPr lang="en-US" altLang="zh-CN" sz="60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34275" y="1221998"/>
            <a:ext cx="12710487" cy="2861310"/>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白色/</a:t>
            </a:r>
            <a:r>
              <a:rPr lang="zh-CN" altLang="en-US" sz="2000" b="1" dirty="0">
                <a:solidFill>
                  <a:srgbClr val="515223"/>
                </a:solidFill>
                <a:latin typeface="Helvetica" pitchFamily="2" charset="0"/>
                <a:cs typeface="Arial" panose="020B0604020202090204" pitchFamily="34" charset="0"/>
              </a:rPr>
              <a:t>透明</a:t>
            </a:r>
            <a:r>
              <a:rPr lang="en-US" altLang="zh-CN" sz="2000" b="1" dirty="0">
                <a:solidFill>
                  <a:srgbClr val="515223"/>
                </a:solidFill>
                <a:latin typeface="Helvetica" pitchFamily="2" charset="0"/>
                <a:cs typeface="Arial" panose="020B0604020202090204" pitchFamily="34" charset="0"/>
              </a:rPr>
              <a:t>/</a:t>
            </a:r>
            <a:r>
              <a:rPr lang="zh-CN" altLang="en-US" sz="2000" b="1" dirty="0">
                <a:solidFill>
                  <a:srgbClr val="515223"/>
                </a:solidFill>
                <a:latin typeface="Helvetica" pitchFamily="2" charset="0"/>
                <a:cs typeface="Arial" panose="020B0604020202090204" pitchFamily="34" charset="0"/>
              </a:rPr>
              <a:t>开箱</a:t>
            </a:r>
            <a:r>
              <a:rPr lang="en-US" altLang="zh-CN" sz="2000" b="1" dirty="0">
                <a:solidFill>
                  <a:srgbClr val="515223"/>
                </a:solidFill>
                <a:latin typeface="Helvetica" pitchFamily="2" charset="0"/>
                <a:cs typeface="Arial" panose="020B0604020202090204" pitchFamily="34" charset="0"/>
              </a:rPr>
              <a:t>测试</a:t>
            </a:r>
            <a:endParaRPr lang="en-US" altLang="zh-CN" sz="2000" b="1" dirty="0">
              <a:solidFill>
                <a:srgbClr val="515223"/>
              </a:solidFill>
              <a:latin typeface="Helvetica" pitchFamily="2" charset="0"/>
              <a:cs typeface="Arial" panose="020B0604020202090204" pitchFamily="34" charset="0"/>
            </a:endParaRPr>
          </a:p>
          <a:p>
            <a:r>
              <a:rPr lang="en-US" sz="2000" dirty="0"/>
              <a:t>涉及对软件应用程序的内部结构及运行机制进行测试。</a:t>
            </a:r>
            <a:endParaRPr lang="en-US" sz="2000" dirty="0"/>
          </a:p>
          <a:p>
            <a:r>
              <a:rPr lang="en-US" sz="2000" dirty="0"/>
              <a:t>测试人员可访问源代码，并利用这些知识设计测试用例。</a:t>
            </a:r>
            <a:endParaRPr lang="en-US" sz="2000" dirty="0"/>
          </a:p>
          <a:p>
            <a:r>
              <a:rPr lang="zh-CN" altLang="en-US" sz="2000" dirty="0"/>
              <a:t>由</a:t>
            </a:r>
            <a:r>
              <a:rPr lang="en-US" altLang="zh-CN" sz="2000" dirty="0"/>
              <a:t>任务所有者</a:t>
            </a:r>
            <a:r>
              <a:rPr lang="zh-CN" altLang="en-US" sz="2000" dirty="0"/>
              <a:t>实施测试</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黑盒测试</a:t>
            </a:r>
            <a:endParaRPr lang="en-US" altLang="zh-CN" sz="2000" dirty="0"/>
          </a:p>
          <a:p>
            <a:r>
              <a:rPr lang="en-US" altLang="zh-CN" sz="2000" dirty="0"/>
              <a:t>并不涉及软件的内部知识或实现细节。</a:t>
            </a:r>
            <a:endParaRPr lang="en-US" sz="2000" dirty="0"/>
          </a:p>
          <a:p>
            <a:r>
              <a:rPr lang="zh-CN" altLang="en-US" sz="2000" dirty="0"/>
              <a:t>聚焦</a:t>
            </a:r>
            <a:r>
              <a:rPr lang="en-US" altLang="zh-CN" sz="2000" dirty="0"/>
              <a:t>于根据提供的规格或要求验证功能是否正常运行。</a:t>
            </a:r>
            <a:endParaRPr lang="en-US" sz="2000" dirty="0"/>
          </a:p>
          <a:p>
            <a:r>
              <a:rPr lang="zh-CN" altLang="en-US" sz="2000" dirty="0"/>
              <a:t>由</a:t>
            </a:r>
            <a:r>
              <a:rPr lang="en-US" altLang="zh-CN" sz="2000" dirty="0"/>
              <a:t>第三方测试人员</a:t>
            </a:r>
            <a:r>
              <a:rPr lang="zh-CN" altLang="en-US" sz="2000" dirty="0"/>
              <a:t>实施</a:t>
            </a:r>
            <a:r>
              <a:rPr lang="zh-CN" altLang="en-US" sz="2000" dirty="0"/>
              <a:t>测试</a:t>
            </a:r>
            <a:endParaRPr lang="zh-CN" altLang="en-US" sz="2000"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932698" y="4000500"/>
            <a:ext cx="4292600" cy="2133600"/>
          </a:xfrm>
          <a:prstGeom prst="rect">
            <a:avLst/>
          </a:prstGeom>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latin typeface="Times New Roman" panose="02020603050405020304" charset="0"/>
              </a:rPr>
              <a:t>术语表</a:t>
            </a:r>
            <a:endParaRPr lang="en-US" altLang="zh-CN" sz="60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11415" y="1258963"/>
            <a:ext cx="12710487" cy="2245360"/>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功能测试</a:t>
            </a:r>
            <a:endParaRPr lang="en-US" altLang="zh-CN" sz="2000" b="1" dirty="0">
              <a:solidFill>
                <a:srgbClr val="515223"/>
              </a:solidFill>
              <a:latin typeface="Helvetica" pitchFamily="2" charset="0"/>
              <a:cs typeface="Arial" panose="020B0604020202090204" pitchFamily="34" charset="0"/>
            </a:endParaRPr>
          </a:p>
          <a:p>
            <a:r>
              <a:rPr lang="zh-CN" altLang="en-US" sz="2000" dirty="0"/>
              <a:t>是否</a:t>
            </a:r>
            <a:r>
              <a:rPr lang="en-US" altLang="zh-CN" sz="2000" dirty="0"/>
              <a:t>符合功能要求及规格标准</a:t>
            </a:r>
            <a:endParaRPr lang="en-US" sz="2000" dirty="0"/>
          </a:p>
          <a:p>
            <a:r>
              <a:rPr lang="en-US" altLang="zh-CN" sz="2000" dirty="0"/>
              <a:t>单元测试/集成测试/系统测试/冒烟测试</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非功能性测试</a:t>
            </a:r>
            <a:endParaRPr lang="en-US" altLang="zh-CN" sz="2000" b="1" dirty="0">
              <a:solidFill>
                <a:srgbClr val="515223"/>
              </a:solidFill>
              <a:latin typeface="Helvetica" pitchFamily="2" charset="0"/>
              <a:cs typeface="Arial" panose="020B0604020202090204" pitchFamily="34" charset="0"/>
            </a:endParaRPr>
          </a:p>
          <a:p>
            <a:r>
              <a:rPr lang="en-US" altLang="zh-CN" sz="2000" dirty="0"/>
              <a:t>根据非功能性需求和规范进行测试</a:t>
            </a:r>
            <a:endParaRPr lang="en-US" sz="2000" dirty="0"/>
          </a:p>
          <a:p>
            <a:r>
              <a:rPr lang="en-US" altLang="zh-CN" sz="2000" dirty="0"/>
              <a:t>性能、可用性、安全性等。</a:t>
            </a:r>
            <a:endParaRPr lang="en-US" altLang="zh-CN" sz="2000"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510020" y="3915040"/>
            <a:ext cx="5130800" cy="2032000"/>
          </a:xfrm>
          <a:prstGeom prst="rect">
            <a:avLst/>
          </a:prstGeom>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latin typeface="Times New Roman" panose="02020603050405020304" charset="0"/>
              </a:rPr>
              <a:t>术语表</a:t>
            </a:r>
            <a:endParaRPr lang="en-US" altLang="zh-CN" sz="60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324865" y="2830085"/>
            <a:ext cx="11720461" cy="1015663"/>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集成测试</a:t>
            </a:r>
            <a:endParaRPr lang="en-US" altLang="zh-CN" sz="2000" b="1" dirty="0">
              <a:solidFill>
                <a:srgbClr val="515223"/>
              </a:solidFill>
              <a:latin typeface="Helvetica" pitchFamily="2" charset="0"/>
              <a:cs typeface="Arial" panose="020B0604020202090204" pitchFamily="34" charset="0"/>
            </a:endParaRPr>
          </a:p>
          <a:p>
            <a:r>
              <a:rPr lang="en-US" altLang="zh-CN" sz="2000" dirty="0"/>
              <a:t>软件应用程序的测试单元或组件之间相互交互。</a:t>
            </a:r>
            <a:endParaRPr lang="en-US" sz="2000" dirty="0"/>
          </a:p>
          <a:p>
            <a:r>
              <a:rPr lang="en-US" sz="2000" dirty="0"/>
              <a:t>增量测试/非增量测试（大爆炸测试）</a:t>
            </a:r>
            <a:endParaRPr lang="en-US" sz="2000" dirty="0"/>
          </a:p>
        </p:txBody>
      </p:sp>
      <p:sp>
        <p:nvSpPr>
          <p:cNvPr id="4" name="TextBox 3"/>
          <p:cNvSpPr txBox="1"/>
          <p:nvPr/>
        </p:nvSpPr>
        <p:spPr>
          <a:xfrm>
            <a:off x="385825" y="5170516"/>
            <a:ext cx="11720461" cy="1015663"/>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系统测试</a:t>
            </a:r>
            <a:endParaRPr lang="en-US" sz="2000" dirty="0"/>
          </a:p>
          <a:p>
            <a:r>
              <a:rPr lang="en-US" sz="2000" dirty="0"/>
              <a:t>用于评估完整且完全集成的软件解决方案整体功能与性能的测试</a:t>
            </a:r>
            <a:endParaRPr lang="en-US" sz="2000" dirty="0"/>
          </a:p>
        </p:txBody>
      </p:sp>
      <p:sp>
        <p:nvSpPr>
          <p:cNvPr id="5" name="TextBox 3"/>
          <p:cNvSpPr txBox="1"/>
          <p:nvPr/>
        </p:nvSpPr>
        <p:spPr>
          <a:xfrm>
            <a:off x="324866" y="1028699"/>
            <a:ext cx="11720461" cy="1631216"/>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单元测试</a:t>
            </a:r>
            <a:endParaRPr lang="en-US" altLang="zh-CN" sz="2000" b="1" dirty="0">
              <a:solidFill>
                <a:srgbClr val="515223"/>
              </a:solidFill>
              <a:latin typeface="Helvetica" pitchFamily="2" charset="0"/>
              <a:cs typeface="Arial" panose="020B0604020202090204" pitchFamily="34" charset="0"/>
            </a:endParaRPr>
          </a:p>
          <a:p>
            <a:r>
              <a:rPr lang="en-US" altLang="zh-CN" sz="2000" dirty="0"/>
              <a:t>对软件应用程序的各个单元或组件进行测试</a:t>
            </a:r>
            <a:endParaRPr lang="en-US" sz="2000" dirty="0"/>
          </a:p>
          <a:p>
            <a:r>
              <a:rPr lang="en-US" altLang="zh-CN" sz="2000" dirty="0"/>
              <a:t>测试数据通常由开发人员根据其对规范的理解及对单元功能的掌握来选定。</a:t>
            </a:r>
            <a:endParaRPr lang="en-US" altLang="zh-CN" sz="2000" dirty="0"/>
          </a:p>
          <a:p>
            <a:r>
              <a:rPr lang="en-US" altLang="zh-CN" sz="2000" dirty="0"/>
              <a:t>由该单元的开发者或专门测试人员创建。</a:t>
            </a:r>
            <a:endParaRPr lang="en-US" altLang="zh-CN" sz="2000" dirty="0"/>
          </a:p>
        </p:txBody>
      </p:sp>
      <p:pic>
        <p:nvPicPr>
          <p:cNvPr id="8" name="Picture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328600" y="16195"/>
            <a:ext cx="3863400" cy="1234142"/>
          </a:xfrm>
          <a:prstGeom prst="rect">
            <a:avLst/>
          </a:prstGeom>
        </p:spPr>
      </p:pic>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62313" y="3845748"/>
            <a:ext cx="5557106" cy="1436370"/>
          </a:xfrm>
          <a:prstGeom prst="rect">
            <a:avLst/>
          </a:prstGeom>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latin typeface="Times New Roman" panose="02020603050405020304" charset="0"/>
              </a:rPr>
              <a:t>测试用例</a:t>
            </a:r>
            <a:endParaRPr lang="en-US" altLang="zh-CN" sz="60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831814" y="1143852"/>
            <a:ext cx="9618104" cy="2862322"/>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测试用例是指经过精心挑选的特定测试，因其能够有效发现特定问题。</a:t>
            </a:r>
            <a:endParaRPr lang="en-US" altLang="zh-CN" sz="2000" b="1" dirty="0">
              <a:solidFill>
                <a:srgbClr val="515223"/>
              </a:solidFill>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a:p>
            <a:r>
              <a:rPr lang="en-US" altLang="zh-CN" sz="2000" dirty="0"/>
              <a:t>测试用例的选择旨在平衡成本与发现严重错误的概率。</a:t>
            </a:r>
            <a:endParaRPr lang="en-US" altLang="zh-CN" sz="2000" dirty="0"/>
          </a:p>
          <a:p>
            <a:pPr marL="800100" lvl="1" indent="-342900">
              <a:buFont typeface="Arial" panose="020B0604020202090204" pitchFamily="34" charset="0"/>
              <a:buChar char="•"/>
            </a:pPr>
            <a:r>
              <a:rPr lang="en-US" altLang="zh-CN" sz="2000" dirty="0"/>
              <a:t>开发团队选定的案例能有效测试已知的漏洞区域。</a:t>
            </a:r>
            <a:endParaRPr lang="en-US" altLang="zh-CN" sz="2000" dirty="0"/>
          </a:p>
          <a:p>
            <a:pPr marL="800100" lvl="1" indent="-342900">
              <a:buFont typeface="Arial" panose="020B0604020202090204" pitchFamily="34" charset="0"/>
              <a:buChar char="•"/>
            </a:pPr>
            <a:r>
              <a:rPr lang="en-US" altLang="zh-CN" sz="2000" dirty="0"/>
              <a:t>由经验丰富的外部专家和客户共同筛选的案例，能有效揭示开发商遗留的问题漏洞。</a:t>
            </a:r>
            <a:endParaRPr lang="en-US" altLang="zh-CN" sz="2000" dirty="0"/>
          </a:p>
          <a:p>
            <a:pPr marL="800100" lvl="1" indent="-342900">
              <a:buFont typeface="Arial" panose="020B0604020202090204" pitchFamily="34" charset="0"/>
              <a:buChar char="•"/>
            </a:pPr>
            <a:r>
              <a:rPr lang="en-US" altLang="zh-CN" sz="2000" dirty="0"/>
              <a:t>经验不足的用户所选择的案例会发现其他错误。</a:t>
            </a:r>
            <a:endParaRPr lang="en-US" altLang="zh-CN" sz="2000" b="1" dirty="0">
              <a:solidFill>
                <a:srgbClr val="FF0000"/>
              </a:solidFill>
              <a:latin typeface="Helvetica" pitchFamily="2" charset="0"/>
              <a:cs typeface="Arial" panose="020B0604020202090204" pitchFamily="34" charset="0"/>
            </a:endParaRPr>
          </a:p>
        </p:txBody>
      </p:sp>
      <p:sp>
        <p:nvSpPr>
          <p:cNvPr id="4" name="TextBox 3"/>
          <p:cNvSpPr txBox="1"/>
          <p:nvPr/>
        </p:nvSpPr>
        <p:spPr>
          <a:xfrm>
            <a:off x="831814" y="4089754"/>
            <a:ext cx="9618104" cy="1322070"/>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测试覆盖率是衡量“代码被测试了多少”的方法。</a:t>
            </a:r>
            <a:endParaRPr lang="en-US" sz="2000" dirty="0"/>
          </a:p>
          <a:p>
            <a:r>
              <a:rPr lang="en-US" sz="2000" dirty="0"/>
              <a:t>语句（行）覆盖</a:t>
            </a:r>
            <a:endParaRPr lang="en-US" sz="2000" dirty="0"/>
          </a:p>
          <a:p>
            <a:r>
              <a:rPr lang="zh-CN" altLang="en-US" sz="2000" dirty="0"/>
              <a:t>分支</a:t>
            </a:r>
            <a:r>
              <a:rPr lang="en-US" sz="2000" dirty="0"/>
              <a:t>覆盖</a:t>
            </a:r>
            <a:endParaRPr lang="en-US" sz="2000" dirty="0"/>
          </a:p>
          <a:p>
            <a:r>
              <a:rPr lang="en-US" sz="2000" dirty="0"/>
              <a:t>路径覆盖</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latin typeface="Times New Roman" panose="02020603050405020304" charset="0"/>
              </a:rPr>
              <a:t>系统与集成测试</a:t>
            </a:r>
            <a:endParaRPr lang="en-US" altLang="zh-CN" sz="60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647790" y="1244222"/>
            <a:ext cx="9618104" cy="2553335"/>
          </a:xfrm>
          <a:prstGeom prst="rect">
            <a:avLst/>
          </a:prstGeom>
          <a:noFill/>
        </p:spPr>
        <p:txBody>
          <a:bodyPr wrap="square">
            <a:spAutoFit/>
          </a:bodyPr>
          <a:lstStyle/>
          <a:p>
            <a:pPr marL="342900" indent="-342900">
              <a:buFont typeface="Arial" panose="020B0604020202090204" pitchFamily="34" charset="0"/>
              <a:buChar char="•"/>
            </a:pPr>
            <a:r>
              <a:rPr lang="en-US" altLang="zh-CN" sz="2000" dirty="0"/>
              <a:t>对组件或完整系统进行测试，该测试结合了已经过全面测试的单元。</a:t>
            </a:r>
            <a:endParaRPr lang="en-US" altLang="zh-CN" sz="2000" dirty="0"/>
          </a:p>
          <a:p>
            <a:pPr marL="342900" indent="-342900">
              <a:buFont typeface="Arial" panose="020B0604020202090204" pitchFamily="34" charset="0"/>
              <a:buChar char="•"/>
            </a:pPr>
            <a:r>
              <a:rPr lang="en-US" altLang="zh-CN" sz="2000" dirty="0"/>
              <a:t>重点在于集成与接口。</a:t>
            </a:r>
            <a:endParaRPr lang="en-US" altLang="zh-CN" sz="2000" dirty="0"/>
          </a:p>
          <a:p>
            <a:pPr marL="342900" indent="-342900">
              <a:buFont typeface="Arial" panose="020B0604020202090204" pitchFamily="34" charset="0"/>
              <a:buChar char="•"/>
            </a:pPr>
            <a:r>
              <a:rPr lang="en-US" altLang="zh-CN" sz="2000" dirty="0"/>
              <a:t>试验数据应具有与实际数据相似的典型特征，能凸显系统的边界条件（例如故障、重启等）。</a:t>
            </a:r>
            <a:endParaRPr lang="en-US" altLang="zh-CN" sz="2000" dirty="0"/>
          </a:p>
          <a:p>
            <a:pPr marL="342900" indent="-342900">
              <a:buFont typeface="Arial" panose="020B0604020202090204" pitchFamily="34" charset="0"/>
              <a:buChar char="•"/>
            </a:pPr>
            <a:r>
              <a:rPr lang="en-US" altLang="zh-CN" sz="2000" dirty="0"/>
              <a:t>系统性地进行，逐步添加组件直至整个系统组装完成。</a:t>
            </a:r>
            <a:endParaRPr lang="en-US" altLang="zh-CN" sz="2000" dirty="0"/>
          </a:p>
          <a:p>
            <a:pPr marL="342900" indent="-342900">
              <a:buFont typeface="Arial" panose="020B0604020202090204" pitchFamily="34" charset="0"/>
              <a:buChar char="•"/>
            </a:pPr>
            <a:r>
              <a:rPr lang="en-US" altLang="zh-CN" sz="2000" dirty="0">
                <a:solidFill>
                  <a:srgbClr val="FF0000"/>
                </a:solidFill>
              </a:rPr>
              <a:t>可采用黑</a:t>
            </a:r>
            <a:r>
              <a:rPr lang="zh-CN" altLang="en-US" sz="2000" dirty="0">
                <a:solidFill>
                  <a:srgbClr val="FF0000"/>
                </a:solidFill>
              </a:rPr>
              <a:t>盒或白盒测试</a:t>
            </a:r>
            <a:r>
              <a:rPr lang="en-US" altLang="zh-CN" sz="2000" dirty="0">
                <a:solidFill>
                  <a:srgbClr val="FF0000"/>
                </a:solidFill>
              </a:rPr>
              <a:t>：由开发团队或专门测试人员负责实现。</a:t>
            </a:r>
            <a:endParaRPr lang="en-US" altLang="zh-CN" sz="2000" dirty="0"/>
          </a:p>
          <a:p>
            <a:endParaRPr lang="en-US" altLang="zh-CN" sz="2000" dirty="0"/>
          </a:p>
          <a:p>
            <a:r>
              <a:rPr lang="en-US" altLang="zh-CN" sz="2000" dirty="0">
                <a:solidFill>
                  <a:srgbClr val="FF0000"/>
                </a:solidFill>
              </a:rPr>
              <a:t>若在组装下一个组件之前对每个组件都完成彻底调试，则系统测试的完成速度最快。</a:t>
            </a:r>
            <a:endParaRPr lang="en-US" altLang="zh-CN" sz="2000" b="1" dirty="0">
              <a:solidFill>
                <a:srgbClr val="FF0000"/>
              </a:solidFill>
              <a:latin typeface="Helvetica" pitchFamily="2" charset="0"/>
              <a:cs typeface="Arial" panose="020B0604020202090204" pitchFamily="34" charset="0"/>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862313" y="4937620"/>
            <a:ext cx="5557106" cy="1436370"/>
          </a:xfrm>
          <a:prstGeom prst="rect">
            <a:avLst/>
          </a:prstGeom>
        </p:spPr>
      </p:pic>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76514" y="4525857"/>
            <a:ext cx="2324045" cy="2332143"/>
          </a:xfrm>
          <a:prstGeom prst="rect">
            <a:avLst/>
          </a:prstGeom>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29196" y="1084231"/>
            <a:ext cx="9618104" cy="2861310"/>
          </a:xfrm>
          <a:prstGeom prst="rect">
            <a:avLst/>
          </a:prstGeom>
          <a:noFill/>
        </p:spPr>
        <p:txBody>
          <a:bodyPr wrap="square">
            <a:spAutoFit/>
          </a:bodyPr>
          <a:lstStyle/>
          <a:p>
            <a:endParaRPr lang="en-US" altLang="zh-CN" sz="2000" b="1" dirty="0">
              <a:solidFill>
                <a:srgbClr val="515223"/>
              </a:solidFill>
              <a:latin typeface="Helvetica" pitchFamily="2" charset="0"/>
              <a:cs typeface="Arial" panose="020B0604020202090204" pitchFamily="34" charset="0"/>
            </a:endParaRPr>
          </a:p>
          <a:p>
            <a:r>
              <a:rPr lang="en-US" altLang="zh-CN" sz="2000" b="1" dirty="0">
                <a:solidFill>
                  <a:srgbClr val="515223"/>
                </a:solidFill>
                <a:latin typeface="Helvetica" pitchFamily="2" charset="0"/>
                <a:cs typeface="Arial" panose="020B0604020202090204" pitchFamily="34" charset="0"/>
              </a:rPr>
              <a:t>自下而上的测试</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每个单元均在其独立的测试环境中进行测试，该测试环境适用于所有系统。</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自上而下的测试</a:t>
            </a:r>
            <a:endParaRPr lang="en-US" altLang="zh-CN" sz="2000" b="1" dirty="0">
              <a:solidFill>
                <a:srgbClr val="515223"/>
              </a:solidFill>
              <a:latin typeface="Helvetica" pitchFamily="2" charset="0"/>
              <a:cs typeface="Arial" panose="020B0604020202090204" pitchFamily="34" charset="0"/>
            </a:endParaRPr>
          </a:p>
          <a:p>
            <a:r>
              <a:rPr lang="en-US" altLang="zh-CN" sz="2000" dirty="0"/>
              <a:t>大型组件采用虚拟</a:t>
            </a:r>
            <a:r>
              <a:rPr lang="zh-CN" altLang="en-US" sz="2000" dirty="0"/>
              <a:t>组件</a:t>
            </a:r>
            <a:r>
              <a:rPr lang="en-US" altLang="zh-CN" sz="2000" dirty="0"/>
              <a:t>进行测试。该方法特别适用于以下场景：</a:t>
            </a:r>
            <a:endParaRPr lang="en-US" altLang="zh-CN" sz="2000" dirty="0"/>
          </a:p>
          <a:p>
            <a:pPr marL="800100" lvl="1" indent="-342900">
              <a:buFont typeface="Arial" panose="020B0604020202090204" pitchFamily="34" charset="0"/>
              <a:buChar char="•"/>
            </a:pPr>
            <a:r>
              <a:rPr lang="en-US" altLang="zh-CN" sz="2000" dirty="0"/>
              <a:t>用户界面</a:t>
            </a:r>
            <a:endParaRPr lang="en-US" altLang="zh-CN" sz="2000" dirty="0"/>
          </a:p>
          <a:p>
            <a:pPr marL="800100" lvl="1" indent="-342900">
              <a:buFont typeface="Arial" panose="020B0604020202090204" pitchFamily="34" charset="0"/>
              <a:buChar char="•"/>
            </a:pPr>
            <a:r>
              <a:rPr lang="en-US" altLang="zh-CN" sz="2000" dirty="0"/>
              <a:t>工作流程</a:t>
            </a:r>
            <a:endParaRPr lang="en-US" altLang="zh-CN" sz="2000" dirty="0"/>
          </a:p>
          <a:p>
            <a:pPr marL="800100" lvl="1" indent="-342900">
              <a:buFont typeface="Arial" panose="020B0604020202090204" pitchFamily="34" charset="0"/>
              <a:buChar char="•"/>
            </a:pPr>
            <a:r>
              <a:rPr lang="en-US" altLang="zh-CN" sz="2000" dirty="0"/>
              <a:t>客户与管理层演示</a:t>
            </a:r>
            <a:endParaRPr lang="en-US" altLang="zh-CN" sz="2000"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555479" y="0"/>
            <a:ext cx="2588595" cy="2037644"/>
          </a:xfrm>
          <a:prstGeom prst="rect">
            <a:avLst/>
          </a:prstGeom>
        </p:spPr>
      </p:pic>
      <p:sp>
        <p:nvSpPr>
          <p:cNvPr id="8" name="Title 1"/>
          <p:cNvSpPr txBox="1"/>
          <p:nvPr/>
        </p:nvSpPr>
        <p:spPr>
          <a:xfrm>
            <a:off x="1213175" y="148356"/>
            <a:ext cx="9099225" cy="790865"/>
          </a:xfrm>
          <a:prstGeom prst="rect">
            <a:avLst/>
          </a:prstGeom>
        </p:spPr>
        <p:txBody>
          <a:bodyPr vert="horz" wrap="square" lIns="0" tIns="0" rIns="0" bIns="0" rtlCol="0" anchor="ctr">
            <a:normAutofit/>
          </a:bodyPr>
          <a:lstStyle>
            <a:lvl1pPr algn="l" defTabSz="914400" rtl="0" eaLnBrk="1" latinLnBrk="0" hangingPunct="1">
              <a:lnSpc>
                <a:spcPct val="90000"/>
              </a:lnSpc>
              <a:spcBef>
                <a:spcPct val="0"/>
              </a:spcBef>
              <a:buNone/>
              <a:defRPr sz="3600" b="1" i="0" kern="1200">
                <a:solidFill>
                  <a:schemeClr val="accent1"/>
                </a:solidFill>
                <a:latin typeface="Helvetica" pitchFamily="2" charset="0"/>
                <a:ea typeface="微软雅黑" panose="020B0503020204020204" pitchFamily="34" charset="-122"/>
                <a:cs typeface="Arial" panose="020B0604020202090204" pitchFamily="34" charset="0"/>
              </a:defRPr>
            </a:lvl1pPr>
          </a:lstStyle>
          <a:p>
            <a:r>
              <a:rPr lang="en-US" altLang="zh-CN" dirty="0">
                <a:latin typeface="Times New Roman" panose="02020603050405020304" charset="0"/>
              </a:rPr>
              <a:t>术语表</a:t>
            </a:r>
            <a:endParaRPr lang="en-US" altLang="zh-CN" sz="6000" dirty="0">
              <a:latin typeface="Times New Roman" panose="02020603050405020304" charset="0"/>
            </a:endParaRPr>
          </a:p>
        </p:txBody>
      </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9496" y="4239429"/>
            <a:ext cx="4175523" cy="2116920"/>
          </a:xfrm>
          <a:prstGeom prst="rect">
            <a:avLst/>
          </a:prstGeom>
        </p:spPr>
      </p:pic>
      <p:pic>
        <p:nvPicPr>
          <p:cNvPr id="14" name="Picture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51139" y="4621359"/>
            <a:ext cx="1211648" cy="1734990"/>
          </a:xfrm>
          <a:prstGeom prst="rect">
            <a:avLst/>
          </a:prstGeom>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latin typeface="Times New Roman" panose="02020603050405020304" charset="0"/>
              </a:rPr>
              <a:t>验收测试</a:t>
            </a:r>
            <a:endParaRPr lang="en-US" altLang="zh-CN" sz="60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5" y="1746411"/>
            <a:ext cx="11163995" cy="2862322"/>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验收测试</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整个系统（包括文档、培训材料、安装脚本等）均在开发人员协助下，由客户根据要求进行测试。</a:t>
            </a:r>
            <a:endParaRPr lang="en-US" altLang="zh-CN" sz="2000" dirty="0"/>
          </a:p>
          <a:p>
            <a:pPr lvl="1"/>
            <a:r>
              <a:rPr lang="en-US" altLang="zh-CN" sz="2000" dirty="0"/>
              <a:t>每项要求均单独进行测试。</a:t>
            </a:r>
            <a:endParaRPr lang="en-US" altLang="zh-CN" sz="2000" dirty="0"/>
          </a:p>
          <a:p>
            <a:pPr lvl="1"/>
            <a:r>
              <a:rPr lang="en-US" altLang="zh-CN" sz="2000" dirty="0"/>
              <a:t>场景用于将预期结果与系统实际执行的结果进行比较。</a:t>
            </a:r>
            <a:endParaRPr lang="en-US" altLang="zh-CN" sz="2000" dirty="0"/>
          </a:p>
          <a:p>
            <a:pPr lvl="1"/>
            <a:r>
              <a:rPr lang="en-US" altLang="zh-CN" sz="2000" dirty="0"/>
              <a:t>重点在于该系统如何处理问题、错误、重启及其他困难情况。</a:t>
            </a:r>
            <a:endParaRPr lang="en-US" altLang="zh-CN" sz="2000" dirty="0"/>
          </a:p>
          <a:p>
            <a:endParaRPr lang="en-US" altLang="zh-CN" sz="2000" dirty="0"/>
          </a:p>
          <a:p>
            <a:r>
              <a:rPr lang="en-US" altLang="zh-CN" sz="2000" dirty="0">
                <a:solidFill>
                  <a:srgbClr val="FF0000"/>
                </a:solidFill>
              </a:rPr>
              <a:t>我们构建的系统就是您想要的系统吗？它是否满足您的需求？</a:t>
            </a:r>
            <a:endParaRPr lang="en-US" altLang="zh-CN"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sz="3200" dirty="0">
                <a:latin typeface="Times New Roman" panose="02020603050405020304" charset="0"/>
              </a:rPr>
              <a:t>采用敏捷开发方法进行验收测试</a:t>
            </a:r>
            <a:endParaRPr lang="en-US" altLang="zh-CN" sz="32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562948" y="2339278"/>
            <a:ext cx="11163995" cy="2246769"/>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增量开发</a:t>
            </a:r>
            <a:endParaRPr lang="en-US" altLang="zh-CN" sz="2000" b="1" dirty="0">
              <a:solidFill>
                <a:srgbClr val="515223"/>
              </a:solidFill>
              <a:latin typeface="Helvetica" pitchFamily="2" charset="0"/>
              <a:cs typeface="Arial" panose="020B0604020202090204" pitchFamily="34" charset="0"/>
            </a:endParaRPr>
          </a:p>
          <a:p>
            <a:r>
              <a:rPr lang="en-US" altLang="zh-CN" sz="2000" dirty="0"/>
              <a:t>在敏捷开发中，验收测试尤为重要，因为每个冲刺周期结束时都应交付已完成且可发布的代码。</a:t>
            </a:r>
            <a:endParaRPr lang="en-US" altLang="zh-CN" sz="2000" dirty="0"/>
          </a:p>
          <a:p>
            <a:pPr lvl="1"/>
            <a:r>
              <a:rPr lang="en-US" altLang="zh-CN" sz="2000" dirty="0"/>
              <a:t>每次冲刺都应是一个完整的开发流程，最终由客户进行验收测试并完成版本发布。</a:t>
            </a:r>
            <a:endParaRPr lang="en-US" altLang="zh-CN" sz="2000" dirty="0"/>
          </a:p>
          <a:p>
            <a:pPr lvl="1"/>
            <a:r>
              <a:rPr lang="en-US" altLang="zh-CN" sz="2000" dirty="0"/>
              <a:t>若多个冲刺阶段相互衔接，每个冲刺阶段可能都需要重复执行前序冲刺的验收测试，以确认各项要求仍得到满足。</a:t>
            </a:r>
            <a:endParaRPr lang="en-US" altLang="zh-CN" sz="20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latin typeface="Times New Roman" panose="02020603050405020304" charset="0"/>
              </a:rPr>
              <a:t>验收测试资源</a:t>
            </a:r>
            <a:endParaRPr lang="en-US" altLang="zh-CN" sz="96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572375" y="2302596"/>
            <a:ext cx="11163995" cy="1631216"/>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验收测试是软件项目的重要组成部分。</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这需要按照计划投入时间。</a:t>
            </a:r>
            <a:endParaRPr lang="en-US" altLang="zh-CN" sz="2000" dirty="0"/>
          </a:p>
          <a:p>
            <a:pPr lvl="1"/>
            <a:r>
              <a:rPr lang="en-US" altLang="zh-CN" sz="2000" dirty="0"/>
              <a:t>这可能需要在测试数据、设备及测试软件方面投入大量资金。</a:t>
            </a:r>
            <a:endParaRPr lang="en-US" altLang="zh-CN" sz="2000" dirty="0"/>
          </a:p>
          <a:p>
            <a:pPr lvl="1"/>
            <a:r>
              <a:rPr lang="en-US" altLang="zh-CN" sz="2000" dirty="0"/>
              <a:t>良好的测试需要优秀的人才。</a:t>
            </a:r>
            <a:endParaRPr lang="en-US" altLang="zh-CN" sz="2000" dirty="0"/>
          </a:p>
          <a:p>
            <a:pPr lvl="1"/>
            <a:r>
              <a:rPr lang="en-US" altLang="zh-CN" sz="2000" dirty="0">
                <a:solidFill>
                  <a:srgbClr val="FF0000"/>
                </a:solidFill>
              </a:rPr>
              <a:t>帮助系统和培训材料是验收测试的重要组成部分。</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latin typeface="Times New Roman" panose="02020603050405020304" charset="0"/>
              </a:rPr>
              <a:t>验收测试</a:t>
            </a:r>
            <a:endParaRPr lang="en-US" altLang="zh-CN" sz="96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582387"/>
            <a:ext cx="9550399" cy="3476625"/>
          </a:xfrm>
          <a:prstGeom prst="rect">
            <a:avLst/>
          </a:prstGeom>
          <a:noFill/>
        </p:spPr>
        <p:txBody>
          <a:bodyPr wrap="square">
            <a:spAutoFit/>
          </a:bodyPr>
          <a:lstStyle/>
          <a:p>
            <a:r>
              <a:rPr lang="en-US" altLang="zh-CN" sz="2000" dirty="0">
                <a:solidFill>
                  <a:srgbClr val="FF0000"/>
                </a:solidFill>
              </a:rPr>
              <a:t>客户在不了解内部结构的情况</a:t>
            </a:r>
            <a:r>
              <a:rPr lang="zh-CN" altLang="en-US" sz="2000" dirty="0">
                <a:solidFill>
                  <a:srgbClr val="FF0000"/>
                </a:solidFill>
              </a:rPr>
              <a:t>的黑盒测试</a:t>
            </a:r>
            <a:r>
              <a:rPr lang="en-US" altLang="zh-CN" sz="2000" dirty="0">
                <a:solidFill>
                  <a:srgbClr val="FF0000"/>
                </a:solidFill>
              </a:rPr>
              <a:t>。</a:t>
            </a:r>
            <a:endParaRPr lang="en-US" altLang="zh-CN" sz="2000" dirty="0"/>
          </a:p>
          <a:p>
            <a:pPr marL="342900" indent="-342900">
              <a:buFont typeface="Arial" panose="020B0604020202090204" pitchFamily="34" charset="0"/>
              <a:buChar char="•"/>
            </a:pPr>
            <a:endParaRPr lang="en-US" altLang="zh-CN" sz="2000" dirty="0"/>
          </a:p>
          <a:p>
            <a:r>
              <a:rPr lang="en-US" altLang="zh-CN" sz="2000" dirty="0"/>
              <a:t>整个系统作为整体进行测试。</a:t>
            </a:r>
            <a:endParaRPr lang="en-US" altLang="zh-CN" sz="2000" dirty="0"/>
          </a:p>
          <a:p>
            <a:pPr marL="342900" indent="-342900">
              <a:buFont typeface="Arial" panose="020B0604020202090204" pitchFamily="34" charset="0"/>
              <a:buChar char="•"/>
            </a:pPr>
            <a:endParaRPr lang="en-US" altLang="zh-CN" sz="2000" dirty="0"/>
          </a:p>
          <a:p>
            <a:r>
              <a:rPr lang="en-US" altLang="zh-CN" sz="2000" dirty="0"/>
              <a:t>重点在于该系统是否满足各项要求。</a:t>
            </a:r>
            <a:endParaRPr lang="en-US" altLang="zh-CN" sz="2000" dirty="0"/>
          </a:p>
          <a:p>
            <a:pPr marL="342900" indent="-342900">
              <a:buFont typeface="Arial" panose="020B0604020202090204" pitchFamily="34" charset="0"/>
              <a:buChar char="•"/>
            </a:pPr>
            <a:endParaRPr lang="en-US" altLang="zh-CN" sz="2000" dirty="0"/>
          </a:p>
          <a:p>
            <a:r>
              <a:rPr lang="en-US" altLang="zh-CN" sz="2000" dirty="0"/>
              <a:t>测试应使用真实数据，在实际场景中进行，并涉及实际用户、管理员及操作人员。</a:t>
            </a:r>
            <a:endParaRPr lang="en-US" altLang="zh-CN" sz="2000" dirty="0"/>
          </a:p>
          <a:p>
            <a:endParaRPr lang="en-US" altLang="zh-CN" sz="2000" dirty="0"/>
          </a:p>
          <a:p>
            <a:r>
              <a:rPr lang="en-US" altLang="zh-CN" sz="2000" dirty="0">
                <a:solidFill>
                  <a:srgbClr val="FF0000"/>
                </a:solidFill>
              </a:rPr>
              <a:t>新系统在投入运行或取代旧系统之前，必须成功完成验收测试。</a:t>
            </a:r>
            <a:endParaRPr lang="en-US" altLang="zh-CN" sz="2000" dirty="0">
              <a:solidFill>
                <a:srgbClr val="FF0000"/>
              </a:solidFill>
            </a:endParaRPr>
          </a:p>
          <a:p>
            <a:endParaRPr lang="en-US" altLang="zh-CN" sz="2000" dirty="0"/>
          </a:p>
          <a:p>
            <a:r>
              <a:rPr lang="en-US" altLang="zh-CN" sz="2000" dirty="0">
                <a:solidFill>
                  <a:srgbClr val="FF0000"/>
                </a:solidFill>
              </a:rPr>
              <a:t>完成验收测试可能是系统付款前的一项合同要求。</a:t>
            </a:r>
            <a:endParaRPr lang="en-US" altLang="zh-CN"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dirty="0">
                <a:latin typeface="Times New Roman" panose="02020603050405020304" charset="0"/>
              </a:rPr>
              <a:t>发布</a:t>
            </a:r>
            <a:r>
              <a:rPr lang="en-US" altLang="zh-CN" dirty="0">
                <a:latin typeface="Times New Roman" panose="02020603050405020304" charset="0"/>
              </a:rPr>
              <a:t>技术</a:t>
            </a:r>
            <a:endParaRPr lang="en-US" altLang="zh-CN" sz="96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990783" y="1141118"/>
            <a:ext cx="9550399" cy="5016758"/>
          </a:xfrm>
          <a:prstGeom prst="rect">
            <a:avLst/>
          </a:prstGeom>
          <a:noFill/>
        </p:spPr>
        <p:txBody>
          <a:bodyPr wrap="square">
            <a:spAutoFit/>
          </a:bodyPr>
          <a:lstStyle/>
          <a:p>
            <a:r>
              <a:rPr lang="en-US" altLang="zh-CN" sz="2000" dirty="0"/>
              <a:t>从生产系统的旧版本过渡到新版本是一项具有挑战性的任务。</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并行测试：</a:t>
            </a:r>
            <a:endParaRPr lang="en-US" altLang="zh-CN" sz="2000" b="1" dirty="0">
              <a:solidFill>
                <a:srgbClr val="515223"/>
              </a:solidFill>
              <a:latin typeface="Helvetica" pitchFamily="2" charset="0"/>
              <a:cs typeface="Arial" panose="020B0604020202090204" pitchFamily="34" charset="0"/>
            </a:endParaRPr>
          </a:p>
          <a:p>
            <a:r>
              <a:rPr lang="en-US" altLang="zh-CN" sz="2000" dirty="0"/>
              <a:t>客户端在旧生产系统旁运行新系统，使用相同数据并对比结果。</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Alpha测试：</a:t>
            </a:r>
            <a:endParaRPr lang="en-US" altLang="zh-CN" sz="2000" b="1" dirty="0">
              <a:solidFill>
                <a:srgbClr val="515223"/>
              </a:solidFill>
              <a:latin typeface="Helvetica" pitchFamily="2" charset="0"/>
              <a:cs typeface="Arial" panose="020B0604020202090204" pitchFamily="34" charset="0"/>
            </a:endParaRPr>
          </a:p>
          <a:p>
            <a:r>
              <a:rPr lang="en-US" altLang="zh-CN" sz="2000" dirty="0"/>
              <a:t>客户端在逼真但非生产环境中运行该系统。</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Beta测试：</a:t>
            </a:r>
            <a:endParaRPr lang="en-US" altLang="zh-CN" sz="2000" b="1" dirty="0">
              <a:solidFill>
                <a:srgbClr val="515223"/>
              </a:solidFill>
              <a:latin typeface="Helvetica" pitchFamily="2" charset="0"/>
              <a:cs typeface="Arial" panose="020B0604020202090204" pitchFamily="34" charset="0"/>
            </a:endParaRPr>
          </a:p>
          <a:p>
            <a:r>
              <a:rPr lang="en-US" altLang="zh-CN" sz="2000" dirty="0"/>
              <a:t>客户端在经过严格监控的生产环境中运行该系统。</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A/B测试：</a:t>
            </a:r>
            <a:endParaRPr lang="en-US" altLang="zh-CN" sz="2000" b="1" dirty="0">
              <a:solidFill>
                <a:srgbClr val="515223"/>
              </a:solidFill>
              <a:latin typeface="Helvetica" pitchFamily="2" charset="0"/>
              <a:cs typeface="Arial" panose="020B0604020202090204" pitchFamily="34" charset="0"/>
            </a:endParaRPr>
          </a:p>
          <a:p>
            <a:r>
              <a:rPr lang="en-US" sz="2000" dirty="0"/>
              <a:t>通过对比系统两个版本的性能，以确定哪个版本表现更优</a:t>
            </a:r>
            <a:endParaRPr lang="en-US" altLang="zh-CN" sz="20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latin typeface="Times New Roman" panose="02020603050405020304" charset="0"/>
              </a:rPr>
              <a:t>发布：并行测试</a:t>
            </a:r>
            <a:endParaRPr lang="en-US" altLang="zh-CN" sz="96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255333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并行测试</a:t>
            </a:r>
            <a:endParaRPr lang="en-US" altLang="zh-CN" sz="2000" b="1" dirty="0">
              <a:solidFill>
                <a:srgbClr val="515223"/>
              </a:solidFill>
              <a:latin typeface="Helvetica" pitchFamily="2" charset="0"/>
              <a:cs typeface="Arial" panose="020B0604020202090204" pitchFamily="34" charset="0"/>
            </a:endParaRPr>
          </a:p>
          <a:p>
            <a:r>
              <a:rPr lang="en-US" altLang="zh-CN" sz="2000" dirty="0"/>
              <a:t>对于数据处理系统（如财务系统、薪资系统等），旧系统与新系统会在多个生产周期中共同运行，以确保新系统能够准确复现旧系统的所有功能。</a:t>
            </a:r>
            <a:endParaRPr lang="en-US" altLang="zh-CN" sz="2000" dirty="0"/>
          </a:p>
          <a:p>
            <a:pPr marL="800100" lvl="1" indent="-342900">
              <a:buFont typeface="Arial" panose="020B0604020202090204" pitchFamily="34" charset="0"/>
              <a:buChar char="•"/>
            </a:pPr>
            <a:r>
              <a:rPr lang="en-US" altLang="zh-CN" sz="2000" dirty="0"/>
              <a:t>需要准备两套所有物资（人员、设备等）。</a:t>
            </a:r>
            <a:endParaRPr lang="en-US" altLang="zh-CN" sz="2000" dirty="0"/>
          </a:p>
          <a:p>
            <a:pPr marL="800100" lvl="1" indent="-342900">
              <a:buFont typeface="Arial" panose="020B0604020202090204" pitchFamily="34" charset="0"/>
              <a:buChar char="•"/>
            </a:pPr>
            <a:r>
              <a:rPr lang="en-US" altLang="zh-CN" sz="2000" dirty="0"/>
              <a:t>需使用软件控制切换操作（例如：不得</a:t>
            </a:r>
            <a:r>
              <a:rPr lang="zh-CN" altLang="en-US" sz="2000" dirty="0"/>
              <a:t>重复执行相同操作</a:t>
            </a:r>
            <a:r>
              <a:rPr lang="en-US" altLang="zh-CN" sz="2000" dirty="0"/>
              <a:t>）。</a:t>
            </a:r>
            <a:endParaRPr lang="en-US" altLang="zh-CN" sz="2000" dirty="0"/>
          </a:p>
          <a:p>
            <a:pPr marL="800100" lvl="1" indent="-342900">
              <a:buFont typeface="Arial" panose="020B0604020202090204" pitchFamily="34" charset="0"/>
              <a:buChar char="•"/>
            </a:pPr>
            <a:r>
              <a:rPr lang="en-US" altLang="zh-CN" sz="2000" dirty="0"/>
              <a:t>需要使用自动化脚本来比较结果。</a:t>
            </a:r>
            <a:endParaRPr lang="en-US" altLang="zh-CN" sz="2000" dirty="0"/>
          </a:p>
          <a:p>
            <a:endParaRPr lang="en-US" altLang="zh-CN" sz="2000" dirty="0"/>
          </a:p>
          <a:p>
            <a:r>
              <a:rPr lang="en-US" altLang="zh-CN" sz="2000" dirty="0"/>
              <a:t>整个过程可能需要数月时间。通常，新系统会分阶段投入运行。</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dirty="0">
                <a:latin typeface="Times New Roman" panose="02020603050405020304" charset="0"/>
              </a:rPr>
              <a:t>发布：</a:t>
            </a:r>
            <a:r>
              <a:rPr lang="en-US" altLang="zh-CN" dirty="0">
                <a:latin typeface="Times New Roman" panose="02020603050405020304" charset="0"/>
              </a:rPr>
              <a:t>Alpha</a:t>
            </a:r>
            <a:r>
              <a:rPr lang="zh-CN" altLang="en-US" dirty="0">
                <a:latin typeface="Times New Roman" panose="02020603050405020304" charset="0"/>
              </a:rPr>
              <a:t>和</a:t>
            </a:r>
            <a:r>
              <a:rPr lang="en-US" altLang="zh-CN" dirty="0">
                <a:latin typeface="Times New Roman" panose="02020603050405020304" charset="0"/>
              </a:rPr>
              <a:t>Beta</a:t>
            </a:r>
            <a:r>
              <a:rPr lang="zh-CN" altLang="en-US" dirty="0">
                <a:latin typeface="Times New Roman" panose="02020603050405020304" charset="0"/>
              </a:rPr>
              <a:t>测试</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48304" y="1612081"/>
            <a:ext cx="9550399" cy="3784600"/>
          </a:xfrm>
          <a:prstGeom prst="rect">
            <a:avLst/>
          </a:prstGeom>
          <a:noFill/>
        </p:spPr>
        <p:txBody>
          <a:bodyPr wrap="square">
            <a:spAutoFit/>
          </a:bodyPr>
          <a:lstStyle/>
          <a:p>
            <a:r>
              <a:rPr lang="en-US" altLang="zh-CN" sz="2000" dirty="0">
                <a:solidFill>
                  <a:schemeClr val="tx1"/>
                </a:solidFill>
                <a:latin typeface="Helvetica" pitchFamily="2" charset="0"/>
                <a:cs typeface="Arial" panose="020B0604020202090204" pitchFamily="34" charset="0"/>
              </a:rPr>
              <a:t>Alpha</a:t>
            </a:r>
            <a:r>
              <a:rPr lang="zh-CN" altLang="en-US" sz="2000" dirty="0">
                <a:solidFill>
                  <a:schemeClr val="tx1"/>
                </a:solidFill>
                <a:latin typeface="Helvetica" pitchFamily="2" charset="0"/>
                <a:cs typeface="Arial" panose="020B0604020202090204" pitchFamily="34" charset="0"/>
              </a:rPr>
              <a:t>测试可以在缺少某些功能的情况下进行。</a:t>
            </a:r>
            <a:r>
              <a:rPr lang="en-US" altLang="zh-CN" sz="2000" dirty="0">
                <a:solidFill>
                  <a:schemeClr val="tx1"/>
                </a:solidFill>
                <a:latin typeface="Helvetica" pitchFamily="2" charset="0"/>
                <a:cs typeface="Arial" panose="020B0604020202090204" pitchFamily="34" charset="0"/>
              </a:rPr>
              <a:t>Beta</a:t>
            </a:r>
            <a:r>
              <a:rPr lang="zh-CN" altLang="en-US" sz="2000" dirty="0">
                <a:solidFill>
                  <a:schemeClr val="tx1"/>
                </a:solidFill>
                <a:latin typeface="Helvetica" pitchFamily="2" charset="0"/>
                <a:cs typeface="Arial" panose="020B0604020202090204" pitchFamily="34" charset="0"/>
              </a:rPr>
              <a:t>测试需要功能完整的系统。</a:t>
            </a:r>
            <a:endParaRPr lang="zh-CN" altLang="en-US" sz="2000" dirty="0">
              <a:solidFill>
                <a:schemeClr val="tx1"/>
              </a:solidFill>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a:p>
            <a:r>
              <a:rPr lang="en-US" altLang="zh-CN" sz="2000" b="1" dirty="0">
                <a:solidFill>
                  <a:srgbClr val="515223"/>
                </a:solidFill>
                <a:latin typeface="Helvetica" pitchFamily="2" charset="0"/>
                <a:cs typeface="Arial" panose="020B0604020202090204" pitchFamily="34" charset="0"/>
              </a:rPr>
              <a:t>Alpha</a:t>
            </a:r>
            <a:r>
              <a:rPr lang="zh-CN" altLang="en-US" sz="2000" b="1" dirty="0">
                <a:solidFill>
                  <a:srgbClr val="515223"/>
                </a:solidFill>
                <a:latin typeface="Helvetica" pitchFamily="2" charset="0"/>
                <a:cs typeface="Arial" panose="020B0604020202090204" pitchFamily="34" charset="0"/>
              </a:rPr>
              <a:t>和</a:t>
            </a:r>
            <a:r>
              <a:rPr lang="en-US" altLang="zh-CN" sz="2000" b="1" dirty="0">
                <a:solidFill>
                  <a:srgbClr val="515223"/>
                </a:solidFill>
                <a:latin typeface="Helvetica" pitchFamily="2" charset="0"/>
                <a:cs typeface="Arial" panose="020B0604020202090204" pitchFamily="34" charset="0"/>
              </a:rPr>
              <a:t>Beta</a:t>
            </a:r>
            <a:r>
              <a:rPr lang="zh-CN" altLang="en-US" sz="2000" b="1" dirty="0">
                <a:solidFill>
                  <a:srgbClr val="515223"/>
                </a:solidFill>
                <a:latin typeface="Helvetica" pitchFamily="2" charset="0"/>
                <a:cs typeface="Arial" panose="020B0604020202090204" pitchFamily="34" charset="0"/>
              </a:rPr>
              <a:t>测试必须被管理。</a:t>
            </a:r>
            <a:endParaRPr lang="zh-CN" altLang="en-US" sz="2000" b="1" dirty="0">
              <a:solidFill>
                <a:srgbClr val="515223"/>
              </a:solidFill>
              <a:latin typeface="Helvetica" pitchFamily="2" charset="0"/>
              <a:cs typeface="Arial" panose="020B0604020202090204" pitchFamily="34" charset="0"/>
            </a:endParaRPr>
          </a:p>
          <a:p>
            <a:r>
              <a:rPr lang="zh-CN" altLang="en-US" sz="2000" dirty="0">
                <a:solidFill>
                  <a:schemeClr val="tx1"/>
                </a:solidFill>
                <a:latin typeface="Helvetica" pitchFamily="2" charset="0"/>
                <a:cs typeface="Arial" panose="020B0604020202090204" pitchFamily="34" charset="0"/>
              </a:rPr>
              <a:t>如果你只是向客户提供软件版本：</a:t>
            </a:r>
            <a:endParaRPr lang="en-US" altLang="zh-CN" sz="2000" dirty="0">
              <a:solidFill>
                <a:schemeClr val="tx1"/>
              </a:solidFill>
              <a:latin typeface="Helvetica" pitchFamily="2" charset="0"/>
              <a:cs typeface="Arial" panose="020B0604020202090204" pitchFamily="34" charset="0"/>
            </a:endParaRPr>
          </a:p>
          <a:p>
            <a:pPr lvl="2"/>
            <a:r>
              <a:rPr lang="zh-CN" altLang="en-US" sz="2000" dirty="0">
                <a:solidFill>
                  <a:schemeClr val="tx1"/>
                </a:solidFill>
                <a:latin typeface="Helvetica" pitchFamily="2" charset="0"/>
                <a:cs typeface="Arial" panose="020B0604020202090204" pitchFamily="34" charset="0"/>
              </a:rPr>
              <a:t>许多客户永远不会使用它</a:t>
            </a:r>
            <a:endParaRPr lang="en-US" altLang="zh-CN" sz="2000" dirty="0">
              <a:solidFill>
                <a:schemeClr val="tx1"/>
              </a:solidFill>
              <a:latin typeface="Helvetica" pitchFamily="2" charset="0"/>
              <a:cs typeface="Arial" panose="020B0604020202090204" pitchFamily="34" charset="0"/>
            </a:endParaRPr>
          </a:p>
          <a:p>
            <a:pPr lvl="2"/>
            <a:r>
              <a:rPr lang="zh-CN" altLang="en-US" sz="2000" dirty="0">
                <a:solidFill>
                  <a:schemeClr val="tx1"/>
                </a:solidFill>
                <a:latin typeface="Helvetica" pitchFamily="2" charset="0"/>
                <a:cs typeface="Arial" panose="020B0604020202090204" pitchFamily="34" charset="0"/>
              </a:rPr>
              <a:t>其他客户会使用几个功能</a:t>
            </a:r>
            <a:endParaRPr lang="en-US" altLang="zh-CN" sz="2000" dirty="0">
              <a:solidFill>
                <a:schemeClr val="tx1"/>
              </a:solidFill>
              <a:latin typeface="Helvetica" pitchFamily="2" charset="0"/>
              <a:cs typeface="Arial" panose="020B0604020202090204" pitchFamily="34" charset="0"/>
            </a:endParaRPr>
          </a:p>
          <a:p>
            <a:pPr lvl="2"/>
            <a:r>
              <a:rPr lang="zh-CN" altLang="en-US" sz="2000" dirty="0">
                <a:solidFill>
                  <a:schemeClr val="tx1"/>
                </a:solidFill>
                <a:latin typeface="Helvetica" pitchFamily="2" charset="0"/>
                <a:cs typeface="Arial" panose="020B0604020202090204" pitchFamily="34" charset="0"/>
              </a:rPr>
              <a:t>只有少数客户会系统测试</a:t>
            </a:r>
            <a:endParaRPr lang="en-US" altLang="zh-CN" sz="2000" dirty="0">
              <a:solidFill>
                <a:schemeClr val="tx1"/>
              </a:solidFill>
              <a:latin typeface="Helvetica" pitchFamily="2" charset="0"/>
              <a:cs typeface="Arial" panose="020B0604020202090204" pitchFamily="34" charset="0"/>
            </a:endParaRPr>
          </a:p>
          <a:p>
            <a:pPr lvl="2"/>
            <a:r>
              <a:rPr lang="zh-CN" altLang="en-US" sz="2000" dirty="0">
                <a:solidFill>
                  <a:schemeClr val="tx1"/>
                </a:solidFill>
                <a:latin typeface="Helvetica" pitchFamily="2" charset="0"/>
                <a:cs typeface="Arial" panose="020B0604020202090204" pitchFamily="34" charset="0"/>
              </a:rPr>
              <a:t>只有少数客户会系统报告问题</a:t>
            </a:r>
            <a:endParaRPr lang="zh-CN" altLang="en-US" sz="2000" dirty="0">
              <a:solidFill>
                <a:schemeClr val="tx1"/>
              </a:solidFill>
              <a:latin typeface="Helvetica" pitchFamily="2" charset="0"/>
              <a:cs typeface="Arial" panose="020B0604020202090204" pitchFamily="34" charset="0"/>
            </a:endParaRPr>
          </a:p>
          <a:p>
            <a:endParaRPr lang="en-US" altLang="zh-CN" sz="2000" dirty="0">
              <a:solidFill>
                <a:schemeClr val="tx1"/>
              </a:solidFill>
              <a:latin typeface="Helvetica" pitchFamily="2" charset="0"/>
              <a:cs typeface="Arial" panose="020B0604020202090204" pitchFamily="34" charset="0"/>
            </a:endParaRPr>
          </a:p>
          <a:p>
            <a:r>
              <a:rPr lang="zh-CN" altLang="en-US" sz="2000" dirty="0">
                <a:solidFill>
                  <a:schemeClr val="tx1"/>
                </a:solidFill>
                <a:latin typeface="Helvetica" pitchFamily="2" charset="0"/>
                <a:cs typeface="Arial" panose="020B0604020202090204" pitchFamily="34" charset="0"/>
              </a:rPr>
              <a:t>你能给客户什么激励让他们为你测试软件？</a:t>
            </a:r>
            <a:endParaRPr lang="en-US" altLang="zh-CN" sz="2000" dirty="0">
              <a:solidFill>
                <a:schemeClr val="tx1"/>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财务激励（如产品折扣）</a:t>
            </a:r>
            <a:endParaRPr lang="en-US" altLang="zh-CN" sz="2000" dirty="0">
              <a:solidFill>
                <a:schemeClr val="tx1"/>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声望（如认可、宣传）</a:t>
            </a:r>
            <a:endParaRPr lang="zh-CN" altLang="en-US" sz="2000" dirty="0">
              <a:solidFill>
                <a:schemeClr val="tx1"/>
              </a:solidFill>
              <a:latin typeface="Helvetica" pitchFamily="2" charset="0"/>
              <a:cs typeface="Arial" panose="020B0604020202090204" pitchFamily="34" charset="0"/>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Times New Roman" panose="02020603050405020304" charset="0"/>
              </a:rPr>
              <a:t>发布：</a:t>
            </a:r>
            <a:r>
              <a:rPr lang="en-US" altLang="zh-CN" dirty="0">
                <a:latin typeface="Times New Roman" panose="02020603050405020304" charset="0"/>
              </a:rPr>
              <a:t>A/B</a:t>
            </a:r>
            <a:r>
              <a:rPr lang="zh-CN" altLang="en-US" dirty="0">
                <a:latin typeface="Times New Roman" panose="02020603050405020304" charset="0"/>
              </a:rPr>
              <a:t>测试</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4"/>
          <p:cNvSpPr txBox="1"/>
          <p:nvPr/>
        </p:nvSpPr>
        <p:spPr>
          <a:xfrm>
            <a:off x="1146976" y="1377032"/>
            <a:ext cx="10371924" cy="2553335"/>
          </a:xfrm>
          <a:prstGeom prst="rect">
            <a:avLst/>
          </a:prstGeom>
          <a:noFill/>
        </p:spPr>
        <p:txBody>
          <a:bodyPr wrap="square">
            <a:spAutoFit/>
          </a:bodyPr>
          <a:lstStyle/>
          <a:p>
            <a:r>
              <a:rPr lang="zh-CN" altLang="en-US" sz="2000" dirty="0"/>
              <a:t>在</a:t>
            </a:r>
            <a:r>
              <a:rPr lang="en-US" altLang="zh-CN" sz="2000" dirty="0"/>
              <a:t>A/B</a:t>
            </a:r>
            <a:r>
              <a:rPr lang="zh-CN" altLang="en-US" sz="2000" dirty="0"/>
              <a:t>测试中，你拿一个网页或应用界面，修改它创建第二个版本。</a:t>
            </a:r>
            <a:endParaRPr lang="zh-CN" altLang="en-US" sz="2000" dirty="0"/>
          </a:p>
          <a:p>
            <a:endParaRPr lang="zh-CN" altLang="en-US" sz="2000" dirty="0"/>
          </a:p>
          <a:p>
            <a:r>
              <a:rPr lang="zh-CN" altLang="en-US" sz="2000" dirty="0"/>
              <a:t>一半流量看到原始版本（控制组</a:t>
            </a:r>
            <a:r>
              <a:rPr lang="en-US" altLang="zh-CN" sz="2000" dirty="0"/>
              <a:t>A），</a:t>
            </a:r>
            <a:r>
              <a:rPr lang="zh-CN" altLang="en-US" sz="2000" dirty="0"/>
              <a:t>另一半看到修改版本（变化组</a:t>
            </a:r>
            <a:r>
              <a:rPr lang="en-US" altLang="zh-CN" sz="2000" dirty="0"/>
              <a:t>B）。</a:t>
            </a:r>
            <a:endParaRPr lang="en-US" altLang="zh-CN" sz="2000" dirty="0"/>
          </a:p>
          <a:p>
            <a:endParaRPr lang="en-US" altLang="zh-CN" sz="2000" dirty="0"/>
          </a:p>
          <a:p>
            <a:r>
              <a:rPr lang="zh-CN" altLang="en-US" sz="2000" dirty="0"/>
              <a:t>当用户被提供控制组或变化组时，他们的参与</a:t>
            </a:r>
            <a:r>
              <a:rPr lang="zh-CN" altLang="en-US" sz="2000" dirty="0"/>
              <a:t>记录被收集并通过统计分析。</a:t>
            </a:r>
            <a:endParaRPr lang="zh-CN" altLang="en-US" sz="2000" dirty="0"/>
          </a:p>
          <a:p>
            <a:endParaRPr lang="zh-CN" altLang="en-US" sz="2000" dirty="0"/>
          </a:p>
          <a:p>
            <a:r>
              <a:rPr lang="zh-CN" altLang="en-US" sz="2000" dirty="0"/>
              <a:t>开发人员可以确定改变体验（变化组</a:t>
            </a:r>
            <a:r>
              <a:rPr lang="en-US" altLang="zh-CN" sz="2000" dirty="0"/>
              <a:t>B）</a:t>
            </a:r>
            <a:r>
              <a:rPr lang="zh-CN" altLang="en-US" sz="2000" dirty="0"/>
              <a:t>相对于基线（控制组</a:t>
            </a:r>
            <a:r>
              <a:rPr lang="en-US" altLang="zh-CN" sz="2000" dirty="0"/>
              <a:t>A）</a:t>
            </a:r>
            <a:r>
              <a:rPr lang="zh-CN" altLang="en-US" sz="2000" dirty="0"/>
              <a:t>是否有正面、负面或中性影响。</a:t>
            </a:r>
            <a:endParaRPr lang="zh-CN" altLang="en-US" sz="200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占位符 13"/>
          <p:cNvSpPr>
            <a:spLocks noGrp="1"/>
          </p:cNvSpPr>
          <p:nvPr>
            <p:ph type="body" sz="quarter" idx="10"/>
          </p:nvPr>
        </p:nvSpPr>
        <p:spPr>
          <a:xfrm>
            <a:off x="3540868" y="2606037"/>
            <a:ext cx="7978032" cy="914400"/>
          </a:xfrm>
        </p:spPr>
        <p:txBody>
          <a:bodyPr>
            <a:normAutofit/>
          </a:bodyPr>
          <a:lstStyle/>
          <a:p>
            <a:pPr algn="r"/>
            <a:r>
              <a:rPr lang="zh-CN" altLang="en-US" dirty="0"/>
              <a:t>感谢聆听！</a:t>
            </a:r>
            <a:endParaRPr lang="zh-CN" altLang="en-US" dirty="0"/>
          </a:p>
        </p:txBody>
      </p:sp>
      <p:cxnSp>
        <p:nvCxnSpPr>
          <p:cNvPr id="27" name="直接连接符 2"/>
          <p:cNvCxnSpPr/>
          <p:nvPr/>
        </p:nvCxnSpPr>
        <p:spPr>
          <a:xfrm>
            <a:off x="11226555" y="4069080"/>
            <a:ext cx="0" cy="786699"/>
          </a:xfrm>
          <a:prstGeom prst="line">
            <a:avLst/>
          </a:prstGeom>
          <a:ln w="50800" cmpd="thickThin"/>
        </p:spPr>
        <p:style>
          <a:lnRef idx="1">
            <a:schemeClr val="accent1"/>
          </a:lnRef>
          <a:fillRef idx="0">
            <a:schemeClr val="accent1"/>
          </a:fillRef>
          <a:effectRef idx="0">
            <a:schemeClr val="accent1"/>
          </a:effectRef>
          <a:fontRef idx="minor">
            <a:schemeClr val="tx1"/>
          </a:fontRef>
        </p:style>
      </p:cxnSp>
      <p:sp>
        <p:nvSpPr>
          <p:cNvPr id="3" name="矩形 66"/>
          <p:cNvSpPr/>
          <p:nvPr/>
        </p:nvSpPr>
        <p:spPr>
          <a:xfrm>
            <a:off x="4295518" y="3921753"/>
            <a:ext cx="6751272" cy="650875"/>
          </a:xfrm>
          <a:prstGeom prst="rect">
            <a:avLst/>
          </a:prstGeom>
        </p:spPr>
        <p:txBody>
          <a:bodyPr wrap="square">
            <a:spAutoFit/>
          </a:bodyPr>
          <a:lstStyle/>
          <a:p>
            <a:pPr algn="r">
              <a:lnSpc>
                <a:spcPct val="130000"/>
              </a:lnSpc>
            </a:pPr>
            <a:r>
              <a:rPr lang="zh-CN" altLang="en-US" sz="2800" dirty="0">
                <a:solidFill>
                  <a:schemeClr val="accent1"/>
                </a:solidFill>
                <a:latin typeface="Helvetica" pitchFamily="2" charset="0"/>
                <a:cs typeface="Arial" panose="020B0604020202090204" pitchFamily="34" charset="0"/>
                <a:sym typeface="+mn-lt"/>
              </a:rPr>
              <a:t>讲师：刘光</a:t>
            </a:r>
            <a:r>
              <a:rPr lang="zh-CN" altLang="en-US" sz="2800" dirty="0">
                <a:solidFill>
                  <a:schemeClr val="accent1"/>
                </a:solidFill>
                <a:latin typeface="Helvetica" pitchFamily="2" charset="0"/>
                <a:cs typeface="Arial" panose="020B0604020202090204" pitchFamily="34" charset="0"/>
                <a:sym typeface="+mn-lt"/>
              </a:rPr>
              <a:t>迟 博士</a:t>
            </a:r>
            <a:endParaRPr lang="zh-CN" altLang="en-US" sz="2800" dirty="0">
              <a:solidFill>
                <a:schemeClr val="accent1"/>
              </a:solidFill>
              <a:latin typeface="Helvetica" pitchFamily="2" charset="0"/>
              <a:cs typeface="Arial" panose="020B0604020202090204" pitchFamily="34" charset="0"/>
              <a:sym typeface="+mn-lt"/>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heme/theme1.xml><?xml version="1.0" encoding="utf-8"?>
<a:theme xmlns:a="http://schemas.openxmlformats.org/drawingml/2006/main" name="1_Office 主题​​">
  <a:themeElements>
    <a:clrScheme name="SEU">
      <a:dk1>
        <a:srgbClr val="000000"/>
      </a:dk1>
      <a:lt1>
        <a:srgbClr val="FFFFFF"/>
      </a:lt1>
      <a:dk2>
        <a:srgbClr val="44546A"/>
      </a:dk2>
      <a:lt2>
        <a:srgbClr val="E7E6E6"/>
      </a:lt2>
      <a:accent1>
        <a:srgbClr val="505122"/>
      </a:accent1>
      <a:accent2>
        <a:srgbClr val="FDCA04"/>
      </a:accent2>
      <a:accent3>
        <a:srgbClr val="00529D"/>
      </a:accent3>
      <a:accent4>
        <a:srgbClr val="B01417"/>
      </a:accent4>
      <a:accent5>
        <a:srgbClr val="7F7611"/>
      </a:accent5>
      <a:accent6>
        <a:srgbClr val="5D6B70"/>
      </a:accent6>
      <a:hlink>
        <a:srgbClr val="868A8C"/>
      </a:hlink>
      <a:folHlink>
        <a:srgbClr val="C2C6C8"/>
      </a:folHlink>
    </a:clrScheme>
    <a:fontScheme nam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10482</Words>
  <Application>WPS Writer</Application>
  <PresentationFormat>Widescreen</PresentationFormat>
  <Paragraphs>1248</Paragraphs>
  <Slides>121</Slides>
  <Notes>19</Notes>
  <HiddenSlides>0</HiddenSlides>
  <MMClips>0</MMClips>
  <ScaleCrop>false</ScaleCrop>
  <HeadingPairs>
    <vt:vector size="8" baseType="variant">
      <vt:variant>
        <vt:lpstr>已用的字体</vt:lpstr>
      </vt:variant>
      <vt:variant>
        <vt:i4>19</vt:i4>
      </vt:variant>
      <vt:variant>
        <vt:lpstr>主题</vt:lpstr>
      </vt:variant>
      <vt:variant>
        <vt:i4>1</vt:i4>
      </vt:variant>
      <vt:variant>
        <vt:lpstr>嵌入 OLE 服务器</vt:lpstr>
      </vt:variant>
      <vt:variant>
        <vt:i4>1</vt:i4>
      </vt:variant>
      <vt:variant>
        <vt:lpstr>幻灯片标题</vt:lpstr>
      </vt:variant>
      <vt:variant>
        <vt:i4>121</vt:i4>
      </vt:variant>
    </vt:vector>
  </HeadingPairs>
  <TitlesOfParts>
    <vt:vector size="142" baseType="lpstr">
      <vt:lpstr>Arial</vt:lpstr>
      <vt:lpstr>宋体</vt:lpstr>
      <vt:lpstr>Wingdings</vt:lpstr>
      <vt:lpstr>Helvetica Regular</vt:lpstr>
      <vt:lpstr>微软雅黑</vt:lpstr>
      <vt:lpstr>汉仪旗黑</vt:lpstr>
      <vt:lpstr>Helvetica</vt:lpstr>
      <vt:lpstr>Times New Roman</vt:lpstr>
      <vt:lpstr>MS PGothic</vt:lpstr>
      <vt:lpstr>冬青黑体简体中文</vt:lpstr>
      <vt:lpstr>宋体</vt:lpstr>
      <vt:lpstr>Arial Unicode MS</vt:lpstr>
      <vt:lpstr>等线</vt:lpstr>
      <vt:lpstr>汉仪中等线KW</vt:lpstr>
      <vt:lpstr>Calibri</vt:lpstr>
      <vt:lpstr>Helvetica Neue</vt:lpstr>
      <vt:lpstr>Wingdings</vt:lpstr>
      <vt:lpstr>微软雅黑</vt:lpstr>
      <vt:lpstr>汉仪书宋二KW</vt:lpstr>
      <vt:lpstr>1_Office 主题​​</vt:lpstr>
      <vt:lpstr>Paint.Picture</vt:lpstr>
      <vt:lpstr>PowerPoint 演示文稿</vt:lpstr>
      <vt:lpstr>PowerPoint 演示文稿</vt:lpstr>
      <vt:lpstr>提醒</vt:lpstr>
      <vt:lpstr>提醒</vt:lpstr>
      <vt:lpstr>提醒</vt:lpstr>
      <vt:lpstr>提醒</vt:lpstr>
      <vt:lpstr>评分量表</vt:lpstr>
      <vt:lpstr>评分量表</vt:lpstr>
      <vt:lpstr>本课程涵盖的内容[1,2,3]</vt:lpstr>
      <vt:lpstr>软件开发流程</vt:lpstr>
      <vt:lpstr>软件开发流程</vt:lpstr>
      <vt:lpstr>迭代细化</vt:lpstr>
      <vt:lpstr>迭代细化的讨论</vt:lpstr>
      <vt:lpstr>螺旋开发</vt:lpstr>
      <vt:lpstr>螺旋开发的探讨</vt:lpstr>
      <vt:lpstr>敏捷方法</vt:lpstr>
      <vt:lpstr>敏捷开发</vt:lpstr>
      <vt:lpstr>重型与轻量级软件开发</vt:lpstr>
      <vt:lpstr>重量级与轻量级方法论</vt:lpstr>
      <vt:lpstr>可行性研究</vt:lpstr>
      <vt:lpstr>可行性报告</vt:lpstr>
      <vt:lpstr>项目管理的目标</vt:lpstr>
      <vt:lpstr>一个简单的甘特图</vt:lpstr>
      <vt:lpstr>甘特图</vt:lpstr>
      <vt:lpstr>示例：带时间预估的活动图</vt:lpstr>
      <vt:lpstr>最早的事件日期与最早的开始日期</vt:lpstr>
      <vt:lpstr>最早的事件日期与最早的开始日期</vt:lpstr>
      <vt:lpstr>最晚活动日期及最晚开始日期</vt:lpstr>
      <vt:lpstr>最晚活动日期及最晚开始日期</vt:lpstr>
      <vt:lpstr>创建此路径</vt:lpstr>
      <vt:lpstr>用户体验</vt:lpstr>
      <vt:lpstr>心智模型与计算机模型</vt:lpstr>
      <vt:lpstr>模型视图控制器</vt:lpstr>
      <vt:lpstr>需求步骤</vt:lpstr>
      <vt:lpstr>需求目标</vt:lpstr>
      <vt:lpstr>非功能性需求</vt:lpstr>
      <vt:lpstr>需求与系统设计</vt:lpstr>
      <vt:lpstr>场景</vt:lpstr>
      <vt:lpstr>描述一个场景</vt:lpstr>
      <vt:lpstr>需求建模</vt:lpstr>
      <vt:lpstr>用例图</vt:lpstr>
      <vt:lpstr>UML模型</vt:lpstr>
      <vt:lpstr>模型：UML中的图示与规范</vt:lpstr>
      <vt:lpstr>行动者（actor）与用例图</vt:lpstr>
      <vt:lpstr>用例之间的关系：&lt;&lt;extends&gt;&gt;（扩展）</vt:lpstr>
      <vt:lpstr>&lt;&lt;extends&gt;&gt; 关系</vt:lpstr>
      <vt:lpstr>&lt;&lt;includes&gt;&gt;（包含）关系</vt:lpstr>
      <vt:lpstr>用例之间的关系：&lt;&lt;includes&gt;&gt;</vt:lpstr>
      <vt:lpstr>涉及多个行动者的用例</vt:lpstr>
      <vt:lpstr>数据流（Data-Flow）模型</vt:lpstr>
      <vt:lpstr>数据流模型示例：大学招生（首次尝试） </vt:lpstr>
      <vt:lpstr>数据流模型示例：大学招生（首次尝试） </vt:lpstr>
      <vt:lpstr>数据流模型示例：组装应用程序 </vt:lpstr>
      <vt:lpstr>数据流模型示例：已完成的应用程序处理流程 </vt:lpstr>
      <vt:lpstr>流程图（Flow Chat）模型</vt:lpstr>
      <vt:lpstr>示例：大学招生处接收申请表</vt:lpstr>
      <vt:lpstr>系统架构图</vt:lpstr>
      <vt:lpstr>各种图表的用途</vt:lpstr>
      <vt:lpstr>组件图</vt:lpstr>
      <vt:lpstr>组件作为可更换元件</vt:lpstr>
      <vt:lpstr>组件图与类图</vt:lpstr>
      <vt:lpstr>一道旧考试题目：</vt:lpstr>
      <vt:lpstr>虚拟化比较</vt:lpstr>
      <vt:lpstr>安全技术：AuthN 和 AuthZ</vt:lpstr>
      <vt:lpstr>非对称 vs. 对称</vt:lpstr>
      <vt:lpstr>查找瓶颈：CPU性能</vt:lpstr>
      <vt:lpstr>寻找瓶颈</vt:lpstr>
      <vt:lpstr>数学模型</vt:lpstr>
      <vt:lpstr>程序设计</vt:lpstr>
      <vt:lpstr>泛化/继承</vt:lpstr>
      <vt:lpstr>实现</vt:lpstr>
      <vt:lpstr>比较</vt:lpstr>
      <vt:lpstr>设计模式</vt:lpstr>
      <vt:lpstr>继承与抽象类</vt:lpstr>
      <vt:lpstr>适配器（包装器）：围绕遗留代码进行封装</vt:lpstr>
      <vt:lpstr>适配器模式：问题所在</vt:lpstr>
      <vt:lpstr>适配器模式：对象图</vt:lpstr>
      <vt:lpstr>PowerPoint 演示文稿</vt:lpstr>
      <vt:lpstr>PowerPoint 演示文稿</vt:lpstr>
      <vt:lpstr>PowerPoint 演示文稿</vt:lpstr>
      <vt:lpstr>PowerPoint 演示文稿</vt:lpstr>
      <vt:lpstr>适配器模式：后果</vt:lpstr>
      <vt:lpstr>桥接模式：允许替代实施方案</vt:lpstr>
      <vt:lpstr>桥接模式</vt:lpstr>
      <vt:lpstr>桥接</vt:lpstr>
      <vt:lpstr>桥接模式样例</vt:lpstr>
      <vt:lpstr>桥的例子</vt:lpstr>
      <vt:lpstr>桥的例子</vt:lpstr>
      <vt:lpstr>桥的例子</vt:lpstr>
      <vt:lpstr>桥的例子</vt:lpstr>
      <vt:lpstr>桥的例子</vt:lpstr>
      <vt:lpstr>桥梁：允许替代实施方案</vt:lpstr>
      <vt:lpstr>桥梁：后果</vt:lpstr>
      <vt:lpstr>策略模式：封装算法</vt:lpstr>
      <vt:lpstr>设计模式：策略</vt:lpstr>
      <vt:lpstr>PowerPoint 演示文稿</vt:lpstr>
      <vt:lpstr>设计模式：策略</vt:lpstr>
      <vt:lpstr>设计模式：策略</vt:lpstr>
      <vt:lpstr>设计模式：策略</vt:lpstr>
      <vt:lpstr>设计模式：策略</vt:lpstr>
      <vt:lpstr>策略：封装算法</vt:lpstr>
      <vt:lpstr>策略：后果</vt:lpstr>
      <vt:lpstr>漏洞、故障与失败</vt:lpstr>
      <vt:lpstr>构建可靠的软件：容错性</vt:lpstr>
      <vt:lpstr>静态与动态验证</vt:lpstr>
      <vt:lpstr>动态验证</vt:lpstr>
      <vt:lpstr>术语表</vt:lpstr>
      <vt:lpstr>术语表</vt:lpstr>
      <vt:lpstr>术语表</vt:lpstr>
      <vt:lpstr>测试用例</vt:lpstr>
      <vt:lpstr>系统与集成测试</vt:lpstr>
      <vt:lpstr>PowerPoint 演示文稿</vt:lpstr>
      <vt:lpstr>验收测试</vt:lpstr>
      <vt:lpstr>采用敏捷开发方法进行验收测试</vt:lpstr>
      <vt:lpstr>验收测试资源</vt:lpstr>
      <vt:lpstr>验收测试</vt:lpstr>
      <vt:lpstr>发布技术</vt:lpstr>
      <vt:lpstr>发布：并行测试</vt:lpstr>
      <vt:lpstr>发布：Alpha和Beta测试</vt:lpstr>
      <vt:lpstr>发布：A/B测试</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子豪 任</dc:creator>
  <cp:lastModifiedBy>刘光迟</cp:lastModifiedBy>
  <cp:revision>1588</cp:revision>
  <dcterms:created xsi:type="dcterms:W3CDTF">2026-05-22T07:38:46Z</dcterms:created>
  <dcterms:modified xsi:type="dcterms:W3CDTF">2026-05-22T07:38:46Z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F283A5D25133E45A0608106A32BF81C5_43</vt:lpwstr>
  </property>
  <property fmtid="{D5CDD505-2E9C-101B-9397-08002B2CF9AE}" pid="3" name="KSOProductBuildVer">
    <vt:lpwstr>1033-7.2.2.8955</vt:lpwstr>
  </property>
</Properties>
</file>