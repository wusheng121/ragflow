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799" r:id="rId3"/>
    <p:sldId id="800" r:id="rId5"/>
    <p:sldId id="802" r:id="rId6"/>
    <p:sldId id="808" r:id="rId7"/>
    <p:sldId id="816" r:id="rId8"/>
    <p:sldId id="817" r:id="rId9"/>
    <p:sldId id="818" r:id="rId10"/>
    <p:sldId id="819" r:id="rId11"/>
    <p:sldId id="820" r:id="rId12"/>
    <p:sldId id="821" r:id="rId13"/>
    <p:sldId id="822" r:id="rId14"/>
    <p:sldId id="823" r:id="rId15"/>
    <p:sldId id="824" r:id="rId16"/>
    <p:sldId id="825" r:id="rId17"/>
    <p:sldId id="826" r:id="rId18"/>
    <p:sldId id="827" r:id="rId19"/>
    <p:sldId id="828" r:id="rId20"/>
    <p:sldId id="829" r:id="rId21"/>
    <p:sldId id="830" r:id="rId22"/>
    <p:sldId id="831" r:id="rId23"/>
    <p:sldId id="832" r:id="rId24"/>
    <p:sldId id="833" r:id="rId25"/>
    <p:sldId id="834" r:id="rId26"/>
    <p:sldId id="835" r:id="rId27"/>
    <p:sldId id="836" r:id="rId28"/>
    <p:sldId id="837" r:id="rId29"/>
    <p:sldId id="838" r:id="rId30"/>
    <p:sldId id="839" r:id="rId31"/>
    <p:sldId id="840" r:id="rId32"/>
    <p:sldId id="841" r:id="rId33"/>
    <p:sldId id="842" r:id="rId34"/>
    <p:sldId id="843" r:id="rId35"/>
    <p:sldId id="844" r:id="rId36"/>
    <p:sldId id="845" r:id="rId37"/>
    <p:sldId id="846" r:id="rId38"/>
    <p:sldId id="847" r:id="rId39"/>
    <p:sldId id="848" r:id="rId40"/>
    <p:sldId id="849" r:id="rId41"/>
    <p:sldId id="850" r:id="rId42"/>
    <p:sldId id="851" r:id="rId43"/>
    <p:sldId id="852" r:id="rId44"/>
    <p:sldId id="853" r:id="rId45"/>
    <p:sldId id="854" r:id="rId46"/>
    <p:sldId id="855" r:id="rId47"/>
    <p:sldId id="856" r:id="rId48"/>
    <p:sldId id="857" r:id="rId49"/>
    <p:sldId id="858" r:id="rId50"/>
    <p:sldId id="859" r:id="rId51"/>
    <p:sldId id="860" r:id="rId52"/>
    <p:sldId id="861" r:id="rId53"/>
    <p:sldId id="862" r:id="rId54"/>
    <p:sldId id="863" r:id="rId55"/>
    <p:sldId id="864" r:id="rId56"/>
    <p:sldId id="865" r:id="rId57"/>
    <p:sldId id="866" r:id="rId58"/>
    <p:sldId id="867" r:id="rId59"/>
    <p:sldId id="868" r:id="rId60"/>
    <p:sldId id="869" r:id="rId61"/>
    <p:sldId id="870" r:id="rId62"/>
    <p:sldId id="871" r:id="rId63"/>
    <p:sldId id="872" r:id="rId64"/>
    <p:sldId id="873" r:id="rId65"/>
    <p:sldId id="874" r:id="rId66"/>
    <p:sldId id="875" r:id="rId67"/>
    <p:sldId id="876" r:id="rId68"/>
    <p:sldId id="877" r:id="rId69"/>
    <p:sldId id="878" r:id="rId70"/>
    <p:sldId id="879" r:id="rId71"/>
    <p:sldId id="880" r:id="rId72"/>
    <p:sldId id="881" r:id="rId73"/>
    <p:sldId id="882" r:id="rId74"/>
    <p:sldId id="883" r:id="rId75"/>
    <p:sldId id="884" r:id="rId76"/>
    <p:sldId id="885" r:id="rId77"/>
    <p:sldId id="886" r:id="rId78"/>
    <p:sldId id="887" r:id="rId79"/>
    <p:sldId id="888" r:id="rId80"/>
    <p:sldId id="889" r:id="rId81"/>
    <p:sldId id="890" r:id="rId82"/>
    <p:sldId id="891" r:id="rId83"/>
    <p:sldId id="892" r:id="rId84"/>
    <p:sldId id="893" r:id="rId85"/>
    <p:sldId id="894" r:id="rId86"/>
    <p:sldId id="895" r:id="rId87"/>
    <p:sldId id="896" r:id="rId88"/>
    <p:sldId id="897" r:id="rId89"/>
    <p:sldId id="898" r:id="rId90"/>
    <p:sldId id="899" r:id="rId9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05122"/>
    <a:srgbClr val="5377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343" autoAdjust="0"/>
    <p:restoredTop sz="86372"/>
  </p:normalViewPr>
  <p:slideViewPr>
    <p:cSldViewPr snapToGrid="0">
      <p:cViewPr varScale="1">
        <p:scale>
          <a:sx n="176" d="100"/>
          <a:sy n="176" d="100"/>
        </p:scale>
        <p:origin x="3760" y="72"/>
      </p:cViewPr>
      <p:guideLst/>
    </p:cSldViewPr>
  </p:slideViewPr>
  <p:outlineViewPr>
    <p:cViewPr>
      <p:scale>
        <a:sx n="33" d="100"/>
        <a:sy n="33" d="100"/>
      </p:scale>
      <p:origin x="0" y="-71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4" Type="http://schemas.openxmlformats.org/officeDocument/2006/relationships/tableStyles" Target="tableStyles.xml"/><Relationship Id="rId93" Type="http://schemas.openxmlformats.org/officeDocument/2006/relationships/viewProps" Target="viewProps.xml"/><Relationship Id="rId92" Type="http://schemas.openxmlformats.org/officeDocument/2006/relationships/presProps" Target="presProps.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AB7413-AF54-469D-ABFD-75D5619B000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0A31E6-CBE9-40EA-A2F4-8D17CCD5DDD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7" Type="http://schemas.openxmlformats.org/officeDocument/2006/relationships/hyperlink" Target="https://zhuanlan.zhihu.com/p/335298500" TargetMode="External"/><Relationship Id="rId6" Type="http://schemas.openxmlformats.org/officeDocument/2006/relationships/hyperlink" Target="https://weibo.com/p/1005052284144087/photos?type=photo" TargetMode="External"/><Relationship Id="rId5" Type="http://schemas.openxmlformats.org/officeDocument/2006/relationships/hyperlink" Target="https://www.seu.edu.cn/bsxtwxw/main.htm" TargetMode="External"/><Relationship Id="rId4" Type="http://schemas.openxmlformats.org/officeDocument/2006/relationships/hyperlink" Target="https://mp.weixin.qq.com/mp/profile_ext?action=home&amp;__biz=MzA4MzM3Mzc3Ng==&amp;scene=124#wechat_redirect" TargetMode="External"/><Relationship Id="rId3" Type="http://schemas.openxmlformats.org/officeDocument/2006/relationships/hyperlink" Target="http://www.officeplus.cn/p/51/102751.shtml" TargetMode="External"/><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5750" indent="-285750">
              <a:lnSpc>
                <a:spcPct val="150000"/>
              </a:lnSpc>
              <a:buFont typeface="Arial" panose="020B0604020202090204" pitchFamily="34" charset="0"/>
              <a:buChar char="•"/>
            </a:pPr>
            <a:r>
              <a:rPr lang="zh-CN" altLang="en-US" dirty="0">
                <a:cs typeface="+mn-ea"/>
                <a:sym typeface="+mn-lt"/>
              </a:rPr>
              <a:t>本模板基于“</a:t>
            </a:r>
            <a:r>
              <a:rPr lang="zh-CN" altLang="en-US" dirty="0">
                <a:hlinkClick r:id="rId3"/>
              </a:rPr>
              <a:t>中国科学院大学</a:t>
            </a:r>
            <a:r>
              <a:rPr lang="en-US" altLang="zh-CN" dirty="0">
                <a:hlinkClick r:id="rId3"/>
              </a:rPr>
              <a:t>-</a:t>
            </a:r>
            <a:r>
              <a:rPr lang="zh-CN" altLang="en-US" dirty="0">
                <a:hlinkClick r:id="rId3"/>
              </a:rPr>
              <a:t>路人丁</a:t>
            </a:r>
            <a:r>
              <a:rPr lang="en-US" altLang="zh-CN" dirty="0">
                <a:hlinkClick r:id="rId3"/>
              </a:rPr>
              <a:t>-PPT</a:t>
            </a:r>
            <a:r>
              <a:rPr lang="zh-CN" altLang="en-US" dirty="0">
                <a:hlinkClick r:id="rId3"/>
              </a:rPr>
              <a:t>模板</a:t>
            </a:r>
            <a:r>
              <a:rPr lang="zh-CN" altLang="en-US" dirty="0"/>
              <a:t>”魔改而成，著作权归该作者所有。</a:t>
            </a:r>
            <a:endParaRPr lang="en-US" altLang="zh-CN" dirty="0"/>
          </a:p>
          <a:p>
            <a:pPr marL="285750" indent="-285750">
              <a:lnSpc>
                <a:spcPct val="150000"/>
              </a:lnSpc>
              <a:buFont typeface="Arial" panose="020B0604020202090204" pitchFamily="34" charset="0"/>
              <a:buChar char="•"/>
            </a:pPr>
            <a:r>
              <a:rPr lang="zh-CN" altLang="en-US" dirty="0"/>
              <a:t>本模板中使用的东南大学校徽、校标文字组合、校训文字等素材来自于微信公众号“</a:t>
            </a:r>
            <a:r>
              <a:rPr lang="zh-CN" altLang="en-US" dirty="0">
                <a:hlinkClick r:id="rId4"/>
              </a:rPr>
              <a:t>金木屋</a:t>
            </a:r>
            <a:r>
              <a:rPr lang="zh-CN" altLang="en-US" dirty="0"/>
              <a:t>”。</a:t>
            </a:r>
            <a:endParaRPr lang="en-US" altLang="zh-CN" dirty="0"/>
          </a:p>
          <a:p>
            <a:pPr marL="285750" indent="-285750">
              <a:lnSpc>
                <a:spcPct val="150000"/>
              </a:lnSpc>
              <a:buFont typeface="Arial" panose="020B0604020202090204" pitchFamily="34" charset="0"/>
              <a:buChar char="•"/>
            </a:pPr>
            <a:r>
              <a:rPr lang="zh-CN" altLang="en-US" dirty="0"/>
              <a:t>本模板的视觉设计参考了“</a:t>
            </a:r>
            <a:r>
              <a:rPr lang="zh-CN" altLang="en-US" dirty="0">
                <a:hlinkClick r:id="rId5"/>
              </a:rPr>
              <a:t>东南大学视觉识别系统</a:t>
            </a:r>
            <a:r>
              <a:rPr lang="zh-CN" altLang="en-US" dirty="0"/>
              <a:t>”。</a:t>
            </a:r>
            <a:endParaRPr lang="en-US" altLang="zh-CN" dirty="0"/>
          </a:p>
          <a:p>
            <a:pPr marL="285750" indent="-285750">
              <a:lnSpc>
                <a:spcPct val="150000"/>
              </a:lnSpc>
              <a:buFont typeface="Arial" panose="020B0604020202090204" pitchFamily="34" charset="0"/>
              <a:buChar char="•"/>
            </a:pPr>
            <a:r>
              <a:rPr lang="zh-CN" altLang="en-US" dirty="0"/>
              <a:t>人物介绍页头像素材来自 </a:t>
            </a:r>
            <a:r>
              <a:rPr lang="zh-CN" altLang="en-US" dirty="0">
                <a:hlinkClick r:id="rId6"/>
              </a:rPr>
              <a:t>小肥柴</a:t>
            </a:r>
            <a:r>
              <a:rPr lang="zh-CN" altLang="en-US" dirty="0"/>
              <a:t>。</a:t>
            </a:r>
            <a:endParaRPr lang="en-US" altLang="zh-CN" dirty="0"/>
          </a:p>
          <a:p>
            <a:pPr marL="285750" indent="-285750">
              <a:lnSpc>
                <a:spcPct val="150000"/>
              </a:lnSpc>
              <a:buFont typeface="Arial" panose="020B0604020202090204" pitchFamily="34" charset="0"/>
              <a:buChar char="•"/>
            </a:pPr>
            <a:endParaRPr lang="en-US" altLang="zh-CN" sz="800" dirty="0"/>
          </a:p>
          <a:p>
            <a:pPr marL="285750" indent="-285750">
              <a:lnSpc>
                <a:spcPct val="150000"/>
              </a:lnSpc>
              <a:buFont typeface="Arial" panose="020B0604020202090204" pitchFamily="34" charset="0"/>
              <a:buChar char="•"/>
            </a:pPr>
            <a:r>
              <a:rPr lang="zh-CN" altLang="en-US" dirty="0"/>
              <a:t>本模板力求简洁，布局合理，主次分明。以学术风为设计理念，适用于学术报告与论文答辩等相关应用场景。模板未使用任何动画效果。</a:t>
            </a:r>
            <a:endParaRPr lang="en-US" altLang="zh-CN" dirty="0"/>
          </a:p>
          <a:p>
            <a:pPr marL="285750" indent="-285750">
              <a:lnSpc>
                <a:spcPct val="150000"/>
              </a:lnSpc>
              <a:buFont typeface="Arial" panose="020B0604020202090204" pitchFamily="34" charset="0"/>
              <a:buChar char="•"/>
            </a:pPr>
            <a:r>
              <a:rPr lang="zh-CN" altLang="en-US" dirty="0"/>
              <a:t>您仅可以以个人非商业用途使用本</a:t>
            </a:r>
            <a:r>
              <a:rPr lang="en-US" altLang="zh-CN" dirty="0"/>
              <a:t>PPT</a:t>
            </a:r>
            <a:r>
              <a:rPr lang="zh-CN" altLang="en-US" dirty="0"/>
              <a:t>模板，不可将信息内容的全部或部分用以出售，或以出租、出借、转让、分销、发布等其他任何方式供其他人使用。</a:t>
            </a:r>
            <a:endParaRPr lang="en-US" altLang="zh-CN" dirty="0"/>
          </a:p>
          <a:p>
            <a:pPr marL="285750" indent="-285750">
              <a:lnSpc>
                <a:spcPct val="150000"/>
              </a:lnSpc>
              <a:buFont typeface="Arial" panose="020B0604020202090204" pitchFamily="34" charset="0"/>
              <a:buChar char="•"/>
            </a:pPr>
            <a:endParaRPr lang="en-US" altLang="zh-CN" sz="800" dirty="0"/>
          </a:p>
          <a:p>
            <a:pPr marL="285750" indent="-285750">
              <a:lnSpc>
                <a:spcPct val="150000"/>
              </a:lnSpc>
              <a:buFont typeface="Arial" panose="020B0604020202090204" pitchFamily="34" charset="0"/>
              <a:buChar char="•"/>
            </a:pPr>
            <a:r>
              <a:rPr lang="zh-CN" altLang="en-US" dirty="0"/>
              <a:t>欢迎 </a:t>
            </a:r>
            <a:r>
              <a:rPr lang="zh-CN" altLang="en-US" dirty="0">
                <a:hlinkClick r:id="rId7"/>
              </a:rPr>
              <a:t>持续关注东南大学止于至善学术风</a:t>
            </a:r>
            <a:r>
              <a:rPr lang="en-US" altLang="zh-CN" dirty="0">
                <a:hlinkClick r:id="rId7"/>
              </a:rPr>
              <a:t> PPT </a:t>
            </a:r>
            <a:r>
              <a:rPr lang="zh-CN" altLang="en-US" dirty="0">
                <a:hlinkClick r:id="rId7"/>
              </a:rPr>
              <a:t>模板</a:t>
            </a:r>
            <a:r>
              <a:rPr lang="zh-CN" altLang="en-US" dirty="0"/>
              <a:t> （</a:t>
            </a:r>
            <a:r>
              <a:rPr lang="en-US" altLang="zh-CN" sz="1200" b="0" i="0" kern="1200" dirty="0">
                <a:solidFill>
                  <a:schemeClr val="tx1"/>
                </a:solidFill>
                <a:effectLst/>
                <a:latin typeface="+mn-lt"/>
                <a:ea typeface="+mn-ea"/>
                <a:cs typeface="+mn-cs"/>
              </a:rPr>
              <a:t>https://</a:t>
            </a:r>
            <a:r>
              <a:rPr lang="en-US" altLang="zh-CN" sz="1200" b="0" i="0" kern="1200" dirty="0" err="1">
                <a:solidFill>
                  <a:schemeClr val="tx1"/>
                </a:solidFill>
                <a:effectLst/>
                <a:latin typeface="+mn-lt"/>
                <a:ea typeface="+mn-ea"/>
                <a:cs typeface="+mn-cs"/>
              </a:rPr>
              <a:t>zhuanlan.zhihu.com</a:t>
            </a:r>
            <a:r>
              <a:rPr lang="en-US" altLang="zh-CN" sz="1200" b="0" i="0" kern="1200" dirty="0">
                <a:solidFill>
                  <a:schemeClr val="tx1"/>
                </a:solidFill>
                <a:effectLst/>
                <a:latin typeface="+mn-lt"/>
                <a:ea typeface="+mn-ea"/>
                <a:cs typeface="+mn-cs"/>
              </a:rPr>
              <a:t>/p/335298500</a:t>
            </a:r>
            <a:r>
              <a:rPr lang="zh-CN" altLang="en-US" dirty="0"/>
              <a:t>）后续的功能优化及多语言更新版本。</a:t>
            </a:r>
            <a:endParaRPr lang="en-US" altLang="zh-CN" dirty="0"/>
          </a:p>
          <a:p>
            <a:pPr marL="285750" indent="-285750">
              <a:lnSpc>
                <a:spcPct val="150000"/>
              </a:lnSpc>
              <a:buFont typeface="Arial" panose="020B0604020202090204" pitchFamily="34" charset="0"/>
              <a:buChar char="•"/>
            </a:pPr>
            <a:r>
              <a:rPr lang="zh-CN" altLang="en-US" dirty="0"/>
              <a:t>最后，祝汇报顺利，马到成功！</a:t>
            </a:r>
            <a:endParaRPr lang="en-US" altLang="zh-CN" dirty="0"/>
          </a:p>
          <a:p>
            <a:pPr marL="285750" indent="-285750">
              <a:lnSpc>
                <a:spcPct val="150000"/>
              </a:lnSpc>
              <a:buFont typeface="Arial" panose="020B0604020202090204" pitchFamily="34" charset="0"/>
              <a:buChar char="•"/>
            </a:pPr>
            <a:endParaRPr lang="en-US" altLang="zh-CN" dirty="0"/>
          </a:p>
          <a:p>
            <a:pPr marL="285750" marR="0" lvl="0" indent="-285750" algn="l" defTabSz="914400" rtl="0" eaLnBrk="1" fontAlgn="auto" latinLnBrk="0" hangingPunct="1">
              <a:lnSpc>
                <a:spcPct val="150000"/>
              </a:lnSpc>
              <a:spcBef>
                <a:spcPts val="0"/>
              </a:spcBef>
              <a:spcAft>
                <a:spcPts val="0"/>
              </a:spcAft>
              <a:buClrTx/>
              <a:buSzTx/>
              <a:buFont typeface="Arial" panose="020B0604020202090204" pitchFamily="34" charset="0"/>
              <a:buChar char="•"/>
              <a:defRPr/>
            </a:pPr>
            <a:r>
              <a:rPr kumimoji="1" lang="en-US" altLang="zh-CN" dirty="0">
                <a:latin typeface="+mn-ea"/>
                <a:cs typeface="Arial" panose="020B0604020202090204" pitchFamily="34" charset="0"/>
              </a:rPr>
              <a:t>Version:</a:t>
            </a:r>
            <a:r>
              <a:rPr kumimoji="1" lang="zh-CN" altLang="en-US" dirty="0">
                <a:latin typeface="+mn-ea"/>
                <a:cs typeface="Arial" panose="020B0604020202090204" pitchFamily="34" charset="0"/>
              </a:rPr>
              <a:t> </a:t>
            </a:r>
            <a:r>
              <a:rPr kumimoji="1" lang="en-US" altLang="zh-CN" dirty="0">
                <a:latin typeface="+mn-ea"/>
                <a:cs typeface="Arial" panose="020B0604020202090204" pitchFamily="34" charset="0"/>
              </a:rPr>
              <a:t>(2021) v1.5-en.</a:t>
            </a:r>
            <a:endParaRPr kumimoji="1" lang="zh-CN" altLang="en-US" dirty="0">
              <a:latin typeface="+mn-ea"/>
              <a:cs typeface="Arial" panose="020B0604020202090204" pitchFamily="34" charset="0"/>
            </a:endParaRPr>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幻灯片1">
    <p:bg>
      <p:bgPr>
        <a:solidFill>
          <a:schemeClr val="bg1"/>
        </a:solidFill>
        <a:effectLst/>
      </p:bgPr>
    </p:bg>
    <p:spTree>
      <p:nvGrpSpPr>
        <p:cNvPr id="1" name=""/>
        <p:cNvGrpSpPr/>
        <p:nvPr/>
      </p:nvGrpSpPr>
      <p:grpSpPr>
        <a:xfrm>
          <a:off x="0" y="0"/>
          <a:ext cx="0" cy="0"/>
          <a:chOff x="0" y="0"/>
          <a:chExt cx="0" cy="0"/>
        </a:xfrm>
      </p:grpSpPr>
      <p:sp>
        <p:nvSpPr>
          <p:cNvPr id="47" name="箭头: 五边形 46"/>
          <p:cNvSpPr/>
          <p:nvPr userDrawn="1"/>
        </p:nvSpPr>
        <p:spPr>
          <a:xfrm rot="5400000">
            <a:off x="-1070579" y="2025798"/>
            <a:ext cx="6858002" cy="2806406"/>
          </a:xfrm>
          <a:prstGeom prst="homePlate">
            <a:avLst>
              <a:gd name="adj" fmla="val 3223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solidFill>
                <a:schemeClr val="accent6"/>
              </a:solidFill>
              <a:latin typeface="Helvetica Regular" pitchFamily="2" charset="0"/>
            </a:endParaRPr>
          </a:p>
        </p:txBody>
      </p:sp>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93142" y="2263721"/>
            <a:ext cx="2330560" cy="233056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版式">
    <p:bg>
      <p:bgPr>
        <a:solidFill>
          <a:schemeClr val="bg1"/>
        </a:solidFill>
        <a:effectLst/>
      </p:bgPr>
    </p:bg>
    <p:spTree>
      <p:nvGrpSpPr>
        <p:cNvPr id="1" name=""/>
        <p:cNvGrpSpPr/>
        <p:nvPr/>
      </p:nvGrpSpPr>
      <p:grpSpPr>
        <a:xfrm>
          <a:off x="0" y="0"/>
          <a:ext cx="0" cy="0"/>
          <a:chOff x="0" y="0"/>
          <a:chExt cx="0" cy="0"/>
        </a:xfrm>
      </p:grpSpPr>
      <p:sp>
        <p:nvSpPr>
          <p:cNvPr id="85" name="任意多边形: 形状 84"/>
          <p:cNvSpPr/>
          <p:nvPr userDrawn="1"/>
        </p:nvSpPr>
        <p:spPr bwMode="auto">
          <a:xfrm rot="5400000">
            <a:off x="4539448" y="-380490"/>
            <a:ext cx="3113105" cy="2609911"/>
          </a:xfrm>
          <a:custGeom>
            <a:avLst/>
            <a:gdLst>
              <a:gd name="connsiteX0" fmla="*/ 0 w 3113105"/>
              <a:gd name="connsiteY0" fmla="*/ 2609911 h 2609911"/>
              <a:gd name="connsiteX1" fmla="*/ 0 w 3113105"/>
              <a:gd name="connsiteY1" fmla="*/ 0 h 2609911"/>
              <a:gd name="connsiteX2" fmla="*/ 2301594 w 3113105"/>
              <a:gd name="connsiteY2" fmla="*/ 0 h 2609911"/>
              <a:gd name="connsiteX3" fmla="*/ 3113105 w 3113105"/>
              <a:gd name="connsiteY3" fmla="*/ 1304956 h 2609911"/>
              <a:gd name="connsiteX4" fmla="*/ 2301594 w 3113105"/>
              <a:gd name="connsiteY4" fmla="*/ 2609910 h 2609911"/>
              <a:gd name="connsiteX5" fmla="*/ 2301594 w 3113105"/>
              <a:gd name="connsiteY5" fmla="*/ 2609911 h 260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13105" h="2609911">
                <a:moveTo>
                  <a:pt x="0" y="2609911"/>
                </a:moveTo>
                <a:lnTo>
                  <a:pt x="0" y="0"/>
                </a:lnTo>
                <a:lnTo>
                  <a:pt x="2301594" y="0"/>
                </a:lnTo>
                <a:lnTo>
                  <a:pt x="3113105" y="1304956"/>
                </a:lnTo>
                <a:lnTo>
                  <a:pt x="2301594" y="2609910"/>
                </a:lnTo>
                <a:lnTo>
                  <a:pt x="2301594" y="2609911"/>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bg1"/>
              </a:solidFill>
              <a:latin typeface="Helvetica Regular" pitchFamily="2" charset="0"/>
              <a:cs typeface="+mn-ea"/>
              <a:sym typeface="+mn-lt"/>
            </a:endParaRPr>
          </a:p>
        </p:txBody>
      </p:sp>
      <p:sp>
        <p:nvSpPr>
          <p:cNvPr id="86" name="文本框 85"/>
          <p:cNvSpPr txBox="1"/>
          <p:nvPr userDrawn="1"/>
        </p:nvSpPr>
        <p:spPr>
          <a:xfrm>
            <a:off x="4781377" y="483991"/>
            <a:ext cx="2629246" cy="908262"/>
          </a:xfrm>
          <a:prstGeom prst="rect">
            <a:avLst/>
          </a:prstGeom>
          <a:noFill/>
        </p:spPr>
        <p:txBody>
          <a:bodyPr wrap="none" rtlCol="0">
            <a:spAutoFit/>
          </a:bodyPr>
          <a:lstStyle/>
          <a:p>
            <a:pPr>
              <a:lnSpc>
                <a:spcPct val="130000"/>
              </a:lnSpc>
            </a:pPr>
            <a:r>
              <a:rPr lang="en-US" altLang="zh-CN" sz="4400" b="1" i="0" dirty="0">
                <a:solidFill>
                  <a:schemeClr val="bg1"/>
                </a:solidFill>
                <a:latin typeface="Helvetica" pitchFamily="2" charset="0"/>
                <a:cs typeface="Arial" panose="020B0604020202090204" pitchFamily="34" charset="0"/>
                <a:sym typeface="+mn-lt"/>
              </a:rPr>
              <a:t>Contents</a:t>
            </a:r>
            <a:endParaRPr lang="zh-CN" altLang="en-US" sz="4400" b="1" i="0" dirty="0">
              <a:solidFill>
                <a:schemeClr val="bg1"/>
              </a:solidFill>
              <a:latin typeface="Helvetica" pitchFamily="2" charset="0"/>
              <a:cs typeface="Arial" panose="020B0604020202090204" pitchFamily="34" charset="0"/>
              <a:sym typeface="+mn-lt"/>
            </a:endParaRPr>
          </a:p>
        </p:txBody>
      </p:sp>
      <p:sp>
        <p:nvSpPr>
          <p:cNvPr id="87" name="任意多边形: 形状 86"/>
          <p:cNvSpPr/>
          <p:nvPr userDrawn="1"/>
        </p:nvSpPr>
        <p:spPr bwMode="auto">
          <a:xfrm rot="5400000">
            <a:off x="4384812" y="-485285"/>
            <a:ext cx="3422377" cy="3128773"/>
          </a:xfrm>
          <a:custGeom>
            <a:avLst/>
            <a:gdLst>
              <a:gd name="connsiteX0" fmla="*/ 0 w 3422377"/>
              <a:gd name="connsiteY0" fmla="*/ 3128773 h 3128773"/>
              <a:gd name="connsiteX1" fmla="*/ 0 w 3422377"/>
              <a:gd name="connsiteY1" fmla="*/ 0 h 3128773"/>
              <a:gd name="connsiteX2" fmla="*/ 2449535 w 3422377"/>
              <a:gd name="connsiteY2" fmla="*/ 0 h 3128773"/>
              <a:gd name="connsiteX3" fmla="*/ 3422377 w 3422377"/>
              <a:gd name="connsiteY3" fmla="*/ 1564387 h 3128773"/>
              <a:gd name="connsiteX4" fmla="*/ 2449535 w 3422377"/>
              <a:gd name="connsiteY4" fmla="*/ 3128772 h 3128773"/>
              <a:gd name="connsiteX5" fmla="*/ 2449535 w 3422377"/>
              <a:gd name="connsiteY5" fmla="*/ 3128773 h 3128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2377" h="3128773">
                <a:moveTo>
                  <a:pt x="0" y="3128773"/>
                </a:moveTo>
                <a:lnTo>
                  <a:pt x="0" y="0"/>
                </a:lnTo>
                <a:lnTo>
                  <a:pt x="2449535" y="0"/>
                </a:lnTo>
                <a:lnTo>
                  <a:pt x="3422377" y="1564387"/>
                </a:lnTo>
                <a:lnTo>
                  <a:pt x="2449535" y="3128772"/>
                </a:lnTo>
                <a:lnTo>
                  <a:pt x="2449535" y="3128773"/>
                </a:lnTo>
                <a:close/>
              </a:path>
            </a:pathLst>
          </a:custGeom>
          <a:noFill/>
          <a:ln w="12700">
            <a:solidFill>
              <a:schemeClr val="accent1"/>
            </a:solidFill>
            <a:prstDash val="lgDash"/>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bg1"/>
              </a:solidFill>
              <a:latin typeface="Helvetica Regular" pitchFamily="2" charset="0"/>
              <a:cs typeface="+mn-ea"/>
              <a:sym typeface="+mn-lt"/>
            </a:endParaRPr>
          </a:p>
        </p:txBody>
      </p:sp>
      <p:pic>
        <p:nvPicPr>
          <p:cNvPr id="89" name="图片 88"/>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3428999" y="0"/>
            <a:ext cx="6858000" cy="6858000"/>
          </a:xfrm>
          <a:prstGeom prst="rect">
            <a:avLst/>
          </a:prstGeom>
        </p:spPr>
      </p:pic>
      <p:pic>
        <p:nvPicPr>
          <p:cNvPr id="90" name="图片 89"/>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8763000" y="0"/>
            <a:ext cx="6858000" cy="6858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转场-短标题1">
    <p:spTree>
      <p:nvGrpSpPr>
        <p:cNvPr id="1" name=""/>
        <p:cNvGrpSpPr/>
        <p:nvPr/>
      </p:nvGrpSpPr>
      <p:grpSpPr>
        <a:xfrm>
          <a:off x="0" y="0"/>
          <a:ext cx="0" cy="0"/>
          <a:chOff x="0" y="0"/>
          <a:chExt cx="0" cy="0"/>
        </a:xfrm>
      </p:grpSpPr>
      <p:sp>
        <p:nvSpPr>
          <p:cNvPr id="6" name="椭圆 5"/>
          <p:cNvSpPr/>
          <p:nvPr userDrawn="1"/>
        </p:nvSpPr>
        <p:spPr>
          <a:xfrm>
            <a:off x="3997387" y="1330387"/>
            <a:ext cx="4197226" cy="419722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elvetica" pitchFamily="2" charset="0"/>
            </a:endParaRPr>
          </a:p>
        </p:txBody>
      </p:sp>
      <p:sp>
        <p:nvSpPr>
          <p:cNvPr id="7" name="文本框 6"/>
          <p:cNvSpPr txBox="1"/>
          <p:nvPr userDrawn="1"/>
        </p:nvSpPr>
        <p:spPr>
          <a:xfrm>
            <a:off x="5093161" y="3044279"/>
            <a:ext cx="2068195" cy="769441"/>
          </a:xfrm>
          <a:prstGeom prst="rect">
            <a:avLst/>
          </a:prstGeom>
          <a:noFill/>
        </p:spPr>
        <p:txBody>
          <a:bodyPr wrap="none" rtlCol="0">
            <a:spAutoFit/>
          </a:bodyPr>
          <a:lstStyle/>
          <a:p>
            <a:pPr algn="ctr"/>
            <a:r>
              <a:rPr lang="en-US" altLang="zh-CN" sz="4400" b="1" i="0" dirty="0">
                <a:solidFill>
                  <a:schemeClr val="bg1"/>
                </a:solidFill>
                <a:latin typeface="Helvetica" pitchFamily="2" charset="0"/>
                <a:cs typeface="Arial" panose="020B0604020202090204" pitchFamily="34" charset="0"/>
              </a:rPr>
              <a:t>Part 01</a:t>
            </a:r>
            <a:endParaRPr lang="zh-CN" altLang="en-US" sz="4400" b="1" i="0" dirty="0">
              <a:solidFill>
                <a:schemeClr val="bg1"/>
              </a:solidFill>
              <a:latin typeface="Helvetica" pitchFamily="2" charset="0"/>
              <a:cs typeface="Arial" panose="020B0604020202090204" pitchFamily="34" charset="0"/>
            </a:endParaRPr>
          </a:p>
        </p:txBody>
      </p:sp>
      <p:cxnSp>
        <p:nvCxnSpPr>
          <p:cNvPr id="8" name="直接连接符 7"/>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椭圆 9"/>
          <p:cNvSpPr/>
          <p:nvPr userDrawn="1"/>
        </p:nvSpPr>
        <p:spPr>
          <a:xfrm>
            <a:off x="3775702" y="1108702"/>
            <a:ext cx="4640596" cy="4640596"/>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1" name="椭圆 10"/>
          <p:cNvSpPr/>
          <p:nvPr userDrawn="1"/>
        </p:nvSpPr>
        <p:spPr>
          <a:xfrm>
            <a:off x="9613900" y="5273613"/>
            <a:ext cx="764381" cy="76438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2" name="椭圆 11"/>
          <p:cNvSpPr/>
          <p:nvPr userDrawn="1"/>
        </p:nvSpPr>
        <p:spPr>
          <a:xfrm>
            <a:off x="2209800" y="6134100"/>
            <a:ext cx="1130300" cy="11303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3" name="椭圆 12"/>
          <p:cNvSpPr/>
          <p:nvPr userDrawn="1"/>
        </p:nvSpPr>
        <p:spPr>
          <a:xfrm>
            <a:off x="10818188" y="-911691"/>
            <a:ext cx="2092326" cy="2092326"/>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4" name="椭圆 13"/>
          <p:cNvSpPr/>
          <p:nvPr userDrawn="1"/>
        </p:nvSpPr>
        <p:spPr>
          <a:xfrm>
            <a:off x="-1048048" y="-250249"/>
            <a:ext cx="2861767" cy="286176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7" name="文本占位符 16"/>
          <p:cNvSpPr>
            <a:spLocks noGrp="1"/>
          </p:cNvSpPr>
          <p:nvPr>
            <p:ph type="body" sz="quarter" idx="10" hasCustomPrompt="1"/>
          </p:nvPr>
        </p:nvSpPr>
        <p:spPr>
          <a:xfrm>
            <a:off x="4098000" y="3951320"/>
            <a:ext cx="3996000" cy="914400"/>
          </a:xfrm>
        </p:spPr>
        <p:txBody>
          <a:bodyPr anchor="ctr" anchorCtr="0">
            <a:normAutofit/>
          </a:bodyPr>
          <a:lstStyle>
            <a:lvl1pPr marL="0" indent="0" algn="ctr">
              <a:buNone/>
              <a:defRPr sz="3200" b="1">
                <a:solidFill>
                  <a:schemeClr val="bg1"/>
                </a:solidFill>
                <a:latin typeface="Helvetica" pitchFamily="2" charset="0"/>
              </a:defRPr>
            </a:lvl1pPr>
          </a:lstStyle>
          <a:p>
            <a:pPr lvl="0"/>
            <a:r>
              <a:rPr lang="en-US" altLang="zh-CN" dirty="0"/>
              <a:t>Edit Here</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转场-短标题2">
    <p:spTree>
      <p:nvGrpSpPr>
        <p:cNvPr id="1" name=""/>
        <p:cNvGrpSpPr/>
        <p:nvPr/>
      </p:nvGrpSpPr>
      <p:grpSpPr>
        <a:xfrm>
          <a:off x="0" y="0"/>
          <a:ext cx="0" cy="0"/>
          <a:chOff x="0" y="0"/>
          <a:chExt cx="0" cy="0"/>
        </a:xfrm>
      </p:grpSpPr>
      <p:sp>
        <p:nvSpPr>
          <p:cNvPr id="6" name="等腰三角形 5"/>
          <p:cNvSpPr/>
          <p:nvPr userDrawn="1"/>
        </p:nvSpPr>
        <p:spPr>
          <a:xfrm>
            <a:off x="4000500" y="1050677"/>
            <a:ext cx="4191000" cy="409786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文本框 6"/>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90204" pitchFamily="34" charset="0"/>
              </a:rPr>
              <a:t>Part 02</a:t>
            </a:r>
            <a:endParaRPr lang="zh-CN" altLang="en-US" sz="4400" b="1" i="0" dirty="0">
              <a:solidFill>
                <a:schemeClr val="bg1"/>
              </a:solidFill>
              <a:latin typeface="Helvetica" pitchFamily="2" charset="0"/>
              <a:cs typeface="Arial" panose="020B0604020202090204" pitchFamily="34" charset="0"/>
            </a:endParaRPr>
          </a:p>
        </p:txBody>
      </p:sp>
      <p:cxnSp>
        <p:nvCxnSpPr>
          <p:cNvPr id="8" name="直接连接符 7"/>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等腰三角形 8"/>
          <p:cNvSpPr/>
          <p:nvPr userDrawn="1"/>
        </p:nvSpPr>
        <p:spPr>
          <a:xfrm>
            <a:off x="3564087" y="505131"/>
            <a:ext cx="5063826" cy="4951296"/>
          </a:xfrm>
          <a:prstGeom prst="triangle">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0" name="等腰三角形 9"/>
          <p:cNvSpPr/>
          <p:nvPr userDrawn="1"/>
        </p:nvSpPr>
        <p:spPr>
          <a:xfrm rot="10800000">
            <a:off x="1390650" y="6496115"/>
            <a:ext cx="1493560" cy="1460370"/>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等腰三角形 10"/>
          <p:cNvSpPr/>
          <p:nvPr userDrawn="1"/>
        </p:nvSpPr>
        <p:spPr>
          <a:xfrm>
            <a:off x="11153775" y="1013971"/>
            <a:ext cx="2076450" cy="2030307"/>
          </a:xfrm>
          <a:prstGeom prs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等腰三角形 11"/>
          <p:cNvSpPr/>
          <p:nvPr userDrawn="1"/>
        </p:nvSpPr>
        <p:spPr>
          <a:xfrm rot="10800000">
            <a:off x="-414337" y="-187450"/>
            <a:ext cx="2386788" cy="2333749"/>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等腰三角形 12"/>
          <p:cNvSpPr/>
          <p:nvPr userDrawn="1"/>
        </p:nvSpPr>
        <p:spPr>
          <a:xfrm rot="5400000">
            <a:off x="9449232" y="5270665"/>
            <a:ext cx="883117" cy="863492"/>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8" name="文本占位符 17"/>
          <p:cNvSpPr>
            <a:spLocks noGrp="1"/>
          </p:cNvSpPr>
          <p:nvPr>
            <p:ph type="body" sz="quarter" idx="11" hasCustomPrompt="1"/>
          </p:nvPr>
        </p:nvSpPr>
        <p:spPr>
          <a:xfrm>
            <a:off x="4098000" y="3959372"/>
            <a:ext cx="3996000" cy="914400"/>
          </a:xfrm>
        </p:spPr>
        <p:txBody>
          <a:bodyPr anchor="ctr" anchorCtr="0"/>
          <a:lstStyle>
            <a:lvl1pPr marL="0" indent="0" algn="ctr">
              <a:buNone/>
              <a:defRPr b="1">
                <a:solidFill>
                  <a:schemeClr val="bg1"/>
                </a:solidFill>
                <a:latin typeface="Helvetica" pitchFamily="2" charset="0"/>
              </a:defRPr>
            </a:lvl1pPr>
            <a:lvl3pPr marL="914400" indent="0">
              <a:buNone/>
              <a:defRPr/>
            </a:lvl3pPr>
          </a:lstStyle>
          <a:p>
            <a:pPr lvl="0"/>
            <a:r>
              <a:rPr lang="en-US" altLang="zh-CN" dirty="0"/>
              <a:t>Edit Here</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转场-短标题3">
    <p:spTree>
      <p:nvGrpSpPr>
        <p:cNvPr id="1" name=""/>
        <p:cNvGrpSpPr/>
        <p:nvPr/>
      </p:nvGrpSpPr>
      <p:grpSpPr>
        <a:xfrm>
          <a:off x="0" y="0"/>
          <a:ext cx="0" cy="0"/>
          <a:chOff x="0" y="0"/>
          <a:chExt cx="0" cy="0"/>
        </a:xfrm>
      </p:grpSpPr>
      <p:sp>
        <p:nvSpPr>
          <p:cNvPr id="6" name="矩形 5"/>
          <p:cNvSpPr/>
          <p:nvPr userDrawn="1"/>
        </p:nvSpPr>
        <p:spPr>
          <a:xfrm rot="18893364">
            <a:off x="4380710" y="1706822"/>
            <a:ext cx="3444573" cy="344457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矩形 6"/>
          <p:cNvSpPr/>
          <p:nvPr userDrawn="1"/>
        </p:nvSpPr>
        <p:spPr>
          <a:xfrm rot="18893364">
            <a:off x="4161891" y="1495013"/>
            <a:ext cx="3868219" cy="3868219"/>
          </a:xfrm>
          <a:prstGeom prst="rect">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90204" pitchFamily="34" charset="0"/>
              </a:rPr>
              <a:t>Part 03</a:t>
            </a:r>
            <a:endParaRPr lang="zh-CN" altLang="en-US" sz="4400" b="1" i="0" dirty="0">
              <a:solidFill>
                <a:schemeClr val="bg1"/>
              </a:solidFill>
              <a:latin typeface="Helvetica" pitchFamily="2" charset="0"/>
              <a:cs typeface="Arial" panose="020B0604020202090204" pitchFamily="34" charset="0"/>
            </a:endParaRPr>
          </a:p>
        </p:txBody>
      </p:sp>
      <p:cxnSp>
        <p:nvCxnSpPr>
          <p:cNvPr id="9" name="直接连接符 8"/>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矩形 9"/>
          <p:cNvSpPr/>
          <p:nvPr userDrawn="1"/>
        </p:nvSpPr>
        <p:spPr>
          <a:xfrm rot="18893364">
            <a:off x="-897505" y="-513190"/>
            <a:ext cx="2663805" cy="2663805"/>
          </a:xfrm>
          <a:prstGeom prst="rect">
            <a:avLst/>
          </a:prstGeom>
          <a:solidFill>
            <a:srgbClr val="A4A8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矩形 10"/>
          <p:cNvSpPr/>
          <p:nvPr userDrawn="1"/>
        </p:nvSpPr>
        <p:spPr>
          <a:xfrm rot="18893364">
            <a:off x="725976" y="6497388"/>
            <a:ext cx="1300124" cy="1300124"/>
          </a:xfrm>
          <a:prstGeom prst="rect">
            <a:avLst/>
          </a:prstGeom>
          <a:solidFill>
            <a:srgbClr val="C3C7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矩形 11"/>
          <p:cNvSpPr/>
          <p:nvPr userDrawn="1"/>
        </p:nvSpPr>
        <p:spPr>
          <a:xfrm rot="18893364">
            <a:off x="11407699" y="1261300"/>
            <a:ext cx="1568601" cy="1568601"/>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矩形 12"/>
          <p:cNvSpPr/>
          <p:nvPr userDrawn="1"/>
        </p:nvSpPr>
        <p:spPr>
          <a:xfrm rot="18893364">
            <a:off x="9270159" y="5188596"/>
            <a:ext cx="861175" cy="861175"/>
          </a:xfrm>
          <a:prstGeom prst="rect">
            <a:avLst/>
          </a:prstGeom>
          <a:solidFill>
            <a:srgbClr val="8589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p:cNvSpPr>
            <a:spLocks noGrp="1"/>
          </p:cNvSpPr>
          <p:nvPr userDrawn="1">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vl2pPr marL="457200" indent="0">
              <a:buNone/>
              <a:defRPr/>
            </a:lvl2pPr>
          </a:lstStyle>
          <a:p>
            <a:pPr lvl="0"/>
            <a:r>
              <a:rPr lang="en-US" altLang="zh-CN" dirty="0"/>
              <a:t>Edit Here</a:t>
            </a:r>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转场-短标题4">
    <p:spTree>
      <p:nvGrpSpPr>
        <p:cNvPr id="1" name=""/>
        <p:cNvGrpSpPr/>
        <p:nvPr/>
      </p:nvGrpSpPr>
      <p:grpSpPr>
        <a:xfrm>
          <a:off x="0" y="0"/>
          <a:ext cx="0" cy="0"/>
          <a:chOff x="0" y="0"/>
          <a:chExt cx="0" cy="0"/>
        </a:xfrm>
      </p:grpSpPr>
      <p:sp>
        <p:nvSpPr>
          <p:cNvPr id="6" name="五边形 5"/>
          <p:cNvSpPr>
            <a:spLocks noChangeAspect="1"/>
          </p:cNvSpPr>
          <p:nvPr userDrawn="1"/>
        </p:nvSpPr>
        <p:spPr>
          <a:xfrm>
            <a:off x="3870642" y="1106412"/>
            <a:ext cx="4450715" cy="4238776"/>
          </a:xfrm>
          <a:prstGeom prst="pen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文本框 6"/>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90204" pitchFamily="34" charset="0"/>
              </a:rPr>
              <a:t>Part 04</a:t>
            </a:r>
            <a:endParaRPr lang="zh-CN" altLang="en-US" sz="4400" b="1" i="0" dirty="0">
              <a:solidFill>
                <a:schemeClr val="bg1"/>
              </a:solidFill>
              <a:latin typeface="Helvetica" pitchFamily="2" charset="0"/>
              <a:cs typeface="Arial" panose="020B0604020202090204" pitchFamily="34" charset="0"/>
            </a:endParaRPr>
          </a:p>
        </p:txBody>
      </p:sp>
      <p:cxnSp>
        <p:nvCxnSpPr>
          <p:cNvPr id="8" name="直接连接符 7"/>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五边形 8"/>
          <p:cNvSpPr>
            <a:spLocks noChangeAspect="1"/>
          </p:cNvSpPr>
          <p:nvPr userDrawn="1"/>
        </p:nvSpPr>
        <p:spPr>
          <a:xfrm>
            <a:off x="3575685" y="806045"/>
            <a:ext cx="5040628" cy="4800598"/>
          </a:xfrm>
          <a:prstGeom prst="pentagon">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0" name="五边形 9"/>
          <p:cNvSpPr>
            <a:spLocks noChangeAspect="1"/>
          </p:cNvSpPr>
          <p:nvPr userDrawn="1"/>
        </p:nvSpPr>
        <p:spPr>
          <a:xfrm rot="18978551">
            <a:off x="1199607" y="5189314"/>
            <a:ext cx="1114961" cy="1061868"/>
          </a:xfrm>
          <a:prstGeom prst="pentagon">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五边形 10"/>
          <p:cNvSpPr>
            <a:spLocks noChangeAspect="1"/>
          </p:cNvSpPr>
          <p:nvPr userDrawn="1"/>
        </p:nvSpPr>
        <p:spPr>
          <a:xfrm>
            <a:off x="-1122630" y="516786"/>
            <a:ext cx="2245259" cy="2138343"/>
          </a:xfrm>
          <a:prstGeom prst="pentagon">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五边形 11"/>
          <p:cNvSpPr>
            <a:spLocks noChangeAspect="1"/>
          </p:cNvSpPr>
          <p:nvPr userDrawn="1"/>
        </p:nvSpPr>
        <p:spPr>
          <a:xfrm rot="6589711">
            <a:off x="10153440" y="4944146"/>
            <a:ext cx="2774574" cy="2642453"/>
          </a:xfrm>
          <a:prstGeom prst="pentagon">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五边形 12"/>
          <p:cNvSpPr>
            <a:spLocks noChangeAspect="1"/>
          </p:cNvSpPr>
          <p:nvPr userDrawn="1"/>
        </p:nvSpPr>
        <p:spPr>
          <a:xfrm rot="10800000">
            <a:off x="9654125" y="-530934"/>
            <a:ext cx="1114961" cy="1061868"/>
          </a:xfrm>
          <a:prstGeom prst="pentagon">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p:cNvSpPr>
            <a:spLocks noGrp="1"/>
          </p:cNvSpPr>
          <p:nvPr>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转场-短标题5">
    <p:spTree>
      <p:nvGrpSpPr>
        <p:cNvPr id="1" name=""/>
        <p:cNvGrpSpPr/>
        <p:nvPr/>
      </p:nvGrpSpPr>
      <p:grpSpPr>
        <a:xfrm>
          <a:off x="0" y="0"/>
          <a:ext cx="0" cy="0"/>
          <a:chOff x="0" y="0"/>
          <a:chExt cx="0" cy="0"/>
        </a:xfrm>
      </p:grpSpPr>
      <p:sp>
        <p:nvSpPr>
          <p:cNvPr id="6" name="六边形 5"/>
          <p:cNvSpPr>
            <a:spLocks noChangeAspect="1"/>
          </p:cNvSpPr>
          <p:nvPr userDrawn="1"/>
        </p:nvSpPr>
        <p:spPr>
          <a:xfrm rot="16200000">
            <a:off x="3978962" y="1603967"/>
            <a:ext cx="4234076" cy="365006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90204" pitchFamily="34" charset="0"/>
              </a:rPr>
              <a:t>Part 05</a:t>
            </a:r>
            <a:endParaRPr lang="zh-CN" altLang="en-US" sz="4400" b="1" i="0" dirty="0">
              <a:solidFill>
                <a:schemeClr val="bg1"/>
              </a:solidFill>
              <a:latin typeface="Helvetica" pitchFamily="2" charset="0"/>
              <a:cs typeface="Arial" panose="020B0604020202090204" pitchFamily="34" charset="0"/>
            </a:endParaRPr>
          </a:p>
        </p:txBody>
      </p:sp>
      <p:cxnSp>
        <p:nvCxnSpPr>
          <p:cNvPr id="9" name="直接连接符 8"/>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六边形 9"/>
          <p:cNvSpPr/>
          <p:nvPr userDrawn="1"/>
        </p:nvSpPr>
        <p:spPr>
          <a:xfrm rot="16200000">
            <a:off x="3695701" y="1359776"/>
            <a:ext cx="4800598" cy="4138446"/>
          </a:xfrm>
          <a:prstGeom prst="hexagon">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六边形 10"/>
          <p:cNvSpPr>
            <a:spLocks noChangeAspect="1"/>
          </p:cNvSpPr>
          <p:nvPr userDrawn="1"/>
        </p:nvSpPr>
        <p:spPr>
          <a:xfrm rot="16200000">
            <a:off x="-687663" y="4872077"/>
            <a:ext cx="2798353" cy="2412373"/>
          </a:xfrm>
          <a:prstGeom prst="hexagon">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六边形 11"/>
          <p:cNvSpPr>
            <a:spLocks noChangeAspect="1"/>
          </p:cNvSpPr>
          <p:nvPr userDrawn="1"/>
        </p:nvSpPr>
        <p:spPr>
          <a:xfrm rot="16200000">
            <a:off x="9480973" y="5159003"/>
            <a:ext cx="1015781" cy="875673"/>
          </a:xfrm>
          <a:prstGeom prst="hexagon">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六边形 12"/>
          <p:cNvSpPr>
            <a:spLocks noChangeAspect="1"/>
          </p:cNvSpPr>
          <p:nvPr userDrawn="1"/>
        </p:nvSpPr>
        <p:spPr>
          <a:xfrm rot="16200000">
            <a:off x="11493500" y="210644"/>
            <a:ext cx="1397000" cy="1204310"/>
          </a:xfrm>
          <a:prstGeom prst="hexagon">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4" name="六边形 13"/>
          <p:cNvSpPr>
            <a:spLocks noChangeAspect="1"/>
          </p:cNvSpPr>
          <p:nvPr userDrawn="1"/>
        </p:nvSpPr>
        <p:spPr>
          <a:xfrm rot="16200000">
            <a:off x="641459" y="-437837"/>
            <a:ext cx="1015781" cy="875673"/>
          </a:xfrm>
          <a:prstGeom prst="hexagon">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p:cNvSpPr>
            <a:spLocks noGrp="1"/>
          </p:cNvSpPr>
          <p:nvPr>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转场-短标题6">
    <p:spTree>
      <p:nvGrpSpPr>
        <p:cNvPr id="1" name=""/>
        <p:cNvGrpSpPr/>
        <p:nvPr/>
      </p:nvGrpSpPr>
      <p:grpSpPr>
        <a:xfrm>
          <a:off x="0" y="0"/>
          <a:ext cx="0" cy="0"/>
          <a:chOff x="0" y="0"/>
          <a:chExt cx="0" cy="0"/>
        </a:xfrm>
      </p:grpSpPr>
      <p:sp>
        <p:nvSpPr>
          <p:cNvPr id="6" name="七边形 5"/>
          <p:cNvSpPr>
            <a:spLocks noChangeAspect="1"/>
          </p:cNvSpPr>
          <p:nvPr userDrawn="1"/>
        </p:nvSpPr>
        <p:spPr>
          <a:xfrm>
            <a:off x="3972000" y="1047224"/>
            <a:ext cx="4248000" cy="4248000"/>
          </a:xfrm>
          <a:prstGeom prst="hep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p:cNvSpPr txBox="1"/>
          <p:nvPr userDrawn="1"/>
        </p:nvSpPr>
        <p:spPr>
          <a:xfrm>
            <a:off x="5093161"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90204" pitchFamily="34" charset="0"/>
              </a:rPr>
              <a:t>Part 06</a:t>
            </a:r>
            <a:endParaRPr lang="zh-CN" altLang="en-US" sz="4400" b="1" i="0" dirty="0">
              <a:solidFill>
                <a:schemeClr val="bg1"/>
              </a:solidFill>
              <a:latin typeface="Helvetica" pitchFamily="2" charset="0"/>
              <a:cs typeface="Arial" panose="020B0604020202090204" pitchFamily="34" charset="0"/>
            </a:endParaRPr>
          </a:p>
        </p:txBody>
      </p:sp>
      <p:cxnSp>
        <p:nvCxnSpPr>
          <p:cNvPr id="9" name="直接连接符 8"/>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七边形 9"/>
          <p:cNvSpPr/>
          <p:nvPr userDrawn="1"/>
        </p:nvSpPr>
        <p:spPr>
          <a:xfrm rot="1563509">
            <a:off x="10682028" y="-776191"/>
            <a:ext cx="3268663" cy="3268663"/>
          </a:xfrm>
          <a:prstGeom prst="heptagon">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七边形 10"/>
          <p:cNvSpPr/>
          <p:nvPr userDrawn="1"/>
        </p:nvSpPr>
        <p:spPr>
          <a:xfrm>
            <a:off x="1384129" y="5078241"/>
            <a:ext cx="1047921" cy="1047921"/>
          </a:xfrm>
          <a:prstGeom prst="heptagon">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七边形 11"/>
          <p:cNvSpPr/>
          <p:nvPr userDrawn="1"/>
        </p:nvSpPr>
        <p:spPr>
          <a:xfrm rot="20151602">
            <a:off x="-1111336" y="360448"/>
            <a:ext cx="2222671" cy="2222671"/>
          </a:xfrm>
          <a:prstGeom prst="heptagon">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七边形 12"/>
          <p:cNvSpPr/>
          <p:nvPr userDrawn="1"/>
        </p:nvSpPr>
        <p:spPr>
          <a:xfrm rot="20592885">
            <a:off x="8879510" y="6235700"/>
            <a:ext cx="2222671" cy="2222671"/>
          </a:xfrm>
          <a:prstGeom prst="heptagon">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4" name="七边形 13"/>
          <p:cNvSpPr>
            <a:spLocks noChangeAspect="1"/>
          </p:cNvSpPr>
          <p:nvPr userDrawn="1"/>
        </p:nvSpPr>
        <p:spPr>
          <a:xfrm>
            <a:off x="3683000" y="774700"/>
            <a:ext cx="4826000" cy="4826000"/>
          </a:xfrm>
          <a:prstGeom prst="heptagon">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p:cNvSpPr>
            <a:spLocks noGrp="1"/>
          </p:cNvSpPr>
          <p:nvPr>
            <p:ph type="body" sz="quarter" idx="10" hasCustomPrompt="1"/>
          </p:nvPr>
        </p:nvSpPr>
        <p:spPr>
          <a:xfrm>
            <a:off x="4098000" y="3966909"/>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目录页-长标题">
    <p:bg>
      <p:bgPr>
        <a:solidFill>
          <a:schemeClr val="bg1"/>
        </a:solidFill>
        <a:effectLst/>
      </p:bgPr>
    </p:bg>
    <p:spTree>
      <p:nvGrpSpPr>
        <p:cNvPr id="1" name=""/>
        <p:cNvGrpSpPr/>
        <p:nvPr/>
      </p:nvGrpSpPr>
      <p:grpSpPr>
        <a:xfrm>
          <a:off x="0" y="0"/>
          <a:ext cx="0" cy="0"/>
          <a:chOff x="0" y="0"/>
          <a:chExt cx="0" cy="0"/>
        </a:xfrm>
      </p:grpSpPr>
      <p:sp>
        <p:nvSpPr>
          <p:cNvPr id="6" name="箭头: 五边形 5"/>
          <p:cNvSpPr/>
          <p:nvPr userDrawn="1"/>
        </p:nvSpPr>
        <p:spPr>
          <a:xfrm>
            <a:off x="2" y="0"/>
            <a:ext cx="2835871" cy="6858000"/>
          </a:xfrm>
          <a:prstGeom prst="homePlate">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elvetica" pitchFamily="2" charset="0"/>
            </a:endParaRPr>
          </a:p>
        </p:txBody>
      </p:sp>
      <p:sp>
        <p:nvSpPr>
          <p:cNvPr id="54" name="矩形 53"/>
          <p:cNvSpPr/>
          <p:nvPr/>
        </p:nvSpPr>
        <p:spPr>
          <a:xfrm>
            <a:off x="140677" y="3106616"/>
            <a:ext cx="2520462" cy="1066800"/>
          </a:xfrm>
          <a:prstGeom prst="rect">
            <a:avLst/>
          </a:prstGeom>
          <a:no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Helvetica" pitchFamily="2" charset="0"/>
            </a:endParaRPr>
          </a:p>
        </p:txBody>
      </p:sp>
      <p:sp>
        <p:nvSpPr>
          <p:cNvPr id="2" name="矩形 1"/>
          <p:cNvSpPr/>
          <p:nvPr userDrawn="1"/>
        </p:nvSpPr>
        <p:spPr>
          <a:xfrm>
            <a:off x="2782511" y="612708"/>
            <a:ext cx="8695230" cy="5632585"/>
          </a:xfrm>
          <a:prstGeom prst="rect">
            <a:avLst/>
          </a:prstGeom>
          <a:no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50" name="文本框 49"/>
          <p:cNvSpPr txBox="1"/>
          <p:nvPr/>
        </p:nvSpPr>
        <p:spPr>
          <a:xfrm>
            <a:off x="23448" y="2848709"/>
            <a:ext cx="2782509" cy="1574934"/>
          </a:xfrm>
          <a:prstGeom prst="rect">
            <a:avLst/>
          </a:prstGeom>
          <a:noFill/>
        </p:spPr>
        <p:txBody>
          <a:bodyPr wrap="square" lIns="0" tIns="0" rIns="0" bIns="0" rtlCol="0" anchor="ctr" anchorCtr="0">
            <a:normAutofit/>
          </a:bodyPr>
          <a:lstStyle/>
          <a:p>
            <a:pPr algn="ctr"/>
            <a:r>
              <a:rPr lang="en-US" altLang="zh-CN" sz="4400" b="1" i="0" dirty="0">
                <a:solidFill>
                  <a:schemeClr val="bg1"/>
                </a:solidFill>
                <a:latin typeface="Helvetica" pitchFamily="2" charset="0"/>
                <a:ea typeface="+mj-ea"/>
                <a:cs typeface="Arial" panose="020B0604020202090204" pitchFamily="34" charset="0"/>
              </a:rPr>
              <a:t>Contents</a:t>
            </a:r>
            <a:endParaRPr lang="zh-CN" altLang="en-US" sz="4000" b="1" i="0" dirty="0">
              <a:solidFill>
                <a:schemeClr val="bg1"/>
              </a:solidFill>
              <a:latin typeface="Helvetica" pitchFamily="2" charset="0"/>
              <a:ea typeface="+mj-ea"/>
              <a:cs typeface="Arial" panose="020B0604020202090204" pitchFamily="34" charset="0"/>
            </a:endParaRPr>
          </a:p>
        </p:txBody>
      </p:sp>
      <p:pic>
        <p:nvPicPr>
          <p:cNvPr id="47" name="图片 46"/>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5334000" y="0"/>
            <a:ext cx="6858000" cy="685800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转场-长标题">
    <p:spTree>
      <p:nvGrpSpPr>
        <p:cNvPr id="1" name=""/>
        <p:cNvGrpSpPr/>
        <p:nvPr/>
      </p:nvGrpSpPr>
      <p:grpSpPr>
        <a:xfrm>
          <a:off x="0" y="0"/>
          <a:ext cx="0" cy="0"/>
          <a:chOff x="0" y="0"/>
          <a:chExt cx="0" cy="0"/>
        </a:xfrm>
      </p:grpSpPr>
      <p:sp>
        <p:nvSpPr>
          <p:cNvPr id="7" name="箭头: 五边形 6"/>
          <p:cNvSpPr/>
          <p:nvPr userDrawn="1"/>
        </p:nvSpPr>
        <p:spPr>
          <a:xfrm rot="19659736">
            <a:off x="-59387" y="6355211"/>
            <a:ext cx="1593667" cy="240022"/>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5" name="箭头: 五边形 24"/>
          <p:cNvSpPr/>
          <p:nvPr userDrawn="1"/>
        </p:nvSpPr>
        <p:spPr>
          <a:xfrm rot="19659736">
            <a:off x="501875" y="5626509"/>
            <a:ext cx="1198809" cy="202681"/>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6" name="箭头: 五边形 25"/>
          <p:cNvSpPr/>
          <p:nvPr userDrawn="1"/>
        </p:nvSpPr>
        <p:spPr>
          <a:xfrm rot="19659736">
            <a:off x="11343042" y="442070"/>
            <a:ext cx="869215" cy="124045"/>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7" name="箭头: 五边形 26"/>
          <p:cNvSpPr/>
          <p:nvPr userDrawn="1"/>
        </p:nvSpPr>
        <p:spPr>
          <a:xfrm rot="19659736">
            <a:off x="10829985" y="427917"/>
            <a:ext cx="542830" cy="99029"/>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12" name="任意多边形: 形状 11"/>
          <p:cNvSpPr/>
          <p:nvPr/>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pic>
        <p:nvPicPr>
          <p:cNvPr id="6" name="图片 5"/>
          <p:cNvPicPr>
            <a:picLocks noChangeAspect="1"/>
          </p:cNvPicPr>
          <p:nvPr userDrawn="1"/>
        </p:nvPicPr>
        <p:blipFill>
          <a:blip r:embed="rId2"/>
          <a:stretch>
            <a:fillRect/>
          </a:stretch>
        </p:blipFill>
        <p:spPr>
          <a:xfrm>
            <a:off x="744128" y="6420492"/>
            <a:ext cx="958362" cy="236837"/>
          </a:xfrm>
          <a:prstGeom prst="rect">
            <a:avLst/>
          </a:prstGeom>
        </p:spPr>
      </p:pic>
      <p:pic>
        <p:nvPicPr>
          <p:cNvPr id="11" name="图片 10"/>
          <p:cNvPicPr>
            <a:picLocks noChangeAspect="1"/>
          </p:cNvPicPr>
          <p:nvPr userDrawn="1"/>
        </p:nvPicPr>
        <p:blipFill>
          <a:blip r:embed="rId3"/>
          <a:stretch>
            <a:fillRect/>
          </a:stretch>
        </p:blipFill>
        <p:spPr>
          <a:xfrm>
            <a:off x="9966201" y="381027"/>
            <a:ext cx="1552699" cy="494974"/>
          </a:xfrm>
          <a:prstGeom prst="rect">
            <a:avLst/>
          </a:prstGeom>
        </p:spPr>
      </p:pic>
      <p:sp>
        <p:nvSpPr>
          <p:cNvPr id="8" name="标题 1"/>
          <p:cNvSpPr>
            <a:spLocks noGrp="1"/>
          </p:cNvSpPr>
          <p:nvPr>
            <p:ph type="title" hasCustomPrompt="1"/>
          </p:nvPr>
        </p:nvSpPr>
        <p:spPr>
          <a:xfrm>
            <a:off x="1091255" y="237834"/>
            <a:ext cx="8168208" cy="790865"/>
          </a:xfrm>
        </p:spPr>
        <p:txBody>
          <a:bodyPr wrap="square" lIns="0" tIns="0" rIns="0" bIns="0">
            <a:normAutofit/>
          </a:bodyPr>
          <a:lstStyle>
            <a:lvl1pPr>
              <a:defRPr sz="3600" b="1" i="0">
                <a:solidFill>
                  <a:schemeClr val="accent1"/>
                </a:solidFill>
                <a:latin typeface="Helvetica" pitchFamily="2" charset="0"/>
                <a:cs typeface="Arial" panose="020B0604020202090204" pitchFamily="34"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sp>
        <p:nvSpPr>
          <p:cNvPr id="13" name="日期占位符 12"/>
          <p:cNvSpPr>
            <a:spLocks noGrp="1"/>
          </p:cNvSpPr>
          <p:nvPr>
            <p:ph type="dt" sz="half" idx="10"/>
          </p:nvPr>
        </p:nvSpPr>
        <p:spPr/>
        <p:txBody>
          <a:bodyPr/>
          <a:lstStyle/>
          <a:p>
            <a:endParaRPr lang="zh-CN" altLang="en-US"/>
          </a:p>
        </p:txBody>
      </p:sp>
      <p:sp>
        <p:nvSpPr>
          <p:cNvPr id="14" name="页脚占位符 13"/>
          <p:cNvSpPr>
            <a:spLocks noGrp="1"/>
          </p:cNvSpPr>
          <p:nvPr>
            <p:ph type="ftr" sz="quarter" idx="11"/>
          </p:nvPr>
        </p:nvSpPr>
        <p:spPr/>
        <p:txBody>
          <a:bodyPr/>
          <a:lstStyle/>
          <a:p>
            <a:endParaRPr lang="zh-CN" altLang="en-US" dirty="0"/>
          </a:p>
        </p:txBody>
      </p:sp>
      <p:sp>
        <p:nvSpPr>
          <p:cNvPr id="15" name="灯片编号占位符 14"/>
          <p:cNvSpPr>
            <a:spLocks noGrp="1"/>
          </p:cNvSpPr>
          <p:nvPr>
            <p:ph type="sldNum" sz="quarter" idx="12"/>
          </p:nvPr>
        </p:nvSpPr>
        <p:spPr/>
        <p:txBody>
          <a:bodyPr/>
          <a:lstStyle>
            <a:lvl1pPr>
              <a:defRPr>
                <a:solidFill>
                  <a:schemeClr val="tx1"/>
                </a:solidFill>
              </a:defRPr>
            </a:lvl1pPr>
          </a:lstStyle>
          <a:p>
            <a:fld id="{2515AB8F-1C56-49E9-90C8-78D22B0C1B97}" type="slidenum">
              <a:rPr lang="zh-CN" altLang="en-US" smtClean="0"/>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横向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1" name="图片占位符 90"/>
          <p:cNvSpPr>
            <a:spLocks noGrp="1" noChangeAspect="1"/>
          </p:cNvSpPr>
          <p:nvPr>
            <p:ph type="pic" sz="quarter" idx="13"/>
          </p:nvPr>
        </p:nvSpPr>
        <p:spPr>
          <a:xfrm>
            <a:off x="862171" y="1825888"/>
            <a:ext cx="4826535" cy="2736000"/>
          </a:xfrm>
          <a:custGeom>
            <a:avLst/>
            <a:gdLst>
              <a:gd name="connsiteX0" fmla="*/ 0 w 4241800"/>
              <a:gd name="connsiteY0" fmla="*/ 0 h 2404533"/>
              <a:gd name="connsiteX1" fmla="*/ 4241800 w 4241800"/>
              <a:gd name="connsiteY1" fmla="*/ 0 h 2404533"/>
              <a:gd name="connsiteX2" fmla="*/ 4241800 w 4241800"/>
              <a:gd name="connsiteY2" fmla="*/ 2404533 h 2404533"/>
              <a:gd name="connsiteX3" fmla="*/ 0 w 4241800"/>
              <a:gd name="connsiteY3" fmla="*/ 2404533 h 2404533"/>
            </a:gdLst>
            <a:ahLst/>
            <a:cxnLst>
              <a:cxn ang="0">
                <a:pos x="connsiteX0" y="connsiteY0"/>
              </a:cxn>
              <a:cxn ang="0">
                <a:pos x="connsiteX1" y="connsiteY1"/>
              </a:cxn>
              <a:cxn ang="0">
                <a:pos x="connsiteX2" y="connsiteY2"/>
              </a:cxn>
              <a:cxn ang="0">
                <a:pos x="connsiteX3" y="connsiteY3"/>
              </a:cxn>
            </a:cxnLst>
            <a:rect l="l" t="t" r="r" b="b"/>
            <a:pathLst>
              <a:path w="4241800" h="2404533">
                <a:moveTo>
                  <a:pt x="0" y="0"/>
                </a:moveTo>
                <a:lnTo>
                  <a:pt x="4241800" y="0"/>
                </a:lnTo>
                <a:lnTo>
                  <a:pt x="4241800" y="2404533"/>
                </a:lnTo>
                <a:lnTo>
                  <a:pt x="0" y="2404533"/>
                </a:lnTo>
                <a:close/>
              </a:path>
            </a:pathLst>
          </a:custGeom>
        </p:spPr>
        <p:txBody>
          <a:bodyPr wrap="square">
            <a:noAutofit/>
          </a:bodyPr>
          <a:lstStyle/>
          <a:p>
            <a:endParaRPr lang="zh-CN" altLang="en-US"/>
          </a:p>
        </p:txBody>
      </p:sp>
      <p:sp>
        <p:nvSpPr>
          <p:cNvPr id="90" name="任意多边形: 形状 89"/>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0" name="图片占位符 6"/>
          <p:cNvSpPr>
            <a:spLocks noGrp="1" noChangeAspect="1"/>
          </p:cNvSpPr>
          <p:nvPr>
            <p:ph type="pic" sz="quarter" idx="10"/>
          </p:nvPr>
        </p:nvSpPr>
        <p:spPr>
          <a:xfrm>
            <a:off x="1692274" y="1541374"/>
            <a:ext cx="3238088" cy="4320000"/>
          </a:xfrm>
        </p:spPr>
        <p:txBody>
          <a:bodyPr/>
          <a:lstStyle/>
          <a:p>
            <a:endParaRPr lang="zh-CN" altLang="en-US" dirty="0"/>
          </a:p>
        </p:txBody>
      </p:sp>
      <p:sp>
        <p:nvSpPr>
          <p:cNvPr id="91" name="任意多边形: 形状 90"/>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图片-圆形">
    <p:spTree>
      <p:nvGrpSpPr>
        <p:cNvPr id="1" name=""/>
        <p:cNvGrpSpPr/>
        <p:nvPr/>
      </p:nvGrpSpPr>
      <p:grpSpPr>
        <a:xfrm>
          <a:off x="0" y="0"/>
          <a:ext cx="0" cy="0"/>
          <a:chOff x="0" y="0"/>
          <a:chExt cx="0" cy="0"/>
        </a:xfrm>
      </p:grpSpPr>
      <p:sp>
        <p:nvSpPr>
          <p:cNvPr id="93" name="任意多边形: 形状 92"/>
          <p:cNvSpPr/>
          <p:nvPr userDrawn="1"/>
        </p:nvSpPr>
        <p:spPr>
          <a:xfrm>
            <a:off x="660400" y="1531871"/>
            <a:ext cx="10858500" cy="4491875"/>
          </a:xfrm>
          <a:custGeom>
            <a:avLst/>
            <a:gdLst>
              <a:gd name="connsiteX0" fmla="*/ 2682382 w 10858500"/>
              <a:gd name="connsiteY0" fmla="*/ 0 h 4491875"/>
              <a:gd name="connsiteX1" fmla="*/ 4661514 w 10858500"/>
              <a:gd name="connsiteY1" fmla="*/ 1979131 h 4491875"/>
              <a:gd name="connsiteX2" fmla="*/ 4081840 w 10858500"/>
              <a:gd name="connsiteY2" fmla="*/ 3378588 h 4491875"/>
              <a:gd name="connsiteX3" fmla="*/ 3948253 w 10858500"/>
              <a:gd name="connsiteY3" fmla="*/ 3500000 h 4491875"/>
              <a:gd name="connsiteX4" fmla="*/ 10858500 w 10858500"/>
              <a:gd name="connsiteY4" fmla="*/ 3500000 h 4491875"/>
              <a:gd name="connsiteX5" fmla="*/ 10858500 w 10858500"/>
              <a:gd name="connsiteY5" fmla="*/ 4491875 h 4491875"/>
              <a:gd name="connsiteX6" fmla="*/ 0 w 10858500"/>
              <a:gd name="connsiteY6" fmla="*/ 4491875 h 4491875"/>
              <a:gd name="connsiteX7" fmla="*/ 0 w 10858500"/>
              <a:gd name="connsiteY7" fmla="*/ 3500000 h 4491875"/>
              <a:gd name="connsiteX8" fmla="*/ 1416512 w 10858500"/>
              <a:gd name="connsiteY8" fmla="*/ 3500000 h 4491875"/>
              <a:gd name="connsiteX9" fmla="*/ 1282925 w 10858500"/>
              <a:gd name="connsiteY9" fmla="*/ 3378588 h 4491875"/>
              <a:gd name="connsiteX10" fmla="*/ 703250 w 10858500"/>
              <a:gd name="connsiteY10" fmla="*/ 1979131 h 4491875"/>
              <a:gd name="connsiteX11" fmla="*/ 2682382 w 10858500"/>
              <a:gd name="connsiteY11" fmla="*/ 0 h 449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858500" h="4491875">
                <a:moveTo>
                  <a:pt x="2682382" y="0"/>
                </a:moveTo>
                <a:cubicBezTo>
                  <a:pt x="3775426" y="0"/>
                  <a:pt x="4661514" y="886087"/>
                  <a:pt x="4661514" y="1979131"/>
                </a:cubicBezTo>
                <a:cubicBezTo>
                  <a:pt x="4661514" y="2525653"/>
                  <a:pt x="4439992" y="3020436"/>
                  <a:pt x="4081840" y="3378588"/>
                </a:cubicBezTo>
                <a:lnTo>
                  <a:pt x="3948253" y="3500000"/>
                </a:lnTo>
                <a:lnTo>
                  <a:pt x="10858500" y="3500000"/>
                </a:lnTo>
                <a:lnTo>
                  <a:pt x="10858500" y="4491875"/>
                </a:lnTo>
                <a:lnTo>
                  <a:pt x="0" y="4491875"/>
                </a:lnTo>
                <a:lnTo>
                  <a:pt x="0" y="3500000"/>
                </a:lnTo>
                <a:lnTo>
                  <a:pt x="1416512" y="3500000"/>
                </a:lnTo>
                <a:lnTo>
                  <a:pt x="1282925" y="3378588"/>
                </a:lnTo>
                <a:cubicBezTo>
                  <a:pt x="924772" y="3020436"/>
                  <a:pt x="703250" y="2525653"/>
                  <a:pt x="703250" y="1979131"/>
                </a:cubicBezTo>
                <a:cubicBezTo>
                  <a:pt x="703250" y="886087"/>
                  <a:pt x="1589338" y="0"/>
                  <a:pt x="2682382" y="0"/>
                </a:cubicBezTo>
                <a:close/>
              </a:path>
            </a:pathLst>
          </a:custGeom>
          <a:solidFill>
            <a:schemeClr val="accent1"/>
          </a:solidFill>
          <a:ln w="19050">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dirty="0">
              <a:latin typeface="Helvetica Regular" pitchFamily="2" charset="0"/>
              <a:cs typeface="+mn-ea"/>
              <a:sym typeface="+mn-lt"/>
            </a:endParaRPr>
          </a:p>
        </p:txBody>
      </p:sp>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1" name="任意多边形: 形状 90"/>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图片占位符 91"/>
          <p:cNvSpPr>
            <a:spLocks noGrp="1" noChangeAspect="1"/>
          </p:cNvSpPr>
          <p:nvPr>
            <p:ph type="pic" sz="quarter" idx="13"/>
          </p:nvPr>
        </p:nvSpPr>
        <p:spPr>
          <a:xfrm>
            <a:off x="1451524" y="1608975"/>
            <a:ext cx="3780000" cy="3780000"/>
          </a:xfrm>
          <a:custGeom>
            <a:avLst/>
            <a:gdLst>
              <a:gd name="connsiteX0" fmla="*/ 1657350 w 3314700"/>
              <a:gd name="connsiteY0" fmla="*/ 0 h 3314700"/>
              <a:gd name="connsiteX1" fmla="*/ 3314700 w 3314700"/>
              <a:gd name="connsiteY1" fmla="*/ 1657350 h 3314700"/>
              <a:gd name="connsiteX2" fmla="*/ 1657350 w 3314700"/>
              <a:gd name="connsiteY2" fmla="*/ 3314700 h 3314700"/>
              <a:gd name="connsiteX3" fmla="*/ 0 w 3314700"/>
              <a:gd name="connsiteY3" fmla="*/ 1657350 h 3314700"/>
              <a:gd name="connsiteX4" fmla="*/ 1657350 w 3314700"/>
              <a:gd name="connsiteY4" fmla="*/ 0 h 331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700" h="3314700">
                <a:moveTo>
                  <a:pt x="1657350" y="0"/>
                </a:moveTo>
                <a:cubicBezTo>
                  <a:pt x="2572679" y="0"/>
                  <a:pt x="3314700" y="742021"/>
                  <a:pt x="3314700" y="1657350"/>
                </a:cubicBezTo>
                <a:cubicBezTo>
                  <a:pt x="3314700" y="2572679"/>
                  <a:pt x="2572679" y="3314700"/>
                  <a:pt x="1657350" y="3314700"/>
                </a:cubicBezTo>
                <a:cubicBezTo>
                  <a:pt x="742021" y="3314700"/>
                  <a:pt x="0" y="2572679"/>
                  <a:pt x="0" y="1657350"/>
                </a:cubicBezTo>
                <a:cubicBezTo>
                  <a:pt x="0" y="742021"/>
                  <a:pt x="742021" y="0"/>
                  <a:pt x="1657350" y="0"/>
                </a:cubicBezTo>
                <a:close/>
              </a:path>
            </a:pathLst>
          </a:custGeom>
        </p:spPr>
        <p:txBody>
          <a:bodyPr wrap="square" anchor="ctr" anchorCtr="0">
            <a:noAutofit/>
          </a:bodyPr>
          <a:lstStyle/>
          <a:p>
            <a:endParaRPr lang="zh-CN" altLang="en-US" dirty="0"/>
          </a:p>
        </p:txBody>
      </p:sp>
      <p:sp>
        <p:nvSpPr>
          <p:cNvPr id="90"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4" name="图片 93"/>
          <p:cNvPicPr>
            <a:picLocks noChangeAspect="1"/>
          </p:cNvPicPr>
          <p:nvPr userDrawn="1"/>
        </p:nvPicPr>
        <p:blipFill>
          <a:blip r:embed="rId2"/>
          <a:stretch>
            <a:fillRect/>
          </a:stretch>
        </p:blipFill>
        <p:spPr>
          <a:xfrm>
            <a:off x="744128" y="6420492"/>
            <a:ext cx="958362" cy="236837"/>
          </a:xfrm>
          <a:prstGeom prst="rect">
            <a:avLst/>
          </a:prstGeom>
        </p:spPr>
      </p:pic>
      <p:pic>
        <p:nvPicPr>
          <p:cNvPr id="98" name="图片 97"/>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0" name="图片占位符 6"/>
          <p:cNvSpPr>
            <a:spLocks noGrp="1" noChangeAspect="1"/>
          </p:cNvSpPr>
          <p:nvPr>
            <p:ph type="pic" sz="quarter" idx="10"/>
          </p:nvPr>
        </p:nvSpPr>
        <p:spPr>
          <a:xfrm>
            <a:off x="1114722" y="1132945"/>
            <a:ext cx="1735608" cy="2315510"/>
          </a:xfrm>
        </p:spPr>
        <p:txBody>
          <a:bodyPr/>
          <a:lstStyle/>
          <a:p>
            <a:endParaRPr lang="zh-CN" altLang="en-US" dirty="0"/>
          </a:p>
        </p:txBody>
      </p:sp>
      <p:sp>
        <p:nvSpPr>
          <p:cNvPr id="91" name="图片占位符 6"/>
          <p:cNvSpPr>
            <a:spLocks noGrp="1" noChangeAspect="1"/>
          </p:cNvSpPr>
          <p:nvPr>
            <p:ph type="pic" sz="quarter" idx="13"/>
          </p:nvPr>
        </p:nvSpPr>
        <p:spPr>
          <a:xfrm>
            <a:off x="9351363" y="3674135"/>
            <a:ext cx="1755000" cy="2341381"/>
          </a:xfrm>
        </p:spPr>
        <p:txBody>
          <a:bodyPr/>
          <a:lstStyle/>
          <a:p>
            <a:endParaRPr lang="zh-CN" altLang="en-US" dirty="0"/>
          </a:p>
        </p:txBody>
      </p:sp>
      <p:sp>
        <p:nvSpPr>
          <p:cNvPr id="92" name="任意多边形: 形状 91"/>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3"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4" name="图片 93"/>
          <p:cNvPicPr>
            <a:picLocks noChangeAspect="1"/>
          </p:cNvPicPr>
          <p:nvPr userDrawn="1"/>
        </p:nvPicPr>
        <p:blipFill>
          <a:blip r:embed="rId2"/>
          <a:stretch>
            <a:fillRect/>
          </a:stretch>
        </p:blipFill>
        <p:spPr>
          <a:xfrm>
            <a:off x="744128" y="6420492"/>
            <a:ext cx="958362" cy="236837"/>
          </a:xfrm>
          <a:prstGeom prst="rect">
            <a:avLst/>
          </a:prstGeom>
        </p:spPr>
      </p:pic>
      <p:pic>
        <p:nvPicPr>
          <p:cNvPr id="98" name="图片 97"/>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1" name="图片占位符 90"/>
          <p:cNvSpPr>
            <a:spLocks noGrp="1"/>
          </p:cNvSpPr>
          <p:nvPr>
            <p:ph type="pic" sz="quarter" idx="13"/>
          </p:nvPr>
        </p:nvSpPr>
        <p:spPr>
          <a:xfrm>
            <a:off x="1219984"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5" name="图片占位符 94"/>
          <p:cNvSpPr>
            <a:spLocks noGrp="1"/>
          </p:cNvSpPr>
          <p:nvPr>
            <p:ph type="pic" sz="quarter" idx="14"/>
          </p:nvPr>
        </p:nvSpPr>
        <p:spPr>
          <a:xfrm>
            <a:off x="9369946"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8" name="图片占位符 97"/>
          <p:cNvSpPr>
            <a:spLocks noGrp="1"/>
          </p:cNvSpPr>
          <p:nvPr>
            <p:ph type="pic" sz="quarter" idx="15"/>
          </p:nvPr>
        </p:nvSpPr>
        <p:spPr>
          <a:xfrm>
            <a:off x="3936638"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9" name="图片占位符 98"/>
          <p:cNvSpPr>
            <a:spLocks noGrp="1"/>
          </p:cNvSpPr>
          <p:nvPr>
            <p:ph type="pic" sz="quarter" idx="16"/>
          </p:nvPr>
        </p:nvSpPr>
        <p:spPr>
          <a:xfrm>
            <a:off x="6653292"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0" name="任意多边形: 形状 89"/>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空白版式">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结束页 幻灯片">
    <p:bg>
      <p:bgPr>
        <a:solidFill>
          <a:schemeClr val="bg1"/>
        </a:solidFill>
        <a:effectLst/>
      </p:bgPr>
    </p:bg>
    <p:spTree>
      <p:nvGrpSpPr>
        <p:cNvPr id="1" name=""/>
        <p:cNvGrpSpPr/>
        <p:nvPr/>
      </p:nvGrpSpPr>
      <p:grpSpPr>
        <a:xfrm>
          <a:off x="0" y="0"/>
          <a:ext cx="0" cy="0"/>
          <a:chOff x="0" y="0"/>
          <a:chExt cx="0" cy="0"/>
        </a:xfrm>
      </p:grpSpPr>
      <p:sp>
        <p:nvSpPr>
          <p:cNvPr id="7" name="文本占位符 6"/>
          <p:cNvSpPr>
            <a:spLocks noGrp="1"/>
          </p:cNvSpPr>
          <p:nvPr>
            <p:ph type="body" sz="quarter" idx="10" hasCustomPrompt="1"/>
          </p:nvPr>
        </p:nvSpPr>
        <p:spPr>
          <a:xfrm>
            <a:off x="3735420" y="2971800"/>
            <a:ext cx="7783479" cy="914400"/>
          </a:xfrm>
        </p:spPr>
        <p:txBody>
          <a:bodyPr anchor="ctr" anchorCtr="0">
            <a:normAutofit/>
          </a:bodyPr>
          <a:lstStyle>
            <a:lvl1pPr marL="0" indent="0" algn="ctr">
              <a:buNone/>
              <a:defRPr sz="5400" b="1">
                <a:solidFill>
                  <a:schemeClr val="accent1"/>
                </a:solidFill>
                <a:latin typeface="Helvetica" pitchFamily="2" charset="0"/>
              </a:defRPr>
            </a:lvl1pPr>
          </a:lstStyle>
          <a:p>
            <a:pPr lvl="0"/>
            <a:r>
              <a:rPr lang="en-US" altLang="zh-CN" dirty="0"/>
              <a:t>Here</a:t>
            </a:r>
            <a:r>
              <a:rPr lang="zh-CN" altLang="en-US" dirty="0"/>
              <a:t> </a:t>
            </a:r>
            <a:r>
              <a:rPr lang="en-US" altLang="zh-CN" dirty="0"/>
              <a:t>is</a:t>
            </a:r>
            <a:r>
              <a:rPr lang="zh-CN" altLang="en-US" dirty="0"/>
              <a:t> </a:t>
            </a:r>
            <a:r>
              <a:rPr lang="en-US" altLang="zh-CN" dirty="0"/>
              <a:t>text</a:t>
            </a:r>
            <a:r>
              <a:rPr lang="zh-CN" altLang="en-US" dirty="0"/>
              <a:t> </a:t>
            </a:r>
            <a:endParaRPr lang="en-US" altLang="zh-CN" dirty="0"/>
          </a:p>
          <a:p>
            <a:pPr lvl="0"/>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sp>
        <p:nvSpPr>
          <p:cNvPr id="6" name="箭头: 五边形 5"/>
          <p:cNvSpPr/>
          <p:nvPr userDrawn="1"/>
        </p:nvSpPr>
        <p:spPr>
          <a:xfrm rot="16200000">
            <a:off x="10605854" y="5156200"/>
            <a:ext cx="2879387" cy="3403600"/>
          </a:xfrm>
          <a:prstGeom prst="homePlat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8" name="箭头: 五边形 7"/>
          <p:cNvSpPr/>
          <p:nvPr userDrawn="1"/>
        </p:nvSpPr>
        <p:spPr>
          <a:xfrm>
            <a:off x="-2680781" y="0"/>
            <a:ext cx="5753100" cy="9620654"/>
          </a:xfrm>
          <a:prstGeom prst="homePlate">
            <a:avLst>
              <a:gd name="adj" fmla="val 5086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5" name="箭头: 五边形 4"/>
          <p:cNvSpPr/>
          <p:nvPr userDrawn="1"/>
        </p:nvSpPr>
        <p:spPr>
          <a:xfrm rot="5400000">
            <a:off x="7310335" y="-1872573"/>
            <a:ext cx="2616740" cy="4241259"/>
          </a:xfrm>
          <a:prstGeom prst="homePlat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结束页2">
    <p:spTree>
      <p:nvGrpSpPr>
        <p:cNvPr id="1" name=""/>
        <p:cNvGrpSpPr/>
        <p:nvPr/>
      </p:nvGrpSpPr>
      <p:grpSpPr>
        <a:xfrm>
          <a:off x="0" y="0"/>
          <a:ext cx="0" cy="0"/>
          <a:chOff x="0" y="0"/>
          <a:chExt cx="0" cy="0"/>
        </a:xfrm>
      </p:grpSpPr>
      <p:sp>
        <p:nvSpPr>
          <p:cNvPr id="6" name="椭圆 5"/>
          <p:cNvSpPr/>
          <p:nvPr userDrawn="1"/>
        </p:nvSpPr>
        <p:spPr>
          <a:xfrm>
            <a:off x="-2319371" y="4211980"/>
            <a:ext cx="5113371" cy="51133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cs typeface="+mn-ea"/>
              <a:sym typeface="+mn-lt"/>
            </a:endParaRPr>
          </a:p>
        </p:txBody>
      </p:sp>
      <p:sp>
        <p:nvSpPr>
          <p:cNvPr id="7" name="椭圆 6"/>
          <p:cNvSpPr/>
          <p:nvPr userDrawn="1"/>
        </p:nvSpPr>
        <p:spPr>
          <a:xfrm>
            <a:off x="10560051" y="-2647819"/>
            <a:ext cx="4418254" cy="44182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cs typeface="+mn-ea"/>
              <a:sym typeface="+mn-lt"/>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0400" y="217487"/>
            <a:ext cx="10858500" cy="811213"/>
          </a:xfrm>
          <a:prstGeom prst="rect">
            <a:avLst/>
          </a:prstGeom>
        </p:spPr>
        <p:txBody>
          <a:bodyPr vert="horz" lIns="0" tIns="0" rIns="0" bIns="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6604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Helvetica Regular" pitchFamily="2" charset="0"/>
              </a:defRPr>
            </a:lvl1pPr>
          </a:lstStyle>
          <a:p>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Helvetica Regular" pitchFamily="2" charset="0"/>
              </a:defRPr>
            </a:lvl1pPr>
          </a:lstStyle>
          <a:p>
            <a:endParaRPr lang="zh-CN" altLang="en-US" dirty="0"/>
          </a:p>
        </p:txBody>
      </p:sp>
      <p:sp>
        <p:nvSpPr>
          <p:cNvPr id="6" name="灯片编号占位符 5"/>
          <p:cNvSpPr>
            <a:spLocks noGrp="1"/>
          </p:cNvSpPr>
          <p:nvPr>
            <p:ph type="sldNum" sz="quarter" idx="4"/>
          </p:nvPr>
        </p:nvSpPr>
        <p:spPr>
          <a:xfrm>
            <a:off x="8775700" y="6356349"/>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Helvetica Regular" pitchFamily="2" charset="0"/>
              </a:defRPr>
            </a:lvl1pPr>
          </a:lstStyle>
          <a:p>
            <a:fld id="{2515AB8F-1C56-49E9-90C8-78D22B0C1B97}" type="slidenum">
              <a:rPr lang="zh-CN" altLang="en-US" smtClean="0"/>
            </a:fld>
            <a:endParaRPr lang="zh-CN" altLang="en-US" dirty="0"/>
          </a:p>
        </p:txBody>
      </p:sp>
      <p:sp>
        <p:nvSpPr>
          <p:cNvPr id="7" name="椭圆 6"/>
          <p:cNvSpPr/>
          <p:nvPr userDrawn="1"/>
        </p:nvSpPr>
        <p:spPr>
          <a:xfrm>
            <a:off x="4749800" y="-4572000"/>
            <a:ext cx="1168400" cy="8112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8" name="椭圆 7"/>
          <p:cNvSpPr/>
          <p:nvPr userDrawn="1"/>
        </p:nvSpPr>
        <p:spPr>
          <a:xfrm>
            <a:off x="4572000" y="9093200"/>
            <a:ext cx="1168400" cy="8112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ftr="0" dt="0"/>
  <p:txStyles>
    <p:titleStyle>
      <a:lvl1pPr algn="l" defTabSz="914400" rtl="0" eaLnBrk="1" latinLnBrk="0" hangingPunct="1">
        <a:lnSpc>
          <a:spcPct val="90000"/>
        </a:lnSpc>
        <a:spcBef>
          <a:spcPct val="0"/>
        </a:spcBef>
        <a:buNone/>
        <a:defRPr sz="32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6.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9.png"/><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9.png"/><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15.png"/><Relationship Id="rId1"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18.png"/><Relationship Id="rId1"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19.png"/><Relationship Id="rId1"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0.png"/><Relationship Id="rId1"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1.png"/><Relationship Id="rId1"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2.png"/><Relationship Id="rId1"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3.png"/><Relationship Id="rId1" Type="http://schemas.openxmlformats.org/officeDocument/2006/relationships/image" Target="../media/image1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4.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6.png"/><Relationship Id="rId1" Type="http://schemas.openxmlformats.org/officeDocument/2006/relationships/image" Target="../media/image25.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7.png"/><Relationship Id="rId1"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8.png"/><Relationship Id="rId1" Type="http://schemas.openxmlformats.org/officeDocument/2006/relationships/image" Target="../media/image25.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9.png"/><Relationship Id="rId1" Type="http://schemas.openxmlformats.org/officeDocument/2006/relationships/image" Target="../media/image25.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0.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32.png"/><Relationship Id="rId1" Type="http://schemas.openxmlformats.org/officeDocument/2006/relationships/image" Target="../media/image31.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33.png"/><Relationship Id="rId1"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4.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5.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37.png"/><Relationship Id="rId1" Type="http://schemas.openxmlformats.org/officeDocument/2006/relationships/image" Target="../media/image36.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38.png"/><Relationship Id="rId1" Type="http://schemas.openxmlformats.org/officeDocument/2006/relationships/image" Target="../media/image36.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39.png"/><Relationship Id="rId1" Type="http://schemas.openxmlformats.org/officeDocument/2006/relationships/image" Target="../media/image36.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40.png"/><Relationship Id="rId1" Type="http://schemas.openxmlformats.org/officeDocument/2006/relationships/image" Target="../media/image3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4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42.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43.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1"/>
          <p:cNvSpPr txBox="1"/>
          <p:nvPr/>
        </p:nvSpPr>
        <p:spPr>
          <a:xfrm>
            <a:off x="3791712" y="1239205"/>
            <a:ext cx="8191129" cy="2189795"/>
          </a:xfrm>
          <a:prstGeom prst="rect">
            <a:avLst/>
          </a:prstGeom>
        </p:spPr>
        <p:txBody>
          <a:bodyPr lIns="0" rIns="0" anchor="ctr" anchorCtr="0">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r">
              <a:lnSpc>
                <a:spcPct val="100000"/>
              </a:lnSpc>
              <a:buNone/>
            </a:pPr>
            <a:r>
              <a:rPr lang="zh-CN" altLang="en-US" sz="4000" b="1" dirty="0">
                <a:solidFill>
                  <a:schemeClr val="accent1"/>
                </a:solidFill>
                <a:latin typeface="Helvetica" pitchFamily="2" charset="0"/>
                <a:cs typeface="Arial" panose="020B0604020202090204" pitchFamily="34" charset="0"/>
                <a:sym typeface="+mn-lt"/>
              </a:rPr>
              <a:t>软件工程</a:t>
            </a:r>
            <a:endParaRPr lang="zh-CN" altLang="en-US" sz="4000" b="1" dirty="0">
              <a:solidFill>
                <a:schemeClr val="accent1"/>
              </a:solidFill>
              <a:latin typeface="Helvetica" pitchFamily="2" charset="0"/>
              <a:cs typeface="Arial" panose="020B0604020202090204" pitchFamily="34" charset="0"/>
              <a:sym typeface="+mn-lt"/>
            </a:endParaRPr>
          </a:p>
          <a:p>
            <a:pPr marL="0" indent="0" algn="r">
              <a:lnSpc>
                <a:spcPct val="100000"/>
              </a:lnSpc>
              <a:buNone/>
            </a:pPr>
            <a:r>
              <a:rPr lang="zh-CN" altLang="en-US" sz="4000" b="1" dirty="0">
                <a:solidFill>
                  <a:schemeClr val="accent1"/>
                </a:solidFill>
                <a:latin typeface="Helvetica" pitchFamily="2" charset="0"/>
                <a:cs typeface="Arial" panose="020B0604020202090204" pitchFamily="34" charset="0"/>
                <a:sym typeface="+mn-lt"/>
              </a:rPr>
              <a:t>第9讲</a:t>
            </a:r>
            <a:endParaRPr lang="zh-CN" altLang="en-US" sz="4000" b="1" dirty="0">
              <a:solidFill>
                <a:schemeClr val="accent1"/>
              </a:solidFill>
              <a:latin typeface="Helvetica" pitchFamily="2" charset="0"/>
              <a:cs typeface="Arial" panose="020B0604020202090204" pitchFamily="34" charset="0"/>
              <a:sym typeface="+mn-lt"/>
            </a:endParaRPr>
          </a:p>
        </p:txBody>
      </p:sp>
      <p:sp>
        <p:nvSpPr>
          <p:cNvPr id="64" name="矩形 63"/>
          <p:cNvSpPr/>
          <p:nvPr/>
        </p:nvSpPr>
        <p:spPr>
          <a:xfrm>
            <a:off x="8750859" y="4819809"/>
            <a:ext cx="3003067" cy="650875"/>
          </a:xfrm>
          <a:prstGeom prst="rect">
            <a:avLst/>
          </a:prstGeom>
        </p:spPr>
        <p:txBody>
          <a:bodyPr wrap="square" lIns="0" rIns="0">
            <a:spAutoFit/>
          </a:bodyPr>
          <a:lstStyle/>
          <a:p>
            <a:pPr algn="r">
              <a:lnSpc>
                <a:spcPct val="130000"/>
              </a:lnSpc>
            </a:pPr>
            <a:r>
              <a:rPr lang="en-US" altLang="zh-CN" sz="2800" dirty="0">
                <a:solidFill>
                  <a:schemeClr val="accent1"/>
                </a:solidFill>
                <a:latin typeface="Helvetica" pitchFamily="2" charset="0"/>
                <a:cs typeface="Arial" panose="020B0604020202090204" pitchFamily="34" charset="0"/>
                <a:sym typeface="+mn-lt"/>
              </a:rPr>
              <a:t>2026/04/30</a:t>
            </a:r>
            <a:endParaRPr lang="zh-CN" altLang="en-US" sz="2800" dirty="0">
              <a:solidFill>
                <a:schemeClr val="accent1"/>
              </a:solidFill>
              <a:latin typeface="Helvetica" pitchFamily="2" charset="0"/>
              <a:cs typeface="Arial" panose="020B0604020202090204" pitchFamily="34" charset="0"/>
              <a:sym typeface="+mn-lt"/>
            </a:endParaRPr>
          </a:p>
        </p:txBody>
      </p:sp>
      <p:sp>
        <p:nvSpPr>
          <p:cNvPr id="67" name="矩形 66"/>
          <p:cNvSpPr/>
          <p:nvPr/>
        </p:nvSpPr>
        <p:spPr>
          <a:xfrm>
            <a:off x="5002654" y="4381010"/>
            <a:ext cx="6751272" cy="650875"/>
          </a:xfrm>
          <a:prstGeom prst="rect">
            <a:avLst/>
          </a:prstGeom>
        </p:spPr>
        <p:txBody>
          <a:bodyPr wrap="square">
            <a:spAutoFit/>
          </a:bodyPr>
          <a:lstStyle/>
          <a:p>
            <a:pPr algn="r">
              <a:lnSpc>
                <a:spcPct val="130000"/>
              </a:lnSpc>
            </a:pPr>
            <a:r>
              <a:rPr lang="zh-CN" altLang="en-US" sz="2800" dirty="0">
                <a:solidFill>
                  <a:schemeClr val="accent1"/>
                </a:solidFill>
                <a:latin typeface="Helvetica" pitchFamily="2" charset="0"/>
                <a:cs typeface="Arial" panose="020B0604020202090204" pitchFamily="34" charset="0"/>
                <a:sym typeface="+mn-lt"/>
              </a:rPr>
              <a:t>讲师：刘光</a:t>
            </a:r>
            <a:r>
              <a:rPr lang="zh-CN" altLang="en-US" sz="2800" dirty="0">
                <a:solidFill>
                  <a:schemeClr val="accent1"/>
                </a:solidFill>
                <a:latin typeface="Helvetica" pitchFamily="2" charset="0"/>
                <a:cs typeface="Arial" panose="020B0604020202090204" pitchFamily="34" charset="0"/>
                <a:sym typeface="+mn-lt"/>
              </a:rPr>
              <a:t>迟 博士</a:t>
            </a:r>
            <a:endParaRPr lang="zh-CN" altLang="en-US" sz="2800" dirty="0">
              <a:solidFill>
                <a:schemeClr val="accent1"/>
              </a:solidFill>
              <a:latin typeface="Helvetica" pitchFamily="2" charset="0"/>
              <a:cs typeface="Arial" panose="020B0604020202090204" pitchFamily="34" charset="0"/>
              <a:sym typeface="+mn-lt"/>
            </a:endParaRPr>
          </a:p>
        </p:txBody>
      </p:sp>
      <p:cxnSp>
        <p:nvCxnSpPr>
          <p:cNvPr id="3" name="直接连接符 2"/>
          <p:cNvCxnSpPr/>
          <p:nvPr/>
        </p:nvCxnSpPr>
        <p:spPr>
          <a:xfrm>
            <a:off x="11842946" y="4575127"/>
            <a:ext cx="0" cy="752777"/>
          </a:xfrm>
          <a:prstGeom prst="line">
            <a:avLst/>
          </a:prstGeom>
          <a:ln w="50800" cmpd="thickThi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966387" cy="790865"/>
          </a:xfrm>
        </p:spPr>
        <p:txBody>
          <a:bodyPr>
            <a:normAutofit/>
          </a:bodyPr>
          <a:lstStyle/>
          <a:p>
            <a:r>
              <a:rPr lang="zh-CN" altLang="en-US" dirty="0">
                <a:latin typeface="Times New Roman" panose="02020603050405020304" charset="0"/>
              </a:rPr>
              <a:t>提醒</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622738" y="1128862"/>
            <a:ext cx="10946524" cy="706755"/>
          </a:xfrm>
          <a:prstGeom prst="rect">
            <a:avLst/>
          </a:prstGeom>
          <a:noFill/>
        </p:spPr>
        <p:txBody>
          <a:bodyPr wrap="square">
            <a:spAutoFit/>
          </a:bodyPr>
          <a:lstStyle/>
          <a:p>
            <a:r>
              <a:rPr lang="zh-CN" altLang="en-US" sz="2000" b="1" dirty="0">
                <a:solidFill>
                  <a:srgbClr val="C00000"/>
                </a:solidFill>
                <a:latin typeface="Helvetica" pitchFamily="2" charset="0"/>
                <a:cs typeface="Arial" panose="020B0604020202090204" pitchFamily="34" charset="0"/>
              </a:rPr>
              <a:t>第三次作业：</a:t>
            </a:r>
            <a:r>
              <a:rPr lang="zh-CN" altLang="en-US" sz="2000" b="1" dirty="0">
                <a:solidFill>
                  <a:srgbClr val="515223"/>
                </a:solidFill>
                <a:latin typeface="Helvetica" pitchFamily="2" charset="0"/>
                <a:cs typeface="Arial" panose="020B0604020202090204" pitchFamily="34" charset="0"/>
              </a:rPr>
              <a:t>将于</a:t>
            </a:r>
            <a:r>
              <a:rPr lang="zh-CN" altLang="en-US" sz="2000" b="1" dirty="0">
                <a:solidFill>
                  <a:srgbClr val="C00000"/>
                </a:solidFill>
                <a:latin typeface="Helvetica" pitchFamily="2" charset="0"/>
                <a:cs typeface="Arial" panose="020B0604020202090204" pitchFamily="34" charset="0"/>
              </a:rPr>
              <a:t>5月</a:t>
            </a:r>
            <a:r>
              <a:rPr lang="en-US" altLang="zh-CN" sz="2000" b="1" dirty="0">
                <a:solidFill>
                  <a:srgbClr val="C00000"/>
                </a:solidFill>
                <a:latin typeface="Helvetica" pitchFamily="2" charset="0"/>
                <a:cs typeface="Arial" panose="020B0604020202090204" pitchFamily="34" charset="0"/>
              </a:rPr>
              <a:t>11</a:t>
            </a:r>
            <a:r>
              <a:rPr lang="zh-CN" altLang="en-US" sz="2000" b="1" dirty="0">
                <a:solidFill>
                  <a:srgbClr val="C00000"/>
                </a:solidFill>
                <a:latin typeface="Helvetica" pitchFamily="2" charset="0"/>
                <a:cs typeface="Arial" panose="020B0604020202090204" pitchFamily="34" charset="0"/>
              </a:rPr>
              <a:t>日（周一）23:55发布，</a:t>
            </a:r>
            <a:endParaRPr lang="zh-CN" altLang="en-US" sz="2000" b="1" dirty="0">
              <a:solidFill>
                <a:srgbClr val="C00000"/>
              </a:solidFill>
              <a:latin typeface="Helvetica" pitchFamily="2" charset="0"/>
              <a:cs typeface="Arial" panose="020B0604020202090204" pitchFamily="34" charset="0"/>
            </a:endParaRPr>
          </a:p>
          <a:p>
            <a:r>
              <a:rPr lang="zh-CN" altLang="en-US" sz="2000" b="1" dirty="0">
                <a:solidFill>
                  <a:srgbClr val="C00000"/>
                </a:solidFill>
                <a:latin typeface="Helvetica" pitchFamily="2" charset="0"/>
                <a:cs typeface="Arial" panose="020B0604020202090204" pitchFamily="34" charset="0"/>
              </a:rPr>
              <a:t>截止日期：5月1</a:t>
            </a:r>
            <a:r>
              <a:rPr lang="en-US" altLang="zh-CN" sz="2000" b="1" dirty="0">
                <a:solidFill>
                  <a:srgbClr val="C00000"/>
                </a:solidFill>
                <a:latin typeface="Helvetica" pitchFamily="2" charset="0"/>
                <a:cs typeface="Arial" panose="020B0604020202090204" pitchFamily="34" charset="0"/>
              </a:rPr>
              <a:t>8</a:t>
            </a:r>
            <a:r>
              <a:rPr lang="zh-CN" altLang="en-US" sz="2000" b="1" dirty="0">
                <a:solidFill>
                  <a:srgbClr val="C00000"/>
                </a:solidFill>
                <a:latin typeface="Helvetica" pitchFamily="2" charset="0"/>
                <a:cs typeface="Arial" panose="020B0604020202090204" pitchFamily="34" charset="0"/>
              </a:rPr>
              <a:t>日（周一）23:55</a:t>
            </a:r>
            <a:endParaRPr lang="zh-CN" altLang="en-US" sz="2000" b="1" dirty="0">
              <a:solidFill>
                <a:srgbClr val="C00000"/>
              </a:solidFill>
              <a:latin typeface="Helvetica" pitchFamily="2" charset="0"/>
              <a:cs typeface="Arial" panose="020B060402020209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Times New Roman" panose="02020603050405020304" charset="0"/>
              </a:rPr>
              <a:t>提醒</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622738" y="1261527"/>
            <a:ext cx="10946524" cy="347662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请准备以下问题（每题10分）</a:t>
            </a:r>
            <a:endParaRPr lang="en-US" altLang="zh-CN" sz="2000" b="1" dirty="0">
              <a:solidFill>
                <a:srgbClr val="515223"/>
              </a:solidFill>
              <a:latin typeface="Helvetica" pitchFamily="2" charset="0"/>
              <a:cs typeface="Arial" panose="020B0604020202090204" pitchFamily="34" charset="0"/>
            </a:endParaRPr>
          </a:p>
          <a:p>
            <a:r>
              <a:rPr lang="en-US" altLang="zh-CN" sz="2000" dirty="0">
                <a:solidFill>
                  <a:srgbClr val="C00000"/>
                </a:solidFill>
              </a:rPr>
              <a:t>Q1</a:t>
            </a:r>
            <a:r>
              <a:rPr lang="en-US" altLang="zh-CN" sz="2000" dirty="0"/>
              <a:t> </a:t>
            </a:r>
            <a:r>
              <a:rPr lang="zh-CN" altLang="en-US" sz="2000" dirty="0"/>
              <a:t>你们是否为项目前端设计过纸上原型/线框图/模型/可操作原型？</a:t>
            </a:r>
            <a:endParaRPr lang="zh-CN" altLang="en-US" sz="2000" dirty="0"/>
          </a:p>
          <a:p>
            <a:r>
              <a:rPr lang="en-US" altLang="zh-CN" sz="2000" dirty="0">
                <a:solidFill>
                  <a:srgbClr val="C00000"/>
                </a:solidFill>
              </a:rPr>
              <a:t>Q2</a:t>
            </a:r>
            <a:r>
              <a:rPr lang="en-US" altLang="zh-CN" sz="2000" dirty="0"/>
              <a:t> </a:t>
            </a:r>
            <a:r>
              <a:rPr lang="zh-CN" altLang="en-US" sz="2000" dirty="0"/>
              <a:t>你们前端的</a:t>
            </a:r>
            <a:r>
              <a:rPr lang="en-US" altLang="zh-CN" sz="2000" dirty="0"/>
              <a:t>MVC</a:t>
            </a:r>
            <a:r>
              <a:rPr lang="zh-CN" altLang="en-US" sz="2000" dirty="0"/>
              <a:t>组件是什么（如果有的话）？</a:t>
            </a:r>
            <a:endParaRPr lang="zh-CN" altLang="en-US" sz="2000" dirty="0"/>
          </a:p>
          <a:p>
            <a:r>
              <a:rPr lang="en-US" altLang="zh-CN" sz="2000" dirty="0">
                <a:solidFill>
                  <a:srgbClr val="C00000"/>
                </a:solidFill>
              </a:rPr>
              <a:t>Q3</a:t>
            </a:r>
            <a:r>
              <a:rPr lang="en-US" altLang="zh-CN" sz="2000" dirty="0"/>
              <a:t> </a:t>
            </a:r>
            <a:r>
              <a:rPr lang="zh-CN" altLang="en-US" sz="2000" dirty="0"/>
              <a:t>你们评估/测试项目用户体验的计划是什么？</a:t>
            </a:r>
            <a:endParaRPr lang="zh-CN" altLang="en-US" sz="2000" dirty="0"/>
          </a:p>
          <a:p>
            <a:r>
              <a:rPr lang="en-US" altLang="zh-CN" sz="2000" dirty="0">
                <a:solidFill>
                  <a:srgbClr val="C00000"/>
                </a:solidFill>
              </a:rPr>
              <a:t>Q4</a:t>
            </a:r>
            <a:r>
              <a:rPr lang="en-US" altLang="zh-CN" sz="2000" dirty="0"/>
              <a:t> </a:t>
            </a:r>
            <a:r>
              <a:rPr lang="zh-CN" altLang="en-US" sz="2000" dirty="0"/>
              <a:t>你们项目的组件图是怎样的？</a:t>
            </a:r>
            <a:endParaRPr lang="zh-CN" altLang="en-US" sz="2000" dirty="0"/>
          </a:p>
          <a:p>
            <a:r>
              <a:rPr lang="en-US" altLang="zh-CN" sz="2000" dirty="0">
                <a:solidFill>
                  <a:srgbClr val="C00000"/>
                </a:solidFill>
              </a:rPr>
              <a:t>Q5</a:t>
            </a:r>
            <a:r>
              <a:rPr lang="en-US" altLang="zh-CN" sz="2000" dirty="0"/>
              <a:t> </a:t>
            </a:r>
            <a:r>
              <a:rPr lang="zh-CN" altLang="en-US" sz="2000" dirty="0"/>
              <a:t>你们项目的部署图是怎样的？</a:t>
            </a:r>
            <a:endParaRPr lang="zh-CN" altLang="en-US" sz="2000" dirty="0"/>
          </a:p>
          <a:p>
            <a:r>
              <a:rPr lang="en-US" altLang="zh-CN" sz="2000" dirty="0">
                <a:solidFill>
                  <a:srgbClr val="C00000"/>
                </a:solidFill>
              </a:rPr>
              <a:t>Q6</a:t>
            </a:r>
            <a:r>
              <a:rPr lang="en-US" altLang="zh-CN" sz="2000" dirty="0"/>
              <a:t> </a:t>
            </a:r>
            <a:r>
              <a:rPr lang="zh-CN" altLang="en-US" sz="2000" dirty="0"/>
              <a:t>你们项目的包图是怎样的？</a:t>
            </a:r>
            <a:endParaRPr lang="zh-CN" altLang="en-US" sz="2000" dirty="0"/>
          </a:p>
          <a:p>
            <a:r>
              <a:rPr lang="en-US" altLang="zh-CN" sz="2000" dirty="0">
                <a:solidFill>
                  <a:srgbClr val="C00000"/>
                </a:solidFill>
              </a:rPr>
              <a:t>Q7</a:t>
            </a:r>
            <a:r>
              <a:rPr lang="en-US" altLang="zh-CN" sz="2000" dirty="0"/>
              <a:t> </a:t>
            </a:r>
            <a:r>
              <a:rPr lang="zh-CN" altLang="en-US" sz="2000" dirty="0"/>
              <a:t>有没有使用虚拟化技术的计划？</a:t>
            </a:r>
            <a:endParaRPr lang="zh-CN" altLang="en-US" sz="2000" dirty="0"/>
          </a:p>
          <a:p>
            <a:r>
              <a:rPr lang="en-US" altLang="zh-CN" sz="2000" dirty="0">
                <a:solidFill>
                  <a:srgbClr val="C00000"/>
                </a:solidFill>
              </a:rPr>
              <a:t>Q8</a:t>
            </a:r>
            <a:r>
              <a:rPr lang="en-US" altLang="zh-CN" sz="2000" dirty="0"/>
              <a:t> </a:t>
            </a:r>
            <a:r>
              <a:rPr lang="zh-CN" altLang="en-US" sz="2000" dirty="0"/>
              <a:t>项目中可能存在哪些安全风险？将如何降低这些风险？</a:t>
            </a:r>
            <a:endParaRPr lang="zh-CN" altLang="en-US" sz="2000" dirty="0"/>
          </a:p>
          <a:p>
            <a:r>
              <a:rPr lang="en-US" altLang="zh-CN" sz="2000" dirty="0">
                <a:solidFill>
                  <a:srgbClr val="C00000"/>
                </a:solidFill>
              </a:rPr>
              <a:t>Q9</a:t>
            </a:r>
            <a:r>
              <a:rPr lang="en-US" altLang="zh-CN" sz="2000" dirty="0"/>
              <a:t> </a:t>
            </a:r>
            <a:r>
              <a:rPr lang="zh-CN" altLang="en-US" sz="2000" dirty="0"/>
              <a:t>未来产品的峰值需求/容量是多少？</a:t>
            </a:r>
            <a:endParaRPr lang="zh-CN" altLang="en-US" sz="2000" dirty="0"/>
          </a:p>
          <a:p>
            <a:r>
              <a:rPr lang="en-US" altLang="zh-CN" sz="2000" dirty="0">
                <a:solidFill>
                  <a:srgbClr val="C00000"/>
                </a:solidFill>
              </a:rPr>
              <a:t>Q10</a:t>
            </a:r>
            <a:r>
              <a:rPr lang="en-US" altLang="zh-CN" sz="2000" dirty="0"/>
              <a:t> </a:t>
            </a:r>
            <a:r>
              <a:rPr lang="zh-CN" altLang="en-US" sz="2000" dirty="0"/>
              <a:t>基于潜在的需求/容量，项目是否存在性能瓶颈？将如何改进？</a:t>
            </a:r>
            <a:endParaRPr lang="zh-CN" alt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335087" y="3977885"/>
            <a:ext cx="9521825" cy="644144"/>
          </a:xfrm>
          <a:prstGeom prst="rect">
            <a:avLst/>
          </a:prstGeom>
        </p:spPr>
        <p:txBody>
          <a:bodyPr wrap="square">
            <a:normAutofit lnSpcReduction="10000"/>
          </a:bodyPr>
          <a:lstStyle/>
          <a:p>
            <a:pPr algn="ctr"/>
            <a:r>
              <a:rPr lang="zh-CN" altLang="en-US" sz="3700" b="1" dirty="0">
                <a:solidFill>
                  <a:schemeClr val="accent1"/>
                </a:solidFill>
                <a:latin typeface="Helvetica" pitchFamily="2" charset="0"/>
                <a:cs typeface="+mn-ea"/>
                <a:sym typeface="+mn-lt"/>
              </a:rPr>
              <a:t>复用与设计模式</a:t>
            </a:r>
            <a:endParaRPr lang="zh-CN" altLang="en-US" sz="3700" b="1" dirty="0">
              <a:solidFill>
                <a:schemeClr val="accent1"/>
              </a:solidFill>
              <a:latin typeface="Helvetica" pitchFamily="2" charset="0"/>
              <a:cs typeface="+mn-ea"/>
              <a:sym typeface="+mn-lt"/>
            </a:endParaRPr>
          </a:p>
        </p:txBody>
      </p:sp>
      <p:grpSp>
        <p:nvGrpSpPr>
          <p:cNvPr id="4" name="组合 3"/>
          <p:cNvGrpSpPr/>
          <p:nvPr/>
        </p:nvGrpSpPr>
        <p:grpSpPr>
          <a:xfrm>
            <a:off x="4819048" y="1319889"/>
            <a:ext cx="2553904" cy="2646878"/>
            <a:chOff x="5865211" y="1319889"/>
            <a:chExt cx="2553904" cy="2646878"/>
          </a:xfrm>
        </p:grpSpPr>
        <p:sp>
          <p:nvSpPr>
            <p:cNvPr id="2" name="文本框 1"/>
            <p:cNvSpPr txBox="1"/>
            <p:nvPr/>
          </p:nvSpPr>
          <p:spPr>
            <a:xfrm>
              <a:off x="5865211" y="1319889"/>
              <a:ext cx="2553904" cy="2646878"/>
            </a:xfrm>
            <a:prstGeom prst="rect">
              <a:avLst/>
            </a:prstGeom>
            <a:noFill/>
          </p:spPr>
          <p:txBody>
            <a:bodyPr wrap="none" rtlCol="0">
              <a:spAutoFit/>
            </a:bodyPr>
            <a:lstStyle/>
            <a:p>
              <a:r>
                <a:rPr lang="en-US" altLang="zh-CN" sz="16600" dirty="0">
                  <a:solidFill>
                    <a:schemeClr val="accent1"/>
                  </a:solidFill>
                  <a:latin typeface="Helvetica" pitchFamily="2" charset="0"/>
                  <a:cs typeface="+mn-ea"/>
                  <a:sym typeface="+mn-lt"/>
                </a:rPr>
                <a:t>01</a:t>
              </a:r>
              <a:endParaRPr lang="zh-CN" altLang="en-US" sz="16600" dirty="0">
                <a:solidFill>
                  <a:schemeClr val="accent1"/>
                </a:solidFill>
                <a:latin typeface="Helvetica" pitchFamily="2" charset="0"/>
                <a:cs typeface="+mn-ea"/>
                <a:sym typeface="+mn-lt"/>
              </a:endParaRPr>
            </a:p>
          </p:txBody>
        </p:sp>
        <p:sp>
          <p:nvSpPr>
            <p:cNvPr id="3" name="文本框 2"/>
            <p:cNvSpPr txBox="1"/>
            <p:nvPr/>
          </p:nvSpPr>
          <p:spPr>
            <a:xfrm>
              <a:off x="5865211" y="2574748"/>
              <a:ext cx="2553904" cy="461665"/>
            </a:xfrm>
            <a:prstGeom prst="rect">
              <a:avLst/>
            </a:prstGeom>
            <a:solidFill>
              <a:schemeClr val="bg1"/>
            </a:solidFill>
          </p:spPr>
          <p:txBody>
            <a:bodyPr wrap="square" rtlCol="0">
              <a:spAutoFit/>
            </a:bodyPr>
            <a:lstStyle/>
            <a:p>
              <a:pPr algn="dist"/>
              <a:r>
                <a:rPr lang="en-US" altLang="zh-CN" sz="2400" dirty="0">
                  <a:solidFill>
                    <a:schemeClr val="accent1"/>
                  </a:solidFill>
                  <a:latin typeface="Helvetica" pitchFamily="2" charset="0"/>
                  <a:cs typeface="Arial" panose="020B0604020202090204" pitchFamily="34" charset="0"/>
                  <a:sym typeface="+mn-lt"/>
                </a:rPr>
                <a:t>PART</a:t>
              </a:r>
              <a:r>
                <a:rPr lang="zh-CN" altLang="en-US" sz="2400" dirty="0">
                  <a:solidFill>
                    <a:schemeClr val="accent1"/>
                  </a:solidFill>
                  <a:latin typeface="Helvetica" pitchFamily="2" charset="0"/>
                  <a:cs typeface="Arial" panose="020B0604020202090204" pitchFamily="34" charset="0"/>
                  <a:sym typeface="+mn-lt"/>
                </a:rPr>
                <a:t> </a:t>
              </a:r>
              <a:r>
                <a:rPr lang="en-US" altLang="zh-CN" sz="2400" dirty="0">
                  <a:solidFill>
                    <a:schemeClr val="accent1"/>
                  </a:solidFill>
                  <a:latin typeface="Helvetica" pitchFamily="2" charset="0"/>
                  <a:cs typeface="Arial" panose="020B0604020202090204" pitchFamily="34" charset="0"/>
                  <a:sym typeface="+mn-lt"/>
                </a:rPr>
                <a:t>FOUR </a:t>
              </a:r>
              <a:endParaRPr lang="zh-CN" altLang="en-US" sz="2400" dirty="0">
                <a:solidFill>
                  <a:schemeClr val="accent1"/>
                </a:solidFill>
                <a:latin typeface="Helvetica" pitchFamily="2" charset="0"/>
                <a:cs typeface="Arial" panose="020B0604020202090204" pitchFamily="34" charset="0"/>
                <a:sym typeface="+mn-lt"/>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dirty="0">
                <a:latin typeface="Times New Roman" panose="02020603050405020304" charset="0"/>
              </a:rPr>
              <a:t>设计模式</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48304" y="2572201"/>
            <a:ext cx="9550399" cy="1014730"/>
          </a:xfrm>
          <a:prstGeom prst="rect">
            <a:avLst/>
          </a:prstGeom>
          <a:noFill/>
        </p:spPr>
        <p:txBody>
          <a:bodyPr wrap="square">
            <a:spAutoFit/>
          </a:bodyPr>
          <a:lstStyle/>
          <a:p>
            <a:r>
              <a:rPr lang="zh-CN" altLang="en-US" sz="2000" b="1" dirty="0">
                <a:solidFill>
                  <a:srgbClr val="505122"/>
                </a:solidFill>
                <a:latin typeface="Helvetica" pitchFamily="2" charset="0"/>
                <a:cs typeface="Arial" panose="020B0604020202090204" pitchFamily="34" charset="0"/>
              </a:rPr>
              <a:t>设计模式</a:t>
            </a:r>
            <a:endParaRPr lang="zh-CN" altLang="en-US" sz="2000" b="1" dirty="0">
              <a:solidFill>
                <a:srgbClr val="505122"/>
              </a:solidFill>
              <a:latin typeface="Helvetica" pitchFamily="2" charset="0"/>
              <a:cs typeface="Arial" panose="020B0604020202090204" pitchFamily="34" charset="0"/>
            </a:endParaRPr>
          </a:p>
          <a:p>
            <a:pPr lvl="1"/>
            <a:r>
              <a:rPr lang="zh-CN" altLang="en-US" sz="2000" b="1" dirty="0">
                <a:solidFill>
                  <a:srgbClr val="FF0000"/>
                </a:solidFill>
                <a:latin typeface="Helvetica" pitchFamily="2" charset="0"/>
                <a:cs typeface="Arial" panose="020B0604020202090204" pitchFamily="34" charset="0"/>
              </a:rPr>
              <a:t>设计模式 </a:t>
            </a:r>
            <a:r>
              <a:rPr lang="zh-CN" altLang="en-US" sz="2000" dirty="0">
                <a:solidFill>
                  <a:schemeClr val="tx1"/>
                </a:solidFill>
                <a:latin typeface="Helvetica" pitchFamily="2" charset="0"/>
                <a:cs typeface="Arial" panose="020B0604020202090204" pitchFamily="34" charset="0"/>
              </a:rPr>
              <a:t>是可以在多种系统中使用的模板设计。它们特别适用于那些类可能会在随时间演进的系统中被复用的场景。</a:t>
            </a:r>
            <a:endParaRPr lang="zh-CN" altLang="en-US" sz="2000" dirty="0">
              <a:solidFill>
                <a:schemeClr val="tx1"/>
              </a:solidFill>
              <a:latin typeface="Helvetica" pitchFamily="2" charset="0"/>
              <a:cs typeface="Arial" panose="020B060402020209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000" dirty="0">
                <a:latin typeface="Times New Roman" panose="02020603050405020304" charset="0"/>
              </a:rPr>
              <a:t>继承与抽象类</a:t>
            </a:r>
            <a:endParaRPr lang="zh-CN" altLang="en-US" sz="40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553335"/>
          </a:xfrm>
          <a:prstGeom prst="rect">
            <a:avLst/>
          </a:prstGeom>
          <a:noFill/>
        </p:spPr>
        <p:txBody>
          <a:bodyPr wrap="square">
            <a:spAutoFit/>
          </a:bodyPr>
          <a:lstStyle/>
          <a:p>
            <a:r>
              <a:rPr lang="zh-CN" altLang="en-US" sz="2000" dirty="0">
                <a:solidFill>
                  <a:schemeClr val="tx1"/>
                </a:solidFill>
                <a:latin typeface="Helvetica" pitchFamily="2" charset="0"/>
                <a:cs typeface="Arial" panose="020B0604020202090204" pitchFamily="34" charset="0"/>
              </a:rPr>
              <a:t>设计模式广泛使用继承和抽象类。</a:t>
            </a:r>
            <a:endParaRPr lang="zh-CN" altLang="en-US" sz="2000" dirty="0">
              <a:solidFill>
                <a:schemeClr val="tx1"/>
              </a:solidFill>
              <a:latin typeface="Helvetica" pitchFamily="2" charset="0"/>
              <a:cs typeface="Arial" panose="020B0604020202090204" pitchFamily="34" charset="0"/>
            </a:endParaRPr>
          </a:p>
          <a:p>
            <a:endParaRPr lang="zh-CN" altLang="en-US" sz="2000" dirty="0">
              <a:solidFill>
                <a:schemeClr val="tx1"/>
              </a:solidFill>
              <a:latin typeface="Helvetica" pitchFamily="2" charset="0"/>
              <a:cs typeface="Arial" panose="020B0604020202090204" pitchFamily="34" charset="0"/>
            </a:endParaRPr>
          </a:p>
          <a:p>
            <a:r>
              <a:rPr lang="zh-CN" altLang="en-US" sz="2000" dirty="0">
                <a:solidFill>
                  <a:schemeClr val="tx1"/>
                </a:solidFill>
                <a:latin typeface="Helvetica" pitchFamily="2" charset="0"/>
                <a:cs typeface="Arial" panose="020B0604020202090204" pitchFamily="34" charset="0"/>
              </a:rPr>
              <a:t>类可以通过继承基于其他类来定义。通用化类称为超类，特化类称为子类。</a:t>
            </a:r>
            <a:endParaRPr lang="zh-CN" altLang="en-US" sz="2000" dirty="0">
              <a:solidFill>
                <a:schemeClr val="tx1"/>
              </a:solidFill>
              <a:latin typeface="Helvetica" pitchFamily="2" charset="0"/>
              <a:cs typeface="Arial" panose="020B0604020202090204" pitchFamily="34" charset="0"/>
            </a:endParaRPr>
          </a:p>
          <a:p>
            <a:endParaRPr lang="zh-CN" altLang="en-US" sz="2000" b="1" dirty="0">
              <a:solidFill>
                <a:srgbClr val="515223"/>
              </a:solidFill>
              <a:latin typeface="Helvetica" pitchFamily="2" charset="0"/>
              <a:cs typeface="Arial" panose="020B0604020202090204" pitchFamily="34" charset="0"/>
            </a:endParaRPr>
          </a:p>
          <a:p>
            <a:r>
              <a:rPr lang="zh-CN" altLang="en-US" sz="2000" b="1" dirty="0">
                <a:solidFill>
                  <a:srgbClr val="515223"/>
                </a:solidFill>
                <a:latin typeface="Helvetica" pitchFamily="2" charset="0"/>
                <a:cs typeface="Arial" panose="020B0604020202090204" pitchFamily="34" charset="0"/>
                <a:sym typeface="+mn-ea"/>
              </a:rPr>
              <a:t>抽象类 </a:t>
            </a:r>
            <a:endParaRPr lang="zh-CN" altLang="en-US" sz="2000" b="1" dirty="0">
              <a:solidFill>
                <a:srgbClr val="515223"/>
              </a:solidFill>
              <a:latin typeface="Helvetica" pitchFamily="2" charset="0"/>
              <a:cs typeface="Arial" panose="020B0604020202090204" pitchFamily="34" charset="0"/>
            </a:endParaRPr>
          </a:p>
          <a:p>
            <a:r>
              <a:rPr lang="zh-CN" altLang="en-US" sz="2000" dirty="0">
                <a:solidFill>
                  <a:schemeClr val="tx1"/>
                </a:solidFill>
                <a:latin typeface="Helvetica" pitchFamily="2" charset="0"/>
                <a:cs typeface="Arial" panose="020B0604020202090204" pitchFamily="34" charset="0"/>
              </a:rPr>
              <a:t>抽象类 是包含抽象方法的超类，其定义方式使得具体的子类通过实现这些抽象方法来扩展它们。一个从抽象类派生的类在可以实例化之前，必须为其所有父类的抽象方法实现具体方法。</a:t>
            </a:r>
            <a:endParaRPr lang="zh-CN" altLang="en-US" sz="2000" dirty="0">
              <a:solidFill>
                <a:schemeClr val="tx1"/>
              </a:solidFill>
              <a:latin typeface="Helvetica" pitchFamily="2" charset="0"/>
              <a:cs typeface="Arial" panose="020B060402020209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000" dirty="0">
                <a:latin typeface="Times New Roman" panose="02020603050405020304" charset="0"/>
              </a:rPr>
              <a:t>适配器（包装器）：封装遗留代码</a:t>
            </a:r>
            <a:endParaRPr lang="zh-CN" altLang="en-US" sz="40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553335"/>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问题描述：</a:t>
            </a:r>
            <a:endParaRPr lang="zh-CN" altLang="en-US" sz="2000" b="1" dirty="0">
              <a:solidFill>
                <a:srgbClr val="515223"/>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将一个遗留类的接口转换为客户端所期望的不同接口，使得客户端和遗留类无需修改即可协同工作。</a:t>
            </a:r>
            <a:endParaRPr lang="zh-CN" altLang="en-US" sz="2000" dirty="0">
              <a:solidFill>
                <a:schemeClr val="tx1"/>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此问题通常发生在过渡时期，其长期计划是逐步淘汰遗留系统。</a:t>
            </a:r>
            <a:endParaRPr lang="zh-CN" altLang="en-US" sz="2000" dirty="0">
              <a:solidFill>
                <a:schemeClr val="tx1"/>
              </a:solidFill>
              <a:latin typeface="Helvetica" pitchFamily="2" charset="0"/>
              <a:cs typeface="Arial" panose="020B0604020202090204" pitchFamily="34" charset="0"/>
            </a:endParaRPr>
          </a:p>
          <a:p>
            <a:pPr lvl="1"/>
            <a:endParaRPr lang="zh-CN" altLang="en-US" sz="2000" dirty="0">
              <a:solidFill>
                <a:schemeClr val="tx1"/>
              </a:solidFill>
              <a:latin typeface="Helvetica" pitchFamily="2" charset="0"/>
              <a:cs typeface="Arial" panose="020B0604020202090204" pitchFamily="34" charset="0"/>
            </a:endParaRPr>
          </a:p>
          <a:p>
            <a:pPr lvl="1"/>
            <a:endParaRPr lang="zh-CN" altLang="en-US" sz="2000" dirty="0">
              <a:solidFill>
                <a:schemeClr val="tx1"/>
              </a:solidFill>
              <a:latin typeface="Helvetica" pitchFamily="2" charset="0"/>
              <a:cs typeface="Arial" panose="020B0604020202090204" pitchFamily="34" charset="0"/>
            </a:endParaRPr>
          </a:p>
          <a:p>
            <a:r>
              <a:rPr lang="zh-CN" altLang="en-US" sz="2000" b="1" dirty="0">
                <a:solidFill>
                  <a:srgbClr val="515223"/>
                </a:solidFill>
                <a:latin typeface="Helvetica" pitchFamily="2" charset="0"/>
                <a:cs typeface="Arial" panose="020B0604020202090204" pitchFamily="34" charset="0"/>
              </a:rPr>
              <a:t>示例：</a:t>
            </a:r>
            <a:endParaRPr lang="zh-CN" altLang="en-US" sz="2000" b="1" dirty="0">
              <a:solidFill>
                <a:srgbClr val="515223"/>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如何使用</a:t>
            </a:r>
            <a:r>
              <a:rPr lang="en-US" altLang="zh-CN" sz="2000" dirty="0">
                <a:solidFill>
                  <a:schemeClr val="tx1"/>
                </a:solidFill>
                <a:latin typeface="Helvetica" pitchFamily="2" charset="0"/>
                <a:cs typeface="Arial" panose="020B0604020202090204" pitchFamily="34" charset="0"/>
              </a:rPr>
              <a:t>Web</a:t>
            </a:r>
            <a:r>
              <a:rPr lang="zh-CN" altLang="en-US" sz="2000" dirty="0">
                <a:solidFill>
                  <a:schemeClr val="tx1"/>
                </a:solidFill>
                <a:latin typeface="Helvetica" pitchFamily="2" charset="0"/>
                <a:cs typeface="Arial" panose="020B0604020202090204" pitchFamily="34" charset="0"/>
              </a:rPr>
              <a:t>浏览器访问一个为不同客户端设计的信息检索系统？</a:t>
            </a:r>
            <a:endParaRPr lang="zh-CN" altLang="en-US" sz="2000" dirty="0">
              <a:solidFill>
                <a:schemeClr val="tx1"/>
              </a:solidFill>
              <a:latin typeface="Helvetica" pitchFamily="2" charset="0"/>
              <a:cs typeface="Arial" panose="020B060402020209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400" dirty="0">
                <a:latin typeface="Times New Roman" panose="02020603050405020304" charset="0"/>
              </a:rPr>
              <a:t>适配器设计模式：问题</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40275" y="1401690"/>
            <a:ext cx="5305373" cy="2498979"/>
          </a:xfrm>
          <a:prstGeom prst="rect">
            <a:avLst/>
          </a:prstGeom>
        </p:spPr>
      </p:pic>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5648" y="3315478"/>
            <a:ext cx="4291486" cy="291263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400" dirty="0">
                <a:latin typeface="Times New Roman" panose="02020603050405020304" charset="0"/>
              </a:rPr>
              <a:t>适配器设计模式：对象图</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504781" y="1729967"/>
            <a:ext cx="5575402" cy="3226421"/>
          </a:xfrm>
          <a:prstGeom prst="rect">
            <a:avLst/>
          </a:prstGeom>
        </p:spPr>
      </p:pic>
      <p:sp>
        <p:nvSpPr>
          <p:cNvPr id="8" name="TextBox 7"/>
          <p:cNvSpPr txBox="1"/>
          <p:nvPr/>
        </p:nvSpPr>
        <p:spPr>
          <a:xfrm>
            <a:off x="478680" y="1526827"/>
            <a:ext cx="6094854" cy="3784600"/>
          </a:xfrm>
          <a:prstGeom prst="rect">
            <a:avLst/>
          </a:prstGeom>
          <a:noFill/>
        </p:spPr>
        <p:txBody>
          <a:bodyPr wrap="square">
            <a:spAutoFit/>
          </a:bodyPr>
          <a:lstStyle/>
          <a:p>
            <a:pPr algn="l">
              <a:buFont typeface="+mj-lt"/>
              <a:buAutoNum type="arabicPeriod"/>
            </a:pPr>
            <a:r>
              <a:rPr lang="en-US" altLang="zh-CN" sz="2000" dirty="0"/>
              <a:t>Client（</a:t>
            </a:r>
            <a:r>
              <a:rPr lang="zh-CN" altLang="en-US" sz="2000" dirty="0"/>
              <a:t>客户端） 是一个包含程序现有业务逻辑的类。</a:t>
            </a:r>
            <a:endParaRPr lang="zh-CN" altLang="en-US" sz="2000" dirty="0"/>
          </a:p>
          <a:p>
            <a:pPr algn="l">
              <a:buFont typeface="+mj-lt"/>
              <a:buAutoNum type="arabicPeriod"/>
            </a:pPr>
            <a:endParaRPr lang="en-US" altLang="zh-CN" sz="2000" dirty="0"/>
          </a:p>
          <a:p>
            <a:pPr algn="l">
              <a:buFont typeface="+mj-lt"/>
              <a:buAutoNum type="arabicPeriod"/>
            </a:pPr>
            <a:r>
              <a:rPr lang="en-US" altLang="zh-CN" sz="2000" dirty="0"/>
              <a:t>Client Interface（</a:t>
            </a:r>
            <a:r>
              <a:rPr lang="zh-CN" altLang="en-US" sz="2000" dirty="0"/>
              <a:t>客户端接口） 描述了其他类必须遵循的协议，以便能与客户端代码协作。</a:t>
            </a:r>
            <a:endParaRPr lang="zh-CN" altLang="en-US" sz="2000" dirty="0"/>
          </a:p>
          <a:p>
            <a:pPr algn="l">
              <a:buFont typeface="+mj-lt"/>
              <a:buAutoNum type="arabicPeriod"/>
            </a:pPr>
            <a:endParaRPr lang="en-US" altLang="zh-CN" sz="2000" dirty="0"/>
          </a:p>
          <a:p>
            <a:pPr algn="l">
              <a:buFont typeface="+mj-lt"/>
              <a:buAutoNum type="arabicPeriod"/>
            </a:pPr>
            <a:r>
              <a:rPr lang="en-US" altLang="zh-CN" sz="2000" dirty="0"/>
              <a:t>Service (Adaptee)（</a:t>
            </a:r>
            <a:r>
              <a:rPr lang="zh-CN" altLang="en-US" sz="2000" dirty="0"/>
              <a:t>服务/被适配者） 是一些有用的类（通常是第三方或遗留的）。客户端无法直接使用该类，因为它具有不兼容的接口。</a:t>
            </a:r>
            <a:endParaRPr lang="zh-CN" altLang="en-US" sz="2000" dirty="0"/>
          </a:p>
          <a:p>
            <a:pPr algn="l">
              <a:buFont typeface="+mj-lt"/>
              <a:buAutoNum type="arabicPeriod"/>
            </a:pPr>
            <a:endParaRPr lang="en-US" altLang="zh-CN" sz="2000" dirty="0"/>
          </a:p>
          <a:p>
            <a:pPr algn="l">
              <a:buFont typeface="+mj-lt"/>
              <a:buAutoNum type="arabicPeriod"/>
            </a:pPr>
            <a:r>
              <a:rPr lang="en-US" altLang="zh-CN" sz="2000" dirty="0"/>
              <a:t>Adapter（</a:t>
            </a:r>
            <a:r>
              <a:rPr lang="zh-CN" altLang="en-US" sz="2000" dirty="0"/>
              <a:t>适配器） 是一个能够同时与客户端和服务协同工作的类。</a:t>
            </a:r>
            <a:endParaRPr lang="zh-CN" altLang="en-US" sz="2000" dirty="0"/>
          </a:p>
        </p:txBody>
      </p:sp>
      <p:sp>
        <p:nvSpPr>
          <p:cNvPr id="5" name="TextBox 4"/>
          <p:cNvSpPr txBox="1"/>
          <p:nvPr/>
        </p:nvSpPr>
        <p:spPr>
          <a:xfrm>
            <a:off x="10330406" y="2973845"/>
            <a:ext cx="1035934" cy="369332"/>
          </a:xfrm>
          <a:prstGeom prst="rect">
            <a:avLst/>
          </a:prstGeom>
          <a:noFill/>
        </p:spPr>
        <p:txBody>
          <a:bodyPr wrap="square">
            <a:spAutoFit/>
          </a:bodyPr>
          <a:lstStyle/>
          <a:p>
            <a:r>
              <a:rPr lang="en-US" sz="1800" dirty="0" err="1">
                <a:solidFill>
                  <a:srgbClr val="C00000"/>
                </a:solidFill>
              </a:rPr>
              <a:t>Adaptee</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6613" y="1049168"/>
            <a:ext cx="6716469" cy="4228888"/>
          </a:xfrm>
          <a:prstGeom prst="rect">
            <a:avLst/>
          </a:prstGeom>
        </p:spPr>
      </p:pic>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9488" y="1328863"/>
            <a:ext cx="5345899" cy="3057942"/>
          </a:xfrm>
          <a:prstGeom prst="rect">
            <a:avLst/>
          </a:prstGeom>
        </p:spPr>
      </p:pic>
      <p:sp>
        <p:nvSpPr>
          <p:cNvPr id="2" name="Rectangle 1"/>
          <p:cNvSpPr/>
          <p:nvPr/>
        </p:nvSpPr>
        <p:spPr>
          <a:xfrm>
            <a:off x="6699488" y="1415744"/>
            <a:ext cx="5345899" cy="1820942"/>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2331" y="1199638"/>
            <a:ext cx="6716469" cy="4228888"/>
          </a:xfrm>
          <a:prstGeom prst="rect">
            <a:avLst/>
          </a:prstGeom>
        </p:spPr>
      </p:pic>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08800" y="1671040"/>
            <a:ext cx="5283200" cy="2730500"/>
          </a:xfrm>
          <a:prstGeom prst="rect">
            <a:avLst/>
          </a:prstGeom>
        </p:spPr>
      </p:pic>
      <p:sp>
        <p:nvSpPr>
          <p:cNvPr id="5" name="Rectangle 4"/>
          <p:cNvSpPr/>
          <p:nvPr/>
        </p:nvSpPr>
        <p:spPr>
          <a:xfrm>
            <a:off x="1072157" y="1444772"/>
            <a:ext cx="5023843" cy="1591518"/>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08800" y="4532910"/>
            <a:ext cx="4076700" cy="13081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291" y="1211213"/>
            <a:ext cx="6716469" cy="4228888"/>
          </a:xfrm>
          <a:prstGeom prst="rect">
            <a:avLst/>
          </a:prstGeom>
        </p:spPr>
      </p:pic>
      <p:sp>
        <p:nvSpPr>
          <p:cNvPr id="5" name="Rectangle 4"/>
          <p:cNvSpPr/>
          <p:nvPr/>
        </p:nvSpPr>
        <p:spPr>
          <a:xfrm>
            <a:off x="865603" y="3325657"/>
            <a:ext cx="5567948" cy="1963973"/>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04761" y="653970"/>
            <a:ext cx="4622800" cy="1587500"/>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4761" y="2476821"/>
            <a:ext cx="5567948" cy="372720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6613" y="1049168"/>
            <a:ext cx="6716469" cy="4228888"/>
          </a:xfrm>
          <a:prstGeom prst="rect">
            <a:avLst/>
          </a:prstGeom>
        </p:spPr>
      </p:pic>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9488" y="1328863"/>
            <a:ext cx="5345899" cy="3057942"/>
          </a:xfrm>
          <a:prstGeom prst="rect">
            <a:avLst/>
          </a:prstGeom>
        </p:spPr>
      </p:pic>
      <p:sp>
        <p:nvSpPr>
          <p:cNvPr id="2" name="Rectangle 1"/>
          <p:cNvSpPr/>
          <p:nvPr/>
        </p:nvSpPr>
        <p:spPr>
          <a:xfrm>
            <a:off x="6699487" y="3346144"/>
            <a:ext cx="5345899" cy="971856"/>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400" dirty="0">
                <a:latin typeface="Times New Roman" panose="02020603050405020304" charset="0"/>
              </a:rPr>
              <a:t>适配器设计模式：后果</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245360"/>
          </a:xfrm>
          <a:prstGeom prst="rect">
            <a:avLst/>
          </a:prstGeom>
          <a:noFill/>
        </p:spPr>
        <p:txBody>
          <a:bodyPr wrap="square">
            <a:spAutoFit/>
          </a:bodyPr>
          <a:lstStyle/>
          <a:p>
            <a:r>
              <a:rPr lang="zh-CN" altLang="en-US" sz="2000" dirty="0">
                <a:solidFill>
                  <a:schemeClr val="tx1"/>
                </a:solidFill>
                <a:latin typeface="Helvetica" pitchFamily="2" charset="0"/>
                <a:cs typeface="Arial" panose="020B0604020202090204" pitchFamily="34" charset="0"/>
              </a:rPr>
              <a:t>无论何时使用适配器设计模式，都会产生以下</a:t>
            </a:r>
            <a:r>
              <a:rPr lang="en-US" altLang="zh-CN" sz="2000" dirty="0">
                <a:solidFill>
                  <a:srgbClr val="FF0000"/>
                </a:solidFill>
                <a:latin typeface="Helvetica" pitchFamily="2" charset="0"/>
                <a:cs typeface="Arial" panose="020B0604020202090204" pitchFamily="34" charset="0"/>
              </a:rPr>
              <a:t>后果</a:t>
            </a:r>
            <a:r>
              <a:rPr lang="zh-CN" altLang="en-US" sz="2000" dirty="0">
                <a:solidFill>
                  <a:schemeClr val="tx1"/>
                </a:solidFill>
                <a:latin typeface="Helvetica" pitchFamily="2" charset="0"/>
                <a:cs typeface="Arial" panose="020B0604020202090204" pitchFamily="34" charset="0"/>
              </a:rPr>
              <a:t>。</a:t>
            </a:r>
            <a:endParaRPr lang="zh-CN" altLang="en-US" sz="2000" dirty="0">
              <a:solidFill>
                <a:schemeClr val="tx1"/>
              </a:solidFill>
              <a:latin typeface="Helvetica" pitchFamily="2" charset="0"/>
              <a:cs typeface="Arial" panose="020B0604020202090204" pitchFamily="34" charset="0"/>
            </a:endParaRPr>
          </a:p>
          <a:p>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solidFill>
                  <a:srgbClr val="FF0000"/>
                </a:solidFill>
                <a:latin typeface="Helvetica" pitchFamily="2" charset="0"/>
                <a:cs typeface="Arial" panose="020B0604020202090204" pitchFamily="34" charset="0"/>
              </a:rPr>
              <a:t>Client</a:t>
            </a:r>
            <a:r>
              <a:rPr lang="en-US" altLang="zh-CN" sz="2000" dirty="0">
                <a:solidFill>
                  <a:schemeClr val="tx1"/>
                </a:solidFill>
                <a:latin typeface="Helvetica" pitchFamily="2" charset="0"/>
                <a:cs typeface="Arial" panose="020B0604020202090204" pitchFamily="34" charset="0"/>
              </a:rPr>
              <a:t> </a:t>
            </a:r>
            <a:r>
              <a:rPr lang="zh-CN" altLang="en-US" sz="2000" dirty="0">
                <a:solidFill>
                  <a:schemeClr val="tx1"/>
                </a:solidFill>
                <a:latin typeface="Helvetica" pitchFamily="2" charset="0"/>
                <a:cs typeface="Arial" panose="020B0604020202090204" pitchFamily="34" charset="0"/>
              </a:rPr>
              <a:t>和</a:t>
            </a:r>
            <a:r>
              <a:rPr lang="en-US" altLang="zh-CN" sz="2000" dirty="0">
                <a:solidFill>
                  <a:srgbClr val="FF0000"/>
                </a:solidFill>
                <a:latin typeface="Helvetica" pitchFamily="2" charset="0"/>
                <a:cs typeface="Arial" panose="020B0604020202090204" pitchFamily="34" charset="0"/>
              </a:rPr>
              <a:t> Adaptee </a:t>
            </a:r>
            <a:r>
              <a:rPr lang="zh-CN" altLang="en-US" sz="2000" dirty="0">
                <a:solidFill>
                  <a:schemeClr val="tx1"/>
                </a:solidFill>
                <a:latin typeface="Helvetica" pitchFamily="2" charset="0"/>
                <a:cs typeface="Arial" panose="020B0604020202090204" pitchFamily="34" charset="0"/>
              </a:rPr>
              <a:t>无需任何修改即可协同工作。</a:t>
            </a:r>
            <a:endParaRPr lang="zh-CN" altLang="en-US"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solidFill>
                  <a:srgbClr val="FF0000"/>
                </a:solidFill>
                <a:latin typeface="Helvetica" pitchFamily="2" charset="0"/>
                <a:cs typeface="Arial" panose="020B0604020202090204" pitchFamily="34" charset="0"/>
              </a:rPr>
              <a:t>Adapter </a:t>
            </a:r>
            <a:r>
              <a:rPr lang="zh-CN" altLang="en-US" sz="2000" dirty="0">
                <a:solidFill>
                  <a:schemeClr val="tx1"/>
                </a:solidFill>
                <a:latin typeface="Helvetica" pitchFamily="2" charset="0"/>
                <a:cs typeface="Arial" panose="020B0604020202090204" pitchFamily="34" charset="0"/>
              </a:rPr>
              <a:t>与 </a:t>
            </a:r>
            <a:r>
              <a:rPr lang="en-US" altLang="zh-CN" sz="2000" dirty="0">
                <a:solidFill>
                  <a:srgbClr val="FF0000"/>
                </a:solidFill>
                <a:latin typeface="Helvetica" pitchFamily="2" charset="0"/>
                <a:cs typeface="Arial" panose="020B0604020202090204" pitchFamily="34" charset="0"/>
              </a:rPr>
              <a:t>Adaptee</a:t>
            </a:r>
            <a:r>
              <a:rPr lang="en-US" altLang="zh-CN" sz="2000" dirty="0">
                <a:solidFill>
                  <a:schemeClr val="tx1"/>
                </a:solidFill>
                <a:latin typeface="Helvetica" pitchFamily="2" charset="0"/>
                <a:cs typeface="Arial" panose="020B0604020202090204" pitchFamily="34" charset="0"/>
              </a:rPr>
              <a:t> </a:t>
            </a:r>
            <a:r>
              <a:rPr lang="zh-CN" altLang="en-US" sz="2000" dirty="0">
                <a:solidFill>
                  <a:schemeClr val="tx1"/>
                </a:solidFill>
                <a:latin typeface="Helvetica" pitchFamily="2" charset="0"/>
                <a:cs typeface="Arial" panose="020B0604020202090204" pitchFamily="34" charset="0"/>
              </a:rPr>
              <a:t>及其所有子类协同工作。</a:t>
            </a:r>
            <a:endParaRPr lang="zh-CN" altLang="en-US"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如果 </a:t>
            </a:r>
            <a:r>
              <a:rPr lang="en-US" altLang="zh-CN" sz="2000" dirty="0">
                <a:solidFill>
                  <a:srgbClr val="FF0000"/>
                </a:solidFill>
                <a:latin typeface="Helvetica" pitchFamily="2" charset="0"/>
                <a:cs typeface="Arial" panose="020B0604020202090204" pitchFamily="34" charset="0"/>
              </a:rPr>
              <a:t>Client </a:t>
            </a:r>
            <a:r>
              <a:rPr lang="zh-CN" altLang="en-US" sz="2000" dirty="0">
                <a:solidFill>
                  <a:schemeClr val="tx1"/>
                </a:solidFill>
                <a:latin typeface="Helvetica" pitchFamily="2" charset="0"/>
                <a:cs typeface="Arial" panose="020B0604020202090204" pitchFamily="34" charset="0"/>
              </a:rPr>
              <a:t>被子类替换，则需要编写新的 </a:t>
            </a:r>
            <a:r>
              <a:rPr lang="en-US" altLang="zh-CN" sz="2000" dirty="0">
                <a:solidFill>
                  <a:srgbClr val="FF0000"/>
                </a:solidFill>
                <a:latin typeface="Helvetica" pitchFamily="2" charset="0"/>
                <a:cs typeface="Arial" panose="020B0604020202090204" pitchFamily="34" charset="0"/>
              </a:rPr>
              <a:t>Adapter</a:t>
            </a:r>
            <a:r>
              <a:rPr lang="en-US" altLang="zh-CN" sz="2000" dirty="0">
                <a:solidFill>
                  <a:schemeClr val="tx1"/>
                </a:solidFill>
                <a:latin typeface="Helvetica" pitchFamily="2" charset="0"/>
                <a:cs typeface="Arial" panose="020B0604020202090204" pitchFamily="34" charset="0"/>
              </a:rPr>
              <a:t>。</a:t>
            </a:r>
            <a:endParaRPr lang="en-US" altLang="zh-CN" sz="2000" dirty="0">
              <a:solidFill>
                <a:schemeClr val="tx1"/>
              </a:solidFill>
              <a:latin typeface="Helvetica" pitchFamily="2" charset="0"/>
              <a:cs typeface="Arial" panose="020B060402020209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800" dirty="0">
                <a:latin typeface="Times New Roman" panose="02020603050405020304" charset="0"/>
              </a:rPr>
              <a:t>桥接：允许替代实现</a:t>
            </a:r>
            <a:endParaRPr lang="zh-CN" altLang="en-US" sz="48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553335"/>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名称： </a:t>
            </a:r>
            <a:r>
              <a:rPr lang="zh-CN" altLang="en-US" sz="2000" dirty="0">
                <a:solidFill>
                  <a:schemeClr val="tx1"/>
                </a:solidFill>
                <a:latin typeface="Helvetica" pitchFamily="2" charset="0"/>
                <a:cs typeface="Arial" panose="020B0604020202090204" pitchFamily="34" charset="0"/>
              </a:rPr>
              <a:t>桥接设计模式</a:t>
            </a:r>
            <a:endParaRPr lang="zh-CN" altLang="en-US" sz="2000" dirty="0">
              <a:solidFill>
                <a:schemeClr val="tx1"/>
              </a:solidFill>
              <a:latin typeface="Helvetica" pitchFamily="2" charset="0"/>
              <a:cs typeface="Arial" panose="020B0604020202090204" pitchFamily="34" charset="0"/>
            </a:endParaRPr>
          </a:p>
          <a:p>
            <a:r>
              <a:rPr lang="zh-CN" altLang="en-US" sz="2000" b="1" dirty="0">
                <a:solidFill>
                  <a:srgbClr val="515223"/>
                </a:solidFill>
                <a:latin typeface="Helvetica" pitchFamily="2" charset="0"/>
                <a:cs typeface="Arial" panose="020B0604020202090204" pitchFamily="34" charset="0"/>
              </a:rPr>
              <a:t>问题描述： </a:t>
            </a:r>
            <a:endParaRPr lang="zh-CN" altLang="en-US" sz="2000" b="1" dirty="0">
              <a:solidFill>
                <a:srgbClr val="515223"/>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将接口与实现解耦，以便可以替换不同的实现，可能在运行时替换（例如，测试同一接口的不同实现）。</a:t>
            </a:r>
            <a:endParaRPr lang="zh-CN" altLang="en-US" sz="2000" dirty="0">
              <a:solidFill>
                <a:schemeClr val="tx1"/>
              </a:solidFill>
              <a:latin typeface="Helvetica" pitchFamily="2" charset="0"/>
              <a:cs typeface="Arial" panose="020B0604020202090204" pitchFamily="34" charset="0"/>
            </a:endParaRPr>
          </a:p>
          <a:p>
            <a:endParaRPr lang="zh-CN" altLang="en-US" sz="2000" dirty="0">
              <a:solidFill>
                <a:schemeClr val="tx1"/>
              </a:solidFill>
              <a:latin typeface="Helvetica" pitchFamily="2" charset="0"/>
              <a:cs typeface="Arial" panose="020B0604020202090204" pitchFamily="34" charset="0"/>
            </a:endParaRPr>
          </a:p>
          <a:p>
            <a:r>
              <a:rPr lang="zh-CN" altLang="en-US" sz="2000" dirty="0">
                <a:solidFill>
                  <a:srgbClr val="FF0000"/>
                </a:solidFill>
                <a:latin typeface="Helvetica" pitchFamily="2" charset="0"/>
                <a:cs typeface="Arial" panose="020B0604020202090204" pitchFamily="34" charset="0"/>
              </a:rPr>
              <a:t>桥接与适配器设计模式的比较</a:t>
            </a:r>
            <a:endParaRPr lang="en-US" altLang="zh-CN" sz="2000" dirty="0">
              <a:solidFill>
                <a:srgbClr val="FF0000"/>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桥接：定义的接口不改变</a:t>
            </a: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适配器：遗留接口和新接口必须协同工作</a:t>
            </a:r>
            <a:r>
              <a:rPr lang="en-US" altLang="zh-CN" sz="2000" dirty="0">
                <a:solidFill>
                  <a:schemeClr val="tx1"/>
                </a:solidFill>
                <a:latin typeface="Helvetica" pitchFamily="2" charset="0"/>
                <a:cs typeface="Arial" panose="020B0604020202090204" pitchFamily="34" charset="0"/>
              </a:rPr>
              <a:t> </a:t>
            </a:r>
            <a:endParaRPr lang="en-US" altLang="zh-CN" sz="2000" dirty="0">
              <a:solidFill>
                <a:schemeClr val="tx1"/>
              </a:solidFill>
              <a:latin typeface="Helvetica" pitchFamily="2" charset="0"/>
              <a:cs typeface="Arial" panose="020B060402020209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400" dirty="0">
                <a:latin typeface="Times New Roman" panose="02020603050405020304" charset="0"/>
              </a:rPr>
              <a:t>桥接</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54575" y="1536557"/>
            <a:ext cx="4021409" cy="2877314"/>
          </a:xfrm>
          <a:prstGeom prst="rect">
            <a:avLst/>
          </a:prstGeom>
        </p:spPr>
      </p:pic>
      <p:sp>
        <p:nvSpPr>
          <p:cNvPr id="8" name="Rectangle 7"/>
          <p:cNvSpPr/>
          <p:nvPr/>
        </p:nvSpPr>
        <p:spPr>
          <a:xfrm>
            <a:off x="983150" y="1317457"/>
            <a:ext cx="2145059" cy="94877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10" name="TextBox 9"/>
          <p:cNvSpPr txBox="1"/>
          <p:nvPr/>
        </p:nvSpPr>
        <p:spPr>
          <a:xfrm>
            <a:off x="983150" y="1317457"/>
            <a:ext cx="920989" cy="369332"/>
          </a:xfrm>
          <a:prstGeom prst="rect">
            <a:avLst/>
          </a:prstGeom>
          <a:noFill/>
        </p:spPr>
        <p:txBody>
          <a:bodyPr wrap="square">
            <a:spAutoFit/>
          </a:bodyPr>
          <a:lstStyle/>
          <a:p>
            <a:r>
              <a:rPr lang="en-US" altLang="zh-CN" sz="1800" dirty="0">
                <a:solidFill>
                  <a:srgbClr val="C00000"/>
                </a:solidFill>
              </a:rPr>
              <a:t>Legacy</a:t>
            </a:r>
            <a:endParaRPr lang="en-US" dirty="0">
              <a:solidFill>
                <a:srgbClr val="C00000"/>
              </a:solidFill>
            </a:endParaRPr>
          </a:p>
        </p:txBody>
      </p:sp>
      <p:sp>
        <p:nvSpPr>
          <p:cNvPr id="12" name="TextBox 11"/>
          <p:cNvSpPr txBox="1"/>
          <p:nvPr/>
        </p:nvSpPr>
        <p:spPr>
          <a:xfrm>
            <a:off x="3427842" y="1289956"/>
            <a:ext cx="920989" cy="369332"/>
          </a:xfrm>
          <a:prstGeom prst="rect">
            <a:avLst/>
          </a:prstGeom>
          <a:noFill/>
        </p:spPr>
        <p:txBody>
          <a:bodyPr wrap="square">
            <a:spAutoFit/>
          </a:bodyPr>
          <a:lstStyle/>
          <a:p>
            <a:r>
              <a:rPr lang="en-US" altLang="zh-CN" sz="1800" dirty="0">
                <a:solidFill>
                  <a:schemeClr val="accent1"/>
                </a:solidFill>
              </a:rPr>
              <a:t>New</a:t>
            </a:r>
            <a:endParaRPr lang="en-US" dirty="0">
              <a:solidFill>
                <a:schemeClr val="accent1"/>
              </a:solidFill>
            </a:endParaRPr>
          </a:p>
        </p:txBody>
      </p:sp>
      <p:sp>
        <p:nvSpPr>
          <p:cNvPr id="13" name="Rectangle 12"/>
          <p:cNvSpPr/>
          <p:nvPr/>
        </p:nvSpPr>
        <p:spPr>
          <a:xfrm>
            <a:off x="3455362" y="1317456"/>
            <a:ext cx="893469" cy="948777"/>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2508" y="1985378"/>
            <a:ext cx="4418268" cy="197967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400" dirty="0">
                <a:latin typeface="Times New Roman" panose="02020603050405020304" charset="0"/>
              </a:rPr>
              <a:t>桥接</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904551" y="1419917"/>
            <a:ext cx="5106403" cy="3558231"/>
          </a:xfrm>
          <a:prstGeom prst="rect">
            <a:avLst/>
          </a:prstGeom>
        </p:spPr>
      </p:pic>
      <p:sp>
        <p:nvSpPr>
          <p:cNvPr id="9" name="TextBox 8"/>
          <p:cNvSpPr txBox="1"/>
          <p:nvPr/>
        </p:nvSpPr>
        <p:spPr>
          <a:xfrm>
            <a:off x="572359" y="1028699"/>
            <a:ext cx="6094854" cy="3784600"/>
          </a:xfrm>
          <a:prstGeom prst="rect">
            <a:avLst/>
          </a:prstGeom>
          <a:noFill/>
        </p:spPr>
        <p:txBody>
          <a:bodyPr wrap="square">
            <a:spAutoFit/>
          </a:bodyPr>
          <a:lstStyle/>
          <a:p>
            <a:pPr algn="l">
              <a:buFont typeface="+mj-lt"/>
              <a:buAutoNum type="arabicPeriod"/>
            </a:pPr>
            <a:r>
              <a:rPr lang="en-US" altLang="zh-CN" sz="2000" dirty="0"/>
              <a:t>Abstraction（</a:t>
            </a:r>
            <a:r>
              <a:rPr lang="zh-CN" altLang="en-US" sz="2000" dirty="0"/>
              <a:t>抽象） 提供高层控制逻辑。它依赖实现对象来完成实际的底层工作。</a:t>
            </a:r>
            <a:endParaRPr lang="zh-CN" altLang="en-US" sz="2000" dirty="0"/>
          </a:p>
          <a:p>
            <a:pPr algn="l">
              <a:buFont typeface="+mj-lt"/>
              <a:buAutoNum type="arabicPeriod"/>
            </a:pPr>
            <a:endParaRPr lang="en-US" altLang="zh-CN" sz="2000" dirty="0"/>
          </a:p>
          <a:p>
            <a:pPr algn="l">
              <a:buFont typeface="+mj-lt"/>
              <a:buAutoNum type="arabicPeriod"/>
            </a:pPr>
            <a:r>
              <a:rPr lang="en-US" altLang="zh-CN" sz="2000" dirty="0"/>
              <a:t>Implementation（</a:t>
            </a:r>
            <a:r>
              <a:rPr lang="zh-CN" altLang="en-US" sz="2000" dirty="0"/>
              <a:t>实现） 声明了所有具体实现共有的接口。抽象只能通过此处声明的方法与实现对象通信。</a:t>
            </a:r>
            <a:endParaRPr lang="zh-CN" altLang="en-US" sz="2000" dirty="0"/>
          </a:p>
          <a:p>
            <a:pPr algn="l">
              <a:buFont typeface="+mj-lt"/>
              <a:buAutoNum type="arabicPeriod"/>
            </a:pPr>
            <a:endParaRPr lang="en-US" altLang="zh-CN" sz="2000" dirty="0"/>
          </a:p>
          <a:p>
            <a:pPr algn="l">
              <a:buFont typeface="+mj-lt"/>
              <a:buAutoNum type="arabicPeriod"/>
            </a:pPr>
            <a:r>
              <a:rPr lang="en-US" altLang="zh-CN" sz="2000" dirty="0"/>
              <a:t>Concrete Implementations（</a:t>
            </a:r>
            <a:r>
              <a:rPr lang="zh-CN" altLang="en-US" sz="2000" dirty="0"/>
              <a:t>具体实现） 包含平台特定的代码。</a:t>
            </a:r>
            <a:endParaRPr lang="zh-CN" altLang="en-US" sz="2000" dirty="0"/>
          </a:p>
          <a:p>
            <a:pPr algn="l">
              <a:buFont typeface="+mj-lt"/>
              <a:buAutoNum type="arabicPeriod"/>
            </a:pPr>
            <a:endParaRPr lang="en-US" altLang="zh-CN" sz="2000" dirty="0"/>
          </a:p>
          <a:p>
            <a:pPr algn="l">
              <a:buFont typeface="+mj-lt"/>
              <a:buAutoNum type="arabicPeriod"/>
            </a:pPr>
            <a:r>
              <a:rPr lang="en-US" altLang="zh-CN" sz="2000" dirty="0"/>
              <a:t>Refined Abstractions（</a:t>
            </a:r>
            <a:r>
              <a:rPr lang="zh-CN" altLang="en-US" sz="2000" dirty="0"/>
              <a:t>精化抽象） 通过通用的实现接口提供实现的变体。</a:t>
            </a:r>
            <a:endParaRPr lang="zh-CN" alt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4936" y="1146412"/>
            <a:ext cx="5504521" cy="4243423"/>
          </a:xfrm>
          <a:prstGeom prst="rect">
            <a:avLst/>
          </a:prstGeom>
        </p:spPr>
      </p:pic>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95885" y="1363528"/>
            <a:ext cx="4165600" cy="17907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5061" y="1398895"/>
            <a:ext cx="5504521" cy="4243423"/>
          </a:xfrm>
          <a:prstGeom prst="rect">
            <a:avLst/>
          </a:prstGeom>
        </p:spPr>
      </p:pic>
      <p:sp>
        <p:nvSpPr>
          <p:cNvPr id="15" name="Title 1"/>
          <p:cNvSpPr>
            <a:spLocks noGrp="1"/>
          </p:cNvSpPr>
          <p:nvPr>
            <p:ph type="title"/>
          </p:nvPr>
        </p:nvSpPr>
        <p:spPr>
          <a:xfrm>
            <a:off x="1091254" y="237834"/>
            <a:ext cx="9099225" cy="790865"/>
          </a:xfrm>
        </p:spPr>
        <p:txBody>
          <a:bodyPr>
            <a:noAutofit/>
          </a:bodyPr>
          <a:lstStyle/>
          <a:p>
            <a:r>
              <a:rPr lang="zh-CN" altLang="en-US" sz="4400" dirty="0">
                <a:latin typeface="Times New Roman" panose="02020603050405020304" charset="0"/>
              </a:rPr>
              <a:t>桥接 示例</a:t>
            </a:r>
            <a:endParaRPr lang="zh-CN" altLang="en-US" sz="4400" dirty="0">
              <a:latin typeface="Times New Roman" panose="02020603050405020304" charset="0"/>
            </a:endParaRPr>
          </a:p>
        </p:txBody>
      </p:sp>
      <p:sp>
        <p:nvSpPr>
          <p:cNvPr id="16" name="Rectangle 15"/>
          <p:cNvSpPr/>
          <p:nvPr/>
        </p:nvSpPr>
        <p:spPr>
          <a:xfrm>
            <a:off x="3447143" y="2040339"/>
            <a:ext cx="2408084" cy="3540403"/>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36774" y="1451428"/>
            <a:ext cx="4737511" cy="433251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5061" y="1398895"/>
            <a:ext cx="5504521" cy="4243423"/>
          </a:xfrm>
          <a:prstGeom prst="rect">
            <a:avLst/>
          </a:prstGeom>
        </p:spPr>
      </p:pic>
      <p:sp>
        <p:nvSpPr>
          <p:cNvPr id="15" name="Title 1"/>
          <p:cNvSpPr>
            <a:spLocks noGrp="1"/>
          </p:cNvSpPr>
          <p:nvPr>
            <p:ph type="title"/>
          </p:nvPr>
        </p:nvSpPr>
        <p:spPr>
          <a:xfrm>
            <a:off x="1091254" y="237834"/>
            <a:ext cx="9099225" cy="790865"/>
          </a:xfrm>
        </p:spPr>
        <p:txBody>
          <a:bodyPr>
            <a:noAutofit/>
          </a:bodyPr>
          <a:lstStyle/>
          <a:p>
            <a:r>
              <a:rPr lang="zh-CN" altLang="en-US" sz="4800" dirty="0">
                <a:latin typeface="Times New Roman" panose="02020603050405020304" charset="0"/>
              </a:rPr>
              <a:t>桥接 示例</a:t>
            </a:r>
            <a:endParaRPr lang="zh-CN" altLang="en-US" sz="4800" dirty="0">
              <a:latin typeface="Times New Roman" panose="02020603050405020304" charset="0"/>
            </a:endParaRPr>
          </a:p>
        </p:txBody>
      </p:sp>
      <p:sp>
        <p:nvSpPr>
          <p:cNvPr id="4" name="Rectangle 3"/>
          <p:cNvSpPr/>
          <p:nvPr/>
        </p:nvSpPr>
        <p:spPr>
          <a:xfrm>
            <a:off x="1740089" y="2204113"/>
            <a:ext cx="1644556" cy="2060812"/>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48979" y="1764020"/>
            <a:ext cx="4264934" cy="3576061"/>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5061" y="1398895"/>
            <a:ext cx="5504521" cy="4243423"/>
          </a:xfrm>
          <a:prstGeom prst="rect">
            <a:avLst/>
          </a:prstGeom>
        </p:spPr>
      </p:pic>
      <p:sp>
        <p:nvSpPr>
          <p:cNvPr id="15" name="Title 1"/>
          <p:cNvSpPr>
            <a:spLocks noGrp="1"/>
          </p:cNvSpPr>
          <p:nvPr>
            <p:ph type="title"/>
          </p:nvPr>
        </p:nvSpPr>
        <p:spPr>
          <a:xfrm>
            <a:off x="1091254" y="237834"/>
            <a:ext cx="9099225" cy="790865"/>
          </a:xfrm>
        </p:spPr>
        <p:txBody>
          <a:bodyPr>
            <a:noAutofit/>
          </a:bodyPr>
          <a:lstStyle/>
          <a:p>
            <a:r>
              <a:rPr lang="zh-CN" altLang="en-US" dirty="0">
                <a:latin typeface="Times New Roman" panose="02020603050405020304" charset="0"/>
                <a:sym typeface="+mn-ea"/>
              </a:rPr>
              <a:t>桥接 示例</a:t>
            </a:r>
            <a:endParaRPr lang="zh-CN" altLang="en-US" sz="23900" dirty="0">
              <a:latin typeface="Times New Roman" panose="02020603050405020304" charset="0"/>
              <a:sym typeface="+mn-ea"/>
            </a:endParaRPr>
          </a:p>
        </p:txBody>
      </p:sp>
      <p:sp>
        <p:nvSpPr>
          <p:cNvPr id="4" name="Rectangle 3"/>
          <p:cNvSpPr/>
          <p:nvPr/>
        </p:nvSpPr>
        <p:spPr>
          <a:xfrm>
            <a:off x="3275462" y="4353636"/>
            <a:ext cx="2141196" cy="4572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22591" y="2555406"/>
            <a:ext cx="4203700" cy="19304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91254" y="1378424"/>
            <a:ext cx="5504521" cy="4243423"/>
          </a:xfrm>
          <a:prstGeom prst="rect">
            <a:avLst/>
          </a:prstGeom>
        </p:spPr>
      </p:pic>
      <p:sp>
        <p:nvSpPr>
          <p:cNvPr id="15" name="Title 1"/>
          <p:cNvSpPr>
            <a:spLocks noGrp="1"/>
          </p:cNvSpPr>
          <p:nvPr>
            <p:ph type="title"/>
          </p:nvPr>
        </p:nvSpPr>
        <p:spPr>
          <a:xfrm>
            <a:off x="1091254" y="237834"/>
            <a:ext cx="9099225" cy="790865"/>
          </a:xfrm>
        </p:spPr>
        <p:txBody>
          <a:bodyPr>
            <a:noAutofit/>
          </a:bodyPr>
          <a:lstStyle/>
          <a:p>
            <a:r>
              <a:rPr lang="zh-CN" altLang="en-US" dirty="0">
                <a:latin typeface="Times New Roman" panose="02020603050405020304" charset="0"/>
                <a:sym typeface="+mn-ea"/>
              </a:rPr>
              <a:t>桥接 示例</a:t>
            </a:r>
            <a:endParaRPr lang="zh-CN" altLang="en-US" sz="23900" dirty="0">
              <a:latin typeface="Times New Roman" panose="02020603050405020304" charset="0"/>
              <a:sym typeface="+mn-ea"/>
            </a:endParaRPr>
          </a:p>
        </p:txBody>
      </p:sp>
      <p:sp>
        <p:nvSpPr>
          <p:cNvPr id="4" name="Rectangle 3"/>
          <p:cNvSpPr/>
          <p:nvPr/>
        </p:nvSpPr>
        <p:spPr>
          <a:xfrm>
            <a:off x="5206181" y="4346812"/>
            <a:ext cx="1057702" cy="4572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09912" y="1574800"/>
            <a:ext cx="2890834" cy="300061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36345" y="1307288"/>
            <a:ext cx="5504521" cy="4243423"/>
          </a:xfrm>
          <a:prstGeom prst="rect">
            <a:avLst/>
          </a:prstGeom>
        </p:spPr>
      </p:pic>
      <p:sp>
        <p:nvSpPr>
          <p:cNvPr id="15" name="Title 1"/>
          <p:cNvSpPr>
            <a:spLocks noGrp="1"/>
          </p:cNvSpPr>
          <p:nvPr>
            <p:ph type="title"/>
          </p:nvPr>
        </p:nvSpPr>
        <p:spPr>
          <a:xfrm>
            <a:off x="1091254" y="237834"/>
            <a:ext cx="9099225" cy="790865"/>
          </a:xfrm>
        </p:spPr>
        <p:txBody>
          <a:bodyPr>
            <a:noAutofit/>
          </a:bodyPr>
          <a:lstStyle/>
          <a:p>
            <a:r>
              <a:rPr lang="zh-CN" altLang="en-US" dirty="0">
                <a:latin typeface="Times New Roman" panose="02020603050405020304" charset="0"/>
                <a:sym typeface="+mn-ea"/>
              </a:rPr>
              <a:t>桥接 示例</a:t>
            </a:r>
            <a:endParaRPr lang="zh-CN" altLang="en-US" sz="23900" dirty="0">
              <a:latin typeface="Times New Roman" panose="02020603050405020304" charset="0"/>
              <a:sym typeface="+mn-ea"/>
            </a:endParaRPr>
          </a:p>
        </p:txBody>
      </p:sp>
      <p:sp>
        <p:nvSpPr>
          <p:cNvPr id="4" name="Rectangle 3"/>
          <p:cNvSpPr/>
          <p:nvPr/>
        </p:nvSpPr>
        <p:spPr>
          <a:xfrm>
            <a:off x="1799057" y="2358166"/>
            <a:ext cx="1388129" cy="2926756"/>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86966" y="1215163"/>
            <a:ext cx="4457219" cy="495472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400" dirty="0">
                <a:latin typeface="Times New Roman" panose="02020603050405020304" charset="0"/>
              </a:rPr>
              <a:t>桥接：允许替代实现</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86131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解决方案：</a:t>
            </a:r>
            <a:endParaRPr lang="zh-CN" altLang="en-US"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pPr marL="342900" indent="-342900">
              <a:buFont typeface="Arial" panose="020B0604020202090204" pitchFamily="34" charset="0"/>
              <a:buChar char="•"/>
            </a:pPr>
            <a:r>
              <a:rPr lang="en-US" altLang="zh-CN" sz="2000" dirty="0">
                <a:solidFill>
                  <a:srgbClr val="FF0000"/>
                </a:solidFill>
                <a:latin typeface="Helvetica" pitchFamily="2" charset="0"/>
                <a:cs typeface="Arial" panose="020B0604020202090204" pitchFamily="34" charset="0"/>
              </a:rPr>
              <a:t>Abstraction </a:t>
            </a:r>
            <a:r>
              <a:rPr lang="zh-CN" altLang="en-US" sz="2000" dirty="0">
                <a:solidFill>
                  <a:schemeClr val="tx1"/>
                </a:solidFill>
                <a:latin typeface="Helvetica" pitchFamily="2" charset="0"/>
                <a:cs typeface="Arial" panose="020B0604020202090204" pitchFamily="34" charset="0"/>
              </a:rPr>
              <a:t>类定义了客户端可见的接口。</a:t>
            </a:r>
            <a:endParaRPr lang="zh-CN" altLang="en-US"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endParaRPr lang="en-US" altLang="zh-CN"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en-US" altLang="zh-CN" sz="2000" dirty="0">
                <a:solidFill>
                  <a:srgbClr val="FF0000"/>
                </a:solidFill>
                <a:latin typeface="Helvetica" pitchFamily="2" charset="0"/>
                <a:cs typeface="Arial" panose="020B0604020202090204" pitchFamily="34" charset="0"/>
              </a:rPr>
              <a:t>Implementor </a:t>
            </a:r>
            <a:r>
              <a:rPr lang="zh-CN" altLang="en-US" sz="2000" dirty="0">
                <a:solidFill>
                  <a:schemeClr val="tx1"/>
                </a:solidFill>
                <a:latin typeface="Helvetica" pitchFamily="2" charset="0"/>
                <a:cs typeface="Arial" panose="020B0604020202090204" pitchFamily="34" charset="0"/>
              </a:rPr>
              <a:t>是一个抽象类，定义了 </a:t>
            </a:r>
            <a:r>
              <a:rPr lang="en-US" altLang="zh-CN" sz="2000" dirty="0">
                <a:solidFill>
                  <a:srgbClr val="FF0000"/>
                </a:solidFill>
                <a:latin typeface="Helvetica" pitchFamily="2" charset="0"/>
                <a:cs typeface="Arial" panose="020B0604020202090204" pitchFamily="34" charset="0"/>
              </a:rPr>
              <a:t>Abstraction </a:t>
            </a:r>
            <a:r>
              <a:rPr lang="zh-CN" altLang="en-US" sz="2000" dirty="0">
                <a:solidFill>
                  <a:schemeClr val="tx1"/>
                </a:solidFill>
                <a:latin typeface="Helvetica" pitchFamily="2" charset="0"/>
                <a:cs typeface="Arial" panose="020B0604020202090204" pitchFamily="34" charset="0"/>
              </a:rPr>
              <a:t>可用的底层方法。</a:t>
            </a:r>
            <a:endParaRPr lang="zh-CN" altLang="en-US"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endParaRPr lang="en-US" altLang="zh-CN"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一个 </a:t>
            </a:r>
            <a:r>
              <a:rPr lang="en-US" altLang="zh-CN" sz="2000" dirty="0">
                <a:solidFill>
                  <a:srgbClr val="FF0000"/>
                </a:solidFill>
                <a:latin typeface="Helvetica" pitchFamily="2" charset="0"/>
                <a:cs typeface="Arial" panose="020B0604020202090204" pitchFamily="34" charset="0"/>
              </a:rPr>
              <a:t>Abstraction</a:t>
            </a:r>
            <a:r>
              <a:rPr lang="en-US" altLang="zh-CN" sz="2000" dirty="0">
                <a:solidFill>
                  <a:schemeClr val="tx1"/>
                </a:solidFill>
                <a:latin typeface="Helvetica" pitchFamily="2" charset="0"/>
                <a:cs typeface="Arial" panose="020B0604020202090204" pitchFamily="34" charset="0"/>
              </a:rPr>
              <a:t> </a:t>
            </a:r>
            <a:r>
              <a:rPr lang="zh-CN" altLang="en-US" sz="2000" dirty="0">
                <a:solidFill>
                  <a:schemeClr val="tx1"/>
                </a:solidFill>
                <a:latin typeface="Helvetica" pitchFamily="2" charset="0"/>
                <a:cs typeface="Arial" panose="020B0604020202090204" pitchFamily="34" charset="0"/>
              </a:rPr>
              <a:t>实例维护一个对其相应 </a:t>
            </a:r>
            <a:r>
              <a:rPr lang="en-US" altLang="zh-CN" sz="2000" dirty="0">
                <a:solidFill>
                  <a:srgbClr val="FF0000"/>
                </a:solidFill>
                <a:latin typeface="Helvetica" pitchFamily="2" charset="0"/>
                <a:cs typeface="Arial" panose="020B0604020202090204" pitchFamily="34" charset="0"/>
              </a:rPr>
              <a:t>Implementor</a:t>
            </a:r>
            <a:r>
              <a:rPr lang="en-US" altLang="zh-CN" sz="2000" dirty="0">
                <a:solidFill>
                  <a:schemeClr val="tx1"/>
                </a:solidFill>
                <a:latin typeface="Helvetica" pitchFamily="2" charset="0"/>
                <a:cs typeface="Arial" panose="020B0604020202090204" pitchFamily="34" charset="0"/>
              </a:rPr>
              <a:t> </a:t>
            </a:r>
            <a:r>
              <a:rPr lang="zh-CN" altLang="en-US" sz="2000" dirty="0">
                <a:solidFill>
                  <a:schemeClr val="tx1"/>
                </a:solidFill>
                <a:latin typeface="Helvetica" pitchFamily="2" charset="0"/>
                <a:cs typeface="Arial" panose="020B0604020202090204" pitchFamily="34" charset="0"/>
              </a:rPr>
              <a:t>实例的引用。</a:t>
            </a:r>
            <a:endParaRPr lang="zh-CN" altLang="en-US"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endParaRPr lang="en-US" altLang="zh-CN"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en-US" altLang="zh-CN" sz="2000" dirty="0">
                <a:solidFill>
                  <a:srgbClr val="FF0000"/>
                </a:solidFill>
                <a:latin typeface="Helvetica" pitchFamily="2" charset="0"/>
                <a:cs typeface="Arial" panose="020B0604020202090204" pitchFamily="34" charset="0"/>
              </a:rPr>
              <a:t>Abstraction </a:t>
            </a:r>
            <a:r>
              <a:rPr lang="zh-CN" altLang="en-US" sz="2000" dirty="0">
                <a:solidFill>
                  <a:schemeClr val="tx1"/>
                </a:solidFill>
                <a:latin typeface="Helvetica" pitchFamily="2" charset="0"/>
                <a:cs typeface="Arial" panose="020B0604020202090204" pitchFamily="34" charset="0"/>
              </a:rPr>
              <a:t>和 </a:t>
            </a:r>
            <a:r>
              <a:rPr lang="en-US" altLang="zh-CN" sz="2000" dirty="0">
                <a:solidFill>
                  <a:srgbClr val="FF0000"/>
                </a:solidFill>
                <a:latin typeface="Helvetica" pitchFamily="2" charset="0"/>
                <a:cs typeface="Arial" panose="020B0604020202090204" pitchFamily="34" charset="0"/>
              </a:rPr>
              <a:t>Implementor</a:t>
            </a:r>
            <a:r>
              <a:rPr lang="en-US" altLang="zh-CN" sz="2000" dirty="0">
                <a:solidFill>
                  <a:schemeClr val="tx1"/>
                </a:solidFill>
                <a:latin typeface="Helvetica" pitchFamily="2" charset="0"/>
                <a:cs typeface="Arial" panose="020B0604020202090204" pitchFamily="34" charset="0"/>
              </a:rPr>
              <a:t> </a:t>
            </a:r>
            <a:r>
              <a:rPr lang="zh-CN" altLang="en-US" sz="2000" dirty="0">
                <a:solidFill>
                  <a:schemeClr val="tx1"/>
                </a:solidFill>
                <a:latin typeface="Helvetica" pitchFamily="2" charset="0"/>
                <a:cs typeface="Arial" panose="020B0604020202090204" pitchFamily="34" charset="0"/>
              </a:rPr>
              <a:t>可以独立地精化。</a:t>
            </a:r>
            <a:endParaRPr lang="zh-CN" altLang="en-US" sz="2000" dirty="0">
              <a:solidFill>
                <a:schemeClr val="tx1"/>
              </a:solidFill>
              <a:latin typeface="Helvetica" pitchFamily="2" charset="0"/>
              <a:cs typeface="Arial" panose="020B060402020209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800" dirty="0">
                <a:latin typeface="Times New Roman" panose="02020603050405020304" charset="0"/>
              </a:rPr>
              <a:t>桥接：后果</a:t>
            </a:r>
            <a:endParaRPr lang="zh-CN" altLang="en-US" sz="48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1630045"/>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后果：</a:t>
            </a:r>
            <a:endParaRPr lang="zh-CN" altLang="en-US"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solidFill>
                  <a:schemeClr val="tx1"/>
                </a:solidFill>
                <a:latin typeface="Helvetica" pitchFamily="2" charset="0"/>
                <a:cs typeface="Arial" panose="020B0604020202090204" pitchFamily="34" charset="0"/>
              </a:rPr>
              <a:t>Client </a:t>
            </a:r>
            <a:r>
              <a:rPr lang="zh-CN" altLang="en-US" sz="2000" dirty="0">
                <a:solidFill>
                  <a:schemeClr val="tx1"/>
                </a:solidFill>
                <a:latin typeface="Helvetica" pitchFamily="2" charset="0"/>
                <a:cs typeface="Arial" panose="020B0604020202090204" pitchFamily="34" charset="0"/>
              </a:rPr>
              <a:t>与抽象及具体实现隔离。</a:t>
            </a:r>
            <a:endParaRPr lang="zh-CN" altLang="en-US"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接口和实现可以独立测试。</a:t>
            </a:r>
            <a:endParaRPr lang="zh-CN" altLang="en-US" sz="2000" dirty="0">
              <a:solidFill>
                <a:schemeClr val="tx1"/>
              </a:solidFill>
              <a:latin typeface="Helvetica" pitchFamily="2" charset="0"/>
              <a:cs typeface="Arial" panose="020B060402020209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800" dirty="0">
                <a:latin typeface="Times New Roman" panose="02020603050405020304" charset="0"/>
              </a:rPr>
              <a:t>策略：封装算法</a:t>
            </a:r>
            <a:endParaRPr lang="zh-CN" altLang="en-US" sz="48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1630045"/>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名称： </a:t>
            </a:r>
            <a:r>
              <a:rPr lang="zh-CN" altLang="en-US" sz="2000" dirty="0">
                <a:solidFill>
                  <a:schemeClr val="tx1"/>
                </a:solidFill>
                <a:latin typeface="Helvetica" pitchFamily="2" charset="0"/>
                <a:cs typeface="Arial" panose="020B0604020202090204" pitchFamily="34" charset="0"/>
              </a:rPr>
              <a:t>策略设计模式</a:t>
            </a:r>
            <a:endParaRPr lang="zh-CN" altLang="en-US" sz="2000" dirty="0">
              <a:solidFill>
                <a:schemeClr val="tx1"/>
              </a:solidFill>
              <a:latin typeface="Helvetica" pitchFamily="2" charset="0"/>
              <a:cs typeface="Arial" panose="020B0604020202090204" pitchFamily="34" charset="0"/>
            </a:endParaRPr>
          </a:p>
          <a:p>
            <a:endParaRPr lang="zh-CN" altLang="en-US" sz="2000" dirty="0">
              <a:solidFill>
                <a:schemeClr val="tx1"/>
              </a:solidFill>
              <a:latin typeface="Helvetica" pitchFamily="2" charset="0"/>
              <a:cs typeface="Arial" panose="020B0604020202090204" pitchFamily="34" charset="0"/>
            </a:endParaRPr>
          </a:p>
          <a:p>
            <a:r>
              <a:rPr lang="zh-CN" altLang="en-US" sz="2000" b="1" dirty="0">
                <a:solidFill>
                  <a:srgbClr val="515223"/>
                </a:solidFill>
                <a:latin typeface="Helvetica" pitchFamily="2" charset="0"/>
                <a:cs typeface="Arial" panose="020B0604020202090204" pitchFamily="34" charset="0"/>
              </a:rPr>
              <a:t>示例： </a:t>
            </a:r>
            <a:r>
              <a:rPr lang="zh-CN" altLang="en-US" sz="2000" dirty="0">
                <a:solidFill>
                  <a:schemeClr val="tx1"/>
                </a:solidFill>
                <a:latin typeface="Helvetica" pitchFamily="2" charset="0"/>
                <a:cs typeface="Arial" panose="020B0604020202090204" pitchFamily="34" charset="0"/>
              </a:rPr>
              <a:t>在计算器中，你需要构建各种操作（加、乘、减、除等）。</a:t>
            </a:r>
            <a:endParaRPr lang="zh-CN" altLang="en-US" sz="2000" dirty="0">
              <a:solidFill>
                <a:schemeClr val="tx1"/>
              </a:solidFill>
              <a:latin typeface="Helvetica" pitchFamily="2" charset="0"/>
              <a:cs typeface="Arial" panose="020B0604020202090204" pitchFamily="34" charset="0"/>
            </a:endParaRPr>
          </a:p>
          <a:p>
            <a:endParaRPr lang="zh-CN" altLang="en-US" sz="2000" dirty="0">
              <a:solidFill>
                <a:schemeClr val="tx1"/>
              </a:solidFill>
              <a:latin typeface="Helvetica" pitchFamily="2" charset="0"/>
              <a:cs typeface="Arial" panose="020B0604020202090204" pitchFamily="34" charset="0"/>
            </a:endParaRPr>
          </a:p>
          <a:p>
            <a:r>
              <a:rPr lang="zh-CN" altLang="en-US" sz="2000" b="1" dirty="0">
                <a:solidFill>
                  <a:srgbClr val="515223"/>
                </a:solidFill>
                <a:latin typeface="Helvetica" pitchFamily="2" charset="0"/>
                <a:cs typeface="Arial" panose="020B0604020202090204" pitchFamily="34" charset="0"/>
              </a:rPr>
              <a:t>问题描述： </a:t>
            </a:r>
            <a:r>
              <a:rPr lang="zh-CN" altLang="en-US" sz="2000" dirty="0">
                <a:solidFill>
                  <a:schemeClr val="tx1"/>
                </a:solidFill>
                <a:latin typeface="Helvetica" pitchFamily="2" charset="0"/>
                <a:cs typeface="Arial" panose="020B0604020202090204" pitchFamily="34" charset="0"/>
              </a:rPr>
              <a:t>将策略决定类与一组机制解耦，以便可以透明地更换不同的机制。</a:t>
            </a:r>
            <a:endParaRPr lang="zh-CN" altLang="en-US" sz="2000" dirty="0">
              <a:solidFill>
                <a:schemeClr val="tx1"/>
              </a:solidFill>
              <a:latin typeface="Helvetica" pitchFamily="2" charset="0"/>
              <a:cs typeface="Arial" panose="020B060402020209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dirty="0">
                <a:latin typeface="Times New Roman" panose="02020603050405020304" charset="0"/>
              </a:rPr>
              <a:t>策略示例</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119367" y="2387600"/>
            <a:ext cx="6565900" cy="3302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54666" y="1500353"/>
            <a:ext cx="7772400" cy="4291830"/>
          </a:xfrm>
          <a:prstGeom prst="rect">
            <a:avLst/>
          </a:prstGeom>
        </p:spPr>
      </p:pic>
      <p:sp>
        <p:nvSpPr>
          <p:cNvPr id="6" name="Title 1"/>
          <p:cNvSpPr txBox="1"/>
          <p:nvPr/>
        </p:nvSpPr>
        <p:spPr>
          <a:xfrm>
            <a:off x="1207370" y="136526"/>
            <a:ext cx="9099225" cy="790865"/>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600" b="1" i="0" kern="1200">
                <a:solidFill>
                  <a:schemeClr val="accent1"/>
                </a:solidFill>
                <a:latin typeface="Helvetica" pitchFamily="2" charset="0"/>
                <a:ea typeface="Microsoft YaHei" panose="020B0503020204020204" pitchFamily="34" charset="-122"/>
                <a:cs typeface="Arial" panose="020B0604020202090204" pitchFamily="34" charset="0"/>
              </a:defRPr>
            </a:lvl1pPr>
          </a:lstStyle>
          <a:p>
            <a:r>
              <a:rPr lang="zh-CN" altLang="en-US" dirty="0">
                <a:latin typeface="Times New Roman" panose="02020603050405020304" charset="0"/>
              </a:rPr>
              <a:t>策略示例</a:t>
            </a:r>
            <a:endParaRPr lang="zh-CN" altLang="en-US" dirty="0">
              <a:latin typeface="Times New Roman" panose="0202060305040502030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2400" dirty="0">
                <a:latin typeface="Times New Roman" panose="02020603050405020304" charset="0"/>
              </a:rPr>
              <a:t>设计模式：策略</a:t>
            </a:r>
            <a:endParaRPr lang="zh-CN" altLang="en-US" sz="2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24028" y="1469356"/>
            <a:ext cx="7772400" cy="4291830"/>
          </a:xfrm>
          <a:prstGeom prst="rect">
            <a:avLst/>
          </a:prstGeom>
        </p:spPr>
      </p:pic>
      <p:sp>
        <p:nvSpPr>
          <p:cNvPr id="6" name="Rectangle 5"/>
          <p:cNvSpPr/>
          <p:nvPr/>
        </p:nvSpPr>
        <p:spPr>
          <a:xfrm>
            <a:off x="2917818" y="1903615"/>
            <a:ext cx="1615436" cy="1087558"/>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69990" y="1712561"/>
            <a:ext cx="4308025" cy="323537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2400" dirty="0">
                <a:latin typeface="Times New Roman" panose="02020603050405020304" charset="0"/>
              </a:rPr>
              <a:t>设计模式：策略</a:t>
            </a:r>
            <a:endParaRPr lang="zh-CN" altLang="en-US" sz="2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24028" y="1469356"/>
            <a:ext cx="7772400" cy="4291830"/>
          </a:xfrm>
          <a:prstGeom prst="rect">
            <a:avLst/>
          </a:prstGeom>
        </p:spPr>
      </p:pic>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6051" y="3287869"/>
            <a:ext cx="5445023" cy="1528229"/>
          </a:xfrm>
          <a:prstGeom prst="rect">
            <a:avLst/>
          </a:prstGeom>
        </p:spPr>
      </p:pic>
      <p:sp>
        <p:nvSpPr>
          <p:cNvPr id="6" name="Rectangle 5"/>
          <p:cNvSpPr/>
          <p:nvPr/>
        </p:nvSpPr>
        <p:spPr>
          <a:xfrm>
            <a:off x="4827922" y="1965622"/>
            <a:ext cx="1388129" cy="88159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2400" dirty="0">
                <a:latin typeface="Times New Roman" panose="02020603050405020304" charset="0"/>
              </a:rPr>
              <a:t>设计模式：策略</a:t>
            </a:r>
            <a:endParaRPr lang="zh-CN" altLang="en-US" sz="2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24028" y="1469356"/>
            <a:ext cx="7772400" cy="4291830"/>
          </a:xfrm>
          <a:prstGeom prst="rect">
            <a:avLst/>
          </a:prstGeom>
        </p:spPr>
      </p:pic>
      <p:sp>
        <p:nvSpPr>
          <p:cNvPr id="6" name="Rectangle 5"/>
          <p:cNvSpPr/>
          <p:nvPr/>
        </p:nvSpPr>
        <p:spPr>
          <a:xfrm>
            <a:off x="4669126" y="3174476"/>
            <a:ext cx="1491451" cy="88159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7889" y="78568"/>
            <a:ext cx="4862857" cy="29591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2400" dirty="0">
                <a:latin typeface="Times New Roman" panose="02020603050405020304" charset="0"/>
              </a:rPr>
              <a:t>设计模式：策略</a:t>
            </a:r>
            <a:endParaRPr lang="zh-CN" altLang="en-US" sz="2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24028" y="1469356"/>
            <a:ext cx="7772400" cy="4291830"/>
          </a:xfrm>
          <a:prstGeom prst="rect">
            <a:avLst/>
          </a:prstGeom>
        </p:spPr>
      </p:pic>
      <p:sp>
        <p:nvSpPr>
          <p:cNvPr id="6" name="Rectangle 5"/>
          <p:cNvSpPr/>
          <p:nvPr/>
        </p:nvSpPr>
        <p:spPr>
          <a:xfrm>
            <a:off x="2817079" y="3337208"/>
            <a:ext cx="1708426" cy="1761734"/>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4256" y="1504227"/>
            <a:ext cx="4982887" cy="429183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400" dirty="0">
                <a:latin typeface="Times New Roman" panose="02020603050405020304" charset="0"/>
              </a:rPr>
              <a:t>策略：封装算法</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24536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解决方案：</a:t>
            </a:r>
            <a:endParaRPr lang="zh-CN" altLang="en-US"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pPr lvl="1"/>
            <a:r>
              <a:rPr lang="en-US" altLang="zh-CN" sz="2000" dirty="0">
                <a:solidFill>
                  <a:srgbClr val="FF0000"/>
                </a:solidFill>
                <a:latin typeface="Helvetica" pitchFamily="2" charset="0"/>
                <a:cs typeface="Arial" panose="020B0604020202090204" pitchFamily="34" charset="0"/>
              </a:rPr>
              <a:t>Client </a:t>
            </a:r>
            <a:r>
              <a:rPr lang="zh-CN" altLang="en-US" sz="2000" dirty="0">
                <a:solidFill>
                  <a:schemeClr val="tx1"/>
                </a:solidFill>
                <a:latin typeface="Helvetica" pitchFamily="2" charset="0"/>
                <a:cs typeface="Arial" panose="020B0604020202090204" pitchFamily="34" charset="0"/>
              </a:rPr>
              <a:t>访问由 </a:t>
            </a:r>
            <a:r>
              <a:rPr lang="en-US" altLang="zh-CN" sz="2000" dirty="0">
                <a:solidFill>
                  <a:srgbClr val="FF0000"/>
                </a:solidFill>
                <a:latin typeface="Helvetica" pitchFamily="2" charset="0"/>
                <a:cs typeface="Arial" panose="020B0604020202090204" pitchFamily="34" charset="0"/>
              </a:rPr>
              <a:t>Context </a:t>
            </a:r>
            <a:r>
              <a:rPr lang="zh-CN" altLang="en-US" sz="2000" dirty="0">
                <a:solidFill>
                  <a:schemeClr val="tx1"/>
                </a:solidFill>
                <a:latin typeface="Helvetica" pitchFamily="2" charset="0"/>
                <a:cs typeface="Arial" panose="020B0604020202090204" pitchFamily="34" charset="0"/>
              </a:rPr>
              <a:t>提供的服务。</a:t>
            </a:r>
            <a:endParaRPr lang="zh-CN" altLang="en-US" sz="2000" dirty="0">
              <a:solidFill>
                <a:schemeClr val="tx1"/>
              </a:solidFill>
              <a:latin typeface="Helvetica" pitchFamily="2" charset="0"/>
              <a:cs typeface="Arial" panose="020B0604020202090204" pitchFamily="34" charset="0"/>
            </a:endParaRPr>
          </a:p>
          <a:p>
            <a:pPr lvl="1"/>
            <a:endParaRPr lang="en-US" altLang="zh-CN" sz="2000" dirty="0">
              <a:solidFill>
                <a:schemeClr val="tx1"/>
              </a:solidFill>
              <a:latin typeface="Helvetica" pitchFamily="2" charset="0"/>
              <a:cs typeface="Arial" panose="020B0604020202090204" pitchFamily="34" charset="0"/>
            </a:endParaRPr>
          </a:p>
          <a:p>
            <a:pPr lvl="1"/>
            <a:r>
              <a:rPr lang="en-US" altLang="zh-CN" sz="2000" dirty="0">
                <a:solidFill>
                  <a:srgbClr val="FF0000"/>
                </a:solidFill>
                <a:latin typeface="Helvetica" pitchFamily="2" charset="0"/>
                <a:cs typeface="Arial" panose="020B0604020202090204" pitchFamily="34" charset="0"/>
              </a:rPr>
              <a:t>Context </a:t>
            </a:r>
            <a:r>
              <a:rPr lang="zh-CN" altLang="en-US" sz="2000" dirty="0">
                <a:solidFill>
                  <a:schemeClr val="tx1"/>
                </a:solidFill>
                <a:latin typeface="Helvetica" pitchFamily="2" charset="0"/>
                <a:cs typeface="Arial" panose="020B0604020202090204" pitchFamily="34" charset="0"/>
              </a:rPr>
              <a:t>的服务使用多种机制之一来实现。</a:t>
            </a:r>
            <a:endParaRPr lang="zh-CN" altLang="en-US" sz="2000" dirty="0">
              <a:solidFill>
                <a:schemeClr val="tx1"/>
              </a:solidFill>
              <a:latin typeface="Helvetica" pitchFamily="2" charset="0"/>
              <a:cs typeface="Arial" panose="020B0604020202090204" pitchFamily="34" charset="0"/>
            </a:endParaRPr>
          </a:p>
          <a:p>
            <a:pPr lvl="1"/>
            <a:endParaRPr lang="en-US" altLang="zh-CN" sz="2000" dirty="0">
              <a:solidFill>
                <a:schemeClr val="tx1"/>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抽象类 </a:t>
            </a:r>
            <a:r>
              <a:rPr lang="en-US" altLang="zh-CN" sz="2000" dirty="0">
                <a:solidFill>
                  <a:srgbClr val="FF0000"/>
                </a:solidFill>
                <a:latin typeface="Helvetica" pitchFamily="2" charset="0"/>
                <a:cs typeface="Arial" panose="020B0604020202090204" pitchFamily="34" charset="0"/>
              </a:rPr>
              <a:t>Strategy</a:t>
            </a:r>
            <a:r>
              <a:rPr lang="en-US" altLang="zh-CN" sz="2000" dirty="0">
                <a:solidFill>
                  <a:schemeClr val="tx1"/>
                </a:solidFill>
                <a:latin typeface="Helvetica" pitchFamily="2" charset="0"/>
                <a:cs typeface="Arial" panose="020B0604020202090204" pitchFamily="34" charset="0"/>
              </a:rPr>
              <a:t> </a:t>
            </a:r>
            <a:r>
              <a:rPr lang="zh-CN" altLang="en-US" sz="2000" dirty="0">
                <a:solidFill>
                  <a:schemeClr val="tx1"/>
                </a:solidFill>
                <a:latin typeface="Helvetica" pitchFamily="2" charset="0"/>
                <a:cs typeface="Arial" panose="020B0604020202090204" pitchFamily="34" charset="0"/>
              </a:rPr>
              <a:t>描述了 </a:t>
            </a:r>
            <a:r>
              <a:rPr lang="en-US" altLang="zh-CN" sz="2000" dirty="0">
                <a:solidFill>
                  <a:srgbClr val="FF0000"/>
                </a:solidFill>
                <a:latin typeface="Helvetica" pitchFamily="2" charset="0"/>
                <a:cs typeface="Arial" panose="020B0604020202090204" pitchFamily="34" charset="0"/>
              </a:rPr>
              <a:t>Context </a:t>
            </a:r>
            <a:r>
              <a:rPr lang="zh-CN" altLang="en-US" sz="2000" dirty="0">
                <a:solidFill>
                  <a:schemeClr val="tx1"/>
                </a:solidFill>
                <a:latin typeface="Helvetica" pitchFamily="2" charset="0"/>
                <a:cs typeface="Arial" panose="020B0604020202090204" pitchFamily="34" charset="0"/>
              </a:rPr>
              <a:t>可以使用的所有机制的公共接口。</a:t>
            </a:r>
            <a:endParaRPr lang="zh-CN" altLang="en-US" sz="2000" dirty="0">
              <a:solidFill>
                <a:schemeClr val="tx1"/>
              </a:solidFill>
              <a:latin typeface="Helvetica" pitchFamily="2" charset="0"/>
              <a:cs typeface="Arial" panose="020B060402020209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400" dirty="0">
                <a:latin typeface="Times New Roman" panose="02020603050405020304" charset="0"/>
              </a:rPr>
              <a:t>策略：后果</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24536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后果：</a:t>
            </a:r>
            <a:endParaRPr lang="zh-CN" altLang="en-US"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solidFill>
                  <a:srgbClr val="FF0000"/>
                </a:solidFill>
                <a:latin typeface="Helvetica" pitchFamily="2" charset="0"/>
                <a:cs typeface="Arial" panose="020B0604020202090204" pitchFamily="34" charset="0"/>
              </a:rPr>
              <a:t>ConcreteStrategies</a:t>
            </a:r>
            <a:r>
              <a:rPr lang="en-US" altLang="zh-CN" sz="2000" dirty="0">
                <a:solidFill>
                  <a:schemeClr val="tx1"/>
                </a:solidFill>
                <a:latin typeface="Helvetica" pitchFamily="2" charset="0"/>
                <a:cs typeface="Arial" panose="020B0604020202090204" pitchFamily="34" charset="0"/>
              </a:rPr>
              <a:t>（</a:t>
            </a:r>
            <a:r>
              <a:rPr lang="zh-CN" altLang="en-US" sz="2000" dirty="0">
                <a:solidFill>
                  <a:schemeClr val="tx1"/>
                </a:solidFill>
                <a:latin typeface="Helvetica" pitchFamily="2" charset="0"/>
                <a:cs typeface="Arial" panose="020B0604020202090204" pitchFamily="34" charset="0"/>
              </a:rPr>
              <a:t>具体策略） 可以从</a:t>
            </a:r>
            <a:r>
              <a:rPr lang="en-US" altLang="zh-CN" sz="2000" dirty="0">
                <a:solidFill>
                  <a:srgbClr val="FF0000"/>
                </a:solidFill>
                <a:latin typeface="Helvetica" pitchFamily="2" charset="0"/>
                <a:cs typeface="Arial" panose="020B0604020202090204" pitchFamily="34" charset="0"/>
              </a:rPr>
              <a:t> Context </a:t>
            </a:r>
            <a:r>
              <a:rPr lang="zh-CN" altLang="en-US" sz="2000" dirty="0">
                <a:solidFill>
                  <a:schemeClr val="tx1"/>
                </a:solidFill>
                <a:latin typeface="Helvetica" pitchFamily="2" charset="0"/>
                <a:cs typeface="Arial" panose="020B0604020202090204" pitchFamily="34" charset="0"/>
              </a:rPr>
              <a:t>中透明地替换。</a:t>
            </a:r>
            <a:endParaRPr lang="zh-CN" altLang="en-US"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solidFill>
                  <a:srgbClr val="FF0000"/>
                </a:solidFill>
                <a:latin typeface="Helvetica" pitchFamily="2" charset="0"/>
                <a:cs typeface="Arial" panose="020B0604020202090204" pitchFamily="34" charset="0"/>
              </a:rPr>
              <a:t>Policy</a:t>
            </a:r>
            <a:r>
              <a:rPr lang="en-US" altLang="zh-CN" sz="2000" dirty="0">
                <a:solidFill>
                  <a:schemeClr val="tx1"/>
                </a:solidFill>
                <a:latin typeface="Helvetica" pitchFamily="2" charset="0"/>
                <a:cs typeface="Arial" panose="020B0604020202090204" pitchFamily="34" charset="0"/>
              </a:rPr>
              <a:t> </a:t>
            </a:r>
            <a:r>
              <a:rPr lang="zh-CN" altLang="en-US" sz="2000" dirty="0">
                <a:solidFill>
                  <a:schemeClr val="tx1"/>
                </a:solidFill>
                <a:latin typeface="Helvetica" pitchFamily="2" charset="0"/>
                <a:cs typeface="Arial" panose="020B0604020202090204" pitchFamily="34" charset="0"/>
              </a:rPr>
              <a:t>根据当前情况决定哪个 </a:t>
            </a:r>
            <a:r>
              <a:rPr lang="en-US" altLang="zh-CN" sz="2000" dirty="0">
                <a:solidFill>
                  <a:srgbClr val="FF0000"/>
                </a:solidFill>
                <a:latin typeface="Helvetica" pitchFamily="2" charset="0"/>
                <a:cs typeface="Arial" panose="020B0604020202090204" pitchFamily="34" charset="0"/>
              </a:rPr>
              <a:t>Strategy</a:t>
            </a:r>
            <a:r>
              <a:rPr lang="en-US" altLang="zh-CN" sz="2000" dirty="0">
                <a:solidFill>
                  <a:schemeClr val="tx1"/>
                </a:solidFill>
                <a:latin typeface="Helvetica" pitchFamily="2" charset="0"/>
                <a:cs typeface="Arial" panose="020B0604020202090204" pitchFamily="34" charset="0"/>
              </a:rPr>
              <a:t> </a:t>
            </a:r>
            <a:r>
              <a:rPr lang="zh-CN" altLang="en-US" sz="2000" dirty="0">
                <a:solidFill>
                  <a:schemeClr val="tx1"/>
                </a:solidFill>
                <a:latin typeface="Helvetica" pitchFamily="2" charset="0"/>
                <a:cs typeface="Arial" panose="020B0604020202090204" pitchFamily="34" charset="0"/>
              </a:rPr>
              <a:t>是最好的。</a:t>
            </a:r>
            <a:endParaRPr lang="zh-CN" altLang="en-US"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可以添加新的策略算法，而无需修改 </a:t>
            </a:r>
            <a:r>
              <a:rPr lang="en-US" altLang="zh-CN" sz="2000" dirty="0">
                <a:solidFill>
                  <a:srgbClr val="FF0000"/>
                </a:solidFill>
                <a:latin typeface="Helvetica" pitchFamily="2" charset="0"/>
                <a:cs typeface="Arial" panose="020B0604020202090204" pitchFamily="34" charset="0"/>
              </a:rPr>
              <a:t>Context </a:t>
            </a:r>
            <a:r>
              <a:rPr lang="zh-CN" altLang="en-US" sz="2000" dirty="0">
                <a:solidFill>
                  <a:schemeClr val="tx1"/>
                </a:solidFill>
                <a:latin typeface="Helvetica" pitchFamily="2" charset="0"/>
                <a:cs typeface="Arial" panose="020B0604020202090204" pitchFamily="34" charset="0"/>
              </a:rPr>
              <a:t>或 </a:t>
            </a:r>
            <a:r>
              <a:rPr lang="en-US" altLang="zh-CN" sz="2000" dirty="0">
                <a:solidFill>
                  <a:srgbClr val="FF0000"/>
                </a:solidFill>
                <a:latin typeface="Helvetica" pitchFamily="2" charset="0"/>
                <a:cs typeface="Arial" panose="020B0604020202090204" pitchFamily="34" charset="0"/>
              </a:rPr>
              <a:t>Client</a:t>
            </a:r>
            <a:r>
              <a:rPr lang="en-US" altLang="zh-CN" sz="2000" dirty="0">
                <a:solidFill>
                  <a:schemeClr val="tx1"/>
                </a:solidFill>
                <a:latin typeface="Helvetica" pitchFamily="2" charset="0"/>
                <a:cs typeface="Arial" panose="020B0604020202090204" pitchFamily="34" charset="0"/>
              </a:rPr>
              <a:t>。</a:t>
            </a:r>
            <a:endParaRPr lang="en-US" altLang="zh-CN" sz="2000" dirty="0">
              <a:solidFill>
                <a:schemeClr val="tx1"/>
              </a:solidFill>
              <a:latin typeface="Helvetica" pitchFamily="2" charset="0"/>
              <a:cs typeface="Arial" panose="020B060402020209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400" dirty="0">
                <a:latin typeface="Times New Roman" panose="02020603050405020304" charset="0"/>
              </a:rPr>
              <a:t>外观：封装子系统</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582387"/>
            <a:ext cx="9550399" cy="286131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名称： </a:t>
            </a:r>
            <a:r>
              <a:rPr lang="zh-CN" altLang="en-US" sz="2000" dirty="0">
                <a:solidFill>
                  <a:schemeClr val="tx1"/>
                </a:solidFill>
                <a:latin typeface="Helvetica" pitchFamily="2" charset="0"/>
                <a:cs typeface="Arial" panose="020B0604020202090204" pitchFamily="34" charset="0"/>
              </a:rPr>
              <a:t>外观（</a:t>
            </a:r>
            <a:r>
              <a:rPr lang="en-US" altLang="zh-CN" sz="2000" dirty="0">
                <a:solidFill>
                  <a:schemeClr val="tx1"/>
                </a:solidFill>
                <a:latin typeface="Helvetica" pitchFamily="2" charset="0"/>
                <a:cs typeface="Arial" panose="020B0604020202090204" pitchFamily="34" charset="0"/>
              </a:rPr>
              <a:t>Facade</a:t>
            </a:r>
            <a:r>
              <a:rPr lang="zh-CN" altLang="en-US" sz="2000" dirty="0">
                <a:solidFill>
                  <a:schemeClr val="tx1"/>
                </a:solidFill>
                <a:latin typeface="Helvetica" pitchFamily="2" charset="0"/>
                <a:cs typeface="Arial" panose="020B0604020202090204" pitchFamily="34" charset="0"/>
              </a:rPr>
              <a:t>）设计模式</a:t>
            </a:r>
            <a:endParaRPr lang="zh-CN" altLang="en-US" sz="2000" dirty="0">
              <a:solidFill>
                <a:schemeClr val="tx1"/>
              </a:solidFill>
              <a:latin typeface="Helvetica" pitchFamily="2" charset="0"/>
              <a:cs typeface="Arial" panose="020B0604020202090204" pitchFamily="34" charset="0"/>
            </a:endParaRPr>
          </a:p>
          <a:p>
            <a:endParaRPr lang="zh-CN" altLang="en-US" sz="2000" dirty="0">
              <a:solidFill>
                <a:schemeClr val="tx1"/>
              </a:solidFill>
              <a:latin typeface="Helvetica" pitchFamily="2" charset="0"/>
              <a:cs typeface="Arial" panose="020B0604020202090204" pitchFamily="34" charset="0"/>
            </a:endParaRPr>
          </a:p>
          <a:p>
            <a:pPr algn="l">
              <a:buClrTx/>
              <a:buSzTx/>
              <a:buFontTx/>
            </a:pPr>
            <a:r>
              <a:rPr lang="zh-CN" altLang="en-US" sz="2000" b="1" dirty="0">
                <a:solidFill>
                  <a:srgbClr val="515223"/>
                </a:solidFill>
                <a:latin typeface="Helvetica" pitchFamily="2" charset="0"/>
                <a:cs typeface="Arial" panose="020B0604020202090204" pitchFamily="34" charset="0"/>
              </a:rPr>
              <a:t>问题描述： </a:t>
            </a:r>
            <a:r>
              <a:rPr lang="zh-CN" altLang="en-US" sz="2000" dirty="0">
                <a:latin typeface="Helvetica" pitchFamily="2" charset="0"/>
                <a:cs typeface="Arial" panose="020B0604020202090204" pitchFamily="34" charset="0"/>
              </a:rPr>
              <a:t>降低一组相关类与系统其余部分之间的耦合。</a:t>
            </a:r>
            <a:endParaRPr lang="zh-CN" altLang="en-US" sz="2000" dirty="0">
              <a:latin typeface="Helvetica" pitchFamily="2" charset="0"/>
              <a:cs typeface="Arial" panose="020B0604020202090204" pitchFamily="34" charset="0"/>
            </a:endParaRPr>
          </a:p>
          <a:p>
            <a:pPr algn="l">
              <a:buClrTx/>
              <a:buSzTx/>
              <a:buFontTx/>
            </a:pPr>
            <a:endParaRPr lang="zh-CN" altLang="en-US" sz="2000" dirty="0">
              <a:latin typeface="Helvetica" pitchFamily="2" charset="0"/>
              <a:cs typeface="Arial" panose="020B0604020202090204" pitchFamily="34" charset="0"/>
            </a:endParaRPr>
          </a:p>
          <a:p>
            <a:pPr algn="l">
              <a:buClrTx/>
              <a:buSzTx/>
              <a:buFontTx/>
            </a:pPr>
            <a:r>
              <a:rPr lang="zh-CN" altLang="en-US" sz="2000" b="1" dirty="0">
                <a:solidFill>
                  <a:srgbClr val="515223"/>
                </a:solidFill>
                <a:latin typeface="Helvetica" pitchFamily="2" charset="0"/>
                <a:cs typeface="Arial" panose="020B0604020202090204" pitchFamily="34" charset="0"/>
              </a:rPr>
              <a:t>示例： </a:t>
            </a:r>
            <a:r>
              <a:rPr lang="zh-CN" altLang="en-US" sz="2000" dirty="0">
                <a:latin typeface="Helvetica" pitchFamily="2" charset="0"/>
                <a:cs typeface="Arial" panose="020B0604020202090204" pitchFamily="34" charset="0"/>
              </a:rPr>
              <a:t>一个音频播放器由多个解码器类组成：MP3、WAV、OGG 等。调用者只调用播放器（Facade）类，该类再调用其包含的类。</a:t>
            </a:r>
            <a:endParaRPr lang="zh-CN" altLang="en-US" sz="2000" dirty="0">
              <a:latin typeface="Helvetica" pitchFamily="2" charset="0"/>
              <a:cs typeface="Arial" panose="020B0604020202090204" pitchFamily="34" charset="0"/>
            </a:endParaRPr>
          </a:p>
          <a:p>
            <a:pPr algn="l">
              <a:buClrTx/>
              <a:buSzTx/>
              <a:buFontTx/>
            </a:pPr>
            <a:endParaRPr lang="zh-CN" altLang="en-US" sz="2000" dirty="0">
              <a:latin typeface="Helvetica" pitchFamily="2" charset="0"/>
              <a:cs typeface="Arial" panose="020B0604020202090204" pitchFamily="34" charset="0"/>
            </a:endParaRPr>
          </a:p>
          <a:p>
            <a:pPr algn="l">
              <a:buClrTx/>
              <a:buSzTx/>
              <a:buFontTx/>
            </a:pPr>
            <a:r>
              <a:rPr lang="zh-CN" altLang="en-US" sz="2000" b="1" dirty="0">
                <a:solidFill>
                  <a:srgbClr val="515223"/>
                </a:solidFill>
                <a:latin typeface="Helvetica" pitchFamily="2" charset="0"/>
                <a:cs typeface="Arial" panose="020B0604020202090204" pitchFamily="34" charset="0"/>
              </a:rPr>
              <a:t>问题描述： </a:t>
            </a:r>
            <a:r>
              <a:rPr lang="zh-CN" altLang="en-US" sz="2000" dirty="0">
                <a:latin typeface="Helvetica" pitchFamily="2" charset="0"/>
                <a:cs typeface="Arial" panose="020B0604020202090204" pitchFamily="34" charset="0"/>
              </a:rPr>
              <a:t>一个单一的 Facade 类通过调用底层类的方法，为子系统实现一个高层接口。</a:t>
            </a:r>
            <a:endParaRPr lang="zh-CN" altLang="en-US" sz="2000" dirty="0">
              <a:latin typeface="Helvetica" pitchFamily="2" charset="0"/>
              <a:cs typeface="Arial" panose="020B060402020209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400" dirty="0">
                <a:latin typeface="Times New Roman" panose="02020603050405020304" charset="0"/>
              </a:rPr>
              <a:t>外观</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961176" y="3157774"/>
            <a:ext cx="4851380" cy="3393536"/>
          </a:xfrm>
          <a:prstGeom prst="rect">
            <a:avLst/>
          </a:prstGeom>
        </p:spPr>
      </p:pic>
      <p:sp>
        <p:nvSpPr>
          <p:cNvPr id="8" name="TextBox 7"/>
          <p:cNvSpPr txBox="1"/>
          <p:nvPr/>
        </p:nvSpPr>
        <p:spPr>
          <a:xfrm>
            <a:off x="-56826" y="1105965"/>
            <a:ext cx="12248826" cy="2245360"/>
          </a:xfrm>
          <a:prstGeom prst="rect">
            <a:avLst/>
          </a:prstGeom>
          <a:noFill/>
        </p:spPr>
        <p:txBody>
          <a:bodyPr wrap="square">
            <a:spAutoFit/>
          </a:bodyPr>
          <a:lstStyle/>
          <a:p>
            <a:pPr lvl="1"/>
            <a:r>
              <a:rPr lang="zh-CN" altLang="en-US" sz="2000" dirty="0"/>
              <a:t>方便访问子系统功能的特定部分</a:t>
            </a:r>
            <a:endParaRPr lang="zh-CN" altLang="en-US" sz="2000" dirty="0"/>
          </a:p>
          <a:p>
            <a:pPr lvl="1"/>
            <a:endParaRPr lang="en-US" altLang="zh-CN" sz="2000" dirty="0"/>
          </a:p>
          <a:p>
            <a:pPr lvl="1"/>
            <a:r>
              <a:rPr lang="zh-CN" altLang="en-US" sz="2000" dirty="0"/>
              <a:t>可以创建额外的 </a:t>
            </a:r>
            <a:r>
              <a:rPr lang="en-US" altLang="zh-CN" sz="2000" dirty="0"/>
              <a:t>Facade </a:t>
            </a:r>
            <a:r>
              <a:rPr lang="zh-CN" altLang="en-US" sz="2000" dirty="0"/>
              <a:t>类，以防止污染单一的外观</a:t>
            </a:r>
            <a:endParaRPr lang="zh-CN" altLang="en-US" sz="2000" dirty="0"/>
          </a:p>
          <a:p>
            <a:pPr lvl="1"/>
            <a:endParaRPr lang="en-US" altLang="zh-CN" sz="2000" dirty="0"/>
          </a:p>
          <a:p>
            <a:pPr lvl="1"/>
            <a:r>
              <a:rPr lang="zh-CN" altLang="en-US" sz="2000" dirty="0"/>
              <a:t>子系统类不知道外观的存在</a:t>
            </a:r>
            <a:endParaRPr lang="zh-CN" altLang="en-US" sz="2000" dirty="0"/>
          </a:p>
          <a:p>
            <a:pPr lvl="1"/>
            <a:endParaRPr lang="en-US" altLang="zh-CN" sz="2000" dirty="0"/>
          </a:p>
          <a:p>
            <a:pPr lvl="1"/>
            <a:r>
              <a:rPr lang="en-US" altLang="zh-CN" sz="2000" dirty="0"/>
              <a:t>Client </a:t>
            </a:r>
            <a:r>
              <a:rPr lang="zh-CN" altLang="en-US" sz="2000" dirty="0"/>
              <a:t>使用外观，而不是直接调用子系统对象</a:t>
            </a:r>
            <a:endParaRPr lang="zh-CN" altLang="en-US"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400" dirty="0">
                <a:latin typeface="Times New Roman" panose="02020603050405020304" charset="0"/>
              </a:rPr>
              <a:t>外观</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984165" y="1247936"/>
            <a:ext cx="4058125" cy="3595284"/>
          </a:xfrm>
          <a:prstGeom prst="rect">
            <a:avLst/>
          </a:prstGeom>
        </p:spPr>
      </p:pic>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5603" y="965846"/>
            <a:ext cx="5722904" cy="4311327"/>
          </a:xfrm>
          <a:prstGeom prst="rect">
            <a:avLst/>
          </a:prstGeom>
        </p:spPr>
      </p:pic>
      <p:sp>
        <p:nvSpPr>
          <p:cNvPr id="10" name="Rectangle 9"/>
          <p:cNvSpPr/>
          <p:nvPr/>
        </p:nvSpPr>
        <p:spPr>
          <a:xfrm>
            <a:off x="3235085" y="3045578"/>
            <a:ext cx="3909634" cy="1890632"/>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400" dirty="0">
                <a:latin typeface="Times New Roman" panose="02020603050405020304" charset="0"/>
              </a:rPr>
              <a:t>外观</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9" name="Picture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55739" y="1547033"/>
            <a:ext cx="5722904" cy="4311327"/>
          </a:xfrm>
          <a:prstGeom prst="rect">
            <a:avLst/>
          </a:prstGeom>
        </p:spPr>
      </p:pic>
      <p:sp>
        <p:nvSpPr>
          <p:cNvPr id="10" name="Rectangle 9"/>
          <p:cNvSpPr/>
          <p:nvPr/>
        </p:nvSpPr>
        <p:spPr>
          <a:xfrm>
            <a:off x="2347994" y="1759057"/>
            <a:ext cx="2766447" cy="1232115"/>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04121" y="1438384"/>
            <a:ext cx="4393350" cy="4419976"/>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400" dirty="0">
                <a:latin typeface="Times New Roman" panose="02020603050405020304" charset="0"/>
              </a:rPr>
              <a:t>外观：后果</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553335"/>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后果：</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使客户端与子系统的低层类隔离。</a:t>
            </a: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通过提供更高层的方法简化子系统的使用。</a:t>
            </a: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使低层类可以在不改变客户端的情况下进行重构。</a:t>
            </a:r>
            <a:endParaRPr lang="zh-CN" altLang="en-US" sz="2000" dirty="0">
              <a:solidFill>
                <a:schemeClr val="tx1"/>
              </a:solidFill>
              <a:latin typeface="Helvetica" pitchFamily="2" charset="0"/>
              <a:cs typeface="Arial" panose="020B0604020202090204" pitchFamily="34" charset="0"/>
            </a:endParaRPr>
          </a:p>
          <a:p>
            <a:endParaRPr lang="zh-CN" altLang="en-US" sz="2000" b="1" dirty="0">
              <a:solidFill>
                <a:srgbClr val="515223"/>
              </a:solidFill>
              <a:latin typeface="Helvetica" pitchFamily="2" charset="0"/>
              <a:cs typeface="Arial" panose="020B0604020202090204" pitchFamily="34" charset="0"/>
            </a:endParaRPr>
          </a:p>
          <a:p>
            <a:r>
              <a:rPr lang="zh-CN" altLang="en-US" sz="2000" b="1" dirty="0">
                <a:solidFill>
                  <a:srgbClr val="515223"/>
                </a:solidFill>
                <a:latin typeface="Helvetica" pitchFamily="2" charset="0"/>
                <a:cs typeface="Arial" panose="020B0604020202090204" pitchFamily="34" charset="0"/>
              </a:rPr>
              <a:t>注意：</a:t>
            </a:r>
            <a:r>
              <a:rPr lang="zh-CN" altLang="en-US" sz="2000" dirty="0">
                <a:solidFill>
                  <a:schemeClr val="tx1"/>
                </a:solidFill>
                <a:latin typeface="Helvetica" pitchFamily="2" charset="0"/>
                <a:cs typeface="Arial" panose="020B0604020202090204" pitchFamily="34" charset="0"/>
              </a:rPr>
              <a:t>反复使用 </a:t>
            </a:r>
            <a:r>
              <a:rPr lang="en-US" altLang="zh-CN" sz="2000" dirty="0">
                <a:solidFill>
                  <a:schemeClr val="tx1"/>
                </a:solidFill>
                <a:latin typeface="Helvetica" pitchFamily="2" charset="0"/>
                <a:cs typeface="Arial" panose="020B0604020202090204" pitchFamily="34" charset="0"/>
              </a:rPr>
              <a:t>Facade </a:t>
            </a:r>
            <a:r>
              <a:rPr lang="zh-CN" altLang="en-US" sz="2000" dirty="0">
                <a:solidFill>
                  <a:schemeClr val="tx1"/>
                </a:solidFill>
                <a:latin typeface="Helvetica" pitchFamily="2" charset="0"/>
                <a:cs typeface="Arial" panose="020B0604020202090204" pitchFamily="34" charset="0"/>
              </a:rPr>
              <a:t>模式会产生一个分层系统。</a:t>
            </a:r>
            <a:endParaRPr lang="zh-CN" altLang="en-US" sz="2000" dirty="0">
              <a:solidFill>
                <a:schemeClr val="tx1"/>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400" dirty="0">
                <a:latin typeface="Times New Roman" panose="02020603050405020304" charset="0"/>
              </a:rPr>
              <a:t>组合：表示递归层次结构</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596901" y="1261352"/>
            <a:ext cx="9550399" cy="2245360"/>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名称：</a:t>
            </a:r>
            <a:r>
              <a:rPr lang="zh-CN" altLang="en-US" sz="2000" b="1" dirty="0"/>
              <a:t> </a:t>
            </a:r>
            <a:r>
              <a:rPr lang="zh-CN" altLang="en-US" sz="2000" dirty="0"/>
              <a:t>组合设计模式</a:t>
            </a:r>
            <a:endParaRPr lang="zh-CN" altLang="en-US" sz="2000" dirty="0"/>
          </a:p>
          <a:p>
            <a:endParaRPr lang="zh-CN" altLang="en-US" sz="2000" dirty="0"/>
          </a:p>
          <a:p>
            <a:r>
              <a:rPr lang="en-US" altLang="zh-CN" sz="2000" b="1" dirty="0">
                <a:solidFill>
                  <a:srgbClr val="515223"/>
                </a:solidFill>
                <a:latin typeface="Helvetica" pitchFamily="2" charset="0"/>
                <a:cs typeface="Arial" panose="020B0604020202090204" pitchFamily="34" charset="0"/>
              </a:rPr>
              <a:t>示例： </a:t>
            </a:r>
            <a:r>
              <a:rPr lang="zh-CN" altLang="en-US" sz="2000" dirty="0"/>
              <a:t>包含在</a:t>
            </a:r>
            <a:r>
              <a:rPr lang="en-US" altLang="zh-CN" sz="2000" dirty="0"/>
              <a:t>GUI</a:t>
            </a:r>
            <a:r>
              <a:rPr lang="zh-CN" altLang="en-US" sz="2000" dirty="0"/>
              <a:t>中的</a:t>
            </a:r>
            <a:r>
              <a:rPr lang="en-US" altLang="zh-CN" sz="2000" dirty="0"/>
              <a:t>GUI</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问题描述：</a:t>
            </a:r>
            <a:endParaRPr lang="en-US" altLang="zh-CN" sz="2000" b="1" dirty="0">
              <a:solidFill>
                <a:srgbClr val="515223"/>
              </a:solidFill>
              <a:latin typeface="Helvetica" pitchFamily="2" charset="0"/>
              <a:cs typeface="Arial" panose="020B0604020202090204" pitchFamily="34" charset="0"/>
            </a:endParaRPr>
          </a:p>
          <a:p>
            <a:pPr lvl="1"/>
            <a:r>
              <a:rPr lang="zh-CN" altLang="en-US" sz="2000" dirty="0"/>
              <a:t>表示一个可变宽度和深度的层次结构，使得叶节点和组合节点可以通过通用接口统一处理。</a:t>
            </a:r>
            <a:endParaRPr lang="zh-CN" altLang="en-US" sz="2000" dirty="0"/>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069849" y="3704653"/>
            <a:ext cx="3860893" cy="2664632"/>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400" dirty="0">
                <a:latin typeface="Times New Roman" panose="02020603050405020304" charset="0"/>
              </a:rPr>
              <a:t>组合：类图</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981267" y="2951422"/>
            <a:ext cx="3135931" cy="3404927"/>
          </a:xfrm>
          <a:prstGeom prst="rect">
            <a:avLst/>
          </a:prstGeom>
        </p:spPr>
      </p:pic>
      <p:sp>
        <p:nvSpPr>
          <p:cNvPr id="8" name="TextBox 7"/>
          <p:cNvSpPr txBox="1"/>
          <p:nvPr/>
        </p:nvSpPr>
        <p:spPr>
          <a:xfrm>
            <a:off x="0" y="1194949"/>
            <a:ext cx="14617591" cy="2245360"/>
          </a:xfrm>
          <a:prstGeom prst="rect">
            <a:avLst/>
          </a:prstGeom>
          <a:noFill/>
        </p:spPr>
        <p:txBody>
          <a:bodyPr wrap="square">
            <a:spAutoFit/>
          </a:bodyPr>
          <a:lstStyle/>
          <a:p>
            <a:pPr lvl="1"/>
            <a:r>
              <a:rPr lang="en-US" altLang="zh-CN" sz="2000" dirty="0"/>
              <a:t>Component（</a:t>
            </a:r>
            <a:r>
              <a:rPr lang="zh-CN" altLang="en-US" sz="2000" dirty="0"/>
              <a:t>组件） 接口描述了通用操作。</a:t>
            </a:r>
            <a:endParaRPr lang="zh-CN" altLang="en-US" sz="2000" dirty="0"/>
          </a:p>
          <a:p>
            <a:pPr lvl="1"/>
            <a:endParaRPr lang="en-US" altLang="zh-CN" sz="2000" dirty="0"/>
          </a:p>
          <a:p>
            <a:pPr lvl="1"/>
            <a:r>
              <a:rPr lang="en-US" altLang="zh-CN" sz="2000" dirty="0"/>
              <a:t>Leaf（</a:t>
            </a:r>
            <a:r>
              <a:rPr lang="zh-CN" altLang="en-US" sz="2000" dirty="0"/>
              <a:t>叶） 是树中没有子元素的基本元素。</a:t>
            </a:r>
            <a:endParaRPr lang="zh-CN" altLang="en-US" sz="2000" dirty="0"/>
          </a:p>
          <a:p>
            <a:pPr lvl="1"/>
            <a:endParaRPr lang="en-US" altLang="zh-CN" sz="2000" dirty="0"/>
          </a:p>
          <a:p>
            <a:pPr lvl="1"/>
            <a:r>
              <a:rPr lang="en-US" altLang="zh-CN" sz="2000" dirty="0"/>
              <a:t>Container（</a:t>
            </a:r>
            <a:r>
              <a:rPr lang="zh-CN" altLang="en-US" sz="2000" dirty="0"/>
              <a:t>容器，又称</a:t>
            </a:r>
            <a:r>
              <a:rPr lang="en-US" altLang="zh-CN" sz="2000" dirty="0"/>
              <a:t>composite） </a:t>
            </a:r>
            <a:r>
              <a:rPr lang="zh-CN" altLang="en-US" sz="2000" dirty="0"/>
              <a:t>是具有子元素的元素：叶或其他容器。</a:t>
            </a:r>
            <a:endParaRPr lang="zh-CN" altLang="en-US" sz="2000" dirty="0"/>
          </a:p>
          <a:p>
            <a:pPr lvl="1"/>
            <a:endParaRPr lang="en-US" altLang="zh-CN" sz="2000" dirty="0"/>
          </a:p>
          <a:p>
            <a:pPr lvl="1"/>
            <a:r>
              <a:rPr lang="en-US" altLang="zh-CN" sz="2000" dirty="0"/>
              <a:t>Client </a:t>
            </a:r>
            <a:r>
              <a:rPr lang="zh-CN" altLang="en-US" sz="2000" dirty="0"/>
              <a:t>通过组件接口与所有元素交互。</a:t>
            </a:r>
            <a:endParaRPr lang="zh-CN" alt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400" dirty="0">
                <a:latin typeface="Times New Roman" panose="02020603050405020304" charset="0"/>
              </a:rPr>
              <a:t>组合：类图</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91254" y="1209675"/>
            <a:ext cx="3892507" cy="4438650"/>
          </a:xfrm>
          <a:prstGeom prst="rect">
            <a:avLst/>
          </a:prstGeom>
        </p:spPr>
      </p:pic>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0866" y="1297553"/>
            <a:ext cx="5981700" cy="1473200"/>
          </a:xfrm>
          <a:prstGeom prst="rect">
            <a:avLst/>
          </a:prstGeom>
        </p:spPr>
      </p:pic>
      <p:sp>
        <p:nvSpPr>
          <p:cNvPr id="10" name="Rectangle 9"/>
          <p:cNvSpPr/>
          <p:nvPr/>
        </p:nvSpPr>
        <p:spPr>
          <a:xfrm>
            <a:off x="1480088" y="1297552"/>
            <a:ext cx="1216617" cy="1112433"/>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dirty="0">
                <a:latin typeface="Times New Roman" panose="02020603050405020304" charset="0"/>
                <a:sym typeface="+mn-ea"/>
              </a:rPr>
              <a:t>组合：类图</a:t>
            </a:r>
            <a:endParaRPr lang="zh-CN" altLang="en-US" sz="23900" dirty="0">
              <a:latin typeface="Times New Roman" panose="02020603050405020304" charset="0"/>
              <a:sym typeface="+mn-ea"/>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91254" y="1209675"/>
            <a:ext cx="3892507" cy="4438650"/>
          </a:xfrm>
          <a:prstGeom prst="rect">
            <a:avLst/>
          </a:prstGeom>
        </p:spPr>
      </p:pic>
      <p:sp>
        <p:nvSpPr>
          <p:cNvPr id="10" name="Rectangle 9"/>
          <p:cNvSpPr/>
          <p:nvPr/>
        </p:nvSpPr>
        <p:spPr>
          <a:xfrm>
            <a:off x="1263975" y="2707898"/>
            <a:ext cx="1610961" cy="2940427"/>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59133" y="1028699"/>
            <a:ext cx="5114648" cy="4848153"/>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dirty="0">
                <a:latin typeface="Times New Roman" panose="02020603050405020304" charset="0"/>
                <a:sym typeface="+mn-ea"/>
              </a:rPr>
              <a:t>组合：类图</a:t>
            </a:r>
            <a:endParaRPr lang="zh-CN" altLang="en-US" sz="23900" dirty="0">
              <a:latin typeface="Times New Roman" panose="02020603050405020304" charset="0"/>
              <a:sym typeface="+mn-ea"/>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91254" y="1209675"/>
            <a:ext cx="3892507" cy="4438650"/>
          </a:xfrm>
          <a:prstGeom prst="rect">
            <a:avLst/>
          </a:prstGeom>
        </p:spPr>
      </p:pic>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97030" y="1394846"/>
            <a:ext cx="4293449" cy="4843220"/>
          </a:xfrm>
          <a:prstGeom prst="rect">
            <a:avLst/>
          </a:prstGeom>
        </p:spPr>
      </p:pic>
      <p:sp>
        <p:nvSpPr>
          <p:cNvPr id="8" name="Rectangle 7"/>
          <p:cNvSpPr/>
          <p:nvPr/>
        </p:nvSpPr>
        <p:spPr>
          <a:xfrm>
            <a:off x="2945541" y="2707899"/>
            <a:ext cx="1967422" cy="1732366"/>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6182226" y="3969658"/>
            <a:ext cx="3934231" cy="2169886"/>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dirty="0">
                <a:latin typeface="Times New Roman" panose="02020603050405020304" charset="0"/>
                <a:sym typeface="+mn-ea"/>
              </a:rPr>
              <a:t>组合：类图</a:t>
            </a:r>
            <a:endParaRPr lang="zh-CN" altLang="en-US" sz="23900" dirty="0">
              <a:latin typeface="Times New Roman" panose="02020603050405020304" charset="0"/>
              <a:sym typeface="+mn-ea"/>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91254" y="1209675"/>
            <a:ext cx="3892507" cy="4438650"/>
          </a:xfrm>
          <a:prstGeom prst="rect">
            <a:avLst/>
          </a:prstGeom>
        </p:spPr>
      </p:pic>
      <p:sp>
        <p:nvSpPr>
          <p:cNvPr id="8" name="Rectangle 7"/>
          <p:cNvSpPr/>
          <p:nvPr/>
        </p:nvSpPr>
        <p:spPr>
          <a:xfrm>
            <a:off x="3456121" y="1266557"/>
            <a:ext cx="1131377" cy="461504"/>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5137688" y="5455403"/>
            <a:ext cx="184731" cy="369332"/>
          </a:xfrm>
          <a:prstGeom prst="rect">
            <a:avLst/>
          </a:prstGeom>
          <a:noFill/>
        </p:spPr>
        <p:txBody>
          <a:bodyPr wrap="none" rtlCol="0">
            <a:spAutoFit/>
          </a:bodyPr>
          <a:lstStyle/>
          <a:p>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76346" y="1371760"/>
            <a:ext cx="4964144" cy="4641527"/>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400" dirty="0">
                <a:latin typeface="Times New Roman" panose="02020603050405020304" charset="0"/>
              </a:rPr>
              <a:t>组合：表示递归层次结构</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553335"/>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解决方案：</a:t>
            </a:r>
            <a:endParaRPr lang="zh-CN" altLang="en-US"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solidFill>
                  <a:srgbClr val="FF0000"/>
                </a:solidFill>
                <a:latin typeface="Helvetica" pitchFamily="2" charset="0"/>
                <a:cs typeface="Arial" panose="020B0604020202090204" pitchFamily="34" charset="0"/>
              </a:rPr>
              <a:t>Component </a:t>
            </a:r>
            <a:r>
              <a:rPr lang="zh-CN" altLang="en-US" sz="2000" dirty="0">
                <a:solidFill>
                  <a:schemeClr val="tx1"/>
                </a:solidFill>
                <a:latin typeface="Helvetica" pitchFamily="2" charset="0"/>
                <a:cs typeface="Arial" panose="020B0604020202090204" pitchFamily="34" charset="0"/>
              </a:rPr>
              <a:t>接口指定了 </a:t>
            </a:r>
            <a:r>
              <a:rPr lang="en-US" altLang="zh-CN" sz="2000" dirty="0">
                <a:solidFill>
                  <a:srgbClr val="FF0000"/>
                </a:solidFill>
                <a:latin typeface="Helvetica" pitchFamily="2" charset="0"/>
                <a:cs typeface="Arial" panose="020B0604020202090204" pitchFamily="34" charset="0"/>
              </a:rPr>
              <a:t>Leaf</a:t>
            </a:r>
            <a:r>
              <a:rPr lang="en-US" altLang="zh-CN" sz="2000" dirty="0">
                <a:solidFill>
                  <a:schemeClr val="tx1"/>
                </a:solidFill>
                <a:latin typeface="Helvetica" pitchFamily="2" charset="0"/>
                <a:cs typeface="Arial" panose="020B0604020202090204" pitchFamily="34" charset="0"/>
              </a:rPr>
              <a:t> </a:t>
            </a:r>
            <a:r>
              <a:rPr lang="zh-CN" altLang="en-US" sz="2000" dirty="0">
                <a:solidFill>
                  <a:schemeClr val="tx1"/>
                </a:solidFill>
                <a:latin typeface="Helvetica" pitchFamily="2" charset="0"/>
                <a:cs typeface="Arial" panose="020B0604020202090204" pitchFamily="34" charset="0"/>
              </a:rPr>
              <a:t>和 </a:t>
            </a:r>
            <a:r>
              <a:rPr lang="en-US" altLang="zh-CN" sz="2000" dirty="0">
                <a:solidFill>
                  <a:srgbClr val="FF0000"/>
                </a:solidFill>
                <a:latin typeface="Helvetica" pitchFamily="2" charset="0"/>
                <a:cs typeface="Arial" panose="020B0604020202090204" pitchFamily="34" charset="0"/>
              </a:rPr>
              <a:t>Composite</a:t>
            </a:r>
            <a:r>
              <a:rPr lang="en-US" altLang="zh-CN" sz="2000" dirty="0">
                <a:solidFill>
                  <a:schemeClr val="tx1"/>
                </a:solidFill>
                <a:latin typeface="Helvetica" pitchFamily="2" charset="0"/>
                <a:cs typeface="Arial" panose="020B0604020202090204" pitchFamily="34" charset="0"/>
              </a:rPr>
              <a:t> </a:t>
            </a:r>
            <a:r>
              <a:rPr lang="zh-CN" altLang="en-US" sz="2000" dirty="0">
                <a:solidFill>
                  <a:schemeClr val="tx1"/>
                </a:solidFill>
                <a:latin typeface="Helvetica" pitchFamily="2" charset="0"/>
                <a:cs typeface="Arial" panose="020B0604020202090204" pitchFamily="34" charset="0"/>
              </a:rPr>
              <a:t>之间共享的服务。</a:t>
            </a:r>
            <a:endParaRPr lang="zh-CN" altLang="en-US"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一个 </a:t>
            </a:r>
            <a:r>
              <a:rPr lang="en-US" altLang="zh-CN" sz="2000" dirty="0">
                <a:solidFill>
                  <a:srgbClr val="FF0000"/>
                </a:solidFill>
                <a:latin typeface="Helvetica" pitchFamily="2" charset="0"/>
                <a:cs typeface="Arial" panose="020B0604020202090204" pitchFamily="34" charset="0"/>
              </a:rPr>
              <a:t>Composite </a:t>
            </a:r>
            <a:r>
              <a:rPr lang="zh-CN" altLang="en-US" sz="2000" dirty="0">
                <a:solidFill>
                  <a:schemeClr val="tx1"/>
                </a:solidFill>
                <a:latin typeface="Helvetica" pitchFamily="2" charset="0"/>
                <a:cs typeface="Arial" panose="020B0604020202090204" pitchFamily="34" charset="0"/>
              </a:rPr>
              <a:t>与多个 </a:t>
            </a:r>
            <a:r>
              <a:rPr lang="en-US" altLang="zh-CN" sz="2000" dirty="0">
                <a:solidFill>
                  <a:srgbClr val="FF0000"/>
                </a:solidFill>
                <a:latin typeface="Helvetica" pitchFamily="2" charset="0"/>
                <a:cs typeface="Arial" panose="020B0604020202090204" pitchFamily="34" charset="0"/>
              </a:rPr>
              <a:t>Components </a:t>
            </a:r>
            <a:r>
              <a:rPr lang="zh-CN" altLang="en-US" sz="2000" dirty="0">
                <a:solidFill>
                  <a:schemeClr val="tx1"/>
                </a:solidFill>
                <a:latin typeface="Helvetica" pitchFamily="2" charset="0"/>
                <a:cs typeface="Arial" panose="020B0604020202090204" pitchFamily="34" charset="0"/>
              </a:rPr>
              <a:t>具有聚合关系，并通过迭代每个包含的 </a:t>
            </a:r>
            <a:r>
              <a:rPr lang="en-US" altLang="zh-CN" sz="2000" dirty="0">
                <a:solidFill>
                  <a:srgbClr val="FF0000"/>
                </a:solidFill>
                <a:latin typeface="Helvetica" pitchFamily="2" charset="0"/>
                <a:cs typeface="Arial" panose="020B0604020202090204" pitchFamily="34" charset="0"/>
              </a:rPr>
              <a:t>Component</a:t>
            </a:r>
            <a:r>
              <a:rPr lang="en-US" altLang="zh-CN" sz="2000" dirty="0">
                <a:solidFill>
                  <a:schemeClr val="tx1"/>
                </a:solidFill>
                <a:latin typeface="Helvetica" pitchFamily="2" charset="0"/>
                <a:cs typeface="Arial" panose="020B0604020202090204" pitchFamily="34" charset="0"/>
              </a:rPr>
              <a:t> </a:t>
            </a:r>
            <a:r>
              <a:rPr lang="zh-CN" altLang="en-US" sz="2000" dirty="0">
                <a:solidFill>
                  <a:schemeClr val="tx1"/>
                </a:solidFill>
                <a:latin typeface="Helvetica" pitchFamily="2" charset="0"/>
                <a:cs typeface="Arial" panose="020B0604020202090204" pitchFamily="34" charset="0"/>
              </a:rPr>
              <a:t>来实现每个服务。</a:t>
            </a:r>
            <a:endParaRPr lang="zh-CN" altLang="en-US"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solidFill>
                  <a:srgbClr val="FF0000"/>
                </a:solidFill>
                <a:latin typeface="Helvetica" pitchFamily="2" charset="0"/>
                <a:cs typeface="Arial" panose="020B0604020202090204" pitchFamily="34" charset="0"/>
              </a:rPr>
              <a:t>Leaf </a:t>
            </a:r>
            <a:r>
              <a:rPr lang="zh-CN" altLang="en-US" sz="2000" dirty="0">
                <a:solidFill>
                  <a:schemeClr val="tx1"/>
                </a:solidFill>
                <a:latin typeface="Helvetica" pitchFamily="2" charset="0"/>
                <a:cs typeface="Arial" panose="020B0604020202090204" pitchFamily="34" charset="0"/>
              </a:rPr>
              <a:t>服务完成实际工作。</a:t>
            </a:r>
            <a:endParaRPr lang="zh-CN" altLang="en-US" sz="2000" dirty="0">
              <a:solidFill>
                <a:schemeClr val="tx1"/>
              </a:solidFill>
              <a:latin typeface="Helvetica" pitchFamily="2" charset="0"/>
              <a:cs typeface="Arial" panose="020B060402020209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400" dirty="0">
                <a:latin typeface="Times New Roman" panose="02020603050405020304" charset="0"/>
              </a:rPr>
              <a:t>组合：后果</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24536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后果：</a:t>
            </a:r>
            <a:endParaRPr lang="zh-CN" altLang="en-US"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solidFill>
                  <a:srgbClr val="FF0000"/>
                </a:solidFill>
                <a:latin typeface="Helvetica" pitchFamily="2" charset="0"/>
                <a:cs typeface="Arial" panose="020B0604020202090204" pitchFamily="34" charset="0"/>
              </a:rPr>
              <a:t>Client </a:t>
            </a:r>
            <a:r>
              <a:rPr lang="zh-CN" altLang="en-US" sz="2000" dirty="0">
                <a:solidFill>
                  <a:schemeClr val="tx1"/>
                </a:solidFill>
                <a:latin typeface="Helvetica" pitchFamily="2" charset="0"/>
                <a:cs typeface="Arial" panose="020B0604020202090204" pitchFamily="34" charset="0"/>
              </a:rPr>
              <a:t>使用相同的代码处理 </a:t>
            </a:r>
            <a:r>
              <a:rPr lang="en-US" altLang="zh-CN" sz="2000" dirty="0">
                <a:solidFill>
                  <a:srgbClr val="FF0000"/>
                </a:solidFill>
                <a:latin typeface="Helvetica" pitchFamily="2" charset="0"/>
                <a:cs typeface="Arial" panose="020B0604020202090204" pitchFamily="34" charset="0"/>
              </a:rPr>
              <a:t>Leaves </a:t>
            </a:r>
            <a:r>
              <a:rPr lang="zh-CN" altLang="en-US" sz="2000" dirty="0">
                <a:solidFill>
                  <a:schemeClr val="tx1"/>
                </a:solidFill>
                <a:latin typeface="Helvetica" pitchFamily="2" charset="0"/>
                <a:cs typeface="Arial" panose="020B0604020202090204" pitchFamily="34" charset="0"/>
              </a:rPr>
              <a:t>或 </a:t>
            </a:r>
            <a:r>
              <a:rPr lang="en-US" altLang="zh-CN" sz="2000" dirty="0">
                <a:solidFill>
                  <a:srgbClr val="FF0000"/>
                </a:solidFill>
                <a:latin typeface="Helvetica" pitchFamily="2" charset="0"/>
                <a:cs typeface="Arial" panose="020B0604020202090204" pitchFamily="34" charset="0"/>
              </a:rPr>
              <a:t>Composites。</a:t>
            </a:r>
            <a:endParaRPr lang="en-US" altLang="zh-CN" sz="2000" dirty="0">
              <a:solidFill>
                <a:srgbClr val="FF0000"/>
              </a:solidFill>
              <a:latin typeface="Helvetica" pitchFamily="2" charset="0"/>
              <a:cs typeface="Arial" panose="020B0604020202090204" pitchFamily="34" charset="0"/>
            </a:endParaRPr>
          </a:p>
          <a:p>
            <a:pPr marL="800100" lvl="1" indent="-342900">
              <a:buFont typeface="Arial" panose="020B0604020202090204" pitchFamily="34" charset="0"/>
              <a:buChar char="•"/>
            </a:pP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solidFill>
                  <a:srgbClr val="FF0000"/>
                </a:solidFill>
                <a:latin typeface="Helvetica" pitchFamily="2" charset="0"/>
                <a:cs typeface="Arial" panose="020B0604020202090204" pitchFamily="34" charset="0"/>
              </a:rPr>
              <a:t>Leaf-specific</a:t>
            </a:r>
            <a:r>
              <a:rPr lang="en-US" altLang="zh-CN" sz="2000" dirty="0">
                <a:solidFill>
                  <a:schemeClr val="tx1"/>
                </a:solidFill>
                <a:latin typeface="Helvetica" pitchFamily="2" charset="0"/>
                <a:cs typeface="Arial" panose="020B0604020202090204" pitchFamily="34" charset="0"/>
              </a:rPr>
              <a:t> </a:t>
            </a:r>
            <a:r>
              <a:rPr lang="zh-CN" altLang="en-US" sz="2000" dirty="0">
                <a:solidFill>
                  <a:schemeClr val="tx1"/>
                </a:solidFill>
                <a:latin typeface="Helvetica" pitchFamily="2" charset="0"/>
                <a:cs typeface="Arial" panose="020B0604020202090204" pitchFamily="34" charset="0"/>
              </a:rPr>
              <a:t>行为可以在不改变层次结构的情况下改变。</a:t>
            </a:r>
            <a:endParaRPr lang="zh-CN" altLang="en-US"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可以添加新的 </a:t>
            </a:r>
            <a:r>
              <a:rPr lang="en-US" altLang="zh-CN" sz="2000" dirty="0">
                <a:solidFill>
                  <a:srgbClr val="FF0000"/>
                </a:solidFill>
                <a:latin typeface="Helvetica" pitchFamily="2" charset="0"/>
                <a:cs typeface="Arial" panose="020B0604020202090204" pitchFamily="34" charset="0"/>
              </a:rPr>
              <a:t>Leaves</a:t>
            </a:r>
            <a:r>
              <a:rPr lang="en-US" altLang="zh-CN" sz="2000" dirty="0">
                <a:solidFill>
                  <a:schemeClr val="tx1"/>
                </a:solidFill>
                <a:latin typeface="Helvetica" pitchFamily="2" charset="0"/>
                <a:cs typeface="Arial" panose="020B0604020202090204" pitchFamily="34" charset="0"/>
              </a:rPr>
              <a:t> </a:t>
            </a:r>
            <a:r>
              <a:rPr lang="zh-CN" altLang="en-US" sz="2000" dirty="0">
                <a:solidFill>
                  <a:schemeClr val="tx1"/>
                </a:solidFill>
                <a:latin typeface="Helvetica" pitchFamily="2" charset="0"/>
                <a:cs typeface="Arial" panose="020B0604020202090204" pitchFamily="34" charset="0"/>
              </a:rPr>
              <a:t>类，而无需改变层次结构。</a:t>
            </a:r>
            <a:endParaRPr lang="zh-CN" altLang="en-US" sz="2000" dirty="0">
              <a:solidFill>
                <a:schemeClr val="tx1"/>
              </a:solidFill>
              <a:latin typeface="Helvetica" pitchFamily="2" charset="0"/>
              <a:cs typeface="Arial" panose="020B0604020202090204"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800" dirty="0">
                <a:latin typeface="Times New Roman" panose="02020603050405020304" charset="0"/>
              </a:rPr>
              <a:t>讨论</a:t>
            </a:r>
            <a:endParaRPr lang="zh-CN" altLang="en-US" sz="48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1322070"/>
          </a:xfrm>
          <a:prstGeom prst="rect">
            <a:avLst/>
          </a:prstGeom>
          <a:noFill/>
        </p:spPr>
        <p:txBody>
          <a:bodyPr wrap="square">
            <a:spAutoFit/>
          </a:bodyPr>
          <a:lstStyle/>
          <a:p>
            <a:r>
              <a:rPr lang="zh-CN" altLang="en-US" sz="2000" dirty="0">
                <a:solidFill>
                  <a:schemeClr val="tx1"/>
                </a:solidFill>
                <a:latin typeface="Helvetica" pitchFamily="2" charset="0"/>
                <a:cs typeface="Arial" panose="020B0604020202090204" pitchFamily="34" charset="0"/>
              </a:rPr>
              <a:t>参见维基百科上有趣的讨论（2019）：</a:t>
            </a:r>
            <a:endParaRPr lang="zh-CN" altLang="en-US" sz="2000" dirty="0">
              <a:solidFill>
                <a:schemeClr val="tx1"/>
              </a:solidFill>
              <a:latin typeface="Helvetica" pitchFamily="2" charset="0"/>
              <a:cs typeface="Arial" panose="020B0604020202090204" pitchFamily="34" charset="0"/>
            </a:endParaRPr>
          </a:p>
          <a:p>
            <a:r>
              <a:rPr lang="zh-CN" altLang="en-US" sz="2000" dirty="0">
                <a:solidFill>
                  <a:schemeClr val="tx1"/>
                </a:solidFill>
                <a:latin typeface="Helvetica" pitchFamily="2" charset="0"/>
                <a:cs typeface="Arial" panose="020B0604020202090204" pitchFamily="34" charset="0"/>
              </a:rPr>
              <a:t>“使用此模式可以在不更改使用它们的代码的情况下，甚至是在运行时，互换具体类。然而，与类似的设计模式一样，采用此模式可能会导致不必要的复杂性，并在初始编写代码时增加额外的工作。”</a:t>
            </a:r>
            <a:endParaRPr lang="zh-CN" altLang="en-US" sz="2000" dirty="0">
              <a:solidFill>
                <a:schemeClr val="tx1"/>
              </a:solidFill>
              <a:latin typeface="Helvetica" pitchFamily="2" charset="0"/>
              <a:cs typeface="Arial" panose="020B0604020202090204"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400" dirty="0">
                <a:latin typeface="Times New Roman" panose="02020603050405020304" charset="0"/>
              </a:rPr>
              <a:t>一道旧考题</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553335"/>
          </a:xfrm>
          <a:prstGeom prst="rect">
            <a:avLst/>
          </a:prstGeom>
          <a:noFill/>
        </p:spPr>
        <p:txBody>
          <a:bodyPr wrap="square">
            <a:spAutoFit/>
          </a:bodyPr>
          <a:lstStyle/>
          <a:p>
            <a:r>
              <a:rPr lang="zh-CN" altLang="en-US" sz="2000" i="1" dirty="0">
                <a:solidFill>
                  <a:schemeClr val="tx1"/>
                </a:solidFill>
                <a:latin typeface="Helvetica" pitchFamily="2" charset="0"/>
                <a:cs typeface="Arial" panose="020B0604020202090204" pitchFamily="34" charset="0"/>
              </a:rPr>
              <a:t>一家制造体育用品的公司决定创建一个在线销售体育用品的系统。该公司已有一个产品数据库，包含其制造的设备的规格、营销信息和价格。</a:t>
            </a:r>
            <a:endParaRPr lang="zh-CN" altLang="en-US" sz="2000" i="1" dirty="0">
              <a:solidFill>
                <a:schemeClr val="tx1"/>
              </a:solidFill>
              <a:latin typeface="Helvetica" pitchFamily="2" charset="0"/>
              <a:cs typeface="Arial" panose="020B0604020202090204" pitchFamily="34" charset="0"/>
            </a:endParaRPr>
          </a:p>
          <a:p>
            <a:endParaRPr lang="zh-CN" altLang="en-US" sz="2000" i="1" dirty="0">
              <a:solidFill>
                <a:schemeClr val="tx1"/>
              </a:solidFill>
              <a:latin typeface="Helvetica" pitchFamily="2" charset="0"/>
              <a:cs typeface="Arial" panose="020B0604020202090204" pitchFamily="34" charset="0"/>
            </a:endParaRPr>
          </a:p>
          <a:p>
            <a:r>
              <a:rPr lang="zh-CN" altLang="en-US" sz="2000" i="1" dirty="0">
                <a:solidFill>
                  <a:schemeClr val="tx1"/>
                </a:solidFill>
                <a:latin typeface="Helvetica" pitchFamily="2" charset="0"/>
                <a:cs typeface="Arial" panose="020B0604020202090204" pitchFamily="34" charset="0"/>
              </a:rPr>
              <a:t>要在线销售设备，该公司需要创建：一个客户数据库，以及一个面向在线客户的订购系统。</a:t>
            </a:r>
            <a:endParaRPr lang="zh-CN" altLang="en-US" sz="2000" i="1" dirty="0">
              <a:solidFill>
                <a:schemeClr val="tx1"/>
              </a:solidFill>
              <a:latin typeface="Helvetica" pitchFamily="2" charset="0"/>
              <a:cs typeface="Arial" panose="020B0604020202090204" pitchFamily="34" charset="0"/>
            </a:endParaRPr>
          </a:p>
          <a:p>
            <a:endParaRPr lang="zh-CN" altLang="en-US" sz="2000" i="1" dirty="0">
              <a:solidFill>
                <a:schemeClr val="tx1"/>
              </a:solidFill>
              <a:latin typeface="Helvetica" pitchFamily="2" charset="0"/>
              <a:cs typeface="Arial" panose="020B0604020202090204" pitchFamily="34" charset="0"/>
            </a:endParaRPr>
          </a:p>
          <a:p>
            <a:r>
              <a:rPr lang="zh-CN" altLang="en-US" sz="2000" i="1" dirty="0">
                <a:solidFill>
                  <a:schemeClr val="tx1"/>
                </a:solidFill>
                <a:latin typeface="Helvetica" pitchFamily="2" charset="0"/>
                <a:cs typeface="Arial" panose="020B0604020202090204" pitchFamily="34" charset="0"/>
              </a:rPr>
              <a:t>计划分两个阶段开发该系统。在第一阶段，简单版本的客户数据库和订购系统将投入生产。在第二阶段，将对这些组件进行重大增强。</a:t>
            </a:r>
            <a:endParaRPr lang="zh-CN" altLang="en-US" sz="2000" i="1" dirty="0">
              <a:solidFill>
                <a:schemeClr val="tx1"/>
              </a:solidFill>
              <a:latin typeface="Helvetica" pitchFamily="2" charset="0"/>
              <a:cs typeface="Arial" panose="020B0604020202090204" pitchFamily="3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dirty="0">
                <a:latin typeface="Times New Roman" panose="02020603050405020304" charset="0"/>
                <a:sym typeface="+mn-ea"/>
              </a:rPr>
              <a:t>一道旧考题</a:t>
            </a:r>
            <a:endParaRPr lang="zh-CN" altLang="en-US" sz="23900" dirty="0">
              <a:latin typeface="Times New Roman" panose="02020603050405020304" charset="0"/>
              <a:sym typeface="+mn-ea"/>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073339"/>
            <a:ext cx="9550399" cy="3476625"/>
          </a:xfrm>
          <a:prstGeom prst="rect">
            <a:avLst/>
          </a:prstGeom>
          <a:noFill/>
        </p:spPr>
        <p:txBody>
          <a:bodyPr wrap="square">
            <a:spAutoFit/>
          </a:bodyPr>
          <a:lstStyle/>
          <a:p>
            <a:r>
              <a:rPr lang="zh-CN" altLang="en-US" sz="2000" dirty="0"/>
              <a:t>第一阶段中的精心设计将有助于第二阶段中新组件的后续开发。</a:t>
            </a:r>
            <a:endParaRPr lang="zh-CN" altLang="en-US" sz="2000" dirty="0"/>
          </a:p>
          <a:p>
            <a:endParaRPr lang="zh-CN" altLang="en-US" sz="2000" dirty="0"/>
          </a:p>
          <a:p>
            <a:pPr lvl="1"/>
            <a:r>
              <a:rPr lang="en-US" altLang="zh-CN" sz="2000" dirty="0"/>
              <a:t>(a)</a:t>
            </a:r>
            <a:r>
              <a:rPr lang="zh-CN" altLang="en-US" sz="2000" dirty="0"/>
              <a:t>对于订购系统与客户数据库之间的接口：</a:t>
            </a:r>
            <a:endParaRPr lang="zh-CN" altLang="en-US" sz="2000" dirty="0"/>
          </a:p>
          <a:p>
            <a:pPr lvl="1"/>
            <a:endParaRPr lang="zh-CN" altLang="en-US" sz="2000" dirty="0"/>
          </a:p>
          <a:p>
            <a:pPr lvl="1"/>
            <a:r>
              <a:rPr lang="en-US" altLang="zh-CN" sz="2000" dirty="0"/>
              <a:t>i </a:t>
            </a:r>
            <a:r>
              <a:rPr lang="zh-CN" altLang="en-US" sz="2000" dirty="0"/>
              <a:t>选择一个允许从第一阶段逐步过渡到第二阶段的设计模式。</a:t>
            </a:r>
            <a:endParaRPr lang="zh-CN" altLang="en-US" sz="2000" dirty="0"/>
          </a:p>
          <a:p>
            <a:pPr lvl="1"/>
            <a:endParaRPr lang="zh-CN" altLang="en-US" sz="2000" dirty="0"/>
          </a:p>
          <a:p>
            <a:pPr lvl="1"/>
            <a:r>
              <a:rPr lang="en-US" altLang="zh-CN" sz="2000" dirty="0"/>
              <a:t>ii </a:t>
            </a:r>
            <a:r>
              <a:rPr lang="zh-CN" altLang="en-US" sz="2000" dirty="0"/>
              <a:t>绘制一个</a:t>
            </a:r>
            <a:r>
              <a:rPr lang="en-US" altLang="zh-CN" sz="2000" dirty="0"/>
              <a:t>UML</a:t>
            </a:r>
            <a:r>
              <a:rPr lang="zh-CN" altLang="en-US" sz="2000" dirty="0"/>
              <a:t>类图，展示该设计模式在第一阶段将如何应用。</a:t>
            </a:r>
            <a:endParaRPr lang="zh-CN" altLang="en-US" sz="2000" dirty="0"/>
          </a:p>
          <a:p>
            <a:pPr lvl="1"/>
            <a:endParaRPr lang="zh-CN" altLang="en-US" sz="2000" dirty="0"/>
          </a:p>
          <a:p>
            <a:pPr lvl="2"/>
            <a:r>
              <a:rPr lang="zh-CN" altLang="en-US" sz="2000" i="1" dirty="0"/>
              <a:t>如果你的图依赖于抽象类、继承、委托或类似属性，请确保在图上清楚标明。</a:t>
            </a:r>
            <a:endParaRPr lang="zh-CN" altLang="en-US" sz="2000" i="1" dirty="0"/>
          </a:p>
          <a:p>
            <a:endParaRPr lang="en-US" altLang="zh-CN" sz="2000" dirty="0"/>
          </a:p>
          <a:p>
            <a:pPr lvl="3"/>
            <a:endParaRPr lang="en-US" altLang="zh-CN" sz="2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dirty="0">
                <a:latin typeface="Times New Roman" panose="02020603050405020304" charset="0"/>
                <a:sym typeface="+mn-ea"/>
              </a:rPr>
              <a:t>一道旧考题</a:t>
            </a:r>
            <a:endParaRPr lang="zh-CN" altLang="en-US" sz="23900" dirty="0">
              <a:latin typeface="Times New Roman" panose="02020603050405020304" charset="0"/>
              <a:sym typeface="+mn-ea"/>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073339"/>
            <a:ext cx="9550399" cy="4092575"/>
          </a:xfrm>
          <a:prstGeom prst="rect">
            <a:avLst/>
          </a:prstGeom>
          <a:noFill/>
        </p:spPr>
        <p:txBody>
          <a:bodyPr wrap="square">
            <a:spAutoFit/>
          </a:bodyPr>
          <a:lstStyle/>
          <a:p>
            <a:r>
              <a:rPr lang="zh-CN" altLang="en-US" sz="2000" dirty="0"/>
              <a:t>第一阶段中的精心设计将有助于第二阶段中新组件的后续开发。</a:t>
            </a:r>
            <a:endParaRPr lang="zh-CN" altLang="en-US" sz="2000" dirty="0"/>
          </a:p>
          <a:p>
            <a:endParaRPr lang="zh-CN" altLang="en-US" sz="2000" dirty="0"/>
          </a:p>
          <a:p>
            <a:pPr lvl="1"/>
            <a:r>
              <a:rPr lang="en-US" altLang="zh-CN" sz="2000" dirty="0"/>
              <a:t>(a)</a:t>
            </a:r>
            <a:r>
              <a:rPr lang="zh-CN" altLang="en-US" sz="2000" dirty="0"/>
              <a:t>对于订购系统与客户数据库之间的接口：</a:t>
            </a:r>
            <a:endParaRPr lang="zh-CN" altLang="en-US" sz="2000" dirty="0"/>
          </a:p>
          <a:p>
            <a:pPr lvl="1"/>
            <a:endParaRPr lang="zh-CN" altLang="en-US" sz="2000" dirty="0"/>
          </a:p>
          <a:p>
            <a:pPr lvl="1"/>
            <a:r>
              <a:rPr lang="en-US" altLang="zh-CN" sz="2000" dirty="0"/>
              <a:t>i </a:t>
            </a:r>
            <a:r>
              <a:rPr lang="zh-CN" altLang="en-US" sz="2000" dirty="0"/>
              <a:t>选择一个允许从第一阶段逐步过渡到第二阶段的设计模式。</a:t>
            </a:r>
            <a:endParaRPr lang="zh-CN" altLang="en-US" sz="2000" dirty="0"/>
          </a:p>
          <a:p>
            <a:pPr lvl="1"/>
            <a:endParaRPr lang="zh-CN" altLang="en-US" sz="2000" dirty="0"/>
          </a:p>
          <a:p>
            <a:pPr lvl="3"/>
            <a:r>
              <a:rPr lang="zh-CN" altLang="en-US" sz="2000" dirty="0">
                <a:solidFill>
                  <a:srgbClr val="FF0000"/>
                </a:solidFill>
                <a:sym typeface="+mn-ea"/>
              </a:rPr>
              <a:t>桥接设计模式</a:t>
            </a:r>
            <a:endParaRPr lang="zh-CN" altLang="en-US" sz="2000" dirty="0">
              <a:solidFill>
                <a:srgbClr val="FF0000"/>
              </a:solidFill>
            </a:endParaRPr>
          </a:p>
          <a:p>
            <a:pPr lvl="1"/>
            <a:endParaRPr lang="zh-CN" altLang="en-US" sz="2000" dirty="0"/>
          </a:p>
          <a:p>
            <a:pPr lvl="1"/>
            <a:r>
              <a:rPr lang="en-US" altLang="zh-CN" sz="2000" dirty="0"/>
              <a:t>ii </a:t>
            </a:r>
            <a:r>
              <a:rPr lang="zh-CN" altLang="en-US" sz="2000" dirty="0"/>
              <a:t>绘制一个</a:t>
            </a:r>
            <a:r>
              <a:rPr lang="en-US" altLang="zh-CN" sz="2000" dirty="0"/>
              <a:t>UML</a:t>
            </a:r>
            <a:r>
              <a:rPr lang="zh-CN" altLang="en-US" sz="2000" dirty="0"/>
              <a:t>类图，展示该设计模式在第一阶段将如何应用。</a:t>
            </a:r>
            <a:endParaRPr lang="zh-CN" altLang="en-US" sz="2000" dirty="0"/>
          </a:p>
          <a:p>
            <a:pPr lvl="1"/>
            <a:endParaRPr lang="zh-CN" altLang="en-US" sz="2000" dirty="0"/>
          </a:p>
          <a:p>
            <a:pPr lvl="2"/>
            <a:r>
              <a:rPr lang="zh-CN" altLang="en-US" sz="2000" i="1" dirty="0"/>
              <a:t>如果你的图依赖于抽象类、继承、委托或类似属性，请确保在图上清楚标明。</a:t>
            </a:r>
            <a:endParaRPr lang="zh-CN" altLang="en-US" sz="2000" i="1" dirty="0"/>
          </a:p>
          <a:p>
            <a:endParaRPr lang="en-US" altLang="zh-CN" sz="2000" dirty="0"/>
          </a:p>
          <a:p>
            <a:pPr lvl="3"/>
            <a:endParaRPr lang="en-US" altLang="zh-CN" sz="2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dirty="0">
                <a:latin typeface="Times New Roman" panose="02020603050405020304" charset="0"/>
                <a:sym typeface="+mn-ea"/>
              </a:rPr>
              <a:t>一道旧考题</a:t>
            </a:r>
            <a:endParaRPr lang="zh-CN" altLang="en-US" sz="23900" dirty="0">
              <a:latin typeface="Times New Roman" panose="02020603050405020304" charset="0"/>
              <a:sym typeface="+mn-ea"/>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073339"/>
            <a:ext cx="9550399" cy="5015865"/>
          </a:xfrm>
          <a:prstGeom prst="rect">
            <a:avLst/>
          </a:prstGeom>
          <a:noFill/>
        </p:spPr>
        <p:txBody>
          <a:bodyPr wrap="square">
            <a:spAutoFit/>
          </a:bodyPr>
          <a:lstStyle/>
          <a:p>
            <a:r>
              <a:rPr lang="zh-CN" altLang="en-US" sz="2000" dirty="0"/>
              <a:t>第一阶段中的精心设计将有助于第二阶段中新组件的后续开发。</a:t>
            </a:r>
            <a:endParaRPr lang="zh-CN" altLang="en-US" sz="2000" dirty="0"/>
          </a:p>
          <a:p>
            <a:endParaRPr lang="zh-CN" altLang="en-US" sz="2000" dirty="0"/>
          </a:p>
          <a:p>
            <a:pPr lvl="1"/>
            <a:r>
              <a:rPr lang="en-US" altLang="zh-CN" sz="2000" dirty="0"/>
              <a:t>(a)</a:t>
            </a:r>
            <a:r>
              <a:rPr lang="zh-CN" altLang="en-US" sz="2000" dirty="0"/>
              <a:t>对于订购系统与客户数据库之间的接口：</a:t>
            </a:r>
            <a:endParaRPr lang="zh-CN" altLang="en-US" sz="2000" dirty="0"/>
          </a:p>
          <a:p>
            <a:pPr lvl="1"/>
            <a:endParaRPr lang="zh-CN" altLang="en-US" sz="2000" dirty="0"/>
          </a:p>
          <a:p>
            <a:pPr lvl="1"/>
            <a:r>
              <a:rPr lang="en-US" altLang="zh-CN" sz="2000" dirty="0"/>
              <a:t>i </a:t>
            </a:r>
            <a:r>
              <a:rPr lang="zh-CN" altLang="en-US" sz="2000" dirty="0"/>
              <a:t>选择一个允许从第一阶段逐步过渡到第二阶段的设计模式。</a:t>
            </a:r>
            <a:endParaRPr lang="zh-CN" altLang="en-US" sz="2000" dirty="0"/>
          </a:p>
          <a:p>
            <a:pPr lvl="1"/>
            <a:endParaRPr lang="zh-CN" altLang="en-US" sz="2000" dirty="0"/>
          </a:p>
          <a:p>
            <a:pPr lvl="3"/>
            <a:r>
              <a:rPr lang="zh-CN" altLang="en-US" sz="2000" dirty="0">
                <a:solidFill>
                  <a:srgbClr val="FF0000"/>
                </a:solidFill>
                <a:sym typeface="+mn-ea"/>
              </a:rPr>
              <a:t>桥接设计模式</a:t>
            </a:r>
            <a:endParaRPr lang="zh-CN" altLang="en-US" sz="2000" dirty="0">
              <a:solidFill>
                <a:srgbClr val="FF0000"/>
              </a:solidFill>
            </a:endParaRPr>
          </a:p>
          <a:p>
            <a:pPr lvl="1"/>
            <a:endParaRPr lang="zh-CN" altLang="en-US" sz="2000" dirty="0"/>
          </a:p>
          <a:p>
            <a:pPr lvl="1"/>
            <a:r>
              <a:rPr lang="en-US" altLang="zh-CN" sz="2000" dirty="0"/>
              <a:t>ii </a:t>
            </a:r>
            <a:r>
              <a:rPr lang="zh-CN" altLang="en-US" sz="2000" dirty="0"/>
              <a:t>绘制一个</a:t>
            </a:r>
            <a:r>
              <a:rPr lang="en-US" altLang="zh-CN" sz="2000" dirty="0"/>
              <a:t>UML</a:t>
            </a:r>
            <a:r>
              <a:rPr lang="zh-CN" altLang="en-US" sz="2000" dirty="0"/>
              <a:t>类图，展示该设计模式在第一阶段将如何应用。</a:t>
            </a:r>
            <a:endParaRPr lang="zh-CN" altLang="en-US" sz="2000" dirty="0"/>
          </a:p>
          <a:p>
            <a:pPr lvl="1"/>
            <a:endParaRPr lang="zh-CN" altLang="en-US" sz="2000" dirty="0"/>
          </a:p>
          <a:p>
            <a:pPr lvl="2"/>
            <a:r>
              <a:rPr lang="zh-CN" altLang="en-US" sz="2000" i="1" dirty="0"/>
              <a:t>如果你的图依赖于抽象类、继承、委托或类似属性，请确保在图上清楚标明。</a:t>
            </a:r>
            <a:endParaRPr lang="zh-CN" altLang="en-US" sz="2000" i="1" dirty="0"/>
          </a:p>
          <a:p>
            <a:pPr lvl="2"/>
            <a:endParaRPr lang="zh-CN" altLang="en-US" sz="2000" b="1" dirty="0">
              <a:solidFill>
                <a:srgbClr val="FF0000"/>
              </a:solidFill>
              <a:latin typeface="Helvetica" pitchFamily="2" charset="0"/>
              <a:cs typeface="Arial" panose="020B0604020202090204" pitchFamily="34" charset="0"/>
              <a:sym typeface="+mn-ea"/>
            </a:endParaRPr>
          </a:p>
          <a:p>
            <a:pPr lvl="2"/>
            <a:r>
              <a:rPr lang="zh-CN" altLang="en-US" sz="2000" dirty="0">
                <a:solidFill>
                  <a:srgbClr val="FF0000"/>
                </a:solidFill>
                <a:latin typeface="Helvetica" pitchFamily="2" charset="0"/>
                <a:cs typeface="Arial" panose="020B0604020202090204" pitchFamily="34" charset="0"/>
                <a:sym typeface="+mn-ea"/>
              </a:rPr>
              <a:t>[见下一页幻灯片]</a:t>
            </a:r>
            <a:endParaRPr lang="zh-CN" altLang="en-US" sz="2000" dirty="0">
              <a:solidFill>
                <a:srgbClr val="FF0000"/>
              </a:solidFill>
              <a:latin typeface="Helvetica" pitchFamily="2" charset="0"/>
              <a:cs typeface="Arial" panose="020B0604020202090204" pitchFamily="34" charset="0"/>
            </a:endParaRPr>
          </a:p>
          <a:p>
            <a:pPr lvl="2"/>
            <a:endParaRPr lang="zh-CN" altLang="en-US" sz="2000" i="1" dirty="0"/>
          </a:p>
          <a:p>
            <a:endParaRPr lang="en-US" altLang="zh-CN" sz="2000" dirty="0"/>
          </a:p>
          <a:p>
            <a:pPr lvl="3"/>
            <a:endParaRPr lang="en-US" altLang="zh-CN" sz="2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dirty="0">
                <a:latin typeface="Times New Roman" panose="02020603050405020304" charset="0"/>
                <a:sym typeface="+mn-ea"/>
              </a:rPr>
              <a:t>一道旧考题</a:t>
            </a:r>
            <a:endParaRPr lang="zh-CN" altLang="en-US" sz="23900" dirty="0">
              <a:latin typeface="Times New Roman" panose="02020603050405020304" charset="0"/>
              <a:sym typeface="+mn-ea"/>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4" name="图片 3"/>
          <p:cNvPicPr>
            <a:picLocks noChangeAspect="1"/>
          </p:cNvPicPr>
          <p:nvPr/>
        </p:nvPicPr>
        <p:blipFill>
          <a:blip r:embed="rId1"/>
          <a:stretch>
            <a:fillRect/>
          </a:stretch>
        </p:blipFill>
        <p:spPr>
          <a:xfrm>
            <a:off x="1250156" y="1149946"/>
            <a:ext cx="9691687" cy="4932069"/>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dirty="0">
                <a:latin typeface="Times New Roman" panose="02020603050405020304" charset="0"/>
                <a:sym typeface="+mn-ea"/>
              </a:rPr>
              <a:t>一道旧考题</a:t>
            </a:r>
            <a:endParaRPr lang="zh-CN" altLang="en-US" sz="23900" dirty="0">
              <a:latin typeface="Times New Roman" panose="02020603050405020304" charset="0"/>
              <a:sym typeface="+mn-ea"/>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1938020"/>
          </a:xfrm>
          <a:prstGeom prst="rect">
            <a:avLst/>
          </a:prstGeom>
          <a:noFill/>
        </p:spPr>
        <p:txBody>
          <a:bodyPr wrap="square">
            <a:spAutoFit/>
          </a:bodyPr>
          <a:lstStyle/>
          <a:p>
            <a:r>
              <a:rPr lang="en-US" altLang="zh-CN" sz="2000" dirty="0">
                <a:solidFill>
                  <a:schemeClr val="tx1"/>
                </a:solidFill>
                <a:latin typeface="Helvetica" pitchFamily="2" charset="0"/>
                <a:cs typeface="Arial" panose="020B0604020202090204" pitchFamily="34" charset="0"/>
              </a:rPr>
              <a:t>(c) </a:t>
            </a:r>
            <a:r>
              <a:rPr lang="zh-CN" altLang="en-US" sz="2000" dirty="0">
                <a:solidFill>
                  <a:schemeClr val="tx1"/>
                </a:solidFill>
                <a:latin typeface="Helvetica" pitchFamily="2" charset="0"/>
                <a:cs typeface="Arial" panose="020B0604020202090204" pitchFamily="34" charset="0"/>
              </a:rPr>
              <a:t>该设计模式如何支持：</a:t>
            </a:r>
            <a:endParaRPr lang="zh-CN" altLang="en-US" sz="2000" dirty="0">
              <a:solidFill>
                <a:schemeClr val="tx1"/>
              </a:solidFill>
              <a:latin typeface="Helvetica" pitchFamily="2" charset="0"/>
              <a:cs typeface="Arial" panose="020B0604020202090204" pitchFamily="34" charset="0"/>
            </a:endParaRPr>
          </a:p>
          <a:p>
            <a:pPr lvl="1"/>
            <a:r>
              <a:rPr lang="en-US" altLang="zh-CN" sz="2000" dirty="0">
                <a:solidFill>
                  <a:schemeClr val="tx1"/>
                </a:solidFill>
                <a:latin typeface="Helvetica" pitchFamily="2" charset="0"/>
                <a:cs typeface="Arial" panose="020B0604020202090204" pitchFamily="34" charset="0"/>
              </a:rPr>
              <a:t>i </a:t>
            </a:r>
            <a:r>
              <a:rPr lang="zh-CN" altLang="en-US" sz="2000" dirty="0">
                <a:solidFill>
                  <a:schemeClr val="tx1"/>
                </a:solidFill>
                <a:latin typeface="Helvetica" pitchFamily="2" charset="0"/>
                <a:cs typeface="Arial" panose="020B0604020202090204" pitchFamily="34" charset="0"/>
              </a:rPr>
              <a:t>第二阶段对订购系统的增强？</a:t>
            </a:r>
            <a:endParaRPr lang="zh-CN" altLang="en-US" sz="2000" dirty="0">
              <a:solidFill>
                <a:schemeClr val="tx1"/>
              </a:solidFill>
              <a:latin typeface="Helvetica" pitchFamily="2" charset="0"/>
              <a:cs typeface="Arial" panose="020B0604020202090204" pitchFamily="34" charset="0"/>
            </a:endParaRPr>
          </a:p>
          <a:p>
            <a:pPr lvl="1"/>
            <a:endParaRPr lang="zh-CN" altLang="en-US" sz="2000" dirty="0">
              <a:solidFill>
                <a:schemeClr val="tx1"/>
              </a:solidFill>
              <a:latin typeface="Helvetica" pitchFamily="2" charset="0"/>
              <a:cs typeface="Arial" panose="020B0604020202090204" pitchFamily="34" charset="0"/>
            </a:endParaRPr>
          </a:p>
          <a:p>
            <a:pPr lvl="1"/>
            <a:endParaRPr lang="zh-CN" altLang="en-US" sz="2000" dirty="0">
              <a:solidFill>
                <a:schemeClr val="tx1"/>
              </a:solidFill>
              <a:latin typeface="Helvetica" pitchFamily="2" charset="0"/>
              <a:cs typeface="Arial" panose="020B0604020202090204" pitchFamily="34" charset="0"/>
            </a:endParaRPr>
          </a:p>
          <a:p>
            <a:pPr lvl="1"/>
            <a:endParaRPr lang="zh-CN" altLang="en-US" sz="2000" dirty="0">
              <a:solidFill>
                <a:schemeClr val="tx1"/>
              </a:solidFill>
              <a:latin typeface="Helvetica" pitchFamily="2" charset="0"/>
              <a:cs typeface="Arial" panose="020B0604020202090204" pitchFamily="34" charset="0"/>
            </a:endParaRPr>
          </a:p>
          <a:p>
            <a:pPr lvl="1"/>
            <a:r>
              <a:rPr lang="en-US" altLang="zh-CN" sz="2000" dirty="0">
                <a:solidFill>
                  <a:schemeClr val="tx1"/>
                </a:solidFill>
                <a:latin typeface="Helvetica" pitchFamily="2" charset="0"/>
                <a:cs typeface="Arial" panose="020B0604020202090204" pitchFamily="34" charset="0"/>
              </a:rPr>
              <a:t>ii </a:t>
            </a:r>
            <a:r>
              <a:rPr lang="zh-CN" altLang="en-US" sz="2000" dirty="0">
                <a:solidFill>
                  <a:schemeClr val="tx1"/>
                </a:solidFill>
                <a:latin typeface="Helvetica" pitchFamily="2" charset="0"/>
                <a:cs typeface="Arial" panose="020B0604020202090204" pitchFamily="34" charset="0"/>
              </a:rPr>
              <a:t>第二阶段可能更换的客户数据库？</a:t>
            </a:r>
            <a:endParaRPr lang="zh-CN" altLang="en-US" sz="2000" dirty="0">
              <a:solidFill>
                <a:schemeClr val="tx1"/>
              </a:solidFill>
              <a:latin typeface="Helvetica" pitchFamily="2" charset="0"/>
              <a:cs typeface="Arial" panose="020B0604020202090204" pitchFamily="3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dirty="0">
                <a:latin typeface="Times New Roman" panose="02020603050405020304" charset="0"/>
                <a:sym typeface="+mn-ea"/>
              </a:rPr>
              <a:t>一道旧考题</a:t>
            </a:r>
            <a:endParaRPr lang="zh-CN" altLang="en-US" sz="23900" dirty="0">
              <a:latin typeface="Times New Roman" panose="02020603050405020304" charset="0"/>
              <a:sym typeface="+mn-ea"/>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1938020"/>
          </a:xfrm>
          <a:prstGeom prst="rect">
            <a:avLst/>
          </a:prstGeom>
          <a:noFill/>
        </p:spPr>
        <p:txBody>
          <a:bodyPr wrap="square">
            <a:spAutoFit/>
          </a:bodyPr>
          <a:lstStyle/>
          <a:p>
            <a:r>
              <a:rPr lang="en-US" altLang="zh-CN" sz="2000" dirty="0">
                <a:solidFill>
                  <a:schemeClr val="tx1"/>
                </a:solidFill>
                <a:latin typeface="Helvetica" pitchFamily="2" charset="0"/>
                <a:cs typeface="Arial" panose="020B0604020202090204" pitchFamily="34" charset="0"/>
              </a:rPr>
              <a:t>(c) </a:t>
            </a:r>
            <a:r>
              <a:rPr lang="zh-CN" altLang="en-US" sz="2000" dirty="0">
                <a:solidFill>
                  <a:schemeClr val="tx1"/>
                </a:solidFill>
                <a:latin typeface="Helvetica" pitchFamily="2" charset="0"/>
                <a:cs typeface="Arial" panose="020B0604020202090204" pitchFamily="34" charset="0"/>
              </a:rPr>
              <a:t>该设计模式如何支持：</a:t>
            </a:r>
            <a:endParaRPr lang="zh-CN" altLang="en-US" sz="2000" dirty="0">
              <a:solidFill>
                <a:schemeClr val="tx1"/>
              </a:solidFill>
              <a:latin typeface="Helvetica" pitchFamily="2" charset="0"/>
              <a:cs typeface="Arial" panose="020B0604020202090204" pitchFamily="34" charset="0"/>
            </a:endParaRPr>
          </a:p>
          <a:p>
            <a:pPr lvl="1"/>
            <a:r>
              <a:rPr lang="en-US" altLang="zh-CN" sz="2000" dirty="0">
                <a:solidFill>
                  <a:schemeClr val="tx1"/>
                </a:solidFill>
                <a:latin typeface="Helvetica" pitchFamily="2" charset="0"/>
                <a:cs typeface="Arial" panose="020B0604020202090204" pitchFamily="34" charset="0"/>
              </a:rPr>
              <a:t>i </a:t>
            </a:r>
            <a:r>
              <a:rPr lang="zh-CN" altLang="en-US" sz="2000" dirty="0">
                <a:solidFill>
                  <a:schemeClr val="tx1"/>
                </a:solidFill>
                <a:latin typeface="Helvetica" pitchFamily="2" charset="0"/>
                <a:cs typeface="Arial" panose="020B0604020202090204" pitchFamily="34" charset="0"/>
              </a:rPr>
              <a:t>第二阶段对订购系统的增强？</a:t>
            </a:r>
            <a:endParaRPr lang="zh-CN" altLang="en-US" sz="2000" dirty="0">
              <a:solidFill>
                <a:schemeClr val="tx1"/>
              </a:solidFill>
              <a:latin typeface="Helvetica" pitchFamily="2" charset="0"/>
              <a:cs typeface="Arial" panose="020B0604020202090204" pitchFamily="34" charset="0"/>
            </a:endParaRPr>
          </a:p>
          <a:p>
            <a:pPr lvl="1"/>
            <a:endParaRPr lang="zh-CN" altLang="en-US" sz="2000" dirty="0">
              <a:solidFill>
                <a:schemeClr val="tx1"/>
              </a:solidFill>
              <a:latin typeface="Helvetica" pitchFamily="2" charset="0"/>
              <a:cs typeface="Arial" panose="020B0604020202090204" pitchFamily="34" charset="0"/>
            </a:endParaRPr>
          </a:p>
          <a:p>
            <a:pPr lvl="2"/>
            <a:r>
              <a:rPr lang="zh-CN" altLang="en-US" sz="2000" b="1" dirty="0">
                <a:solidFill>
                  <a:srgbClr val="FF0000"/>
                </a:solidFill>
                <a:latin typeface="Helvetica" pitchFamily="2" charset="0"/>
                <a:cs typeface="Arial" panose="020B0604020202090204" pitchFamily="34" charset="0"/>
                <a:sym typeface="+mn-ea"/>
              </a:rPr>
              <a:t>通过子类化 </a:t>
            </a:r>
            <a:r>
              <a:rPr lang="en-US" altLang="zh-CN" sz="2000" b="1" dirty="0">
                <a:solidFill>
                  <a:srgbClr val="FF0000"/>
                </a:solidFill>
                <a:latin typeface="Helvetica" pitchFamily="2" charset="0"/>
                <a:cs typeface="Arial" panose="020B0604020202090204" pitchFamily="34" charset="0"/>
                <a:sym typeface="+mn-ea"/>
              </a:rPr>
              <a:t>OrderingAbstraction</a:t>
            </a:r>
            <a:endParaRPr lang="zh-CN" altLang="en-US" sz="2000" dirty="0">
              <a:solidFill>
                <a:schemeClr val="tx1"/>
              </a:solidFill>
              <a:latin typeface="Helvetica" pitchFamily="2" charset="0"/>
              <a:cs typeface="Arial" panose="020B0604020202090204" pitchFamily="34" charset="0"/>
            </a:endParaRPr>
          </a:p>
          <a:p>
            <a:pPr lvl="1"/>
            <a:endParaRPr lang="zh-CN" altLang="en-US" sz="2000" dirty="0">
              <a:solidFill>
                <a:schemeClr val="tx1"/>
              </a:solidFill>
              <a:latin typeface="Helvetica" pitchFamily="2" charset="0"/>
              <a:cs typeface="Arial" panose="020B0604020202090204" pitchFamily="34" charset="0"/>
            </a:endParaRPr>
          </a:p>
          <a:p>
            <a:pPr lvl="1"/>
            <a:r>
              <a:rPr lang="en-US" altLang="zh-CN" sz="2000" dirty="0">
                <a:solidFill>
                  <a:schemeClr val="tx1"/>
                </a:solidFill>
                <a:latin typeface="Helvetica" pitchFamily="2" charset="0"/>
                <a:cs typeface="Arial" panose="020B0604020202090204" pitchFamily="34" charset="0"/>
              </a:rPr>
              <a:t>ii </a:t>
            </a:r>
            <a:r>
              <a:rPr lang="zh-CN" altLang="en-US" sz="2000" dirty="0">
                <a:solidFill>
                  <a:schemeClr val="tx1"/>
                </a:solidFill>
                <a:latin typeface="Helvetica" pitchFamily="2" charset="0"/>
                <a:cs typeface="Arial" panose="020B0604020202090204" pitchFamily="34" charset="0"/>
              </a:rPr>
              <a:t>第二阶段可能更换的客户数据库？</a:t>
            </a:r>
            <a:endParaRPr lang="zh-CN" altLang="en-US" sz="2000" dirty="0">
              <a:solidFill>
                <a:schemeClr val="tx1"/>
              </a:solidFill>
              <a:latin typeface="Helvetica" pitchFamily="2" charset="0"/>
              <a:cs typeface="Arial" panose="020B0604020202090204" pitchFamily="3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dirty="0">
                <a:latin typeface="Times New Roman" panose="02020603050405020304" charset="0"/>
                <a:sym typeface="+mn-ea"/>
              </a:rPr>
              <a:t>一道旧考题</a:t>
            </a:r>
            <a:endParaRPr lang="zh-CN" altLang="en-US" sz="23900" dirty="0">
              <a:latin typeface="Times New Roman" panose="02020603050405020304" charset="0"/>
              <a:sym typeface="+mn-ea"/>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861310"/>
          </a:xfrm>
          <a:prstGeom prst="rect">
            <a:avLst/>
          </a:prstGeom>
          <a:noFill/>
        </p:spPr>
        <p:txBody>
          <a:bodyPr wrap="square">
            <a:spAutoFit/>
          </a:bodyPr>
          <a:lstStyle/>
          <a:p>
            <a:r>
              <a:rPr lang="en-US" altLang="zh-CN" sz="2000" dirty="0">
                <a:solidFill>
                  <a:schemeClr val="tx1"/>
                </a:solidFill>
                <a:latin typeface="Helvetica" pitchFamily="2" charset="0"/>
                <a:cs typeface="Arial" panose="020B0604020202090204" pitchFamily="34" charset="0"/>
              </a:rPr>
              <a:t>(c) </a:t>
            </a:r>
            <a:r>
              <a:rPr lang="zh-CN" altLang="en-US" sz="2000" dirty="0">
                <a:solidFill>
                  <a:schemeClr val="tx1"/>
                </a:solidFill>
                <a:latin typeface="Helvetica" pitchFamily="2" charset="0"/>
                <a:cs typeface="Arial" panose="020B0604020202090204" pitchFamily="34" charset="0"/>
              </a:rPr>
              <a:t>该设计模式如何支持：</a:t>
            </a:r>
            <a:endParaRPr lang="zh-CN" altLang="en-US" sz="2000" dirty="0">
              <a:solidFill>
                <a:schemeClr val="tx1"/>
              </a:solidFill>
              <a:latin typeface="Helvetica" pitchFamily="2" charset="0"/>
              <a:cs typeface="Arial" panose="020B0604020202090204" pitchFamily="34" charset="0"/>
            </a:endParaRPr>
          </a:p>
          <a:p>
            <a:pPr lvl="1"/>
            <a:r>
              <a:rPr lang="en-US" altLang="zh-CN" sz="2000" dirty="0">
                <a:solidFill>
                  <a:schemeClr val="tx1"/>
                </a:solidFill>
                <a:latin typeface="Helvetica" pitchFamily="2" charset="0"/>
                <a:cs typeface="Arial" panose="020B0604020202090204" pitchFamily="34" charset="0"/>
              </a:rPr>
              <a:t>i </a:t>
            </a:r>
            <a:r>
              <a:rPr lang="zh-CN" altLang="en-US" sz="2000" dirty="0">
                <a:solidFill>
                  <a:schemeClr val="tx1"/>
                </a:solidFill>
                <a:latin typeface="Helvetica" pitchFamily="2" charset="0"/>
                <a:cs typeface="Arial" panose="020B0604020202090204" pitchFamily="34" charset="0"/>
              </a:rPr>
              <a:t>第二阶段对订购系统的增强？</a:t>
            </a:r>
            <a:endParaRPr lang="zh-CN" altLang="en-US" sz="2000" dirty="0">
              <a:solidFill>
                <a:schemeClr val="tx1"/>
              </a:solidFill>
              <a:latin typeface="Helvetica" pitchFamily="2" charset="0"/>
              <a:cs typeface="Arial" panose="020B0604020202090204" pitchFamily="34" charset="0"/>
            </a:endParaRPr>
          </a:p>
          <a:p>
            <a:pPr lvl="1"/>
            <a:endParaRPr lang="zh-CN" altLang="en-US" sz="2000" dirty="0">
              <a:solidFill>
                <a:schemeClr val="tx1"/>
              </a:solidFill>
              <a:latin typeface="Helvetica" pitchFamily="2" charset="0"/>
              <a:cs typeface="Arial" panose="020B0604020202090204" pitchFamily="34" charset="0"/>
            </a:endParaRPr>
          </a:p>
          <a:p>
            <a:pPr lvl="2"/>
            <a:r>
              <a:rPr lang="zh-CN" altLang="en-US" sz="2000" b="1" dirty="0">
                <a:solidFill>
                  <a:srgbClr val="FF0000"/>
                </a:solidFill>
                <a:latin typeface="Helvetica" pitchFamily="2" charset="0"/>
                <a:cs typeface="Arial" panose="020B0604020202090204" pitchFamily="34" charset="0"/>
                <a:sym typeface="+mn-ea"/>
              </a:rPr>
              <a:t>通过子类化 </a:t>
            </a:r>
            <a:r>
              <a:rPr lang="en-US" altLang="zh-CN" sz="2000" b="1" dirty="0">
                <a:solidFill>
                  <a:srgbClr val="FF0000"/>
                </a:solidFill>
                <a:latin typeface="Helvetica" pitchFamily="2" charset="0"/>
                <a:cs typeface="Arial" panose="020B0604020202090204" pitchFamily="34" charset="0"/>
                <a:sym typeface="+mn-ea"/>
              </a:rPr>
              <a:t>OrderingAbstraction</a:t>
            </a:r>
            <a:endParaRPr lang="zh-CN" altLang="en-US" sz="2000" dirty="0">
              <a:solidFill>
                <a:schemeClr val="tx1"/>
              </a:solidFill>
              <a:latin typeface="Helvetica" pitchFamily="2" charset="0"/>
              <a:cs typeface="Arial" panose="020B0604020202090204" pitchFamily="34" charset="0"/>
            </a:endParaRPr>
          </a:p>
          <a:p>
            <a:pPr lvl="1"/>
            <a:endParaRPr lang="zh-CN" altLang="en-US" sz="2000" dirty="0">
              <a:solidFill>
                <a:schemeClr val="tx1"/>
              </a:solidFill>
              <a:latin typeface="Helvetica" pitchFamily="2" charset="0"/>
              <a:cs typeface="Arial" panose="020B0604020202090204" pitchFamily="34" charset="0"/>
            </a:endParaRPr>
          </a:p>
          <a:p>
            <a:pPr lvl="1"/>
            <a:r>
              <a:rPr lang="en-US" altLang="zh-CN" sz="2000" dirty="0">
                <a:solidFill>
                  <a:schemeClr val="tx1"/>
                </a:solidFill>
                <a:latin typeface="Helvetica" pitchFamily="2" charset="0"/>
                <a:cs typeface="Arial" panose="020B0604020202090204" pitchFamily="34" charset="0"/>
              </a:rPr>
              <a:t>ii </a:t>
            </a:r>
            <a:r>
              <a:rPr lang="zh-CN" altLang="en-US" sz="2000" dirty="0">
                <a:solidFill>
                  <a:schemeClr val="tx1"/>
                </a:solidFill>
                <a:latin typeface="Helvetica" pitchFamily="2" charset="0"/>
                <a:cs typeface="Arial" panose="020B0604020202090204" pitchFamily="34" charset="0"/>
              </a:rPr>
              <a:t>第二阶段可能更换的客户数据库？</a:t>
            </a:r>
            <a:endParaRPr lang="zh-CN" altLang="en-US" sz="2000" dirty="0">
              <a:solidFill>
                <a:schemeClr val="tx1"/>
              </a:solidFill>
              <a:latin typeface="Helvetica" pitchFamily="2" charset="0"/>
              <a:cs typeface="Arial" panose="020B0604020202090204" pitchFamily="34" charset="0"/>
            </a:endParaRPr>
          </a:p>
          <a:p>
            <a:pPr lvl="1"/>
            <a:endParaRPr lang="zh-CN" altLang="en-US" sz="2000" dirty="0">
              <a:solidFill>
                <a:schemeClr val="tx1"/>
              </a:solidFill>
              <a:latin typeface="Helvetica" pitchFamily="2" charset="0"/>
              <a:cs typeface="Arial" panose="020B0604020202090204" pitchFamily="34" charset="0"/>
            </a:endParaRPr>
          </a:p>
          <a:p>
            <a:pPr lvl="2"/>
            <a:r>
              <a:rPr lang="zh-CN" altLang="en-US" sz="2000" b="1" dirty="0">
                <a:solidFill>
                  <a:srgbClr val="FF0000"/>
                </a:solidFill>
                <a:latin typeface="Helvetica" pitchFamily="2" charset="0"/>
                <a:cs typeface="Arial" panose="020B0604020202090204" pitchFamily="34" charset="0"/>
                <a:sym typeface="+mn-ea"/>
              </a:rPr>
              <a:t>通过允许多个 </a:t>
            </a:r>
            <a:r>
              <a:rPr lang="en-US" altLang="zh-CN" sz="2000" b="1" dirty="0">
                <a:solidFill>
                  <a:srgbClr val="FF0000"/>
                </a:solidFill>
                <a:latin typeface="Helvetica" pitchFamily="2" charset="0"/>
                <a:cs typeface="Arial" panose="020B0604020202090204" pitchFamily="34" charset="0"/>
                <a:sym typeface="+mn-ea"/>
              </a:rPr>
              <a:t>ConcreteDBImplementor </a:t>
            </a:r>
            <a:r>
              <a:rPr lang="zh-CN" altLang="en-US" sz="2000" b="1" dirty="0">
                <a:solidFill>
                  <a:srgbClr val="FF0000"/>
                </a:solidFill>
                <a:latin typeface="Helvetica" pitchFamily="2" charset="0"/>
                <a:cs typeface="Arial" panose="020B0604020202090204" pitchFamily="34" charset="0"/>
                <a:sym typeface="+mn-ea"/>
              </a:rPr>
              <a:t>类（配合适配器模式）</a:t>
            </a:r>
            <a:endParaRPr lang="zh-CN" altLang="en-US" sz="2000" b="1" dirty="0">
              <a:solidFill>
                <a:srgbClr val="FF0000"/>
              </a:solidFill>
              <a:latin typeface="Helvetica" pitchFamily="2" charset="0"/>
              <a:cs typeface="Arial" panose="020B0604020202090204" pitchFamily="34" charset="0"/>
            </a:endParaRPr>
          </a:p>
          <a:p>
            <a:pPr lvl="1"/>
            <a:endParaRPr lang="zh-CN" altLang="en-US" sz="2000" dirty="0">
              <a:solidFill>
                <a:schemeClr val="tx1"/>
              </a:solidFill>
              <a:latin typeface="Helvetica" pitchFamily="2" charset="0"/>
              <a:cs typeface="Arial" panose="020B0604020202090204" pitchFamily="34"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400" dirty="0">
                <a:latin typeface="Times New Roman" panose="02020603050405020304" charset="0"/>
              </a:rPr>
              <a:t>遗留系统</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620095"/>
            <a:ext cx="9550399" cy="3169285"/>
          </a:xfrm>
          <a:prstGeom prst="rect">
            <a:avLst/>
          </a:prstGeom>
          <a:noFill/>
        </p:spPr>
        <p:txBody>
          <a:bodyPr wrap="square">
            <a:spAutoFit/>
          </a:bodyPr>
          <a:lstStyle/>
          <a:p>
            <a:r>
              <a:rPr lang="zh-CN" altLang="en-US" sz="2000" dirty="0">
                <a:solidFill>
                  <a:schemeClr val="tx1"/>
                </a:solidFill>
                <a:latin typeface="Helvetica" pitchFamily="2" charset="0"/>
                <a:cs typeface="Arial" panose="020B0604020202090204" pitchFamily="34" charset="0"/>
              </a:rPr>
              <a:t>许多数据密集型系统，例如银行、大学等使用的系统，都是遗留系统。它们可能早在四十年前就作为批处理、主文件更新系统被开发出来，并经过持续修改。</a:t>
            </a:r>
            <a:endParaRPr lang="zh-CN" altLang="en-US" sz="2000" dirty="0">
              <a:solidFill>
                <a:schemeClr val="tx1"/>
              </a:solidFill>
              <a:latin typeface="Helvetica" pitchFamily="2" charset="0"/>
              <a:cs typeface="Arial" panose="020B0604020202090204" pitchFamily="34" charset="0"/>
            </a:endParaRPr>
          </a:p>
          <a:p>
            <a:endParaRPr lang="zh-CN" altLang="en-US"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最近的修改可能包括面向</a:t>
            </a:r>
            <a:r>
              <a:rPr lang="en-US" altLang="zh-CN" sz="2000" dirty="0">
                <a:solidFill>
                  <a:schemeClr val="tx1"/>
                </a:solidFill>
                <a:latin typeface="Helvetica" pitchFamily="2" charset="0"/>
                <a:cs typeface="Arial" panose="020B0604020202090204" pitchFamily="34" charset="0"/>
              </a:rPr>
              <a:t>Web、</a:t>
            </a:r>
            <a:r>
              <a:rPr lang="zh-CN" altLang="en-US" sz="2000" dirty="0">
                <a:solidFill>
                  <a:schemeClr val="tx1"/>
                </a:solidFill>
                <a:latin typeface="Helvetica" pitchFamily="2" charset="0"/>
                <a:cs typeface="Arial" panose="020B0604020202090204" pitchFamily="34" charset="0"/>
              </a:rPr>
              <a:t>智能手机等的客户接口。</a:t>
            </a:r>
            <a:endParaRPr lang="zh-CN" altLang="en-US"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这些系统可能已从一台计算机迁移到另一台，跨不同的操作系统，换用不同的数据库系统等。</a:t>
            </a:r>
            <a:endParaRPr lang="zh-CN" altLang="en-US"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组织可能已经历过合并等变化。</a:t>
            </a:r>
            <a:endParaRPr lang="zh-CN" altLang="en-US" sz="2000" dirty="0">
              <a:solidFill>
                <a:schemeClr val="tx1"/>
              </a:solidFill>
              <a:latin typeface="Helvetica" pitchFamily="2" charset="0"/>
              <a:cs typeface="Arial" panose="020B0604020202090204" pitchFamily="34" charset="0"/>
            </a:endParaRPr>
          </a:p>
          <a:p>
            <a:endParaRPr lang="zh-CN" altLang="en-US" sz="2000" dirty="0">
              <a:solidFill>
                <a:schemeClr val="tx1"/>
              </a:solidFill>
              <a:latin typeface="Helvetica" pitchFamily="2" charset="0"/>
              <a:cs typeface="Arial" panose="020B0604020202090204" pitchFamily="34" charset="0"/>
            </a:endParaRPr>
          </a:p>
          <a:p>
            <a:r>
              <a:rPr lang="zh-CN" altLang="en-US" sz="2000" dirty="0">
                <a:solidFill>
                  <a:srgbClr val="FF0000"/>
                </a:solidFill>
                <a:latin typeface="Helvetica" pitchFamily="2" charset="0"/>
                <a:cs typeface="Arial" panose="020B0604020202090204" pitchFamily="34" charset="0"/>
              </a:rPr>
              <a:t>为这种遗留系统维护一个连贯的系统架构是一个巨大的挑战，然而构建新系统的复杂性如此之大，以至于很少被尝试。</a:t>
            </a:r>
            <a:endParaRPr lang="zh-CN" altLang="en-US" sz="2000" dirty="0">
              <a:solidFill>
                <a:srgbClr val="FF0000"/>
              </a:solidFill>
              <a:latin typeface="Helvetica" pitchFamily="2" charset="0"/>
              <a:cs typeface="Arial" panose="020B0604020202090204" pitchFamily="34"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800" dirty="0">
                <a:latin typeface="Times New Roman" panose="02020603050405020304" charset="0"/>
              </a:rPr>
              <a:t>遗留系统</a:t>
            </a:r>
            <a:endParaRPr lang="zh-CN" altLang="en-US" sz="48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431558"/>
            <a:ext cx="9550399" cy="3169285"/>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最坏情况</a:t>
            </a:r>
            <a:endParaRPr lang="zh-CN" altLang="en-US" sz="2000" b="1" dirty="0">
              <a:solidFill>
                <a:srgbClr val="515223"/>
              </a:solidFill>
              <a:latin typeface="Helvetica" pitchFamily="2" charset="0"/>
              <a:cs typeface="Arial" panose="020B0604020202090204" pitchFamily="34" charset="0"/>
            </a:endParaRPr>
          </a:p>
          <a:p>
            <a:r>
              <a:rPr lang="zh-CN" altLang="en-US" sz="2000" dirty="0">
                <a:solidFill>
                  <a:schemeClr val="tx1"/>
                </a:solidFill>
                <a:latin typeface="Helvetica" pitchFamily="2" charset="0"/>
                <a:cs typeface="Arial" panose="020B0604020202090204" pitchFamily="34" charset="0"/>
              </a:rPr>
              <a:t>一个几十年前开发的大型复杂系统：</a:t>
            </a:r>
            <a:endParaRPr lang="en-US" altLang="zh-CN"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在大型组织内部或由未知数量的客户广泛使用。</a:t>
            </a:r>
            <a:endParaRPr lang="en-US" altLang="zh-CN"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所有开发人员都已退休或离职。</a:t>
            </a:r>
            <a:endParaRPr lang="en-US" altLang="zh-CN"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没有需求列表。不确定系统提供什么功能以及谁在使用哪些功能。</a:t>
            </a:r>
            <a:endParaRPr lang="en-US" altLang="zh-CN"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系统和程序文档不完整且未保持更新。</a:t>
            </a:r>
            <a:endParaRPr lang="zh-CN" altLang="en-US"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使用过时版本的编程语言编写，并使用了同样过时的系统软件。</a:t>
            </a:r>
            <a:endParaRPr lang="zh-CN" altLang="en-US"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多年来无数次的补丁，忽略了原始系统架构和程序设计。</a:t>
            </a:r>
            <a:endParaRPr lang="zh-CN" altLang="en-US"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广泛的代码重复和冗余。</a:t>
            </a:r>
            <a:endParaRPr lang="en-US" altLang="zh-CN"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源代码库和生产二进制文件可能不兼容。</a:t>
            </a:r>
            <a:endParaRPr lang="zh-CN" altLang="en-US" sz="2000" dirty="0">
              <a:solidFill>
                <a:schemeClr val="tx1"/>
              </a:solidFill>
              <a:latin typeface="Helvetica" pitchFamily="2" charset="0"/>
              <a:cs typeface="Arial" panose="020B0604020202090204" pitchFamily="34"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400" dirty="0">
                <a:latin typeface="Times New Roman" panose="02020603050405020304" charset="0"/>
              </a:rPr>
              <a:t>遗留需求</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139328"/>
            <a:ext cx="9550399" cy="4092575"/>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规划</a:t>
            </a:r>
            <a:endParaRPr lang="zh-CN" altLang="en-US" sz="2000" b="1" dirty="0">
              <a:solidFill>
                <a:srgbClr val="515223"/>
              </a:solidFill>
              <a:latin typeface="Helvetica" pitchFamily="2" charset="0"/>
              <a:cs typeface="Arial" panose="020B0604020202090204" pitchFamily="34" charset="0"/>
            </a:endParaRPr>
          </a:p>
          <a:p>
            <a:pPr marL="800100" lvl="1"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与客户合作，制定一个重建系统的计划。</a:t>
            </a:r>
            <a:endParaRPr lang="zh-CN" altLang="en-US" sz="2000" dirty="0">
              <a:latin typeface="Helvetica" pitchFamily="2" charset="0"/>
              <a:cs typeface="Arial" panose="020B0604020202090204" pitchFamily="34" charset="0"/>
            </a:endParaRPr>
          </a:p>
          <a:p>
            <a:endParaRPr lang="zh-CN" altLang="en-US" sz="2000" b="1" dirty="0">
              <a:solidFill>
                <a:srgbClr val="515223"/>
              </a:solidFill>
              <a:latin typeface="Helvetica" pitchFamily="2" charset="0"/>
              <a:cs typeface="Arial" panose="020B0604020202090204" pitchFamily="34" charset="0"/>
            </a:endParaRPr>
          </a:p>
          <a:p>
            <a:r>
              <a:rPr lang="zh-CN" altLang="en-US" sz="2000" b="1" dirty="0">
                <a:solidFill>
                  <a:srgbClr val="515223"/>
                </a:solidFill>
                <a:latin typeface="Helvetica" pitchFamily="2" charset="0"/>
                <a:cs typeface="Arial" panose="020B0604020202090204" pitchFamily="34" charset="0"/>
              </a:rPr>
              <a:t>客户和用户视角的需求</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用户是谁？</a:t>
            </a: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他们实际使用系统做什么？</a:t>
            </a: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系统是否有未记录的重要功能，或者用户依赖的错误？</a:t>
            </a: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有多少人在使用系统的边缘部分？他们在哪里具有灵活性？</a:t>
            </a:r>
            <a:endParaRPr lang="zh-CN" altLang="en-US" sz="2000" dirty="0">
              <a:solidFill>
                <a:schemeClr val="tx1"/>
              </a:solidFill>
              <a:latin typeface="Helvetica" pitchFamily="2" charset="0"/>
              <a:cs typeface="Arial" panose="020B0604020202090204" pitchFamily="34" charset="0"/>
            </a:endParaRPr>
          </a:p>
          <a:p>
            <a:endParaRPr lang="zh-CN" altLang="en-US" sz="2000" b="1" dirty="0">
              <a:solidFill>
                <a:srgbClr val="515223"/>
              </a:solidFill>
              <a:latin typeface="Helvetica" pitchFamily="2" charset="0"/>
              <a:cs typeface="Arial" panose="020B0604020202090204" pitchFamily="34" charset="0"/>
            </a:endParaRPr>
          </a:p>
          <a:p>
            <a:r>
              <a:rPr lang="zh-CN" altLang="en-US" sz="2000" b="1" dirty="0">
                <a:solidFill>
                  <a:srgbClr val="515223"/>
                </a:solidFill>
                <a:latin typeface="Helvetica" pitchFamily="2" charset="0"/>
                <a:cs typeface="Arial" panose="020B0604020202090204" pitchFamily="34" charset="0"/>
              </a:rPr>
              <a:t>系统设计所隐含的需求</a:t>
            </a:r>
            <a:endParaRPr lang="en-US" altLang="zh-CN" sz="2000" b="1" dirty="0">
              <a:solidFill>
                <a:srgbClr val="515223"/>
              </a:solidFill>
              <a:latin typeface="Helvetica" pitchFamily="2" charset="0"/>
              <a:cs typeface="Arial" panose="020B0604020202090204" pitchFamily="34" charset="0"/>
            </a:endParaRPr>
          </a:p>
          <a:p>
            <a:pPr marL="800100" lvl="1"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如果有任何系统文档，它关于需求是怎么说的？</a:t>
            </a:r>
            <a:endParaRPr lang="zh-CN" altLang="en-US" sz="2000" dirty="0">
              <a:latin typeface="Helvetica" pitchFamily="2" charset="0"/>
              <a:cs typeface="Arial" panose="020B0604020202090204" pitchFamily="34" charset="0"/>
            </a:endParaRPr>
          </a:p>
          <a:p>
            <a:pPr marL="800100" lvl="1"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源代码是否包含任何关于需求的线索？</a:t>
            </a:r>
            <a:endParaRPr lang="zh-CN" altLang="en-US" sz="2000" dirty="0">
              <a:latin typeface="Helvetica" pitchFamily="2" charset="0"/>
              <a:cs typeface="Arial" panose="020B0604020202090204" pitchFamily="34" charset="0"/>
            </a:endParaRPr>
          </a:p>
          <a:p>
            <a:pPr marL="800100" lvl="1"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是否有支持过时硬件或服务的代码？如果有，还有人在使用它们吗？</a:t>
            </a:r>
            <a:endParaRPr lang="zh-CN" altLang="en-US" sz="2000" dirty="0">
              <a:latin typeface="Helvetica" pitchFamily="2" charset="0"/>
              <a:cs typeface="Arial" panose="020B0604020202090204" pitchFamily="34"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5400" dirty="0">
                <a:latin typeface="Times New Roman" panose="02020603050405020304" charset="0"/>
              </a:rPr>
              <a:t>遗留代码</a:t>
            </a:r>
            <a:endParaRPr lang="zh-CN" altLang="en-US" sz="5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86131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源代码管理</a:t>
            </a:r>
            <a:endParaRPr lang="zh-CN" altLang="en-US" sz="2000" b="1" dirty="0">
              <a:solidFill>
                <a:srgbClr val="515223"/>
              </a:solidFill>
              <a:latin typeface="Helvetica" pitchFamily="2" charset="0"/>
              <a:cs typeface="Arial" panose="020B0604020202090204" pitchFamily="34" charset="0"/>
            </a:endParaRPr>
          </a:p>
          <a:p>
            <a:pPr marL="800100" lvl="1" indent="-342900" algn="l">
              <a:buClrTx/>
              <a:buSzTx/>
              <a:buFont typeface="Arial" panose="020B0604020202090204" pitchFamily="34" charset="0"/>
              <a:buChar char="•"/>
            </a:pPr>
            <a:endParaRPr lang="zh-CN" altLang="en-US" sz="2000" dirty="0">
              <a:latin typeface="Helvetica" pitchFamily="2" charset="0"/>
              <a:cs typeface="Arial" panose="020B0604020202090204" pitchFamily="34" charset="0"/>
            </a:endParaRPr>
          </a:p>
          <a:p>
            <a:pPr marL="800100" lvl="1"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使用源代码管理系统来建立源代码以及从该源代码构建的二进制文件的起始版本。</a:t>
            </a:r>
            <a:endParaRPr lang="zh-CN" altLang="en-US" sz="2000" dirty="0">
              <a:latin typeface="Helvetica" pitchFamily="2" charset="0"/>
              <a:cs typeface="Arial" panose="020B0604020202090204" pitchFamily="34" charset="0"/>
            </a:endParaRPr>
          </a:p>
          <a:p>
            <a:pPr marL="800100" lvl="1" indent="-342900" algn="l">
              <a:buClrTx/>
              <a:buSzTx/>
              <a:buFont typeface="Arial" panose="020B0604020202090204" pitchFamily="34" charset="0"/>
              <a:buChar char="•"/>
            </a:pPr>
            <a:endParaRPr lang="zh-CN" altLang="en-US" sz="2000" dirty="0">
              <a:latin typeface="Helvetica" pitchFamily="2" charset="0"/>
              <a:cs typeface="Arial" panose="020B0604020202090204" pitchFamily="34" charset="0"/>
            </a:endParaRPr>
          </a:p>
          <a:p>
            <a:pPr marL="800100" lvl="1"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创建一个测试环境，以便将重建的系统与当前系统进行比较。开始收集测试用例。</a:t>
            </a:r>
            <a:endParaRPr lang="zh-CN" altLang="en-US" sz="2000" dirty="0">
              <a:latin typeface="Helvetica" pitchFamily="2" charset="0"/>
              <a:cs typeface="Arial" panose="020B0604020202090204" pitchFamily="34" charset="0"/>
            </a:endParaRPr>
          </a:p>
          <a:p>
            <a:pPr marL="800100" lvl="1" indent="-342900" algn="l">
              <a:buClrTx/>
              <a:buSzTx/>
              <a:buFont typeface="Arial" panose="020B0604020202090204" pitchFamily="34" charset="0"/>
              <a:buChar char="•"/>
            </a:pPr>
            <a:endParaRPr lang="zh-CN" altLang="en-US" sz="2000" dirty="0">
              <a:latin typeface="Helvetica" pitchFamily="2" charset="0"/>
              <a:cs typeface="Arial" panose="020B0604020202090204" pitchFamily="34" charset="0"/>
            </a:endParaRPr>
          </a:p>
          <a:p>
            <a:pPr marL="800100" lvl="1"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检查所有供应商软件的许可证。</a:t>
            </a:r>
            <a:endParaRPr lang="zh-CN" altLang="en-US" sz="2000" dirty="0">
              <a:latin typeface="Helvetica" pitchFamily="2" charset="0"/>
              <a:cs typeface="Arial" panose="020B0604020202090204" pitchFamily="34"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800" dirty="0">
                <a:latin typeface="Times New Roman" panose="02020603050405020304" charset="0"/>
              </a:rPr>
              <a:t>遗留代码</a:t>
            </a:r>
            <a:endParaRPr lang="zh-CN" altLang="en-US" sz="48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167604"/>
            <a:ext cx="9550399" cy="532320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重建软件</a:t>
            </a:r>
            <a:endParaRPr lang="en-US" altLang="zh-CN" sz="2000" b="1" dirty="0">
              <a:solidFill>
                <a:srgbClr val="515223"/>
              </a:solidFill>
              <a:latin typeface="Helvetica" pitchFamily="2" charset="0"/>
              <a:cs typeface="Arial" panose="020B0604020202090204" pitchFamily="34" charset="0"/>
            </a:endParaRPr>
          </a:p>
          <a:p>
            <a:r>
              <a:rPr lang="zh-CN" altLang="en-US" sz="2000" dirty="0">
                <a:solidFill>
                  <a:srgbClr val="FF0000"/>
                </a:solidFill>
                <a:latin typeface="Helvetica" pitchFamily="2" charset="0"/>
                <a:cs typeface="Arial" panose="020B0604020202090204" pitchFamily="34" charset="0"/>
              </a:rPr>
              <a:t>增量式软件开发过程通常是合适的，每个增量在完成后发布。</a:t>
            </a:r>
            <a:endParaRPr lang="zh-CN" altLang="en-US" sz="2000" dirty="0">
              <a:solidFill>
                <a:srgbClr val="FF0000"/>
              </a:solidFill>
              <a:latin typeface="Helvetica" pitchFamily="2" charset="0"/>
              <a:cs typeface="Arial" panose="020B0604020202090204" pitchFamily="34" charset="0"/>
            </a:endParaRPr>
          </a:p>
          <a:p>
            <a:endParaRPr lang="zh-CN" altLang="en-US" sz="2000" dirty="0">
              <a:solidFill>
                <a:srgbClr val="FF0000"/>
              </a:solidFill>
              <a:latin typeface="Helvetica" pitchFamily="2" charset="0"/>
              <a:cs typeface="Arial" panose="020B0604020202090204" pitchFamily="34" charset="0"/>
            </a:endParaRPr>
          </a:p>
          <a:p>
            <a:r>
              <a:rPr lang="zh-CN" altLang="en-US" sz="2000" dirty="0">
                <a:solidFill>
                  <a:schemeClr val="tx1"/>
                </a:solidFill>
                <a:latin typeface="Helvetica" pitchFamily="2" charset="0"/>
                <a:cs typeface="Arial" panose="020B0604020202090204" pitchFamily="34" charset="0"/>
              </a:rPr>
              <a:t>以下任务可以根据代码的状况，以任何合适的顺序进行处理。通常的策略是将系统不同部分分多个阶段进行工作。</a:t>
            </a: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理解原始系统架构和程序设计。</a:t>
            </a: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建立组件架构，带有定义的接口，即使大部分代码违反了该架构并需要适配器。</a:t>
            </a: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迁移到当前版本的编程语言和系统软件。</a:t>
            </a: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如果存在任何没有源代码的子系统，执行一个开发周期来创建实现这些需求的新代码。</a:t>
            </a: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如果存在重复代码，则替换为单一版本。</a:t>
            </a: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删除冗余代码和过时的需求。</a:t>
            </a:r>
            <a:endParaRPr lang="zh-CN" altLang="en-US" sz="2000" dirty="0">
              <a:solidFill>
                <a:schemeClr val="tx1"/>
              </a:solidFill>
              <a:latin typeface="Helvetica" pitchFamily="2" charset="0"/>
              <a:cs typeface="Arial" panose="020B0604020202090204" pitchFamily="34" charset="0"/>
            </a:endParaRPr>
          </a:p>
          <a:p>
            <a:endParaRPr lang="en-US" altLang="zh-CN" sz="2000" dirty="0">
              <a:solidFill>
                <a:srgbClr val="FF0000"/>
              </a:solidFill>
              <a:latin typeface="Helvetica" pitchFamily="2" charset="0"/>
              <a:cs typeface="Arial" panose="020B0604020202090204" pitchFamily="34" charset="0"/>
            </a:endParaRPr>
          </a:p>
          <a:p>
            <a:r>
              <a:rPr lang="zh-CN" altLang="en-US" sz="2000" dirty="0">
                <a:solidFill>
                  <a:srgbClr val="FF0000"/>
                </a:solidFill>
                <a:latin typeface="Helvetica" pitchFamily="2" charset="0"/>
                <a:cs typeface="Arial" panose="020B0604020202090204" pitchFamily="34" charset="0"/>
              </a:rPr>
              <a:t>边做边清理。</a:t>
            </a:r>
            <a:endParaRPr lang="zh-CN" altLang="en-US" sz="2000" dirty="0">
              <a:solidFill>
                <a:srgbClr val="FF0000"/>
              </a:solidFill>
              <a:latin typeface="Helvetica" pitchFamily="2" charset="0"/>
              <a:cs typeface="Arial" panose="020B0604020202090204" pitchFamily="34" charset="0"/>
            </a:endParaRPr>
          </a:p>
          <a:p>
            <a:endParaRPr lang="en-US" altLang="zh-CN" sz="2000" b="1" dirty="0">
              <a:solidFill>
                <a:srgbClr val="FF0000"/>
              </a:solidFill>
              <a:latin typeface="Helvetica" pitchFamily="2" charset="0"/>
              <a:cs typeface="Arial" panose="020B0604020202090204" pitchFamily="34" charset="0"/>
            </a:endParaRPr>
          </a:p>
          <a:p>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335087" y="3977885"/>
            <a:ext cx="9521825" cy="644144"/>
          </a:xfrm>
          <a:prstGeom prst="rect">
            <a:avLst/>
          </a:prstGeom>
        </p:spPr>
        <p:txBody>
          <a:bodyPr wrap="square">
            <a:normAutofit lnSpcReduction="10000"/>
          </a:bodyPr>
          <a:lstStyle/>
          <a:p>
            <a:pPr algn="ctr"/>
            <a:r>
              <a:rPr lang="zh-CN" altLang="en-US" sz="3700" b="1" dirty="0">
                <a:solidFill>
                  <a:schemeClr val="accent1"/>
                </a:solidFill>
                <a:latin typeface="Helvetica" pitchFamily="2" charset="0"/>
                <a:cs typeface="+mn-ea"/>
                <a:sym typeface="+mn-lt"/>
              </a:rPr>
              <a:t>可靠性</a:t>
            </a:r>
            <a:endParaRPr lang="zh-CN" altLang="en-US" sz="3700" b="1" dirty="0">
              <a:solidFill>
                <a:schemeClr val="accent1"/>
              </a:solidFill>
              <a:latin typeface="Helvetica" pitchFamily="2" charset="0"/>
              <a:cs typeface="+mn-ea"/>
              <a:sym typeface="+mn-lt"/>
            </a:endParaRPr>
          </a:p>
        </p:txBody>
      </p:sp>
      <p:grpSp>
        <p:nvGrpSpPr>
          <p:cNvPr id="4" name="组合 3"/>
          <p:cNvGrpSpPr/>
          <p:nvPr/>
        </p:nvGrpSpPr>
        <p:grpSpPr>
          <a:xfrm>
            <a:off x="4819048" y="1319889"/>
            <a:ext cx="2553904" cy="2646878"/>
            <a:chOff x="5865211" y="1319889"/>
            <a:chExt cx="2553904" cy="2646878"/>
          </a:xfrm>
        </p:grpSpPr>
        <p:sp>
          <p:nvSpPr>
            <p:cNvPr id="2" name="文本框 1"/>
            <p:cNvSpPr txBox="1"/>
            <p:nvPr/>
          </p:nvSpPr>
          <p:spPr>
            <a:xfrm>
              <a:off x="5865211" y="1319889"/>
              <a:ext cx="2553904" cy="2646878"/>
            </a:xfrm>
            <a:prstGeom prst="rect">
              <a:avLst/>
            </a:prstGeom>
            <a:noFill/>
          </p:spPr>
          <p:txBody>
            <a:bodyPr wrap="none" rtlCol="0">
              <a:spAutoFit/>
            </a:bodyPr>
            <a:lstStyle/>
            <a:p>
              <a:r>
                <a:rPr lang="en-US" altLang="zh-CN" sz="16600" dirty="0">
                  <a:solidFill>
                    <a:schemeClr val="accent1"/>
                  </a:solidFill>
                  <a:latin typeface="Helvetica" pitchFamily="2" charset="0"/>
                  <a:cs typeface="+mn-ea"/>
                  <a:sym typeface="+mn-lt"/>
                </a:rPr>
                <a:t>02</a:t>
              </a:r>
              <a:endParaRPr lang="zh-CN" altLang="en-US" sz="16600" dirty="0">
                <a:solidFill>
                  <a:schemeClr val="accent1"/>
                </a:solidFill>
                <a:latin typeface="Helvetica" pitchFamily="2" charset="0"/>
                <a:cs typeface="+mn-ea"/>
                <a:sym typeface="+mn-lt"/>
              </a:endParaRPr>
            </a:p>
          </p:txBody>
        </p:sp>
        <p:sp>
          <p:nvSpPr>
            <p:cNvPr id="3" name="文本框 2"/>
            <p:cNvSpPr txBox="1"/>
            <p:nvPr/>
          </p:nvSpPr>
          <p:spPr>
            <a:xfrm>
              <a:off x="5865211" y="2574748"/>
              <a:ext cx="2553904" cy="461665"/>
            </a:xfrm>
            <a:prstGeom prst="rect">
              <a:avLst/>
            </a:prstGeom>
            <a:solidFill>
              <a:schemeClr val="bg1"/>
            </a:solidFill>
          </p:spPr>
          <p:txBody>
            <a:bodyPr wrap="square" rtlCol="0">
              <a:spAutoFit/>
            </a:bodyPr>
            <a:lstStyle/>
            <a:p>
              <a:pPr algn="dist"/>
              <a:r>
                <a:rPr lang="en-US" altLang="zh-CN" sz="2400" dirty="0">
                  <a:solidFill>
                    <a:schemeClr val="accent1"/>
                  </a:solidFill>
                  <a:latin typeface="Helvetica" pitchFamily="2" charset="0"/>
                  <a:cs typeface="Arial" panose="020B0604020202090204" pitchFamily="34" charset="0"/>
                  <a:sym typeface="+mn-lt"/>
                </a:rPr>
                <a:t>PART</a:t>
              </a:r>
              <a:r>
                <a:rPr lang="zh-CN" altLang="en-US" sz="2400" dirty="0">
                  <a:solidFill>
                    <a:schemeClr val="accent1"/>
                  </a:solidFill>
                  <a:latin typeface="Helvetica" pitchFamily="2" charset="0"/>
                  <a:cs typeface="Arial" panose="020B0604020202090204" pitchFamily="34" charset="0"/>
                  <a:sym typeface="+mn-lt"/>
                </a:rPr>
                <a:t> </a:t>
              </a:r>
              <a:r>
                <a:rPr lang="en-US" altLang="zh-CN" sz="2400" dirty="0">
                  <a:solidFill>
                    <a:schemeClr val="accent1"/>
                  </a:solidFill>
                  <a:latin typeface="Helvetica" pitchFamily="2" charset="0"/>
                  <a:cs typeface="Arial" panose="020B0604020202090204" pitchFamily="34" charset="0"/>
                  <a:sym typeface="+mn-lt"/>
                </a:rPr>
                <a:t>TWO </a:t>
              </a:r>
              <a:endParaRPr lang="zh-CN" altLang="en-US" sz="2400" dirty="0">
                <a:solidFill>
                  <a:schemeClr val="accent1"/>
                </a:solidFill>
                <a:latin typeface="Helvetica" pitchFamily="2" charset="0"/>
                <a:cs typeface="Arial" panose="020B0604020202090204" pitchFamily="34" charset="0"/>
                <a:sym typeface="+mn-lt"/>
              </a:endParaRPr>
            </a:p>
          </p:txBody>
        </p: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3197" y="237834"/>
            <a:ext cx="9966387" cy="790865"/>
          </a:xfrm>
        </p:spPr>
        <p:txBody>
          <a:bodyPr>
            <a:normAutofit/>
          </a:bodyPr>
          <a:lstStyle/>
          <a:p>
            <a:r>
              <a:rPr lang="zh-CN" altLang="en-US" dirty="0">
                <a:latin typeface="Times New Roman" panose="02020603050405020304" charset="0"/>
              </a:rPr>
              <a:t>缺陷（</a:t>
            </a:r>
            <a:r>
              <a:rPr lang="en-US" altLang="zh-CN" dirty="0">
                <a:latin typeface="Times New Roman" panose="02020603050405020304" charset="0"/>
              </a:rPr>
              <a:t>Bug</a:t>
            </a:r>
            <a:r>
              <a:rPr lang="zh-CN" altLang="en-US" dirty="0">
                <a:latin typeface="Times New Roman" panose="02020603050405020304" charset="0"/>
              </a:rPr>
              <a:t>）、故障（</a:t>
            </a:r>
            <a:r>
              <a:rPr lang="en-US" altLang="zh-CN" dirty="0">
                <a:latin typeface="Times New Roman" panose="02020603050405020304" charset="0"/>
              </a:rPr>
              <a:t>Fault</a:t>
            </a:r>
            <a:r>
              <a:rPr lang="zh-CN" altLang="en-US" dirty="0">
                <a:latin typeface="Times New Roman" panose="02020603050405020304" charset="0"/>
              </a:rPr>
              <a:t>）与失效（</a:t>
            </a:r>
            <a:r>
              <a:rPr lang="en-US" altLang="zh-CN" dirty="0">
                <a:latin typeface="Times New Roman" panose="02020603050405020304" charset="0"/>
              </a:rPr>
              <a:t>Fail</a:t>
            </a:r>
            <a:r>
              <a:rPr lang="zh-CN" altLang="en-US" dirty="0">
                <a:latin typeface="Times New Roman" panose="02020603050405020304" charset="0"/>
              </a:rPr>
              <a:t>）</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572376" y="2321041"/>
            <a:ext cx="10946524" cy="1630045"/>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缺陷（故障）： </a:t>
            </a:r>
            <a:endParaRPr lang="zh-CN" altLang="en-US" sz="2000" b="1" dirty="0">
              <a:solidFill>
                <a:srgbClr val="515223"/>
              </a:solidFill>
              <a:latin typeface="Helvetica" pitchFamily="2" charset="0"/>
              <a:cs typeface="Arial" panose="020B0604020202090204" pitchFamily="34" charset="0"/>
            </a:endParaRPr>
          </a:p>
          <a:p>
            <a:r>
              <a:rPr lang="zh-CN" altLang="en-US" sz="2000" dirty="0">
                <a:solidFill>
                  <a:schemeClr val="tx1"/>
                </a:solidFill>
                <a:latin typeface="Helvetica" pitchFamily="2" charset="0"/>
                <a:cs typeface="Arial" panose="020B0604020202090204" pitchFamily="34" charset="0"/>
              </a:rPr>
              <a:t>编程或设计错误，导致交付的系统不符合规格说明（例如，编码错误，协议错误）</a:t>
            </a:r>
            <a:endParaRPr lang="zh-CN" altLang="en-US" sz="2000" dirty="0">
              <a:solidFill>
                <a:schemeClr val="tx1"/>
              </a:solidFill>
              <a:latin typeface="Helvetica" pitchFamily="2" charset="0"/>
              <a:cs typeface="Arial" panose="020B0604020202090204" pitchFamily="34" charset="0"/>
            </a:endParaRPr>
          </a:p>
          <a:p>
            <a:endParaRPr lang="zh-CN" altLang="en-US" sz="2000" b="1" dirty="0">
              <a:solidFill>
                <a:srgbClr val="515223"/>
              </a:solidFill>
              <a:latin typeface="Helvetica" pitchFamily="2" charset="0"/>
              <a:cs typeface="Arial" panose="020B0604020202090204" pitchFamily="34" charset="0"/>
            </a:endParaRPr>
          </a:p>
          <a:p>
            <a:r>
              <a:rPr lang="zh-CN" altLang="en-US" sz="2000" b="1" dirty="0">
                <a:solidFill>
                  <a:srgbClr val="515223"/>
                </a:solidFill>
                <a:latin typeface="Helvetica" pitchFamily="2" charset="0"/>
                <a:cs typeface="Arial" panose="020B0604020202090204" pitchFamily="34" charset="0"/>
              </a:rPr>
              <a:t>失效： </a:t>
            </a:r>
            <a:endParaRPr lang="zh-CN" altLang="en-US" sz="2000" b="1" dirty="0">
              <a:solidFill>
                <a:srgbClr val="515223"/>
              </a:solidFill>
              <a:latin typeface="Helvetica" pitchFamily="2" charset="0"/>
              <a:cs typeface="Arial" panose="020B0604020202090204" pitchFamily="34" charset="0"/>
            </a:endParaRPr>
          </a:p>
          <a:p>
            <a:r>
              <a:rPr lang="zh-CN" altLang="en-US" sz="2000" dirty="0">
                <a:solidFill>
                  <a:schemeClr val="tx1"/>
                </a:solidFill>
                <a:latin typeface="Helvetica" pitchFamily="2" charset="0"/>
                <a:cs typeface="Arial" panose="020B0604020202090204" pitchFamily="34" charset="0"/>
              </a:rPr>
              <a:t>软件未能提供用户期望的服务（例如，需求错误，令人困惑的用户界面）</a:t>
            </a:r>
            <a:endParaRPr lang="zh-CN" altLang="en-US" sz="2000" dirty="0">
              <a:solidFill>
                <a:schemeClr val="tx1"/>
              </a:solidFill>
              <a:latin typeface="Helvetica" pitchFamily="2" charset="0"/>
              <a:cs typeface="Arial" panose="020B0604020202090204" pitchFamily="34"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latin typeface="Times New Roman" panose="02020603050405020304" charset="0"/>
              </a:rPr>
              <a:t>缺陷与特性</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572376" y="1918459"/>
            <a:ext cx="10946524" cy="224536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那不是缺陷，那是一个特性！</a:t>
            </a:r>
            <a:endParaRPr lang="zh-CN" altLang="en-US" sz="2000" b="1" dirty="0">
              <a:solidFill>
                <a:srgbClr val="515223"/>
              </a:solidFill>
              <a:latin typeface="Helvetica" pitchFamily="2" charset="0"/>
              <a:cs typeface="Arial" panose="020B0604020202090204" pitchFamily="34" charset="0"/>
            </a:endParaRPr>
          </a:p>
          <a:p>
            <a:r>
              <a:rPr lang="zh-CN" altLang="en-US" sz="2000" dirty="0">
                <a:solidFill>
                  <a:schemeClr val="tx1"/>
                </a:solidFill>
                <a:latin typeface="Helvetica" pitchFamily="2" charset="0"/>
                <a:cs typeface="Arial" panose="020B0604020202090204" pitchFamily="34" charset="0"/>
              </a:rPr>
              <a:t>用户经常会报告程序以他们认为错误的方式运行，即使它按预期运行。</a:t>
            </a:r>
            <a:endParaRPr lang="zh-CN" altLang="en-US" sz="2000" dirty="0">
              <a:solidFill>
                <a:schemeClr val="tx1"/>
              </a:solidFill>
              <a:latin typeface="Helvetica" pitchFamily="2" charset="0"/>
              <a:cs typeface="Arial" panose="020B0604020202090204" pitchFamily="34" charset="0"/>
            </a:endParaRPr>
          </a:p>
          <a:p>
            <a:endParaRPr lang="zh-CN" altLang="en-US" sz="2000" b="1" dirty="0">
              <a:solidFill>
                <a:srgbClr val="515223"/>
              </a:solidFill>
              <a:latin typeface="Helvetica" pitchFamily="2" charset="0"/>
              <a:cs typeface="Arial" panose="020B0604020202090204" pitchFamily="34" charset="0"/>
            </a:endParaRPr>
          </a:p>
          <a:p>
            <a:r>
              <a:rPr lang="zh-CN" altLang="en-US" sz="2000" b="1" dirty="0">
                <a:solidFill>
                  <a:srgbClr val="515223"/>
                </a:solidFill>
                <a:latin typeface="Helvetica" pitchFamily="2" charset="0"/>
                <a:cs typeface="Arial" panose="020B0604020202090204" pitchFamily="34" charset="0"/>
              </a:rPr>
              <a:t>那不是缺陷，那是失效！</a:t>
            </a:r>
            <a:endParaRPr lang="zh-CN" altLang="en-US" sz="2000" b="1" dirty="0">
              <a:solidFill>
                <a:srgbClr val="515223"/>
              </a:solidFill>
              <a:latin typeface="Helvetica" pitchFamily="2" charset="0"/>
              <a:cs typeface="Arial" panose="020B0604020202090204" pitchFamily="34" charset="0"/>
            </a:endParaRPr>
          </a:p>
          <a:p>
            <a:r>
              <a:rPr lang="zh-CN" altLang="en-US" sz="2000" dirty="0">
                <a:solidFill>
                  <a:schemeClr val="tx1"/>
                </a:solidFill>
                <a:latin typeface="Helvetica" pitchFamily="2" charset="0"/>
                <a:cs typeface="Arial" panose="020B0604020202090204" pitchFamily="34" charset="0"/>
              </a:rPr>
              <a:t>决定是否需要更改应该由客户做出，而不是由开发人员做出。</a:t>
            </a:r>
            <a:endParaRPr lang="zh-CN" altLang="en-US"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8829985" cy="790865"/>
          </a:xfrm>
        </p:spPr>
        <p:txBody>
          <a:bodyPr>
            <a:noAutofit/>
          </a:bodyPr>
          <a:lstStyle/>
          <a:p>
            <a:r>
              <a:rPr lang="zh-CN" altLang="en-US" dirty="0">
                <a:latin typeface="Times New Roman" panose="02020603050405020304" charset="0"/>
              </a:rPr>
              <a:t>术语</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572376" y="1756834"/>
            <a:ext cx="10946524" cy="2553335"/>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故障避免</a:t>
            </a:r>
            <a:endParaRPr lang="zh-CN" altLang="en-US" sz="2000" b="1" dirty="0">
              <a:solidFill>
                <a:srgbClr val="515223"/>
              </a:solidFill>
              <a:latin typeface="Helvetica" pitchFamily="2" charset="0"/>
              <a:cs typeface="Arial" panose="020B0604020202090204" pitchFamily="34" charset="0"/>
            </a:endParaRPr>
          </a:p>
          <a:p>
            <a:r>
              <a:rPr lang="zh-CN" altLang="en-US" sz="2000" dirty="0">
                <a:solidFill>
                  <a:schemeClr val="tx1"/>
                </a:solidFill>
                <a:latin typeface="Helvetica" pitchFamily="2" charset="0"/>
                <a:cs typeface="Arial" panose="020B0604020202090204" pitchFamily="34" charset="0"/>
              </a:rPr>
              <a:t>以创建无故障（零缺陷）软件为目标构建系统。</a:t>
            </a:r>
            <a:endParaRPr lang="zh-CN" altLang="en-US" sz="2000" dirty="0">
              <a:solidFill>
                <a:schemeClr val="tx1"/>
              </a:solidFill>
              <a:latin typeface="Helvetica" pitchFamily="2" charset="0"/>
              <a:cs typeface="Arial" panose="020B0604020202090204" pitchFamily="34" charset="0"/>
            </a:endParaRPr>
          </a:p>
          <a:p>
            <a:endParaRPr lang="zh-CN" altLang="en-US" sz="2000" b="1" dirty="0">
              <a:solidFill>
                <a:srgbClr val="515223"/>
              </a:solidFill>
              <a:latin typeface="Helvetica" pitchFamily="2" charset="0"/>
              <a:cs typeface="Arial" panose="020B0604020202090204" pitchFamily="34" charset="0"/>
            </a:endParaRPr>
          </a:p>
          <a:p>
            <a:r>
              <a:rPr lang="zh-CN" altLang="en-US" sz="2000" b="1" dirty="0">
                <a:solidFill>
                  <a:srgbClr val="515223"/>
                </a:solidFill>
                <a:latin typeface="Helvetica" pitchFamily="2" charset="0"/>
                <a:cs typeface="Arial" panose="020B0604020202090204" pitchFamily="34" charset="0"/>
              </a:rPr>
              <a:t>故障检测（测试与验证）</a:t>
            </a:r>
            <a:endParaRPr lang="zh-CN" altLang="en-US" sz="2000" b="1" dirty="0">
              <a:solidFill>
                <a:srgbClr val="515223"/>
              </a:solidFill>
              <a:latin typeface="Helvetica" pitchFamily="2" charset="0"/>
              <a:cs typeface="Arial" panose="020B0604020202090204" pitchFamily="34" charset="0"/>
            </a:endParaRPr>
          </a:p>
          <a:p>
            <a:pPr algn="l">
              <a:buClrTx/>
              <a:buSzTx/>
              <a:buFontTx/>
            </a:pPr>
            <a:r>
              <a:rPr lang="zh-CN" altLang="en-US" sz="2000" dirty="0">
                <a:latin typeface="Helvetica" pitchFamily="2" charset="0"/>
                <a:cs typeface="Arial" panose="020B0604020202090204" pitchFamily="34" charset="0"/>
              </a:rPr>
              <a:t>在系统投入运行之前，或在发布后发现时，检测故障（缺陷）。</a:t>
            </a:r>
            <a:endParaRPr lang="zh-CN" altLang="en-US" sz="2000" dirty="0">
              <a:latin typeface="Helvetica" pitchFamily="2" charset="0"/>
              <a:cs typeface="Arial" panose="020B0604020202090204" pitchFamily="34" charset="0"/>
            </a:endParaRPr>
          </a:p>
          <a:p>
            <a:endParaRPr lang="zh-CN" altLang="en-US" sz="2000" b="1" dirty="0">
              <a:solidFill>
                <a:srgbClr val="515223"/>
              </a:solidFill>
              <a:latin typeface="Helvetica" pitchFamily="2" charset="0"/>
              <a:cs typeface="Arial" panose="020B0604020202090204" pitchFamily="34" charset="0"/>
            </a:endParaRPr>
          </a:p>
          <a:p>
            <a:r>
              <a:rPr lang="zh-CN" altLang="en-US" sz="2000" b="1" dirty="0">
                <a:solidFill>
                  <a:srgbClr val="515223"/>
                </a:solidFill>
                <a:latin typeface="Helvetica" pitchFamily="2" charset="0"/>
                <a:cs typeface="Arial" panose="020B0604020202090204" pitchFamily="34" charset="0"/>
              </a:rPr>
              <a:t>容错</a:t>
            </a:r>
            <a:endParaRPr lang="zh-CN" altLang="en-US" sz="2000" b="1" dirty="0">
              <a:solidFill>
                <a:srgbClr val="515223"/>
              </a:solidFill>
              <a:latin typeface="Helvetica" pitchFamily="2" charset="0"/>
              <a:cs typeface="Arial" panose="020B0604020202090204" pitchFamily="34" charset="0"/>
            </a:endParaRPr>
          </a:p>
          <a:p>
            <a:r>
              <a:rPr lang="zh-CN" altLang="en-US" sz="2000" dirty="0">
                <a:latin typeface="Helvetica" pitchFamily="2" charset="0"/>
                <a:cs typeface="Arial" panose="020B0604020202090204" pitchFamily="34" charset="0"/>
              </a:rPr>
              <a:t>构建</a:t>
            </a:r>
            <a:r>
              <a:rPr lang="zh-CN" altLang="en-US" sz="2000" b="1" dirty="0">
                <a:solidFill>
                  <a:srgbClr val="515223"/>
                </a:solidFill>
                <a:latin typeface="Helvetica" pitchFamily="2" charset="0"/>
                <a:cs typeface="Arial" panose="020B0604020202090204" pitchFamily="34" charset="0"/>
              </a:rPr>
              <a:t>在出现问题（缺陷、过载、坏数据等）时能继续运行的系统。</a:t>
            </a:r>
            <a:endParaRPr lang="zh-CN" altLang="en-US"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8883325" cy="790865"/>
          </a:xfrm>
        </p:spPr>
        <p:txBody>
          <a:bodyPr>
            <a:noAutofit/>
          </a:bodyPr>
          <a:lstStyle/>
          <a:p>
            <a:r>
              <a:rPr lang="zh-CN" altLang="en-US" dirty="0">
                <a:latin typeface="Times New Roman" panose="02020603050405020304" charset="0"/>
              </a:rPr>
              <a:t>需求的失效</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493549" y="2560754"/>
            <a:ext cx="10946524" cy="706755"/>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一个实际例子</a:t>
            </a:r>
            <a:endParaRPr lang="zh-CN" altLang="en-US" sz="2000" b="1" dirty="0">
              <a:solidFill>
                <a:srgbClr val="515223"/>
              </a:solidFill>
              <a:latin typeface="Helvetica" pitchFamily="2" charset="0"/>
              <a:cs typeface="Arial" panose="020B0604020202090204" pitchFamily="34" charset="0"/>
            </a:endParaRPr>
          </a:p>
          <a:p>
            <a:pPr algn="l">
              <a:buClrTx/>
              <a:buSzTx/>
              <a:buFontTx/>
            </a:pPr>
            <a:r>
              <a:rPr lang="zh-CN" altLang="en-US" sz="2000" dirty="0">
                <a:latin typeface="Helvetica" pitchFamily="2" charset="0"/>
                <a:cs typeface="Arial" panose="020B0604020202090204" pitchFamily="34" charset="0"/>
              </a:rPr>
              <a:t>千年虫问题</a:t>
            </a:r>
            <a:endParaRPr lang="zh-CN" altLang="en-US" sz="2000" dirty="0">
              <a:latin typeface="Helvetica" pitchFamily="2" charset="0"/>
              <a:cs typeface="Arial" panose="020B0604020202090204" pitchFamily="34"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7351" y="233626"/>
            <a:ext cx="10427646" cy="790865"/>
          </a:xfrm>
        </p:spPr>
        <p:txBody>
          <a:bodyPr>
            <a:normAutofit/>
          </a:bodyPr>
          <a:lstStyle/>
          <a:p>
            <a:r>
              <a:rPr lang="zh-CN" altLang="en-US" dirty="0">
                <a:latin typeface="Times New Roman" panose="02020603050405020304" charset="0"/>
              </a:rPr>
              <a:t>失效：案例研究</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493549" y="2375906"/>
            <a:ext cx="10946524" cy="706755"/>
          </a:xfrm>
          <a:prstGeom prst="rect">
            <a:avLst/>
          </a:prstGeom>
          <a:noFill/>
        </p:spPr>
        <p:txBody>
          <a:bodyPr wrap="square">
            <a:spAutoFit/>
          </a:bodyPr>
          <a:lstStyle/>
          <a:p>
            <a:pPr algn="l">
              <a:buClrTx/>
              <a:buSzTx/>
              <a:buFontTx/>
            </a:pPr>
            <a:r>
              <a:rPr lang="zh-CN" altLang="en-US" sz="2000" dirty="0">
                <a:latin typeface="Helvetica" pitchFamily="2" charset="0"/>
                <a:cs typeface="Arial" panose="020B0604020202090204" pitchFamily="34" charset="0"/>
              </a:rPr>
              <a:t>一艘载有1509人的客船在马萨诸塞州楠塔基特岛附近的一处浅滩搁浅。当时，该船偏离其船员认为的位置约17英里。该船正从百慕大驶往波士顿。</a:t>
            </a:r>
            <a:endParaRPr lang="zh-CN" altLang="en-US" sz="2000" dirty="0">
              <a:latin typeface="Helvetica" pitchFamily="2" charset="0"/>
              <a:cs typeface="Arial" panose="020B0604020202090204" pitchFamily="34"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7351" y="233626"/>
            <a:ext cx="10427646" cy="790865"/>
          </a:xfrm>
        </p:spPr>
        <p:txBody>
          <a:bodyPr>
            <a:normAutofit/>
          </a:bodyPr>
          <a:lstStyle/>
          <a:p>
            <a:r>
              <a:rPr lang="zh-CN" altLang="en-US" dirty="0">
                <a:latin typeface="Times New Roman" panose="02020603050405020304" charset="0"/>
              </a:rPr>
              <a:t>案例研究：分析</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493549" y="2113283"/>
            <a:ext cx="10946524" cy="378460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根据美国国家运输安全委员会的报告：</a:t>
            </a:r>
            <a:endParaRPr lang="zh-CN" altLang="en-US" sz="2000" b="1" dirty="0">
              <a:solidFill>
                <a:srgbClr val="515223"/>
              </a:solidFill>
              <a:latin typeface="Helvetica" pitchFamily="2" charset="0"/>
              <a:cs typeface="Arial" panose="020B0604020202090204" pitchFamily="34" charset="0"/>
            </a:endParaRPr>
          </a:p>
          <a:p>
            <a:pPr marL="342900" indent="-342900" algn="l">
              <a:buClrTx/>
              <a:buSzTx/>
              <a:buFont typeface="Arial" panose="020B0604020202090204" pitchFamily="34" charset="0"/>
              <a:buChar char="•"/>
            </a:pPr>
            <a:endParaRPr lang="zh-CN" altLang="en-US" sz="2000" dirty="0">
              <a:latin typeface="Helvetica" pitchFamily="2" charset="0"/>
              <a:cs typeface="Arial" panose="020B0604020202090204" pitchFamily="34" charset="0"/>
            </a:endParaRPr>
          </a:p>
          <a:p>
            <a:pPr marL="342900"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该船由一台自动驾驶仪操控，该驾驶仪依赖全球定位系统（GPS）的位置信息。</a:t>
            </a:r>
            <a:endParaRPr lang="zh-CN" altLang="en-US" sz="2000" dirty="0">
              <a:latin typeface="Helvetica" pitchFamily="2" charset="0"/>
              <a:cs typeface="Arial" panose="020B0604020202090204" pitchFamily="34" charset="0"/>
            </a:endParaRPr>
          </a:p>
          <a:p>
            <a:pPr marL="342900" indent="-342900" algn="l">
              <a:buClrTx/>
              <a:buSzTx/>
              <a:buFont typeface="Arial" panose="020B0604020202090204" pitchFamily="34" charset="0"/>
              <a:buChar char="•"/>
            </a:pPr>
            <a:endParaRPr lang="zh-CN" altLang="en-US" sz="2000" dirty="0">
              <a:latin typeface="Helvetica" pitchFamily="2" charset="0"/>
              <a:cs typeface="Arial" panose="020B0604020202090204" pitchFamily="34" charset="0"/>
            </a:endParaRPr>
          </a:p>
          <a:p>
            <a:pPr marL="342900"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如果GPS无法从卫星获得位置，它会根据航位推算（从已知点出发的距离和方向）提供估计位置。</a:t>
            </a:r>
            <a:endParaRPr lang="zh-CN" altLang="en-US" sz="2000" dirty="0">
              <a:latin typeface="Helvetica" pitchFamily="2" charset="0"/>
              <a:cs typeface="Arial" panose="020B0604020202090204" pitchFamily="34" charset="0"/>
            </a:endParaRPr>
          </a:p>
          <a:p>
            <a:pPr marL="342900" indent="-342900" algn="l">
              <a:buClrTx/>
              <a:buSzTx/>
              <a:buFont typeface="Arial" panose="020B0604020202090204" pitchFamily="34" charset="0"/>
              <a:buChar char="•"/>
            </a:pPr>
            <a:endParaRPr lang="zh-CN" altLang="en-US" sz="2000" dirty="0">
              <a:latin typeface="Helvetica" pitchFamily="2" charset="0"/>
              <a:cs typeface="Arial" panose="020B0604020202090204" pitchFamily="34" charset="0"/>
            </a:endParaRPr>
          </a:p>
          <a:p>
            <a:pPr marL="342900"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离开百慕大一小时后，GPS发生故障。</a:t>
            </a:r>
            <a:endParaRPr lang="zh-CN" altLang="en-US" sz="2000" dirty="0">
              <a:latin typeface="Helvetica" pitchFamily="2" charset="0"/>
              <a:cs typeface="Arial" panose="020B0604020202090204" pitchFamily="34" charset="0"/>
            </a:endParaRPr>
          </a:p>
          <a:p>
            <a:pPr marL="342900" indent="-342900" algn="l">
              <a:buClrTx/>
              <a:buSzTx/>
              <a:buFont typeface="Arial" panose="020B0604020202090204" pitchFamily="34" charset="0"/>
              <a:buChar char="•"/>
            </a:pPr>
            <a:endParaRPr lang="zh-CN" altLang="en-US" sz="2000" dirty="0">
              <a:latin typeface="Helvetica" pitchFamily="2" charset="0"/>
              <a:cs typeface="Arial" panose="020B0604020202090204" pitchFamily="34" charset="0"/>
            </a:endParaRPr>
          </a:p>
          <a:p>
            <a:pPr marL="342900"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船员未能看到显示屏上的警告信息（或检查仪表）。</a:t>
            </a:r>
            <a:endParaRPr lang="zh-CN" altLang="en-US" sz="2000" dirty="0">
              <a:latin typeface="Helvetica" pitchFamily="2" charset="0"/>
              <a:cs typeface="Arial" panose="020B0604020202090204" pitchFamily="34" charset="0"/>
            </a:endParaRPr>
          </a:p>
          <a:p>
            <a:pPr marL="342900" indent="-342900" algn="l">
              <a:buClrTx/>
              <a:buSzTx/>
              <a:buFont typeface="Arial" panose="020B0604020202090204" pitchFamily="34" charset="0"/>
              <a:buChar char="•"/>
            </a:pPr>
            <a:endParaRPr lang="zh-CN" altLang="en-US" sz="2000" dirty="0">
              <a:latin typeface="Helvetica" pitchFamily="2" charset="0"/>
              <a:cs typeface="Arial" panose="020B0604020202090204" pitchFamily="34" charset="0"/>
            </a:endParaRPr>
          </a:p>
          <a:p>
            <a:pPr marL="342900"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34小时600英里后，航位推算的误差为17英里。</a:t>
            </a:r>
            <a:endParaRPr lang="zh-CN" altLang="en-US" sz="2000" dirty="0">
              <a:latin typeface="Helvetica" pitchFamily="2" charset="0"/>
              <a:cs typeface="Arial" panose="020B0604020202090204" pitchFamily="34"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5" y="237834"/>
            <a:ext cx="8976572" cy="790865"/>
          </a:xfrm>
        </p:spPr>
        <p:txBody>
          <a:bodyPr>
            <a:noAutofit/>
          </a:bodyPr>
          <a:lstStyle/>
          <a:p>
            <a:r>
              <a:rPr lang="zh-CN" altLang="en-US" dirty="0">
                <a:latin typeface="Times New Roman" panose="02020603050405020304" charset="0"/>
              </a:rPr>
              <a:t>案例研究：软件教训</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493549" y="1730662"/>
            <a:ext cx="10946524" cy="4092575"/>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所有软件都按规定工作（没有缺陷），但是……</a:t>
            </a:r>
            <a:endParaRPr lang="zh-CN" altLang="en-US" sz="2000" b="1" dirty="0">
              <a:solidFill>
                <a:srgbClr val="515223"/>
              </a:solidFill>
              <a:latin typeface="Helvetica" pitchFamily="2" charset="0"/>
              <a:cs typeface="Arial" panose="020B0604020202090204" pitchFamily="34" charset="0"/>
            </a:endParaRPr>
          </a:p>
          <a:p>
            <a:pPr marL="342900" indent="-342900" algn="l">
              <a:buClrTx/>
              <a:buSzTx/>
              <a:buFont typeface="Arial" panose="020B0604020202090204" pitchFamily="34" charset="0"/>
              <a:buChar char="•"/>
            </a:pPr>
            <a:endParaRPr lang="zh-CN" altLang="en-US" sz="2000" dirty="0">
              <a:latin typeface="Helvetica" pitchFamily="2" charset="0"/>
              <a:cs typeface="Arial" panose="020B0604020202090204" pitchFamily="34" charset="0"/>
            </a:endParaRPr>
          </a:p>
          <a:p>
            <a:pPr marL="342900"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GPS软件规约确定后，需求发生了变化（独立系统现在成为集成系统的一部分）。</a:t>
            </a:r>
            <a:endParaRPr lang="zh-CN" altLang="en-US" sz="2000" dirty="0">
              <a:latin typeface="Helvetica" pitchFamily="2" charset="0"/>
              <a:cs typeface="Arial" panose="020B0604020202090204" pitchFamily="34" charset="0"/>
            </a:endParaRPr>
          </a:p>
          <a:p>
            <a:pPr marL="342900" indent="-342900" algn="l">
              <a:buClrTx/>
              <a:buSzTx/>
              <a:buFont typeface="Arial" panose="020B0604020202090204" pitchFamily="34" charset="0"/>
              <a:buChar char="•"/>
            </a:pPr>
            <a:endParaRPr lang="zh-CN" altLang="en-US" sz="2000" dirty="0">
              <a:latin typeface="Helvetica" pitchFamily="2" charset="0"/>
              <a:cs typeface="Arial" panose="020B0604020202090204" pitchFamily="34" charset="0"/>
            </a:endParaRPr>
          </a:p>
          <a:p>
            <a:pPr marL="342900"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自动驾驶仪和GPS的制造商采用了不同的设计理念来沟通模式变化。</a:t>
            </a:r>
            <a:endParaRPr lang="zh-CN" altLang="en-US" sz="2000" dirty="0">
              <a:latin typeface="Helvetica" pitchFamily="2" charset="0"/>
              <a:cs typeface="Arial" panose="020B0604020202090204" pitchFamily="34" charset="0"/>
            </a:endParaRPr>
          </a:p>
          <a:p>
            <a:pPr marL="342900" indent="-342900" algn="l">
              <a:buClrTx/>
              <a:buSzTx/>
              <a:buFont typeface="Arial" panose="020B0604020202090204" pitchFamily="34" charset="0"/>
              <a:buChar char="•"/>
            </a:pPr>
            <a:endParaRPr lang="zh-CN" altLang="en-US" sz="2000" dirty="0">
              <a:latin typeface="Helvetica" pitchFamily="2" charset="0"/>
              <a:cs typeface="Arial" panose="020B0604020202090204" pitchFamily="34" charset="0"/>
            </a:endParaRPr>
          </a:p>
          <a:p>
            <a:pPr marL="342900"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自动驾驶仪未被编程以识别来自GPS消息中的有效/无效状态位。</a:t>
            </a:r>
            <a:endParaRPr lang="zh-CN" altLang="en-US" sz="2000" dirty="0">
              <a:latin typeface="Helvetica" pitchFamily="2" charset="0"/>
              <a:cs typeface="Arial" panose="020B0604020202090204" pitchFamily="34" charset="0"/>
            </a:endParaRPr>
          </a:p>
          <a:p>
            <a:pPr marL="342900" indent="-342900" algn="l">
              <a:buClrTx/>
              <a:buSzTx/>
              <a:buFont typeface="Arial" panose="020B0604020202090204" pitchFamily="34" charset="0"/>
              <a:buChar char="•"/>
            </a:pPr>
            <a:endParaRPr lang="zh-CN" altLang="en-US" sz="2000" dirty="0">
              <a:latin typeface="Helvetica" pitchFamily="2" charset="0"/>
              <a:cs typeface="Arial" panose="020B0604020202090204" pitchFamily="34" charset="0"/>
            </a:endParaRPr>
          </a:p>
          <a:p>
            <a:pPr marL="342900"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用户界面提供的警告不够醒目，未能警示船员。</a:t>
            </a:r>
            <a:endParaRPr lang="zh-CN" altLang="en-US" sz="2000" dirty="0">
              <a:latin typeface="Helvetica" pitchFamily="2" charset="0"/>
              <a:cs typeface="Arial" panose="020B0604020202090204" pitchFamily="34" charset="0"/>
            </a:endParaRPr>
          </a:p>
          <a:p>
            <a:pPr marL="342900" indent="-342900" algn="l">
              <a:buClrTx/>
              <a:buSzTx/>
              <a:buFont typeface="Arial" panose="020B0604020202090204" pitchFamily="34" charset="0"/>
              <a:buChar char="•"/>
            </a:pPr>
            <a:endParaRPr lang="zh-CN" altLang="en-US" sz="2000" dirty="0">
              <a:latin typeface="Helvetica" pitchFamily="2" charset="0"/>
              <a:cs typeface="Arial" panose="020B0604020202090204" pitchFamily="34" charset="0"/>
            </a:endParaRPr>
          </a:p>
          <a:p>
            <a:pPr marL="342900"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船员未曾接受过有关此设备的适当培训。</a:t>
            </a:r>
            <a:endParaRPr lang="zh-CN" altLang="en-US" sz="2000" dirty="0">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zh-CN" altLang="en-US" sz="2000" b="1" dirty="0">
                <a:solidFill>
                  <a:srgbClr val="515223"/>
                </a:solidFill>
                <a:latin typeface="Helvetica" pitchFamily="2" charset="0"/>
                <a:cs typeface="Arial" panose="020B0604020202090204" pitchFamily="34" charset="0"/>
              </a:rPr>
              <a:t>可靠的软件需要软件开发过程的所有部分都执行良好。</a:t>
            </a:r>
            <a:endParaRPr lang="zh-CN" altLang="en-US"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8822365" cy="790865"/>
          </a:xfrm>
        </p:spPr>
        <p:txBody>
          <a:bodyPr>
            <a:noAutofit/>
          </a:bodyPr>
          <a:lstStyle/>
          <a:p>
            <a:r>
              <a:rPr lang="zh-CN" altLang="en-US" dirty="0">
                <a:latin typeface="Times New Roman" panose="02020603050405020304" charset="0"/>
              </a:rPr>
              <a:t>可靠软件的关键因素</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493549" y="1730662"/>
            <a:ext cx="10946524" cy="4707890"/>
          </a:xfrm>
          <a:prstGeom prst="rect">
            <a:avLst/>
          </a:prstGeom>
          <a:noFill/>
        </p:spPr>
        <p:txBody>
          <a:bodyPr wrap="square">
            <a:spAutoFit/>
          </a:bodyPr>
          <a:lstStyle/>
          <a:p>
            <a:pPr marL="342900"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期望高质量的组织文化。这来自管理层和高级技术人员。</a:t>
            </a:r>
            <a:endParaRPr lang="zh-CN" altLang="en-US" sz="2000" dirty="0">
              <a:latin typeface="Helvetica" pitchFamily="2" charset="0"/>
              <a:cs typeface="Arial" panose="020B0604020202090204" pitchFamily="34" charset="0"/>
            </a:endParaRPr>
          </a:p>
          <a:p>
            <a:pPr marL="342900" indent="-342900" algn="l">
              <a:buClrTx/>
              <a:buSzTx/>
              <a:buFont typeface="Arial" panose="020B0604020202090204" pitchFamily="34" charset="0"/>
              <a:buChar char="•"/>
            </a:pPr>
            <a:endParaRPr lang="zh-CN" altLang="en-US" sz="2000" dirty="0">
              <a:latin typeface="Helvetica" pitchFamily="2" charset="0"/>
              <a:cs typeface="Arial" panose="020B0604020202090204" pitchFamily="34" charset="0"/>
            </a:endParaRPr>
          </a:p>
          <a:p>
            <a:pPr marL="342900"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精确、无歧义的需求协议。</a:t>
            </a:r>
            <a:endParaRPr lang="zh-CN" altLang="en-US" sz="2000" dirty="0">
              <a:latin typeface="Helvetica" pitchFamily="2" charset="0"/>
              <a:cs typeface="Arial" panose="020B0604020202090204" pitchFamily="34" charset="0"/>
            </a:endParaRPr>
          </a:p>
          <a:p>
            <a:pPr marL="342900" indent="-342900" algn="l">
              <a:buClrTx/>
              <a:buSzTx/>
              <a:buFont typeface="Arial" panose="020B0604020202090204" pitchFamily="34" charset="0"/>
              <a:buChar char="•"/>
            </a:pPr>
            <a:endParaRPr lang="zh-CN" altLang="en-US" sz="2000" dirty="0">
              <a:latin typeface="Helvetica" pitchFamily="2" charset="0"/>
              <a:cs typeface="Arial" panose="020B0604020202090204" pitchFamily="34" charset="0"/>
            </a:endParaRPr>
          </a:p>
          <a:p>
            <a:pPr marL="342900"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隐藏复杂性的设计与实现（例如，结构化设计，面向对象编程）。</a:t>
            </a:r>
            <a:endParaRPr lang="zh-CN" altLang="en-US" sz="2000" dirty="0">
              <a:latin typeface="Helvetica" pitchFamily="2" charset="0"/>
              <a:cs typeface="Arial" panose="020B0604020202090204" pitchFamily="34" charset="0"/>
            </a:endParaRPr>
          </a:p>
          <a:p>
            <a:pPr marL="342900" indent="-342900" algn="l">
              <a:buClrTx/>
              <a:buSzTx/>
              <a:buFont typeface="Arial" panose="020B0604020202090204" pitchFamily="34" charset="0"/>
              <a:buChar char="•"/>
            </a:pPr>
            <a:endParaRPr lang="zh-CN" altLang="en-US" sz="2000" dirty="0">
              <a:latin typeface="Helvetica" pitchFamily="2" charset="0"/>
              <a:cs typeface="Arial" panose="020B0604020202090204" pitchFamily="34" charset="0"/>
            </a:endParaRPr>
          </a:p>
          <a:p>
            <a:pPr marL="342900"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强调简洁、可读和避免危险结构的编程风格。</a:t>
            </a:r>
            <a:endParaRPr lang="zh-CN" altLang="en-US" sz="2000" dirty="0">
              <a:latin typeface="Helvetica" pitchFamily="2" charset="0"/>
              <a:cs typeface="Arial" panose="020B0604020202090204" pitchFamily="34" charset="0"/>
            </a:endParaRPr>
          </a:p>
          <a:p>
            <a:pPr marL="342900" indent="-342900" algn="l">
              <a:buClrTx/>
              <a:buSzTx/>
              <a:buFont typeface="Arial" panose="020B0604020202090204" pitchFamily="34" charset="0"/>
              <a:buChar char="•"/>
            </a:pPr>
            <a:endParaRPr lang="zh-CN" altLang="en-US" sz="2000" dirty="0">
              <a:latin typeface="Helvetica" pitchFamily="2" charset="0"/>
              <a:cs typeface="Arial" panose="020B0604020202090204" pitchFamily="34" charset="0"/>
            </a:endParaRPr>
          </a:p>
          <a:p>
            <a:pPr marL="342900"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限制或检测错误的软件工具（例如，强类型语言，源代码控制系统，调试器）。</a:t>
            </a:r>
            <a:endParaRPr lang="zh-CN" altLang="en-US" sz="2000" dirty="0">
              <a:latin typeface="Helvetica" pitchFamily="2" charset="0"/>
              <a:cs typeface="Arial" panose="020B0604020202090204" pitchFamily="34" charset="0"/>
            </a:endParaRPr>
          </a:p>
          <a:p>
            <a:pPr marL="342900" indent="-342900" algn="l">
              <a:buClrTx/>
              <a:buSzTx/>
              <a:buFont typeface="Arial" panose="020B0604020202090204" pitchFamily="34" charset="0"/>
              <a:buChar char="•"/>
            </a:pPr>
            <a:endParaRPr lang="zh-CN" altLang="en-US" sz="2000" dirty="0">
              <a:latin typeface="Helvetica" pitchFamily="2" charset="0"/>
              <a:cs typeface="Arial" panose="020B0604020202090204" pitchFamily="34" charset="0"/>
            </a:endParaRPr>
          </a:p>
          <a:p>
            <a:pPr marL="342900"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在开发的所有阶段进行系统化的验证，包括需求、系统架构、程序设计、实现及用户测试。</a:t>
            </a:r>
            <a:endParaRPr lang="zh-CN" altLang="en-US" sz="2000" dirty="0">
              <a:latin typeface="Helvetica" pitchFamily="2" charset="0"/>
              <a:cs typeface="Arial" panose="020B0604020202090204" pitchFamily="34" charset="0"/>
            </a:endParaRPr>
          </a:p>
          <a:p>
            <a:pPr marL="342900" indent="-342900" algn="l">
              <a:buClrTx/>
              <a:buSzTx/>
              <a:buFont typeface="Arial" panose="020B0604020202090204" pitchFamily="34" charset="0"/>
              <a:buChar char="•"/>
            </a:pPr>
            <a:endParaRPr lang="zh-CN" altLang="en-US" sz="2000" dirty="0">
              <a:latin typeface="Helvetica" pitchFamily="2" charset="0"/>
              <a:cs typeface="Arial" panose="020B0604020202090204" pitchFamily="34" charset="0"/>
            </a:endParaRPr>
          </a:p>
          <a:p>
            <a:pPr marL="342900"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特别关注变更和维护。</a:t>
            </a:r>
            <a:endParaRPr lang="zh-CN" altLang="en-US" sz="2000" dirty="0">
              <a:latin typeface="Helvetica" pitchFamily="2" charset="0"/>
              <a:cs typeface="Arial" panose="020B0604020202090204" pitchFamily="34" charset="0"/>
            </a:endParaRPr>
          </a:p>
          <a:p>
            <a:pPr marL="342900" indent="-342900">
              <a:buFont typeface="Arial" panose="020B0604020202090204" pitchFamily="34" charset="0"/>
              <a:buChar char="•"/>
            </a:pPr>
            <a:endParaRPr lang="en-US" altLang="zh-CN" sz="2000" b="1" dirty="0">
              <a:solidFill>
                <a:srgbClr val="515223"/>
              </a:solidFill>
              <a:latin typeface="Helvetica" pitchFamily="2" charset="0"/>
              <a:cs typeface="Arial" panose="020B0604020202090204" pitchFamily="34" charset="0"/>
            </a:endParaRPr>
          </a:p>
          <a:p>
            <a:pPr marL="342900" indent="-342900">
              <a:buFont typeface="Arial" panose="020B0604020202090204" pitchFamily="34" charset="0"/>
              <a:buChar char="•"/>
            </a:pP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8712621" cy="790865"/>
          </a:xfrm>
        </p:spPr>
        <p:txBody>
          <a:bodyPr>
            <a:noAutofit/>
          </a:bodyPr>
          <a:lstStyle/>
          <a:p>
            <a:r>
              <a:rPr lang="zh-CN" altLang="en-US" sz="2400" dirty="0">
                <a:latin typeface="Times New Roman" panose="02020603050405020304" charset="0"/>
              </a:rPr>
              <a:t>构建可依赖的系统：组织文化</a:t>
            </a:r>
            <a:endParaRPr lang="zh-CN" altLang="en-US" sz="2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TextBox 3"/>
          <p:cNvSpPr txBox="1"/>
          <p:nvPr/>
        </p:nvSpPr>
        <p:spPr>
          <a:xfrm>
            <a:off x="502976" y="1946697"/>
            <a:ext cx="10946524" cy="3476625"/>
          </a:xfrm>
          <a:prstGeom prst="rect">
            <a:avLst/>
          </a:prstGeom>
          <a:noFill/>
        </p:spPr>
        <p:txBody>
          <a:bodyPr wrap="square">
            <a:spAutoFit/>
          </a:bodyPr>
          <a:lstStyle/>
          <a:p>
            <a:pPr marL="0" lvl="1"/>
            <a:r>
              <a:rPr lang="zh-CN" altLang="en-US" sz="2000" b="1" dirty="0">
                <a:solidFill>
                  <a:srgbClr val="515223"/>
                </a:solidFill>
                <a:latin typeface="Helvetica" pitchFamily="2" charset="0"/>
                <a:cs typeface="Arial" panose="020B0604020202090204" pitchFamily="34" charset="0"/>
              </a:rPr>
              <a:t>好的组织创造好的系统：</a:t>
            </a:r>
            <a:endParaRPr lang="zh-CN" altLang="en-US" sz="2000" b="1" dirty="0">
              <a:solidFill>
                <a:srgbClr val="515223"/>
              </a:solidFill>
              <a:latin typeface="Helvetica" pitchFamily="2" charset="0"/>
              <a:cs typeface="Arial" panose="020B0604020202090204" pitchFamily="34" charset="0"/>
            </a:endParaRPr>
          </a:p>
          <a:p>
            <a:pPr marL="0" lvl="1"/>
            <a:endParaRPr lang="en-US" altLang="zh-CN" sz="2000" b="1" dirty="0">
              <a:solidFill>
                <a:srgbClr val="515223"/>
              </a:solidFill>
              <a:latin typeface="Helvetica" pitchFamily="2" charset="0"/>
              <a:cs typeface="Arial" panose="020B0604020202090204" pitchFamily="34" charset="0"/>
            </a:endParaRPr>
          </a:p>
          <a:p>
            <a:pPr marL="342900" lvl="1"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经理和高级技术人员必须以身作则。</a:t>
            </a:r>
            <a:endParaRPr lang="zh-CN" altLang="en-US" sz="2000" dirty="0">
              <a:latin typeface="Helvetica" pitchFamily="2" charset="0"/>
              <a:cs typeface="Arial" panose="020B0604020202090204" pitchFamily="34" charset="0"/>
            </a:endParaRPr>
          </a:p>
          <a:p>
            <a:pPr marL="342900" lvl="1" indent="-342900" algn="l">
              <a:buClrTx/>
              <a:buSzTx/>
              <a:buFont typeface="Arial" panose="020B0604020202090204" pitchFamily="34" charset="0"/>
              <a:buChar char="•"/>
            </a:pPr>
            <a:endParaRPr lang="zh-CN" altLang="en-US" sz="2000" dirty="0">
              <a:latin typeface="Helvetica" pitchFamily="2" charset="0"/>
              <a:cs typeface="Arial" panose="020B0604020202090204" pitchFamily="34" charset="0"/>
            </a:endParaRPr>
          </a:p>
          <a:p>
            <a:pPr marL="342900" lvl="1"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接受团队的工作风格（例如，会议、准备、对初级员工的支持）。</a:t>
            </a:r>
            <a:endParaRPr lang="zh-CN" altLang="en-US" sz="2000" dirty="0">
              <a:latin typeface="Helvetica" pitchFamily="2" charset="0"/>
              <a:cs typeface="Arial" panose="020B0604020202090204" pitchFamily="34" charset="0"/>
            </a:endParaRPr>
          </a:p>
          <a:p>
            <a:pPr marL="342900" lvl="1" indent="-342900" algn="l">
              <a:buClrTx/>
              <a:buSzTx/>
              <a:buFont typeface="Arial" panose="020B0604020202090204" pitchFamily="34" charset="0"/>
              <a:buChar char="•"/>
            </a:pPr>
            <a:endParaRPr lang="zh-CN" altLang="en-US" sz="2000" dirty="0">
              <a:latin typeface="Helvetica" pitchFamily="2" charset="0"/>
              <a:cs typeface="Arial" panose="020B0604020202090204" pitchFamily="34" charset="0"/>
            </a:endParaRPr>
          </a:p>
          <a:p>
            <a:pPr marL="342900" lvl="1"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可见性。</a:t>
            </a:r>
            <a:endParaRPr lang="zh-CN" altLang="en-US" sz="2000" dirty="0">
              <a:latin typeface="Helvetica" pitchFamily="2" charset="0"/>
              <a:cs typeface="Arial" panose="020B0604020202090204" pitchFamily="34" charset="0"/>
            </a:endParaRPr>
          </a:p>
          <a:p>
            <a:pPr marL="342900" lvl="1" indent="-342900" algn="l">
              <a:buClrTx/>
              <a:buSzTx/>
              <a:buFont typeface="Arial" panose="020B0604020202090204" pitchFamily="34" charset="0"/>
              <a:buChar char="•"/>
            </a:pPr>
            <a:endParaRPr lang="zh-CN" altLang="en-US" sz="2000" dirty="0">
              <a:latin typeface="Helvetica" pitchFamily="2" charset="0"/>
              <a:cs typeface="Arial" panose="020B0604020202090204" pitchFamily="34" charset="0"/>
            </a:endParaRPr>
          </a:p>
          <a:p>
            <a:pPr marL="342900" lvl="1"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在进入下一任务前完成一个任务（例如，文档、代码中的注释）。</a:t>
            </a:r>
            <a:endParaRPr lang="zh-CN" altLang="en-US" sz="2000" dirty="0">
              <a:latin typeface="Helvetica" pitchFamily="2" charset="0"/>
              <a:cs typeface="Arial" panose="020B0604020202090204" pitchFamily="34" charset="0"/>
            </a:endParaRPr>
          </a:p>
          <a:p>
            <a:pPr marL="0" lvl="1"/>
            <a:endParaRPr lang="en-US" altLang="zh-CN" sz="2000" b="1" dirty="0">
              <a:solidFill>
                <a:srgbClr val="515223"/>
              </a:solidFill>
              <a:latin typeface="Helvetica" pitchFamily="2" charset="0"/>
              <a:cs typeface="Arial" panose="020B0604020202090204" pitchFamily="34" charset="0"/>
            </a:endParaRPr>
          </a:p>
          <a:p>
            <a:pPr marL="0" lvl="1"/>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zh-CN" altLang="en-US" sz="2400" dirty="0">
                <a:latin typeface="Times New Roman" panose="02020603050405020304" charset="0"/>
              </a:rPr>
              <a:t>构建可依赖的系统：组织文化</a:t>
            </a:r>
            <a:endParaRPr lang="zh-CN" altLang="en-US" sz="2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8" name="TextBox 3"/>
          <p:cNvSpPr txBox="1"/>
          <p:nvPr/>
        </p:nvSpPr>
        <p:spPr>
          <a:xfrm>
            <a:off x="502976" y="1752147"/>
            <a:ext cx="10946524" cy="4399915"/>
          </a:xfrm>
          <a:prstGeom prst="rect">
            <a:avLst/>
          </a:prstGeom>
          <a:noFill/>
        </p:spPr>
        <p:txBody>
          <a:bodyPr wrap="square">
            <a:spAutoFit/>
          </a:bodyPr>
          <a:lstStyle/>
          <a:p>
            <a:pPr marL="0" lvl="1"/>
            <a:r>
              <a:rPr lang="zh-CN" altLang="en-US" sz="2000" b="1" dirty="0">
                <a:solidFill>
                  <a:srgbClr val="515223"/>
                </a:solidFill>
                <a:latin typeface="Helvetica" pitchFamily="2" charset="0"/>
                <a:cs typeface="Arial" panose="020B0604020202090204" pitchFamily="34" charset="0"/>
              </a:rPr>
              <a:t>示例：一个图书馆联盟</a:t>
            </a:r>
            <a:endParaRPr lang="zh-CN" altLang="en-US" sz="2000" b="1" dirty="0">
              <a:solidFill>
                <a:srgbClr val="515223"/>
              </a:solidFill>
              <a:latin typeface="Helvetica" pitchFamily="2" charset="0"/>
              <a:cs typeface="Arial" panose="020B0604020202090204" pitchFamily="34" charset="0"/>
            </a:endParaRPr>
          </a:p>
          <a:p>
            <a:pPr marL="0" lvl="1"/>
            <a:r>
              <a:rPr lang="zh-CN" altLang="en-US" sz="2000" dirty="0">
                <a:solidFill>
                  <a:srgbClr val="FF0000"/>
                </a:solidFill>
                <a:latin typeface="Helvetica" pitchFamily="2" charset="0"/>
                <a:cs typeface="Arial" panose="020B0604020202090204" pitchFamily="34" charset="0"/>
              </a:rPr>
              <a:t>问题：</a:t>
            </a:r>
            <a:endParaRPr lang="zh-CN" altLang="en-US" sz="2000" dirty="0">
              <a:solidFill>
                <a:srgbClr val="FF0000"/>
              </a:solidFill>
              <a:latin typeface="Helvetica" pitchFamily="2" charset="0"/>
              <a:cs typeface="Arial" panose="020B0604020202090204" pitchFamily="34" charset="0"/>
            </a:endParaRPr>
          </a:p>
          <a:p>
            <a:pPr marL="342900" lvl="1"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数据库反复崩溃，丢失数据。</a:t>
            </a:r>
            <a:endParaRPr lang="zh-CN" altLang="en-US" sz="2000" dirty="0">
              <a:latin typeface="Helvetica" pitchFamily="2" charset="0"/>
              <a:cs typeface="Arial" panose="020B0604020202090204" pitchFamily="34" charset="0"/>
            </a:endParaRPr>
          </a:p>
          <a:p>
            <a:pPr marL="342900" lvl="1"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连续几个版本都未能修复该问题。</a:t>
            </a:r>
            <a:endParaRPr lang="zh-CN" altLang="en-US" sz="2000" dirty="0">
              <a:latin typeface="Helvetica" pitchFamily="2" charset="0"/>
              <a:cs typeface="Arial" panose="020B0604020202090204" pitchFamily="34" charset="0"/>
            </a:endParaRPr>
          </a:p>
          <a:p>
            <a:pPr marL="0" lvl="1" algn="l">
              <a:buClrTx/>
              <a:buSzTx/>
              <a:buFontTx/>
            </a:pPr>
            <a:endParaRPr lang="zh-CN" altLang="en-US" sz="2000" dirty="0">
              <a:latin typeface="Helvetica" pitchFamily="2" charset="0"/>
              <a:cs typeface="Arial" panose="020B0604020202090204" pitchFamily="34" charset="0"/>
            </a:endParaRPr>
          </a:p>
          <a:p>
            <a:pPr marL="0" lvl="1" algn="l">
              <a:buClrTx/>
              <a:buSzTx/>
              <a:buFontTx/>
            </a:pPr>
            <a:r>
              <a:rPr lang="zh-CN" altLang="en-US" sz="2000" dirty="0">
                <a:solidFill>
                  <a:srgbClr val="FF0000"/>
                </a:solidFill>
                <a:latin typeface="Helvetica" pitchFamily="2" charset="0"/>
                <a:cs typeface="Arial" panose="020B0604020202090204" pitchFamily="34" charset="0"/>
              </a:rPr>
              <a:t>分析：</a:t>
            </a:r>
            <a:endParaRPr lang="zh-CN" altLang="en-US" sz="2000" dirty="0">
              <a:solidFill>
                <a:srgbClr val="FF0000"/>
              </a:solidFill>
              <a:latin typeface="Helvetica" pitchFamily="2" charset="0"/>
              <a:cs typeface="Arial" panose="020B0604020202090204" pitchFamily="34" charset="0"/>
            </a:endParaRPr>
          </a:p>
          <a:p>
            <a:pPr marL="342900" lvl="1"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团队有一个好的技术计划，但需要时间。</a:t>
            </a:r>
            <a:endParaRPr lang="zh-CN" altLang="en-US" sz="2000" dirty="0">
              <a:latin typeface="Helvetica" pitchFamily="2" charset="0"/>
              <a:cs typeface="Arial" panose="020B0604020202090204" pitchFamily="34" charset="0"/>
            </a:endParaRPr>
          </a:p>
          <a:p>
            <a:pPr marL="342900" lvl="1"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高级管理层在准备好之前就坚持要发布。</a:t>
            </a:r>
            <a:endParaRPr lang="zh-CN" altLang="en-US" sz="2000" dirty="0">
              <a:latin typeface="Helvetica" pitchFamily="2" charset="0"/>
              <a:cs typeface="Arial" panose="020B0604020202090204" pitchFamily="34" charset="0"/>
            </a:endParaRPr>
          </a:p>
          <a:p>
            <a:pPr marL="0" lvl="1" algn="l">
              <a:buClrTx/>
              <a:buSzTx/>
              <a:buFontTx/>
            </a:pPr>
            <a:endParaRPr lang="zh-CN" altLang="en-US" sz="2000" dirty="0">
              <a:latin typeface="Helvetica" pitchFamily="2" charset="0"/>
              <a:cs typeface="Arial" panose="020B0604020202090204" pitchFamily="34" charset="0"/>
            </a:endParaRPr>
          </a:p>
          <a:p>
            <a:pPr marL="0" lvl="1" algn="l">
              <a:buClrTx/>
              <a:buSzTx/>
              <a:buFontTx/>
            </a:pPr>
            <a:r>
              <a:rPr lang="zh-CN" altLang="en-US" sz="2000" dirty="0">
                <a:solidFill>
                  <a:srgbClr val="FF0000"/>
                </a:solidFill>
                <a:latin typeface="Helvetica" pitchFamily="2" charset="0"/>
                <a:cs typeface="Arial" panose="020B0604020202090204" pitchFamily="34" charset="0"/>
              </a:rPr>
              <a:t>解决办法：</a:t>
            </a:r>
            <a:endParaRPr lang="zh-CN" altLang="en-US" sz="2000" dirty="0">
              <a:solidFill>
                <a:srgbClr val="FF0000"/>
              </a:solidFill>
              <a:latin typeface="Helvetica" pitchFamily="2" charset="0"/>
              <a:cs typeface="Arial" panose="020B0604020202090204" pitchFamily="34" charset="0"/>
            </a:endParaRPr>
          </a:p>
          <a:p>
            <a:pPr marL="342900" lvl="1"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给团队时间。</a:t>
            </a:r>
            <a:endParaRPr lang="zh-CN" altLang="en-US" sz="2000" dirty="0">
              <a:latin typeface="Helvetica" pitchFamily="2" charset="0"/>
              <a:cs typeface="Arial" panose="020B0604020202090204" pitchFamily="34" charset="0"/>
            </a:endParaRPr>
          </a:p>
          <a:p>
            <a:pPr marL="342900" lvl="1"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更换高级管理层。</a:t>
            </a:r>
            <a:endParaRPr lang="zh-CN" altLang="en-US" sz="2000" dirty="0">
              <a:latin typeface="Helvetica" pitchFamily="2" charset="0"/>
              <a:cs typeface="Arial" panose="020B0604020202090204" pitchFamily="34" charset="0"/>
            </a:endParaRPr>
          </a:p>
          <a:p>
            <a:pPr marL="0" lvl="1"/>
            <a:endParaRPr lang="en-US" altLang="zh-CN" sz="2000" b="1" dirty="0">
              <a:solidFill>
                <a:srgbClr val="515223"/>
              </a:solidFill>
              <a:latin typeface="Helvetica" pitchFamily="2" charset="0"/>
              <a:cs typeface="Arial" panose="020B0604020202090204" pitchFamily="34" charset="0"/>
            </a:endParaRPr>
          </a:p>
          <a:p>
            <a:pPr marL="0" lvl="1"/>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5" y="237834"/>
            <a:ext cx="8957718" cy="790865"/>
          </a:xfrm>
        </p:spPr>
        <p:txBody>
          <a:bodyPr>
            <a:noAutofit/>
          </a:bodyPr>
          <a:lstStyle/>
          <a:p>
            <a:r>
              <a:rPr lang="zh-CN" altLang="en-US" sz="2400" dirty="0">
                <a:latin typeface="Times New Roman" panose="02020603050405020304" charset="0"/>
              </a:rPr>
              <a:t>构建可靠的软件：质量管理过程</a:t>
            </a:r>
            <a:endParaRPr lang="zh-CN" altLang="en-US" sz="2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622737" y="1797068"/>
            <a:ext cx="10946524" cy="3784600"/>
          </a:xfrm>
          <a:prstGeom prst="rect">
            <a:avLst/>
          </a:prstGeom>
          <a:noFill/>
        </p:spPr>
        <p:txBody>
          <a:bodyPr wrap="square">
            <a:spAutoFit/>
          </a:bodyPr>
          <a:lstStyle/>
          <a:p>
            <a:pPr marL="0" lvl="1"/>
            <a:r>
              <a:rPr lang="zh-CN" altLang="en-US" sz="2000" b="1" dirty="0">
                <a:solidFill>
                  <a:srgbClr val="515223"/>
                </a:solidFill>
                <a:latin typeface="Helvetica" pitchFamily="2" charset="0"/>
                <a:cs typeface="Arial" panose="020B0604020202090204" pitchFamily="34" charset="0"/>
              </a:rPr>
              <a:t>假设：</a:t>
            </a:r>
            <a:endParaRPr lang="zh-CN" altLang="en-US" sz="2000" b="1" dirty="0">
              <a:solidFill>
                <a:srgbClr val="515223"/>
              </a:solidFill>
              <a:latin typeface="Helvetica" pitchFamily="2" charset="0"/>
              <a:cs typeface="Arial" panose="020B0604020202090204" pitchFamily="34" charset="0"/>
            </a:endParaRPr>
          </a:p>
          <a:p>
            <a:pPr lvl="2"/>
            <a:r>
              <a:rPr lang="zh-CN" altLang="en-US" sz="2000" dirty="0">
                <a:solidFill>
                  <a:schemeClr val="tx1"/>
                </a:solidFill>
                <a:latin typeface="Helvetica" pitchFamily="2" charset="0"/>
                <a:cs typeface="Arial" panose="020B0604020202090204" pitchFamily="34" charset="0"/>
              </a:rPr>
              <a:t>没有好的过程就不可能有好的软件。</a:t>
            </a:r>
            <a:endParaRPr lang="zh-CN" altLang="en-US" sz="2000" dirty="0">
              <a:solidFill>
                <a:schemeClr val="tx1"/>
              </a:solidFill>
              <a:latin typeface="Helvetica" pitchFamily="2" charset="0"/>
              <a:cs typeface="Arial" panose="020B0604020202090204" pitchFamily="34" charset="0"/>
            </a:endParaRPr>
          </a:p>
          <a:p>
            <a:pPr marL="0" lvl="1"/>
            <a:r>
              <a:rPr lang="zh-CN" altLang="en-US" sz="2000" b="1" dirty="0">
                <a:solidFill>
                  <a:srgbClr val="515223"/>
                </a:solidFill>
                <a:latin typeface="Helvetica" pitchFamily="2" charset="0"/>
                <a:cs typeface="Arial" panose="020B0604020202090204" pitchFamily="34" charset="0"/>
              </a:rPr>
              <a:t>例行工作的重要性：</a:t>
            </a:r>
            <a:endParaRPr lang="zh-CN" altLang="en-US" sz="2000" dirty="0">
              <a:latin typeface="Helvetica" pitchFamily="2" charset="0"/>
              <a:cs typeface="Arial" panose="020B0604020202090204" pitchFamily="34" charset="0"/>
            </a:endParaRPr>
          </a:p>
          <a:p>
            <a:pPr lvl="2" algn="l">
              <a:buClrTx/>
              <a:buSzTx/>
              <a:buFontTx/>
            </a:pPr>
            <a:r>
              <a:rPr lang="zh-CN" altLang="en-US" sz="2000" dirty="0">
                <a:latin typeface="Helvetica" pitchFamily="2" charset="0"/>
                <a:cs typeface="Arial" panose="020B0604020202090204" pitchFamily="34" charset="0"/>
              </a:rPr>
              <a:t>标准术语（需求、设计、验收等）</a:t>
            </a:r>
            <a:endParaRPr lang="zh-CN" altLang="en-US" sz="2000" dirty="0">
              <a:latin typeface="Helvetica" pitchFamily="2" charset="0"/>
              <a:cs typeface="Arial" panose="020B0604020202090204" pitchFamily="34" charset="0"/>
            </a:endParaRPr>
          </a:p>
          <a:p>
            <a:pPr lvl="2" algn="l">
              <a:buClrTx/>
              <a:buSzTx/>
              <a:buFontTx/>
            </a:pPr>
            <a:r>
              <a:rPr lang="zh-CN" altLang="en-US" sz="2000" dirty="0">
                <a:latin typeface="Helvetica" pitchFamily="2" charset="0"/>
                <a:cs typeface="Arial" panose="020B0604020202090204" pitchFamily="34" charset="0"/>
              </a:rPr>
              <a:t>软件标准（编码标准、命名约定等）</a:t>
            </a:r>
            <a:endParaRPr lang="zh-CN" altLang="en-US" sz="2000" dirty="0">
              <a:latin typeface="Helvetica" pitchFamily="2" charset="0"/>
              <a:cs typeface="Arial" panose="020B0604020202090204" pitchFamily="34" charset="0"/>
            </a:endParaRPr>
          </a:p>
          <a:p>
            <a:pPr lvl="2" algn="l">
              <a:buClrTx/>
              <a:buSzTx/>
              <a:buFontTx/>
            </a:pPr>
            <a:r>
              <a:rPr lang="zh-CN" altLang="en-US" sz="2000" dirty="0">
                <a:latin typeface="Helvetica" pitchFamily="2" charset="0"/>
                <a:cs typeface="Arial" panose="020B0604020202090204" pitchFamily="34" charset="0"/>
              </a:rPr>
              <a:t>定期构建完整系统（通常是每日构建）</a:t>
            </a:r>
            <a:endParaRPr lang="zh-CN" altLang="en-US" sz="2000" dirty="0">
              <a:latin typeface="Helvetica" pitchFamily="2" charset="0"/>
              <a:cs typeface="Arial" panose="020B0604020202090204" pitchFamily="34" charset="0"/>
            </a:endParaRPr>
          </a:p>
          <a:p>
            <a:pPr lvl="2" algn="l">
              <a:buClrTx/>
              <a:buSzTx/>
              <a:buFontTx/>
            </a:pPr>
            <a:r>
              <a:rPr lang="zh-CN" altLang="en-US" sz="2000" dirty="0">
                <a:latin typeface="Helvetica" pitchFamily="2" charset="0"/>
                <a:cs typeface="Arial" panose="020B0604020202090204" pitchFamily="34" charset="0"/>
              </a:rPr>
              <a:t>内部和外部文档</a:t>
            </a:r>
            <a:endParaRPr lang="zh-CN" altLang="en-US" sz="2000" dirty="0">
              <a:latin typeface="Helvetica" pitchFamily="2" charset="0"/>
              <a:cs typeface="Arial" panose="020B0604020202090204" pitchFamily="34" charset="0"/>
            </a:endParaRPr>
          </a:p>
          <a:p>
            <a:pPr lvl="2" algn="l">
              <a:buClrTx/>
              <a:buSzTx/>
              <a:buFontTx/>
            </a:pPr>
            <a:r>
              <a:rPr lang="zh-CN" altLang="en-US" sz="2000" dirty="0">
                <a:latin typeface="Helvetica" pitchFamily="2" charset="0"/>
                <a:cs typeface="Arial" panose="020B0604020202090204" pitchFamily="34" charset="0"/>
              </a:rPr>
              <a:t>报告程序</a:t>
            </a:r>
            <a:endParaRPr lang="zh-CN" altLang="en-US" sz="2000" dirty="0">
              <a:latin typeface="Helvetica" pitchFamily="2" charset="0"/>
              <a:cs typeface="Arial" panose="020B0604020202090204" pitchFamily="34" charset="0"/>
            </a:endParaRPr>
          </a:p>
          <a:p>
            <a:pPr lvl="2" algn="l">
              <a:buClrTx/>
              <a:buSzTx/>
              <a:buFontTx/>
            </a:pPr>
            <a:endParaRPr lang="zh-CN" altLang="en-US" sz="2000" dirty="0">
              <a:latin typeface="Helvetica" pitchFamily="2" charset="0"/>
              <a:cs typeface="Arial" panose="020B0604020202090204" pitchFamily="34" charset="0"/>
            </a:endParaRPr>
          </a:p>
          <a:p>
            <a:pPr marL="0" lvl="1"/>
            <a:r>
              <a:rPr lang="zh-CN" altLang="en-US" sz="2000" b="1" dirty="0">
                <a:solidFill>
                  <a:srgbClr val="515223"/>
                </a:solidFill>
                <a:latin typeface="Helvetica" pitchFamily="2" charset="0"/>
                <a:cs typeface="Arial" panose="020B0604020202090204" pitchFamily="34" charset="0"/>
              </a:rPr>
              <a:t>此例行工作对重量级和轻量级开发过程都很重要。</a:t>
            </a:r>
            <a:endParaRPr lang="zh-CN" altLang="en-US" sz="2000" b="1" dirty="0">
              <a:solidFill>
                <a:srgbClr val="515223"/>
              </a:solidFill>
              <a:latin typeface="Helvetica" pitchFamily="2" charset="0"/>
              <a:cs typeface="Arial" panose="020B0604020202090204" pitchFamily="34" charset="0"/>
            </a:endParaRPr>
          </a:p>
          <a:p>
            <a:pPr marL="0" lvl="1"/>
            <a:endParaRPr lang="en-US" altLang="zh-CN" sz="2000" b="1" dirty="0">
              <a:solidFill>
                <a:srgbClr val="515223"/>
              </a:solidFill>
              <a:latin typeface="Helvetica" pitchFamily="2" charset="0"/>
              <a:cs typeface="Arial" panose="020B0604020202090204" pitchFamily="34" charset="0"/>
            </a:endParaRPr>
          </a:p>
          <a:p>
            <a:pPr marL="0" lvl="1"/>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5" y="237834"/>
            <a:ext cx="8701256" cy="790865"/>
          </a:xfrm>
        </p:spPr>
        <p:txBody>
          <a:bodyPr>
            <a:noAutofit/>
          </a:bodyPr>
          <a:lstStyle/>
          <a:p>
            <a:r>
              <a:rPr lang="zh-CN" altLang="en-US" sz="2400" dirty="0">
                <a:latin typeface="Times New Roman" panose="02020603050405020304" charset="0"/>
              </a:rPr>
              <a:t>构建可靠的软件：质量管理过程</a:t>
            </a:r>
            <a:endParaRPr lang="zh-CN" altLang="en-US" sz="2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622737" y="2101864"/>
            <a:ext cx="10946524" cy="2861310"/>
          </a:xfrm>
          <a:prstGeom prst="rect">
            <a:avLst/>
          </a:prstGeom>
          <a:noFill/>
        </p:spPr>
        <p:txBody>
          <a:bodyPr wrap="square">
            <a:spAutoFit/>
          </a:bodyPr>
          <a:lstStyle/>
          <a:p>
            <a:pPr marL="0" lvl="1"/>
            <a:r>
              <a:rPr lang="zh-CN" altLang="en-US" sz="2000" b="1" dirty="0">
                <a:solidFill>
                  <a:srgbClr val="515223"/>
                </a:solidFill>
                <a:latin typeface="Helvetica" pitchFamily="2" charset="0"/>
                <a:cs typeface="Arial" panose="020B0604020202090204" pitchFamily="34" charset="0"/>
              </a:rPr>
              <a:t>当时间紧迫时……</a:t>
            </a:r>
            <a:endParaRPr lang="zh-CN" altLang="en-US" sz="2000" b="1" dirty="0">
              <a:solidFill>
                <a:srgbClr val="515223"/>
              </a:solidFill>
              <a:latin typeface="Helvetica" pitchFamily="2" charset="0"/>
              <a:cs typeface="Arial" panose="020B0604020202090204" pitchFamily="34" charset="0"/>
            </a:endParaRPr>
          </a:p>
          <a:p>
            <a:pPr marL="0" lvl="1"/>
            <a:endParaRPr lang="en-US" altLang="zh-CN" sz="2000" b="1" dirty="0">
              <a:solidFill>
                <a:srgbClr val="515223"/>
              </a:solidFill>
              <a:latin typeface="Helvetica" pitchFamily="2" charset="0"/>
              <a:cs typeface="Arial" panose="020B0604020202090204" pitchFamily="34" charset="0"/>
            </a:endParaRPr>
          </a:p>
          <a:p>
            <a:pPr lvl="2" algn="l">
              <a:buClrTx/>
              <a:buSzTx/>
              <a:buFontTx/>
            </a:pPr>
            <a:r>
              <a:rPr lang="zh-CN" altLang="en-US" sz="2000" dirty="0">
                <a:latin typeface="Helvetica" pitchFamily="2" charset="0"/>
                <a:cs typeface="Arial" panose="020B0604020202090204" pitchFamily="34" charset="0"/>
              </a:rPr>
              <a:t>对过程的早期阶段给予额外关注：可行性、需求、设计。</a:t>
            </a:r>
            <a:endParaRPr lang="zh-CN" altLang="en-US" sz="2000" dirty="0">
              <a:latin typeface="Helvetica" pitchFamily="2" charset="0"/>
              <a:cs typeface="Arial" panose="020B0604020202090204" pitchFamily="34" charset="0"/>
            </a:endParaRPr>
          </a:p>
          <a:p>
            <a:pPr lvl="2" algn="l">
              <a:buClrTx/>
              <a:buSzTx/>
              <a:buFontTx/>
            </a:pPr>
            <a:endParaRPr lang="zh-CN" altLang="en-US" sz="2000" dirty="0">
              <a:latin typeface="Helvetica" pitchFamily="2" charset="0"/>
              <a:cs typeface="Arial" panose="020B0604020202090204" pitchFamily="34" charset="0"/>
            </a:endParaRPr>
          </a:p>
          <a:p>
            <a:pPr lvl="2" algn="l">
              <a:buClrTx/>
              <a:buSzTx/>
              <a:buFontTx/>
            </a:pPr>
            <a:r>
              <a:rPr lang="zh-CN" altLang="en-US" sz="2000" dirty="0">
                <a:latin typeface="Helvetica" pitchFamily="2" charset="0"/>
                <a:cs typeface="Arial" panose="020B0604020202090204" pitchFamily="34" charset="0"/>
              </a:rPr>
              <a:t>如果在需求过程中犯了错误，以后将没有多少时间修复。</a:t>
            </a:r>
            <a:endParaRPr lang="zh-CN" altLang="en-US" sz="2000" dirty="0">
              <a:latin typeface="Helvetica" pitchFamily="2" charset="0"/>
              <a:cs typeface="Arial" panose="020B0604020202090204" pitchFamily="34" charset="0"/>
            </a:endParaRPr>
          </a:p>
          <a:p>
            <a:pPr lvl="2" algn="l">
              <a:buClrTx/>
              <a:buSzTx/>
              <a:buFontTx/>
            </a:pPr>
            <a:endParaRPr lang="zh-CN" altLang="en-US" sz="2000" dirty="0">
              <a:latin typeface="Helvetica" pitchFamily="2" charset="0"/>
              <a:cs typeface="Arial" panose="020B0604020202090204" pitchFamily="34" charset="0"/>
            </a:endParaRPr>
          </a:p>
          <a:p>
            <a:pPr lvl="2" algn="l">
              <a:buClrTx/>
              <a:buSzTx/>
              <a:buFontTx/>
            </a:pPr>
            <a:r>
              <a:rPr lang="zh-CN" altLang="en-US" sz="2000" dirty="0">
                <a:latin typeface="Helvetica" pitchFamily="2" charset="0"/>
                <a:cs typeface="Arial" panose="020B0604020202090204" pitchFamily="34" charset="0"/>
              </a:rPr>
              <a:t>经验表明，在早期阶段多花时间通常会减少发布所需的总体时间。</a:t>
            </a:r>
            <a:endParaRPr lang="zh-CN" altLang="en-US" sz="2000" dirty="0">
              <a:latin typeface="Helvetica" pitchFamily="2" charset="0"/>
              <a:cs typeface="Arial" panose="020B0604020202090204" pitchFamily="34" charset="0"/>
            </a:endParaRPr>
          </a:p>
          <a:p>
            <a:pPr lvl="2" algn="l">
              <a:buClrTx/>
              <a:buSzTx/>
              <a:buFontTx/>
            </a:pPr>
            <a:endParaRPr lang="zh-CN" altLang="en-US" sz="2000" dirty="0">
              <a:latin typeface="Helvetica" pitchFamily="2" charset="0"/>
              <a:cs typeface="Arial" panose="020B0604020202090204" pitchFamily="34" charset="0"/>
            </a:endParaRPr>
          </a:p>
          <a:p>
            <a:pPr marL="0" lvl="1"/>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5" y="237834"/>
            <a:ext cx="8701256" cy="790865"/>
          </a:xfrm>
        </p:spPr>
        <p:txBody>
          <a:bodyPr>
            <a:noAutofit/>
          </a:bodyPr>
          <a:lstStyle/>
          <a:p>
            <a:r>
              <a:rPr lang="zh-CN" altLang="en-US" sz="4400" dirty="0">
                <a:latin typeface="Times New Roman" panose="02020603050405020304" charset="0"/>
              </a:rPr>
              <a:t>构建可靠的软件：与客户的沟通</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622737" y="2017559"/>
            <a:ext cx="10946524" cy="2861310"/>
          </a:xfrm>
          <a:prstGeom prst="rect">
            <a:avLst/>
          </a:prstGeom>
          <a:noFill/>
        </p:spPr>
        <p:txBody>
          <a:bodyPr wrap="square">
            <a:spAutoFit/>
          </a:bodyPr>
          <a:lstStyle/>
          <a:p>
            <a:pPr marL="0" lvl="1"/>
            <a:r>
              <a:rPr lang="zh-CN" altLang="en-US" sz="2000" b="1" dirty="0">
                <a:solidFill>
                  <a:srgbClr val="515223"/>
                </a:solidFill>
                <a:latin typeface="Helvetica" pitchFamily="2" charset="0"/>
                <a:cs typeface="Arial" panose="020B0604020202090204" pitchFamily="34" charset="0"/>
              </a:rPr>
              <a:t>如果系统不能满足客户的需求，它就毫无用处。</a:t>
            </a:r>
            <a:endParaRPr lang="zh-CN" altLang="en-US" sz="2000" b="1" dirty="0">
              <a:solidFill>
                <a:srgbClr val="515223"/>
              </a:solidFill>
              <a:latin typeface="Helvetica" pitchFamily="2" charset="0"/>
              <a:cs typeface="Arial" panose="020B0604020202090204" pitchFamily="34" charset="0"/>
            </a:endParaRPr>
          </a:p>
          <a:p>
            <a:pPr marL="0" lvl="1"/>
            <a:endParaRPr lang="en-US" altLang="zh-CN" sz="2000" b="1" dirty="0">
              <a:solidFill>
                <a:srgbClr val="515223"/>
              </a:solidFill>
              <a:latin typeface="Helvetica" pitchFamily="2" charset="0"/>
              <a:cs typeface="Arial" panose="020B0604020202090204" pitchFamily="34" charset="0"/>
            </a:endParaRPr>
          </a:p>
          <a:p>
            <a:pPr marL="800100" lvl="1"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客户必须理解并详细审查已达成一致的需求。</a:t>
            </a:r>
            <a:endParaRPr lang="zh-CN" altLang="en-US" sz="2000" dirty="0">
              <a:latin typeface="Helvetica" pitchFamily="2" charset="0"/>
              <a:cs typeface="Arial" panose="020B0604020202090204" pitchFamily="34" charset="0"/>
            </a:endParaRPr>
          </a:p>
          <a:p>
            <a:pPr marL="800100" lvl="1" indent="-342900" algn="l">
              <a:buClrTx/>
              <a:buSzTx/>
              <a:buFont typeface="Arial" panose="020B0604020202090204" pitchFamily="34" charset="0"/>
              <a:buChar char="•"/>
            </a:pPr>
            <a:endParaRPr lang="zh-CN" altLang="en-US" sz="2000" dirty="0">
              <a:latin typeface="Helvetica" pitchFamily="2" charset="0"/>
              <a:cs typeface="Arial" panose="020B0604020202090204" pitchFamily="34" charset="0"/>
            </a:endParaRPr>
          </a:p>
          <a:p>
            <a:pPr marL="800100" lvl="1"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仅向客户提交一份规格说明文档并要求他/她签字是不够的。</a:t>
            </a:r>
            <a:endParaRPr lang="zh-CN" altLang="en-US" sz="2000" dirty="0">
              <a:latin typeface="Helvetica" pitchFamily="2" charset="0"/>
              <a:cs typeface="Arial" panose="020B0604020202090204" pitchFamily="34" charset="0"/>
            </a:endParaRPr>
          </a:p>
          <a:p>
            <a:pPr marL="800100" lvl="1" indent="-342900" algn="l">
              <a:buClrTx/>
              <a:buSzTx/>
              <a:buFont typeface="Arial" panose="020B0604020202090204" pitchFamily="34" charset="0"/>
              <a:buChar char="•"/>
            </a:pPr>
            <a:endParaRPr lang="zh-CN" altLang="en-US" sz="2000" dirty="0">
              <a:latin typeface="Helvetica" pitchFamily="2" charset="0"/>
              <a:cs typeface="Arial" panose="020B0604020202090204" pitchFamily="34" charset="0"/>
            </a:endParaRPr>
          </a:p>
          <a:p>
            <a:pPr marL="800100" lvl="1"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客户方适当的工作人员必须审查设计的相关部分（包括操作、培训材料、系统管理）。</a:t>
            </a:r>
            <a:endParaRPr lang="zh-CN" altLang="en-US" sz="2000" dirty="0">
              <a:latin typeface="Helvetica" pitchFamily="2" charset="0"/>
              <a:cs typeface="Arial" panose="020B0604020202090204" pitchFamily="34" charset="0"/>
            </a:endParaRPr>
          </a:p>
          <a:p>
            <a:pPr marL="800100" lvl="1" indent="-342900" algn="l">
              <a:buClrTx/>
              <a:buSzTx/>
              <a:buFont typeface="Arial" panose="020B0604020202090204" pitchFamily="34" charset="0"/>
              <a:buChar char="•"/>
            </a:pPr>
            <a:endParaRPr lang="zh-CN" altLang="en-US" sz="2000" dirty="0">
              <a:latin typeface="Helvetica" pitchFamily="2" charset="0"/>
              <a:cs typeface="Arial" panose="020B0604020202090204" pitchFamily="34" charset="0"/>
            </a:endParaRPr>
          </a:p>
          <a:p>
            <a:pPr marL="800100" lvl="1"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验收测试必须属于客户。</a:t>
            </a:r>
            <a:endParaRPr lang="zh-CN" altLang="en-US" sz="2000" dirty="0">
              <a:latin typeface="Helvetica" pitchFamily="2" charset="0"/>
              <a:cs typeface="Arial" panose="020B0604020202090204" pitchFamily="34"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5" y="237834"/>
            <a:ext cx="8701256" cy="790865"/>
          </a:xfrm>
        </p:spPr>
        <p:txBody>
          <a:bodyPr>
            <a:noAutofit/>
          </a:bodyPr>
          <a:lstStyle/>
          <a:p>
            <a:r>
              <a:rPr lang="zh-CN" altLang="en-US" sz="4400" dirty="0">
                <a:latin typeface="Times New Roman" panose="02020603050405020304" charset="0"/>
              </a:rPr>
              <a:t>构建可靠的软件：复杂性</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622737" y="2380723"/>
            <a:ext cx="10946524" cy="1938020"/>
          </a:xfrm>
          <a:prstGeom prst="rect">
            <a:avLst/>
          </a:prstGeom>
          <a:noFill/>
        </p:spPr>
        <p:txBody>
          <a:bodyPr wrap="square">
            <a:spAutoFit/>
          </a:bodyPr>
          <a:lstStyle/>
          <a:p>
            <a:pPr marL="0" lvl="1"/>
            <a:r>
              <a:rPr lang="en-US" altLang="zh-CN" sz="2000" b="1" dirty="0">
                <a:solidFill>
                  <a:srgbClr val="515223"/>
                </a:solidFill>
                <a:latin typeface="Helvetica" pitchFamily="2" charset="0"/>
                <a:cs typeface="Arial" panose="020B0604020202090204" pitchFamily="34" charset="0"/>
              </a:rPr>
              <a:t>人类思维只能包含有限的复杂性：</a:t>
            </a:r>
            <a:endParaRPr lang="en-US" altLang="zh-CN" sz="2000" b="1" dirty="0">
              <a:solidFill>
                <a:srgbClr val="FF0000"/>
              </a:solidFill>
              <a:latin typeface="Helvetica" pitchFamily="2" charset="0"/>
              <a:cs typeface="Arial" panose="020B0604020202090204" pitchFamily="34" charset="0"/>
            </a:endParaRPr>
          </a:p>
          <a:p>
            <a:pPr marL="3429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可理解性</a:t>
            </a:r>
            <a:endParaRPr lang="en-US" altLang="zh-CN" sz="2000" dirty="0">
              <a:solidFill>
                <a:schemeClr val="tx1"/>
              </a:solidFill>
              <a:latin typeface="Helvetica" pitchFamily="2" charset="0"/>
              <a:cs typeface="Arial" panose="020B0604020202090204" pitchFamily="34" charset="0"/>
            </a:endParaRPr>
          </a:p>
          <a:p>
            <a:pPr marL="3429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简洁性</a:t>
            </a:r>
            <a:endParaRPr lang="en-US" altLang="zh-CN" sz="2000" dirty="0">
              <a:solidFill>
                <a:schemeClr val="tx1"/>
              </a:solidFill>
              <a:latin typeface="Helvetica" pitchFamily="2" charset="0"/>
              <a:cs typeface="Arial" panose="020B0604020202090204" pitchFamily="34" charset="0"/>
            </a:endParaRPr>
          </a:p>
          <a:p>
            <a:pPr marL="3429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复杂性的划分</a:t>
            </a:r>
            <a:endParaRPr lang="zh-CN" altLang="en-US" sz="2000" dirty="0">
              <a:solidFill>
                <a:schemeClr val="tx1"/>
              </a:solidFill>
              <a:latin typeface="Helvetica" pitchFamily="2" charset="0"/>
              <a:cs typeface="Arial" panose="020B0604020202090204" pitchFamily="34" charset="0"/>
            </a:endParaRPr>
          </a:p>
          <a:p>
            <a:pPr marL="342900" lvl="1" indent="-342900">
              <a:buFont typeface="Arial" panose="020B0604020202090204" pitchFamily="34" charset="0"/>
              <a:buChar char="•"/>
            </a:pPr>
            <a:endParaRPr lang="zh-CN" altLang="en-US" sz="2000" dirty="0">
              <a:solidFill>
                <a:schemeClr val="tx1"/>
              </a:solidFill>
              <a:latin typeface="Helvetica" pitchFamily="2" charset="0"/>
              <a:cs typeface="Arial" panose="020B0604020202090204" pitchFamily="34" charset="0"/>
            </a:endParaRPr>
          </a:p>
          <a:p>
            <a:pPr marL="0" lvl="1"/>
            <a:r>
              <a:rPr lang="zh-CN" altLang="en-US" sz="2000" dirty="0">
                <a:solidFill>
                  <a:srgbClr val="FF0000"/>
                </a:solidFill>
                <a:latin typeface="Helvetica" pitchFamily="2" charset="0"/>
                <a:cs typeface="Arial" panose="020B0604020202090204" pitchFamily="34" charset="0"/>
              </a:rPr>
              <a:t>一个简单的组件比复杂的组件更容易做对。</a:t>
            </a:r>
            <a:endParaRPr lang="zh-CN" altLang="en-US" sz="2000" dirty="0">
              <a:solidFill>
                <a:srgbClr val="FF0000"/>
              </a:solidFill>
              <a:latin typeface="Helvetica" pitchFamily="2" charset="0"/>
              <a:cs typeface="Arial" panose="020B0604020202090204" pitchFamily="34"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5" y="237834"/>
            <a:ext cx="8701256" cy="790865"/>
          </a:xfrm>
        </p:spPr>
        <p:txBody>
          <a:bodyPr>
            <a:noAutofit/>
          </a:bodyPr>
          <a:lstStyle/>
          <a:p>
            <a:r>
              <a:rPr lang="zh-CN" altLang="en-US" sz="4400" dirty="0">
                <a:latin typeface="Times New Roman" panose="02020603050405020304" charset="0"/>
              </a:rPr>
              <a:t>构建可靠的软件：变更</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622737" y="1414444"/>
            <a:ext cx="10946524" cy="3476625"/>
          </a:xfrm>
          <a:prstGeom prst="rect">
            <a:avLst/>
          </a:prstGeom>
          <a:noFill/>
        </p:spPr>
        <p:txBody>
          <a:bodyPr wrap="square">
            <a:spAutoFit/>
          </a:bodyPr>
          <a:lstStyle/>
          <a:p>
            <a:pPr marL="0" lvl="1"/>
            <a:r>
              <a:rPr lang="zh-CN" altLang="en-US" sz="2000" dirty="0">
                <a:solidFill>
                  <a:schemeClr val="tx1"/>
                </a:solidFill>
                <a:latin typeface="Helvetica" pitchFamily="2" charset="0"/>
                <a:cs typeface="Arial" panose="020B0604020202090204" pitchFamily="34" charset="0"/>
              </a:rPr>
              <a:t>变更很容易引入问题</a:t>
            </a:r>
            <a:endParaRPr lang="zh-CN" altLang="en-US" sz="2000" dirty="0">
              <a:solidFill>
                <a:schemeClr val="tx1"/>
              </a:solidFill>
              <a:latin typeface="Helvetica" pitchFamily="2" charset="0"/>
              <a:cs typeface="Arial" panose="020B0604020202090204" pitchFamily="34" charset="0"/>
            </a:endParaRPr>
          </a:p>
          <a:p>
            <a:pPr marL="0" lvl="1"/>
            <a:endParaRPr lang="zh-CN" altLang="en-US" sz="2000" dirty="0">
              <a:solidFill>
                <a:schemeClr val="tx1"/>
              </a:solidFill>
              <a:latin typeface="Helvetica" pitchFamily="2" charset="0"/>
              <a:cs typeface="Arial" panose="020B0604020202090204" pitchFamily="34" charset="0"/>
            </a:endParaRPr>
          </a:p>
          <a:p>
            <a:pPr marL="0" lvl="1"/>
            <a:r>
              <a:rPr lang="en-US" altLang="zh-CN" sz="2000" b="1" dirty="0">
                <a:solidFill>
                  <a:srgbClr val="515223"/>
                </a:solidFill>
                <a:latin typeface="Helvetica" pitchFamily="2" charset="0"/>
                <a:cs typeface="Arial" panose="020B0604020202090204" pitchFamily="34" charset="0"/>
              </a:rPr>
              <a:t>变更管理</a:t>
            </a:r>
            <a:endParaRPr lang="en-US" altLang="zh-CN" sz="2000" b="1" dirty="0">
              <a:solidFill>
                <a:srgbClr val="515223"/>
              </a:solidFill>
              <a:latin typeface="Helvetica" pitchFamily="2" charset="0"/>
              <a:cs typeface="Arial" panose="020B0604020202090204" pitchFamily="34" charset="0"/>
            </a:endParaRPr>
          </a:p>
          <a:p>
            <a:pPr marL="800100" lvl="2"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源代码管理和版本控制</a:t>
            </a:r>
            <a:endParaRPr lang="en-US" altLang="zh-CN" sz="2000" dirty="0">
              <a:solidFill>
                <a:schemeClr val="tx1"/>
              </a:solidFill>
              <a:latin typeface="Helvetica" pitchFamily="2" charset="0"/>
              <a:cs typeface="Arial" panose="020B0604020202090204" pitchFamily="34" charset="0"/>
            </a:endParaRPr>
          </a:p>
          <a:p>
            <a:pPr marL="800100" lvl="2"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跟踪变更请求和缺陷报告</a:t>
            </a:r>
            <a:endParaRPr lang="en-US" altLang="zh-CN" sz="2000" dirty="0">
              <a:solidFill>
                <a:schemeClr val="tx1"/>
              </a:solidFill>
              <a:latin typeface="Helvetica" pitchFamily="2" charset="0"/>
              <a:cs typeface="Arial" panose="020B0604020202090204" pitchFamily="34" charset="0"/>
            </a:endParaRPr>
          </a:p>
          <a:p>
            <a:pPr marL="800100" lvl="2"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变更需求规约、设计和其他文档的程序</a:t>
            </a:r>
            <a:endParaRPr lang="en-US" altLang="zh-CN" sz="2000" dirty="0">
              <a:solidFill>
                <a:schemeClr val="tx1"/>
              </a:solidFill>
              <a:latin typeface="Helvetica" pitchFamily="2" charset="0"/>
              <a:cs typeface="Arial" panose="020B0604020202090204" pitchFamily="34" charset="0"/>
            </a:endParaRPr>
          </a:p>
          <a:p>
            <a:pPr marL="800100" lvl="2"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回归测试（稍后讨论）</a:t>
            </a:r>
            <a:endParaRPr lang="en-US" altLang="zh-CN" sz="2000" dirty="0">
              <a:solidFill>
                <a:schemeClr val="tx1"/>
              </a:solidFill>
              <a:latin typeface="Helvetica" pitchFamily="2" charset="0"/>
              <a:cs typeface="Arial" panose="020B0604020202090204" pitchFamily="34" charset="0"/>
            </a:endParaRPr>
          </a:p>
          <a:p>
            <a:pPr marL="800100" lvl="2"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发布控制</a:t>
            </a:r>
            <a:endParaRPr lang="zh-CN" altLang="en-US" sz="2000" dirty="0">
              <a:solidFill>
                <a:schemeClr val="tx1"/>
              </a:solidFill>
              <a:latin typeface="Helvetica" pitchFamily="2" charset="0"/>
              <a:cs typeface="Arial" panose="020B0604020202090204" pitchFamily="34" charset="0"/>
            </a:endParaRPr>
          </a:p>
          <a:p>
            <a:pPr marL="0" lvl="1"/>
            <a:endParaRPr lang="zh-CN" altLang="en-US" sz="2000" dirty="0">
              <a:solidFill>
                <a:schemeClr val="tx1"/>
              </a:solidFill>
              <a:latin typeface="Helvetica" pitchFamily="2" charset="0"/>
              <a:cs typeface="Arial" panose="020B0604020202090204" pitchFamily="34" charset="0"/>
            </a:endParaRPr>
          </a:p>
          <a:p>
            <a:pPr marL="0" lvl="1"/>
            <a:r>
              <a:rPr lang="zh-CN" altLang="en-US" sz="2000" dirty="0">
                <a:solidFill>
                  <a:srgbClr val="FF0000"/>
                </a:solidFill>
                <a:latin typeface="Helvetica" pitchFamily="2" charset="0"/>
                <a:cs typeface="Arial" panose="020B0604020202090204" pitchFamily="34" charset="0"/>
              </a:rPr>
              <a:t>在添加新功能或修复缺陷时，很容易写出违反系统架构或整体程序设计的补丁。应尽可能避免这样做。准备修改架构以保持一个高质量的系统</a:t>
            </a:r>
            <a:r>
              <a:rPr lang="zh-CN" altLang="en-US" sz="2000" b="1" dirty="0">
                <a:solidFill>
                  <a:srgbClr val="FF0000"/>
                </a:solidFill>
                <a:latin typeface="Helvetica" pitchFamily="2" charset="0"/>
                <a:cs typeface="Arial" panose="020B0604020202090204" pitchFamily="34" charset="0"/>
              </a:rPr>
              <a:t>。</a:t>
            </a:r>
            <a:endParaRPr lang="zh-CN" altLang="en-US"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5" y="237834"/>
            <a:ext cx="8701256" cy="790865"/>
          </a:xfrm>
        </p:spPr>
        <p:txBody>
          <a:bodyPr>
            <a:noAutofit/>
          </a:bodyPr>
          <a:lstStyle/>
          <a:p>
            <a:r>
              <a:rPr lang="zh-CN" altLang="en-US" sz="4400" dirty="0">
                <a:latin typeface="Times New Roman" panose="02020603050405020304" charset="0"/>
              </a:rPr>
              <a:t>构建可靠的软件：容错</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622737" y="1414444"/>
            <a:ext cx="10946524" cy="4092575"/>
          </a:xfrm>
          <a:prstGeom prst="rect">
            <a:avLst/>
          </a:prstGeom>
          <a:noFill/>
        </p:spPr>
        <p:txBody>
          <a:bodyPr wrap="square">
            <a:spAutoFit/>
          </a:bodyPr>
          <a:lstStyle/>
          <a:p>
            <a:pPr marL="0" lvl="1"/>
            <a:r>
              <a:rPr lang="en-US" altLang="zh-CN" sz="2000" b="1" dirty="0">
                <a:solidFill>
                  <a:srgbClr val="515223"/>
                </a:solidFill>
                <a:latin typeface="Helvetica" pitchFamily="2" charset="0"/>
                <a:cs typeface="Arial" panose="020B0604020202090204" pitchFamily="34" charset="0"/>
              </a:rPr>
              <a:t>目标：</a:t>
            </a:r>
            <a:endParaRPr lang="en-US" altLang="zh-CN" sz="2000" b="1" dirty="0">
              <a:solidFill>
                <a:srgbClr val="515223"/>
              </a:solidFill>
              <a:latin typeface="Helvetica" pitchFamily="2" charset="0"/>
              <a:cs typeface="Arial" panose="020B0604020202090204" pitchFamily="34" charset="0"/>
            </a:endParaRPr>
          </a:p>
          <a:p>
            <a:pPr lvl="2"/>
            <a:r>
              <a:rPr lang="en-US" altLang="zh-CN" sz="2000" dirty="0"/>
              <a:t>一个在出现问题时能继续运行的系统。</a:t>
            </a:r>
            <a:endParaRPr lang="en-US" altLang="zh-CN" sz="2000" dirty="0"/>
          </a:p>
          <a:p>
            <a:pPr marL="0" lvl="1"/>
            <a:endParaRPr lang="en-US" altLang="zh-CN" sz="2000" dirty="0"/>
          </a:p>
          <a:p>
            <a:pPr marL="0" lvl="1"/>
            <a:r>
              <a:rPr lang="en-US" altLang="zh-CN" sz="2000" b="1" dirty="0">
                <a:solidFill>
                  <a:srgbClr val="515223"/>
                </a:solidFill>
                <a:latin typeface="Helvetica" pitchFamily="2" charset="0"/>
                <a:cs typeface="Arial" panose="020B0604020202090204" pitchFamily="34" charset="0"/>
              </a:rPr>
              <a:t>示例：</a:t>
            </a:r>
            <a:endParaRPr lang="en-US" altLang="zh-CN" sz="2000" b="1" dirty="0">
              <a:solidFill>
                <a:srgbClr val="515223"/>
              </a:solidFill>
              <a:latin typeface="Helvetica" pitchFamily="2" charset="0"/>
              <a:cs typeface="Arial" panose="020B0604020202090204" pitchFamily="34" charset="0"/>
            </a:endParaRPr>
          </a:p>
          <a:p>
            <a:pPr marL="800100" lvl="2" indent="-342900">
              <a:buFont typeface="Arial" panose="020B0604020202090204" pitchFamily="34" charset="0"/>
              <a:buChar char="•"/>
            </a:pPr>
            <a:r>
              <a:rPr lang="en-US" altLang="zh-CN" sz="2000" dirty="0"/>
              <a:t>无效的输入数据（例如，在数据处理应用程序中）</a:t>
            </a:r>
            <a:endParaRPr lang="en-US" altLang="zh-CN" sz="2000" dirty="0"/>
          </a:p>
          <a:p>
            <a:pPr marL="800100" lvl="2" indent="-342900">
              <a:buFont typeface="Arial" panose="020B0604020202090204" pitchFamily="34" charset="0"/>
              <a:buChar char="•"/>
            </a:pPr>
            <a:r>
              <a:rPr lang="en-US" altLang="zh-CN" sz="2000" dirty="0"/>
              <a:t>过载（例如，在网络系统中）</a:t>
            </a:r>
            <a:endParaRPr lang="en-US" altLang="zh-CN" sz="2000" dirty="0"/>
          </a:p>
          <a:p>
            <a:pPr marL="800100" lvl="2" indent="-342900">
              <a:buFont typeface="Arial" panose="020B0604020202090204" pitchFamily="34" charset="0"/>
              <a:buChar char="•"/>
            </a:pPr>
            <a:r>
              <a:rPr lang="en-US" altLang="zh-CN" sz="2000" dirty="0"/>
              <a:t>硬件故障（例如，在控制系统中）</a:t>
            </a:r>
            <a:endParaRPr lang="en-US" altLang="zh-CN" sz="2000" dirty="0"/>
          </a:p>
          <a:p>
            <a:pPr marL="0" lvl="1"/>
            <a:endParaRPr lang="en-US" altLang="zh-CN" sz="2000" b="1" dirty="0">
              <a:solidFill>
                <a:srgbClr val="515223"/>
              </a:solidFill>
              <a:latin typeface="Helvetica" pitchFamily="2" charset="0"/>
              <a:cs typeface="Arial" panose="020B0604020202090204" pitchFamily="34" charset="0"/>
            </a:endParaRPr>
          </a:p>
          <a:p>
            <a:pPr marL="0" lvl="1"/>
            <a:r>
              <a:rPr lang="en-US" altLang="zh-CN" sz="2000" b="1" dirty="0">
                <a:solidFill>
                  <a:srgbClr val="515223"/>
                </a:solidFill>
                <a:latin typeface="Helvetica" pitchFamily="2" charset="0"/>
                <a:cs typeface="Arial" panose="020B0604020202090204" pitchFamily="34" charset="0"/>
              </a:rPr>
              <a:t>通用方法：</a:t>
            </a:r>
            <a:endParaRPr lang="en-US" altLang="zh-CN" sz="2000" b="1" dirty="0">
              <a:solidFill>
                <a:srgbClr val="515223"/>
              </a:solidFill>
              <a:latin typeface="Helvetica" pitchFamily="2" charset="0"/>
              <a:cs typeface="Arial" panose="020B0604020202090204" pitchFamily="34" charset="0"/>
            </a:endParaRPr>
          </a:p>
          <a:p>
            <a:pPr marL="800100" lvl="2" indent="-342900">
              <a:buFont typeface="Arial" panose="020B0604020202090204" pitchFamily="34" charset="0"/>
              <a:buChar char="•"/>
            </a:pPr>
            <a:r>
              <a:rPr lang="en-US" altLang="zh-CN" sz="2000" dirty="0"/>
              <a:t>故障检测</a:t>
            </a:r>
            <a:endParaRPr lang="en-US" altLang="zh-CN" sz="2000" dirty="0"/>
          </a:p>
          <a:p>
            <a:pPr marL="800100" lvl="2" indent="-342900">
              <a:buFont typeface="Arial" panose="020B0604020202090204" pitchFamily="34" charset="0"/>
              <a:buChar char="•"/>
            </a:pPr>
            <a:r>
              <a:rPr lang="en-US" altLang="zh-CN" sz="2000" dirty="0"/>
              <a:t>损害评估</a:t>
            </a:r>
            <a:endParaRPr lang="en-US" altLang="zh-CN" sz="2000" dirty="0"/>
          </a:p>
          <a:p>
            <a:pPr marL="800100" lvl="2" indent="-342900">
              <a:buFont typeface="Arial" panose="020B0604020202090204" pitchFamily="34" charset="0"/>
              <a:buChar char="•"/>
            </a:pPr>
            <a:r>
              <a:rPr lang="en-US" altLang="zh-CN" sz="2000" dirty="0"/>
              <a:t>故障恢复</a:t>
            </a:r>
            <a:endParaRPr lang="en-US" altLang="zh-CN" sz="2000" dirty="0"/>
          </a:p>
          <a:p>
            <a:pPr marL="800100" lvl="2" indent="-342900">
              <a:buFont typeface="Arial" panose="020B0604020202090204" pitchFamily="34" charset="0"/>
              <a:buChar char="•"/>
            </a:pPr>
            <a:r>
              <a:rPr lang="en-US" altLang="zh-CN" sz="2000" dirty="0"/>
              <a:t>故障修复</a:t>
            </a:r>
            <a:endParaRPr lang="en-US" altLang="zh-CN" sz="20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5" y="237834"/>
            <a:ext cx="8701256" cy="790865"/>
          </a:xfrm>
        </p:spPr>
        <p:txBody>
          <a:bodyPr>
            <a:noAutofit/>
          </a:bodyPr>
          <a:lstStyle/>
          <a:p>
            <a:r>
              <a:rPr lang="zh-CN" altLang="en-US" sz="4400" dirty="0">
                <a:latin typeface="Times New Roman" panose="02020603050405020304" charset="0"/>
              </a:rPr>
              <a:t>容错：恢复</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622737" y="1414444"/>
            <a:ext cx="10946524" cy="2861310"/>
          </a:xfrm>
          <a:prstGeom prst="rect">
            <a:avLst/>
          </a:prstGeom>
          <a:noFill/>
        </p:spPr>
        <p:txBody>
          <a:bodyPr wrap="square">
            <a:spAutoFit/>
          </a:bodyPr>
          <a:lstStyle/>
          <a:p>
            <a:pPr marL="0" lvl="1"/>
            <a:r>
              <a:rPr lang="zh-CN" altLang="en-US" sz="2000" b="1" dirty="0">
                <a:solidFill>
                  <a:srgbClr val="515223"/>
                </a:solidFill>
                <a:latin typeface="Helvetica" pitchFamily="2" charset="0"/>
                <a:cs typeface="Arial" panose="020B0604020202090204" pitchFamily="34" charset="0"/>
              </a:rPr>
              <a:t>向后恢复</a:t>
            </a:r>
            <a:endParaRPr lang="en-US" altLang="zh-CN" sz="2000" b="1" dirty="0">
              <a:solidFill>
                <a:srgbClr val="515223"/>
              </a:solidFill>
              <a:latin typeface="Helvetica" pitchFamily="2" charset="0"/>
              <a:cs typeface="Arial" panose="020B0604020202090204" pitchFamily="34" charset="0"/>
            </a:endParaRPr>
          </a:p>
          <a:p>
            <a:pPr marL="1257300" lvl="2"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在特定事件（检查点）记录系统状态。故障后，重建最后一个检查点时的状态。</a:t>
            </a:r>
            <a:endParaRPr lang="en-US" altLang="zh-CN" sz="2000" dirty="0">
              <a:solidFill>
                <a:schemeClr val="tx1"/>
              </a:solidFill>
              <a:latin typeface="Helvetica" pitchFamily="2" charset="0"/>
              <a:cs typeface="Arial" panose="020B0604020202090204" pitchFamily="34" charset="0"/>
            </a:endParaRPr>
          </a:p>
          <a:p>
            <a:pPr marL="1257300" lvl="2"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将检查点与系统日志（事务的审计跟踪）结合，允许从最后一个检查点自动重复执行事务。</a:t>
            </a:r>
            <a:endParaRPr lang="zh-CN" altLang="en-US" sz="2000" dirty="0">
              <a:solidFill>
                <a:schemeClr val="tx1"/>
              </a:solidFill>
              <a:latin typeface="Helvetica" pitchFamily="2" charset="0"/>
              <a:cs typeface="Arial" panose="020B0604020202090204" pitchFamily="34" charset="0"/>
            </a:endParaRPr>
          </a:p>
          <a:p>
            <a:pPr marL="0" lvl="1"/>
            <a:endParaRPr lang="en-US" altLang="zh-CN" sz="2000" b="1" dirty="0">
              <a:solidFill>
                <a:srgbClr val="515223"/>
              </a:solidFill>
              <a:latin typeface="Helvetica" pitchFamily="2" charset="0"/>
              <a:cs typeface="Arial" panose="020B0604020202090204" pitchFamily="34" charset="0"/>
            </a:endParaRPr>
          </a:p>
          <a:p>
            <a:pPr marL="0" lvl="1"/>
            <a:r>
              <a:rPr lang="zh-CN" altLang="en-US" sz="2000" b="1" dirty="0">
                <a:solidFill>
                  <a:srgbClr val="515223"/>
                </a:solidFill>
                <a:latin typeface="Helvetica" pitchFamily="2" charset="0"/>
                <a:cs typeface="Arial" panose="020B0604020202090204" pitchFamily="34" charset="0"/>
              </a:rPr>
              <a:t>恢复软件难以测试。</a:t>
            </a:r>
            <a:endParaRPr lang="zh-CN" altLang="en-US" sz="2000" b="1" dirty="0">
              <a:solidFill>
                <a:srgbClr val="515223"/>
              </a:solidFill>
              <a:latin typeface="Helvetica" pitchFamily="2" charset="0"/>
              <a:cs typeface="Arial" panose="020B0604020202090204" pitchFamily="34" charset="0"/>
            </a:endParaRPr>
          </a:p>
          <a:p>
            <a:pPr marL="0" lvl="1"/>
            <a:endParaRPr lang="zh-CN" altLang="en-US" sz="2000" b="1" dirty="0">
              <a:solidFill>
                <a:srgbClr val="515223"/>
              </a:solidFill>
              <a:latin typeface="Helvetica" pitchFamily="2" charset="0"/>
              <a:cs typeface="Arial" panose="020B0604020202090204" pitchFamily="34" charset="0"/>
            </a:endParaRPr>
          </a:p>
          <a:p>
            <a:pPr marL="0" lvl="1"/>
            <a:r>
              <a:rPr lang="zh-CN" altLang="en-US" sz="2000" b="1" dirty="0">
                <a:solidFill>
                  <a:srgbClr val="515223"/>
                </a:solidFill>
                <a:latin typeface="Helvetica" pitchFamily="2" charset="0"/>
                <a:cs typeface="Arial" panose="020B0604020202090204" pitchFamily="34" charset="0"/>
              </a:rPr>
              <a:t>示例</a:t>
            </a:r>
            <a:endParaRPr lang="zh-CN" altLang="en-US" sz="2000" b="1" dirty="0">
              <a:solidFill>
                <a:srgbClr val="515223"/>
              </a:solidFill>
              <a:latin typeface="Helvetica" pitchFamily="2" charset="0"/>
              <a:cs typeface="Arial" panose="020B0604020202090204" pitchFamily="34" charset="0"/>
            </a:endParaRPr>
          </a:p>
          <a:p>
            <a:pPr marL="0" lvl="1"/>
            <a:r>
              <a:rPr lang="zh-CN" altLang="en-US" sz="2000" dirty="0">
                <a:solidFill>
                  <a:schemeClr val="tx1"/>
                </a:solidFill>
                <a:latin typeface="Helvetica" pitchFamily="2" charset="0"/>
                <a:cs typeface="Arial" panose="020B0604020202090204" pitchFamily="34" charset="0"/>
              </a:rPr>
              <a:t>整个网络被闪电击中后，重启因过载而崩溃。（增量式增长的问题。）</a:t>
            </a:r>
            <a:endParaRPr lang="zh-CN" altLang="en-US" sz="2000" dirty="0">
              <a:solidFill>
                <a:schemeClr val="tx1"/>
              </a:solidFill>
              <a:latin typeface="Helvetica" pitchFamily="2" charset="0"/>
              <a:cs typeface="Arial" panose="020B0604020202090204" pitchFamily="34"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10211484" cy="790865"/>
          </a:xfrm>
        </p:spPr>
        <p:txBody>
          <a:bodyPr>
            <a:noAutofit/>
          </a:bodyPr>
          <a:lstStyle/>
          <a:p>
            <a:r>
              <a:rPr lang="zh-CN" altLang="en-US" sz="2400" dirty="0">
                <a:latin typeface="Times New Roman" panose="02020603050405020304" charset="0"/>
              </a:rPr>
              <a:t>构建可靠的软件：小团队与小项目</a:t>
            </a:r>
            <a:endParaRPr lang="zh-CN" altLang="en-US" sz="2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TextBox 3"/>
          <p:cNvSpPr txBox="1"/>
          <p:nvPr/>
        </p:nvSpPr>
        <p:spPr>
          <a:xfrm>
            <a:off x="572376" y="1591061"/>
            <a:ext cx="10946524" cy="2553335"/>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小团队和小项目在可靠性方面具有优势：</a:t>
            </a:r>
            <a:endParaRPr lang="en-US" altLang="zh-CN" sz="2000" b="1" dirty="0">
              <a:solidFill>
                <a:srgbClr val="515223"/>
              </a:solidFill>
              <a:latin typeface="Helvetica" pitchFamily="2" charset="0"/>
              <a:cs typeface="Arial" panose="020B0604020202090204" pitchFamily="34" charset="0"/>
            </a:endParaRPr>
          </a:p>
          <a:p>
            <a:pPr marL="800100" lvl="1"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小组沟通减少了对中间文档的需求，同时减少了误解。</a:t>
            </a:r>
            <a:endParaRPr lang="zh-CN" altLang="en-US" sz="2000" dirty="0">
              <a:latin typeface="Helvetica" pitchFamily="2" charset="0"/>
              <a:cs typeface="Arial" panose="020B0604020202090204" pitchFamily="34" charset="0"/>
            </a:endParaRPr>
          </a:p>
          <a:p>
            <a:pPr marL="800100" lvl="1"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小项目更容易测试并使其可靠。</a:t>
            </a:r>
            <a:endParaRPr lang="zh-CN" altLang="en-US" sz="2000" dirty="0">
              <a:latin typeface="Helvetica" pitchFamily="2" charset="0"/>
              <a:cs typeface="Arial" panose="020B0604020202090204" pitchFamily="34" charset="0"/>
            </a:endParaRPr>
          </a:p>
          <a:p>
            <a:pPr marL="800100" lvl="1"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小项目开发周期更短。需求中的错误不太可能发生，且修复成本更低。</a:t>
            </a:r>
            <a:endParaRPr lang="zh-CN" altLang="en-US" sz="2000" dirty="0">
              <a:latin typeface="Helvetica" pitchFamily="2" charset="0"/>
              <a:cs typeface="Arial" panose="020B0604020202090204" pitchFamily="34" charset="0"/>
            </a:endParaRPr>
          </a:p>
          <a:p>
            <a:pPr marL="800100" lvl="1" indent="-342900" algn="l">
              <a:buClrTx/>
              <a:buSzTx/>
              <a:buFont typeface="Arial" panose="020B0604020202090204" pitchFamily="34" charset="0"/>
              <a:buChar char="•"/>
            </a:pPr>
            <a:r>
              <a:rPr lang="zh-CN" altLang="en-US" sz="2000" dirty="0">
                <a:latin typeface="Helvetica" pitchFamily="2" charset="0"/>
                <a:cs typeface="Arial" panose="020B0604020202090204" pitchFamily="34" charset="0"/>
              </a:rPr>
              <a:t>当一个项目完成时，更容易计划下一个项目。</a:t>
            </a:r>
            <a:endParaRPr lang="zh-CN" altLang="en-US" sz="2000" dirty="0">
              <a:latin typeface="Helvetica" pitchFamily="2" charset="0"/>
              <a:cs typeface="Arial" panose="020B0604020202090204" pitchFamily="34" charset="0"/>
            </a:endParaRPr>
          </a:p>
          <a:p>
            <a:pPr marL="800100" lvl="1" indent="-342900" algn="l">
              <a:buClrTx/>
              <a:buSzTx/>
              <a:buFont typeface="Arial" panose="020B0604020202090204" pitchFamily="34" charset="0"/>
              <a:buChar char="•"/>
            </a:pPr>
            <a:endParaRPr lang="zh-CN" altLang="en-US" sz="2000" dirty="0">
              <a:latin typeface="Helvetica" pitchFamily="2" charset="0"/>
              <a:cs typeface="Arial" panose="020B0604020202090204" pitchFamily="34" charset="0"/>
            </a:endParaRPr>
          </a:p>
          <a:p>
            <a:pPr marL="800100" lvl="1" indent="-342900" algn="l">
              <a:buClrTx/>
              <a:buSzTx/>
              <a:buFont typeface="Arial" panose="020B0604020202090204" pitchFamily="34" charset="0"/>
              <a:buChar char="•"/>
            </a:pPr>
            <a:endParaRPr lang="zh-CN" altLang="en-US" sz="2000" dirty="0">
              <a:latin typeface="Helvetica" pitchFamily="2" charset="0"/>
              <a:cs typeface="Arial" panose="020B0604020202090204" pitchFamily="34" charset="0"/>
            </a:endParaRPr>
          </a:p>
          <a:p>
            <a:pPr lvl="0" indent="0" algn="l">
              <a:buClrTx/>
              <a:buSzTx/>
              <a:buNone/>
            </a:pPr>
            <a:r>
              <a:rPr lang="zh-CN" altLang="en-US" sz="2000" dirty="0">
                <a:latin typeface="Helvetica" pitchFamily="2" charset="0"/>
                <a:cs typeface="Arial" panose="020B0604020202090204" pitchFamily="34" charset="0"/>
              </a:rPr>
              <a:t>提高可靠性是敏捷开发近年来流行起来的原因之一。</a:t>
            </a:r>
            <a:endParaRPr lang="zh-CN" altLang="en-US" sz="2000" dirty="0">
              <a:latin typeface="Helvetica" pitchFamily="2" charset="0"/>
              <a:cs typeface="Arial" panose="020B0604020202090204" pitchFamily="34"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438486" cy="790865"/>
          </a:xfrm>
        </p:spPr>
        <p:txBody>
          <a:bodyPr>
            <a:noAutofit/>
          </a:bodyPr>
          <a:lstStyle/>
          <a:p>
            <a:r>
              <a:rPr lang="zh-CN" altLang="en-US" dirty="0">
                <a:latin typeface="Times New Roman" panose="02020603050405020304" charset="0"/>
              </a:rPr>
              <a:t>可靠性度量</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772324"/>
            <a:ext cx="10946524" cy="347662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可靠性</a:t>
            </a:r>
            <a:endParaRPr lang="en-US" altLang="zh-CN" sz="2000" b="1" dirty="0">
              <a:solidFill>
                <a:srgbClr val="515223"/>
              </a:solidFill>
              <a:latin typeface="Helvetica" pitchFamily="2" charset="0"/>
              <a:cs typeface="Arial" panose="020B0604020202090204" pitchFamily="34" charset="0"/>
            </a:endParaRPr>
          </a:p>
          <a:p>
            <a:r>
              <a:rPr lang="zh-CN" altLang="en-US" sz="2000" dirty="0"/>
              <a:t>运行使用中发生失效的概率。</a:t>
            </a:r>
            <a:endParaRPr lang="zh-CN" altLang="en-US" sz="2000" dirty="0"/>
          </a:p>
          <a:p>
            <a:endParaRPr lang="zh-CN" altLang="en-US" sz="2000" dirty="0"/>
          </a:p>
          <a:p>
            <a:r>
              <a:rPr lang="en-US" altLang="zh-CN" sz="2000" b="1" dirty="0">
                <a:solidFill>
                  <a:srgbClr val="515223"/>
                </a:solidFill>
                <a:latin typeface="Helvetica" pitchFamily="2" charset="0"/>
                <a:cs typeface="Arial" panose="020B0604020202090204" pitchFamily="34" charset="0"/>
              </a:rPr>
              <a:t>在线系统的传统度量</a:t>
            </a:r>
            <a:endParaRPr lang="en-US" altLang="zh-CN" sz="2000" dirty="0"/>
          </a:p>
          <a:p>
            <a:pPr marL="342900" indent="-342900">
              <a:buFont typeface="Arial" panose="020B0604020202090204" pitchFamily="34" charset="0"/>
              <a:buChar char="•"/>
            </a:pPr>
            <a:r>
              <a:rPr lang="zh-CN" altLang="en-US" sz="2000" dirty="0"/>
              <a:t>平均故障间隔时间</a:t>
            </a:r>
            <a:endParaRPr lang="en-US" altLang="zh-CN" sz="2000" b="1" dirty="0">
              <a:solidFill>
                <a:srgbClr val="515223"/>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t>可用性（正常运行时间）</a:t>
            </a:r>
            <a:endParaRPr lang="en-US" altLang="zh-CN" sz="2000" dirty="0"/>
          </a:p>
          <a:p>
            <a:pPr marL="342900" indent="-342900">
              <a:buFont typeface="Arial" panose="020B0604020202090204" pitchFamily="34" charset="0"/>
              <a:buChar char="•"/>
            </a:pPr>
            <a:r>
              <a:rPr lang="zh-CN" altLang="en-US" sz="2000" dirty="0"/>
              <a:t>平均修复时间</a:t>
            </a:r>
            <a:endParaRPr lang="zh-CN" altLang="en-US" sz="2000" dirty="0"/>
          </a:p>
          <a:p>
            <a:endParaRPr lang="zh-CN" altLang="en-US" sz="2000" dirty="0"/>
          </a:p>
          <a:p>
            <a:r>
              <a:rPr lang="en-US" altLang="zh-CN" sz="2000" b="1" dirty="0">
                <a:solidFill>
                  <a:srgbClr val="515223"/>
                </a:solidFill>
                <a:latin typeface="Helvetica" pitchFamily="2" charset="0"/>
                <a:cs typeface="Arial" panose="020B0604020202090204" pitchFamily="34" charset="0"/>
              </a:rPr>
              <a:t>市场度量</a:t>
            </a:r>
            <a:endParaRPr lang="en-US" altLang="zh-CN" sz="2000" dirty="0"/>
          </a:p>
          <a:p>
            <a:pPr marL="342900" indent="-342900">
              <a:buFont typeface="Arial" panose="020B0604020202090204" pitchFamily="34" charset="0"/>
              <a:buChar char="•"/>
            </a:pPr>
            <a:r>
              <a:rPr lang="zh-CN" altLang="en-US" sz="2000" dirty="0"/>
              <a:t>投诉</a:t>
            </a:r>
            <a:endParaRPr lang="en-US" altLang="zh-CN" sz="2000" dirty="0"/>
          </a:p>
          <a:p>
            <a:pPr marL="342900" indent="-342900">
              <a:buFont typeface="Arial" panose="020B0604020202090204" pitchFamily="34" charset="0"/>
              <a:buChar char="•"/>
            </a:pPr>
            <a:r>
              <a:rPr lang="zh-CN" altLang="en-US" sz="2000" dirty="0"/>
              <a:t>客户保持率</a:t>
            </a:r>
            <a:endParaRPr lang="zh-CN" altLang="en-US" sz="20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966387" cy="790865"/>
          </a:xfrm>
        </p:spPr>
        <p:txBody>
          <a:bodyPr/>
          <a:lstStyle/>
          <a:p>
            <a:r>
              <a:rPr lang="zh-CN" altLang="en-US" sz="4400" dirty="0">
                <a:latin typeface="Times New Roman" panose="02020603050405020304" charset="0"/>
              </a:rPr>
              <a:t>分布式系统的可靠性度量</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TextBox 3"/>
          <p:cNvSpPr txBox="1"/>
          <p:nvPr/>
        </p:nvSpPr>
        <p:spPr>
          <a:xfrm>
            <a:off x="572376" y="2176329"/>
            <a:ext cx="10946524" cy="224536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传统度量很难应用于多组件系统：</a:t>
            </a:r>
            <a:endParaRPr lang="zh-CN" altLang="en-US"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pPr marL="342900" indent="-342900" algn="l">
              <a:buClrTx/>
              <a:buSzTx/>
              <a:buFont typeface="Arial" panose="020B0604020202090204" pitchFamily="34" charset="0"/>
              <a:buChar char="•"/>
            </a:pPr>
            <a:r>
              <a:rPr lang="zh-CN" altLang="en-US" sz="2000" dirty="0"/>
              <a:t>一个平均可靠性极佳的系统可能会给某些用户提供糟糕的服务。</a:t>
            </a:r>
            <a:endParaRPr lang="zh-CN" altLang="en-US" sz="2000" dirty="0"/>
          </a:p>
          <a:p>
            <a:pPr marL="342900" indent="-342900" algn="l">
              <a:buClrTx/>
              <a:buSzTx/>
              <a:buFont typeface="Arial" panose="020B0604020202090204" pitchFamily="34" charset="0"/>
              <a:buChar char="•"/>
            </a:pPr>
            <a:endParaRPr lang="zh-CN" altLang="en-US" sz="2000" dirty="0"/>
          </a:p>
          <a:p>
            <a:pPr marL="342900" indent="-342900" algn="l">
              <a:buClrTx/>
              <a:buSzTx/>
              <a:buFont typeface="Arial" panose="020B0604020202090204" pitchFamily="34" charset="0"/>
              <a:buChar char="•"/>
            </a:pPr>
            <a:r>
              <a:rPr lang="zh-CN" altLang="en-US" sz="2000" dirty="0"/>
              <a:t>在一个大型网络中，任何给定时刻都会有某个部分出问题，但很少有用户会看到它。</a:t>
            </a:r>
            <a:endParaRPr lang="zh-CN" altLang="en-US" sz="2000" dirty="0"/>
          </a:p>
          <a:p>
            <a:pPr marL="342900" indent="-342900" algn="l">
              <a:buClrTx/>
              <a:buSzTx/>
              <a:buFont typeface="Arial" panose="020B0604020202090204" pitchFamily="34" charset="0"/>
              <a:buChar char="•"/>
            </a:pPr>
            <a:endParaRPr lang="zh-CN" altLang="en-US" sz="2000" dirty="0"/>
          </a:p>
          <a:p>
            <a:pPr marL="342900" indent="-342900" algn="l">
              <a:buClrTx/>
              <a:buSzTx/>
              <a:buFont typeface="Arial" panose="020B0604020202090204" pitchFamily="34" charset="0"/>
              <a:buChar char="•"/>
            </a:pPr>
            <a:r>
              <a:rPr lang="zh-CN" altLang="en-US" sz="2000" dirty="0"/>
              <a:t>当有许多组件时，系统管理员依赖自动报告系统来识别问题区域。</a:t>
            </a:r>
            <a:endParaRPr lang="zh-CN" altLang="en-US" sz="20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438486" cy="790865"/>
          </a:xfrm>
        </p:spPr>
        <p:txBody>
          <a:bodyPr>
            <a:noAutofit/>
          </a:bodyPr>
          <a:lstStyle/>
          <a:p>
            <a:r>
              <a:rPr lang="zh-CN" altLang="en-US" sz="4400" dirty="0">
                <a:latin typeface="Times New Roman" panose="02020603050405020304" charset="0"/>
              </a:rPr>
              <a:t>度量：用户对可靠性的感知</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600564"/>
            <a:ext cx="10946524" cy="3784600"/>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感知的可靠性取决于：</a:t>
            </a:r>
            <a:endParaRPr lang="en-US" altLang="zh-CN" sz="2000" dirty="0"/>
          </a:p>
          <a:p>
            <a:pPr marL="342900" indent="-342900" algn="l">
              <a:buClrTx/>
              <a:buSzTx/>
              <a:buFont typeface="Arial" panose="020B0604020202090204" pitchFamily="34" charset="0"/>
              <a:buChar char="•"/>
            </a:pPr>
            <a:r>
              <a:rPr lang="zh-CN" altLang="en-US" sz="2000" dirty="0"/>
              <a:t>用户行为</a:t>
            </a:r>
            <a:endParaRPr lang="zh-CN" altLang="en-US" sz="2000" dirty="0"/>
          </a:p>
          <a:p>
            <a:pPr marL="342900" indent="-342900" algn="l">
              <a:buClrTx/>
              <a:buSzTx/>
              <a:buFont typeface="Arial" panose="020B0604020202090204" pitchFamily="34" charset="0"/>
              <a:buChar char="•"/>
            </a:pPr>
            <a:r>
              <a:rPr lang="zh-CN" altLang="en-US" sz="2000" dirty="0"/>
              <a:t>输入集</a:t>
            </a:r>
            <a:endParaRPr lang="zh-CN" altLang="en-US" sz="2000" dirty="0"/>
          </a:p>
          <a:p>
            <a:pPr marL="342900" indent="-342900" algn="l">
              <a:buClrTx/>
              <a:buSzTx/>
              <a:buFont typeface="Arial" panose="020B0604020202090204" pitchFamily="34" charset="0"/>
              <a:buChar char="•"/>
            </a:pPr>
            <a:r>
              <a:rPr lang="zh-CN" altLang="en-US" sz="2000" dirty="0"/>
              <a:t>失效带来的痛苦</a:t>
            </a:r>
            <a:endParaRPr lang="zh-CN" altLang="en-US" sz="2000" dirty="0"/>
          </a:p>
          <a:p>
            <a:pPr marL="342900" indent="-342900" algn="l">
              <a:buClrTx/>
              <a:buSzTx/>
              <a:buFont typeface="Arial" panose="020B0604020202090204" pitchFamily="34" charset="0"/>
              <a:buChar char="•"/>
            </a:pPr>
            <a:endParaRPr lang="zh-CN" altLang="en-US" sz="2000" dirty="0"/>
          </a:p>
          <a:p>
            <a:r>
              <a:rPr lang="en-US" altLang="zh-CN" sz="2000" b="1" dirty="0">
                <a:solidFill>
                  <a:srgbClr val="515223"/>
                </a:solidFill>
                <a:latin typeface="Helvetica" pitchFamily="2" charset="0"/>
                <a:cs typeface="Arial" panose="020B0604020202090204" pitchFamily="34" charset="0"/>
              </a:rPr>
              <a:t>用户感知受失效分布的影响</a:t>
            </a:r>
            <a:endParaRPr lang="en-US" altLang="zh-CN" sz="2000" dirty="0"/>
          </a:p>
          <a:p>
            <a:pPr marL="342900" indent="-342900" algn="l">
              <a:buClrTx/>
              <a:buSzTx/>
              <a:buFont typeface="Arial" panose="020B0604020202090204" pitchFamily="34" charset="0"/>
              <a:buChar char="•"/>
            </a:pPr>
            <a:r>
              <a:rPr lang="zh-CN" altLang="en-US" sz="2000" dirty="0"/>
              <a:t>一台频繁崩溃的个人电脑，或一台每隔几年就停运两天的机器。</a:t>
            </a:r>
            <a:endParaRPr lang="zh-CN" altLang="en-US" sz="2000" dirty="0"/>
          </a:p>
          <a:p>
            <a:pPr marL="342900" indent="-342900" algn="l">
              <a:buClrTx/>
              <a:buSzTx/>
              <a:buFont typeface="Arial" panose="020B0604020202090204" pitchFamily="34" charset="0"/>
              <a:buChar char="•"/>
            </a:pPr>
            <a:r>
              <a:rPr lang="zh-CN" altLang="en-US" sz="2000" dirty="0"/>
              <a:t>一个频繁崩溃但能快速恢复且无数据丢失的数据库系统，或一个三年才失效一次但必须从备份恢复数据的系统。</a:t>
            </a:r>
            <a:endParaRPr lang="zh-CN" altLang="en-US" sz="2000" dirty="0"/>
          </a:p>
          <a:p>
            <a:pPr marL="342900" indent="-342900" algn="l">
              <a:buClrTx/>
              <a:buSzTx/>
              <a:buFont typeface="Arial" panose="020B0604020202090204" pitchFamily="34" charset="0"/>
              <a:buChar char="•"/>
            </a:pPr>
            <a:r>
              <a:rPr lang="zh-CN" altLang="en-US" sz="2000" dirty="0"/>
              <a:t>一个不失效但有不可预测的时期运行极其缓慢的系统。</a:t>
            </a:r>
            <a:endParaRPr lang="zh-CN" altLang="en-US" sz="2000" dirty="0"/>
          </a:p>
          <a:p>
            <a:endParaRPr lang="en-US" altLang="zh-CN" sz="2000" dirty="0"/>
          </a:p>
          <a:p>
            <a:endParaRPr lang="en-US" altLang="zh-CN" sz="20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438486" cy="790865"/>
          </a:xfrm>
        </p:spPr>
        <p:txBody>
          <a:bodyPr>
            <a:noAutofit/>
          </a:bodyPr>
          <a:lstStyle/>
          <a:p>
            <a:r>
              <a:rPr lang="zh-CN" altLang="en-US" dirty="0">
                <a:latin typeface="Times New Roman" panose="02020603050405020304" charset="0"/>
              </a:rPr>
              <a:t>需求的可靠性度量</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329732"/>
            <a:ext cx="10946524" cy="39878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示例：</a:t>
            </a:r>
            <a:r>
              <a:rPr lang="en-US" altLang="zh-CN" sz="2000" b="1" dirty="0">
                <a:solidFill>
                  <a:srgbClr val="515223"/>
                </a:solidFill>
                <a:latin typeface="Helvetica" pitchFamily="2" charset="0"/>
                <a:cs typeface="Arial" panose="020B0604020202090204" pitchFamily="34" charset="0"/>
              </a:rPr>
              <a:t>ATM</a:t>
            </a:r>
            <a:r>
              <a:rPr lang="zh-CN" altLang="en-US" sz="2000" b="1" dirty="0">
                <a:solidFill>
                  <a:srgbClr val="515223"/>
                </a:solidFill>
                <a:latin typeface="Helvetica" pitchFamily="2" charset="0"/>
                <a:cs typeface="Arial" panose="020B0604020202090204" pitchFamily="34" charset="0"/>
              </a:rPr>
              <a:t>卡读卡器</a:t>
            </a:r>
            <a:endParaRPr lang="zh-CN" altLang="en-US" sz="2000" b="1" dirty="0">
              <a:solidFill>
                <a:srgbClr val="515223"/>
              </a:solidFill>
              <a:latin typeface="Helvetica" pitchFamily="2" charset="0"/>
              <a:cs typeface="Arial" panose="020B0604020202090204" pitchFamily="34" charset="0"/>
            </a:endParaRPr>
          </a:p>
        </p:txBody>
      </p:sp>
      <p:pic>
        <p:nvPicPr>
          <p:cNvPr id="4" name="图片 3"/>
          <p:cNvPicPr>
            <a:picLocks noChangeAspect="1"/>
          </p:cNvPicPr>
          <p:nvPr/>
        </p:nvPicPr>
        <p:blipFill>
          <a:blip r:embed="rId1"/>
          <a:stretch>
            <a:fillRect/>
          </a:stretch>
        </p:blipFill>
        <p:spPr>
          <a:xfrm>
            <a:off x="1009058" y="1715312"/>
            <a:ext cx="10173884" cy="4217001"/>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438486" cy="790865"/>
          </a:xfrm>
        </p:spPr>
        <p:txBody>
          <a:bodyPr>
            <a:noAutofit/>
          </a:bodyPr>
          <a:lstStyle/>
          <a:p>
            <a:r>
              <a:rPr lang="zh-CN" altLang="en-US" sz="4400" dirty="0">
                <a:latin typeface="Times New Roman" panose="02020603050405020304" charset="0"/>
              </a:rPr>
              <a:t>度量：提高可靠性的成本</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669652" y="4830394"/>
            <a:ext cx="10946524" cy="706755"/>
          </a:xfrm>
          <a:prstGeom prst="rect">
            <a:avLst/>
          </a:prstGeom>
          <a:noFill/>
        </p:spPr>
        <p:txBody>
          <a:bodyPr wrap="square">
            <a:spAutoFit/>
          </a:bodyPr>
          <a:lstStyle/>
          <a:p>
            <a:r>
              <a:rPr lang="zh-CN" altLang="en-US" sz="2000" b="1" dirty="0"/>
              <a:t>示例：</a:t>
            </a:r>
            <a:endParaRPr lang="zh-CN" altLang="en-US" sz="2000" b="1" dirty="0"/>
          </a:p>
          <a:p>
            <a:r>
              <a:rPr lang="zh-CN" altLang="en-US" sz="2000" dirty="0"/>
              <a:t>许多超级计算机平均每天有10小时的生产性工作。你如何花钱来提高可靠性？</a:t>
            </a:r>
            <a:endParaRPr lang="zh-CN" altLang="en-US" sz="2000" dirty="0"/>
          </a:p>
        </p:txBody>
      </p:sp>
      <p:pic>
        <p:nvPicPr>
          <p:cNvPr id="5" name="图片 4"/>
          <p:cNvPicPr>
            <a:picLocks noChangeAspect="1"/>
          </p:cNvPicPr>
          <p:nvPr/>
        </p:nvPicPr>
        <p:blipFill>
          <a:blip r:embed="rId1"/>
          <a:stretch>
            <a:fillRect/>
          </a:stretch>
        </p:blipFill>
        <p:spPr>
          <a:xfrm>
            <a:off x="2172140" y="1131665"/>
            <a:ext cx="7847720" cy="3756174"/>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438486" cy="790865"/>
          </a:xfrm>
        </p:spPr>
        <p:txBody>
          <a:bodyPr>
            <a:noAutofit/>
          </a:bodyPr>
          <a:lstStyle/>
          <a:p>
            <a:r>
              <a:rPr lang="zh-CN" altLang="en-US" dirty="0">
                <a:latin typeface="Times New Roman" panose="02020603050405020304" charset="0"/>
              </a:rPr>
              <a:t>示例：中央计算系统</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572376" y="1600564"/>
            <a:ext cx="10946524" cy="3784600"/>
          </a:xfrm>
          <a:prstGeom prst="rect">
            <a:avLst/>
          </a:prstGeom>
          <a:noFill/>
        </p:spPr>
        <p:txBody>
          <a:bodyPr wrap="square">
            <a:spAutoFit/>
          </a:bodyPr>
          <a:lstStyle/>
          <a:p>
            <a:pPr algn="l">
              <a:buClrTx/>
              <a:buSzTx/>
              <a:buFontTx/>
            </a:pPr>
            <a:r>
              <a:rPr lang="en-US" altLang="zh-CN" sz="2000" dirty="0"/>
              <a:t>一个中央计算机系统（例如，服务器集群）对整个组织（例如，一个互联网购物网站）至关重要。任何故障都是严重的。</a:t>
            </a:r>
            <a:endParaRPr lang="en-US" altLang="zh-CN" sz="2000" dirty="0"/>
          </a:p>
          <a:p>
            <a:pPr algn="l">
              <a:buClrTx/>
              <a:buSzTx/>
              <a:buFontTx/>
            </a:pPr>
            <a:endParaRPr lang="en-US" altLang="zh-CN" sz="2000" dirty="0"/>
          </a:p>
          <a:p>
            <a:pPr algn="l">
              <a:buClrTx/>
              <a:buSzTx/>
              <a:buFontTx/>
            </a:pPr>
            <a:r>
              <a:rPr lang="zh-CN" altLang="en-US" sz="2000" b="1" dirty="0">
                <a:solidFill>
                  <a:srgbClr val="515223"/>
                </a:solidFill>
                <a:latin typeface="Helvetica" pitchFamily="2" charset="0"/>
                <a:cs typeface="Arial" panose="020B0604020202090204" pitchFamily="34" charset="0"/>
              </a:rPr>
              <a:t>步骤1：收集每次故障的数据</a:t>
            </a:r>
            <a:endParaRPr lang="en-US" altLang="zh-CN" sz="2000" b="1" dirty="0">
              <a:solidFill>
                <a:srgbClr val="515223"/>
              </a:solidFill>
              <a:latin typeface="Helvetica" pitchFamily="2" charset="0"/>
              <a:cs typeface="Arial" panose="020B0604020202090204" pitchFamily="34" charset="0"/>
            </a:endParaRPr>
          </a:p>
          <a:p>
            <a:pPr marL="342900" indent="-342900" algn="l">
              <a:buClrTx/>
              <a:buSzTx/>
              <a:buFont typeface="Arial" panose="020B0604020202090204" pitchFamily="34" charset="0"/>
              <a:buChar char="•"/>
            </a:pPr>
            <a:r>
              <a:rPr lang="en-US" altLang="zh-CN" sz="2000" dirty="0"/>
              <a:t>创建一个记录每次故障的数据库</a:t>
            </a:r>
            <a:endParaRPr lang="en-US" altLang="zh-CN" sz="2000" dirty="0"/>
          </a:p>
          <a:p>
            <a:pPr marL="342900" indent="-342900" algn="l">
              <a:buClrTx/>
              <a:buSzTx/>
              <a:buFont typeface="Arial" panose="020B0604020202090204" pitchFamily="34" charset="0"/>
              <a:buChar char="•"/>
            </a:pPr>
            <a:r>
              <a:rPr lang="en-US" altLang="zh-CN" sz="2000" dirty="0"/>
              <a:t>分析每一次故障：</a:t>
            </a:r>
            <a:endParaRPr lang="en-US" altLang="zh-CN" sz="2000" dirty="0"/>
          </a:p>
          <a:p>
            <a:pPr lvl="1" algn="l">
              <a:buClrTx/>
              <a:buSzTx/>
              <a:buFontTx/>
            </a:pPr>
            <a:r>
              <a:rPr lang="en-US" altLang="zh-CN" sz="2000" dirty="0"/>
              <a:t>硬件</a:t>
            </a:r>
            <a:endParaRPr lang="en-US" altLang="zh-CN" sz="2000" dirty="0"/>
          </a:p>
          <a:p>
            <a:pPr lvl="1" algn="l">
              <a:buClrTx/>
              <a:buSzTx/>
              <a:buFontTx/>
            </a:pPr>
            <a:r>
              <a:rPr lang="en-US" altLang="zh-CN" sz="2000" dirty="0"/>
              <a:t>软件（默认）</a:t>
            </a:r>
            <a:endParaRPr lang="en-US" altLang="zh-CN" sz="2000" dirty="0"/>
          </a:p>
          <a:p>
            <a:pPr lvl="1" algn="l">
              <a:buClrTx/>
              <a:buSzTx/>
              <a:buFontTx/>
            </a:pPr>
            <a:r>
              <a:rPr lang="en-US" altLang="zh-CN" sz="2000" dirty="0"/>
              <a:t>环境（例如，电力，空调）</a:t>
            </a:r>
            <a:endParaRPr lang="en-US" altLang="zh-CN" sz="2000" dirty="0"/>
          </a:p>
          <a:p>
            <a:pPr lvl="1" algn="l">
              <a:buClrTx/>
              <a:buSzTx/>
              <a:buFontTx/>
            </a:pPr>
            <a:r>
              <a:rPr lang="en-US" altLang="zh-CN" sz="2000" dirty="0"/>
              <a:t>人为（例如，操作员错误）</a:t>
            </a:r>
            <a:endParaRPr lang="en-US" altLang="zh-CN" sz="2000" dirty="0"/>
          </a:p>
          <a:p>
            <a:endParaRPr lang="en-US" altLang="zh-CN"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438486" cy="790865"/>
          </a:xfrm>
        </p:spPr>
        <p:txBody>
          <a:bodyPr>
            <a:noAutofit/>
          </a:bodyPr>
          <a:lstStyle/>
          <a:p>
            <a:r>
              <a:rPr lang="zh-CN" altLang="en-US" dirty="0">
                <a:latin typeface="Times New Roman" panose="02020603050405020304" charset="0"/>
              </a:rPr>
              <a:t>示例：中央计算系统</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572376" y="1600564"/>
            <a:ext cx="10946524" cy="3169285"/>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步骤2：分析数据</a:t>
            </a:r>
            <a:endParaRPr lang="en-US" altLang="zh-CN" sz="2000" b="1" dirty="0">
              <a:solidFill>
                <a:srgbClr val="515223"/>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每周、每月和每年的统计</a:t>
            </a:r>
            <a:endParaRPr lang="en-US" altLang="zh-CN" sz="2000" dirty="0">
              <a:solidFill>
                <a:schemeClr val="tx1"/>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故障和中断次数</a:t>
            </a:r>
            <a:endParaRPr lang="en-US" altLang="zh-CN" sz="2000" dirty="0">
              <a:solidFill>
                <a:schemeClr val="tx1"/>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平均修复时间</a:t>
            </a:r>
            <a:endParaRPr lang="zh-CN" altLang="en-US" sz="2000" dirty="0">
              <a:solidFill>
                <a:schemeClr val="tx1"/>
              </a:solidFill>
              <a:latin typeface="Helvetica" pitchFamily="2" charset="0"/>
              <a:cs typeface="Arial" panose="020B0604020202090204" pitchFamily="34" charset="0"/>
            </a:endParaRPr>
          </a:p>
          <a:p>
            <a:endParaRPr lang="en-US" altLang="zh-CN"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按组件的趋势图，例如：</a:t>
            </a:r>
            <a:endParaRPr lang="en-US" altLang="zh-CN" sz="2000" dirty="0">
              <a:solidFill>
                <a:schemeClr val="tx1"/>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磁盘驱动器的故障率</a:t>
            </a:r>
            <a:endParaRPr lang="en-US" altLang="zh-CN" sz="2000" dirty="0">
              <a:solidFill>
                <a:schemeClr val="tx1"/>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电力故障后的硬件故障</a:t>
            </a:r>
            <a:endParaRPr lang="en-US" altLang="zh-CN" sz="2000" dirty="0">
              <a:solidFill>
                <a:schemeClr val="tx1"/>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每个组件中软件缺陷导致的崩溃</a:t>
            </a:r>
            <a:endParaRPr lang="en-US" altLang="zh-CN" sz="2000" dirty="0">
              <a:solidFill>
                <a:schemeClr val="tx1"/>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人为错误的类别</a:t>
            </a:r>
            <a:endParaRPr lang="zh-CN" altLang="en-US" sz="2000" dirty="0">
              <a:solidFill>
                <a:schemeClr val="tx1"/>
              </a:solidFill>
              <a:latin typeface="Helvetica" pitchFamily="2" charset="0"/>
              <a:cs typeface="Arial" panose="020B0604020202090204" pitchFamily="34"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438486" cy="790865"/>
          </a:xfrm>
        </p:spPr>
        <p:txBody>
          <a:bodyPr>
            <a:noAutofit/>
          </a:bodyPr>
          <a:lstStyle/>
          <a:p>
            <a:r>
              <a:rPr lang="zh-CN" altLang="en-US" dirty="0">
                <a:latin typeface="Times New Roman" panose="02020603050405020304" charset="0"/>
              </a:rPr>
              <a:t>示例：中央计算系统</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572376" y="2333386"/>
            <a:ext cx="10946524" cy="224536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步骤3：在收益最大的地方投入资源，例如：</a:t>
            </a:r>
            <a:endParaRPr lang="en-US" altLang="zh-CN"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软件改进的优先级顺序</a:t>
            </a:r>
            <a:endParaRPr lang="en-US" altLang="zh-CN"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改变操作员的程序</a:t>
            </a:r>
            <a:endParaRPr lang="en-US" altLang="zh-CN"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更换硬件</a:t>
            </a:r>
            <a:endParaRPr lang="en-US" altLang="zh-CN"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电力故障后的有序重启</a:t>
            </a:r>
            <a:endParaRPr lang="zh-CN" altLang="en-US" sz="2000" dirty="0">
              <a:solidFill>
                <a:schemeClr val="tx1"/>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theme/theme1.xml><?xml version="1.0" encoding="utf-8"?>
<a:theme xmlns:a="http://schemas.openxmlformats.org/drawingml/2006/main" name="1_Office 主题​​">
  <a:themeElements>
    <a:clrScheme name="SEU">
      <a:dk1>
        <a:srgbClr val="000000"/>
      </a:dk1>
      <a:lt1>
        <a:srgbClr val="FFFFFF"/>
      </a:lt1>
      <a:dk2>
        <a:srgbClr val="44546A"/>
      </a:dk2>
      <a:lt2>
        <a:srgbClr val="E7E6E6"/>
      </a:lt2>
      <a:accent1>
        <a:srgbClr val="505122"/>
      </a:accent1>
      <a:accent2>
        <a:srgbClr val="FDCA04"/>
      </a:accent2>
      <a:accent3>
        <a:srgbClr val="00529D"/>
      </a:accent3>
      <a:accent4>
        <a:srgbClr val="B01417"/>
      </a:accent4>
      <a:accent5>
        <a:srgbClr val="7F7611"/>
      </a:accent5>
      <a:accent6>
        <a:srgbClr val="5D6B70"/>
      </a:accent6>
      <a:hlink>
        <a:srgbClr val="868A8C"/>
      </a:hlink>
      <a:folHlink>
        <a:srgbClr val="C2C6C8"/>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7372</Words>
  <Application>WPS Writer</Application>
  <PresentationFormat>Widescreen</PresentationFormat>
  <Paragraphs>894</Paragraphs>
  <Slides>88</Slides>
  <Notes>13</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88</vt:i4>
      </vt:variant>
    </vt:vector>
  </HeadingPairs>
  <TitlesOfParts>
    <vt:vector size="106" baseType="lpstr">
      <vt:lpstr>Arial</vt:lpstr>
      <vt:lpstr>SimSun</vt:lpstr>
      <vt:lpstr>Wingdings</vt:lpstr>
      <vt:lpstr>Helvetica Regular</vt:lpstr>
      <vt:lpstr>Microsoft YaHei</vt:lpstr>
      <vt:lpstr>汉仪旗黑</vt:lpstr>
      <vt:lpstr>Helvetica</vt:lpstr>
      <vt:lpstr>Times New Roman</vt:lpstr>
      <vt:lpstr>Microsoft YaHei</vt:lpstr>
      <vt:lpstr>Microsoft YaHei</vt:lpstr>
      <vt:lpstr>Arial Unicode MS</vt:lpstr>
      <vt:lpstr>等线</vt:lpstr>
      <vt:lpstr>汉仪中等线KW</vt:lpstr>
      <vt:lpstr>汉仪书宋二KW</vt:lpstr>
      <vt:lpstr>Calibri</vt:lpstr>
      <vt:lpstr>Helvetica Neue</vt:lpstr>
      <vt:lpstr>Microsoft YaHei</vt:lpstr>
      <vt:lpstr>1_Office 主题​​</vt:lpstr>
      <vt:lpstr>PowerPoint 演示文稿</vt:lpstr>
      <vt:lpstr>提醒</vt:lpstr>
      <vt:lpstr>提醒</vt:lpstr>
      <vt:lpstr>PowerPoint 演示文稿</vt:lpstr>
      <vt:lpstr>设计模式</vt:lpstr>
      <vt:lpstr>继承与抽象类</vt:lpstr>
      <vt:lpstr>适配器（包装器）：封装遗留代码</vt:lpstr>
      <vt:lpstr>适配器设计模式：问题</vt:lpstr>
      <vt:lpstr>适配器设计模式：对象图</vt:lpstr>
      <vt:lpstr>PowerPoint 演示文稿</vt:lpstr>
      <vt:lpstr>PowerPoint 演示文稿</vt:lpstr>
      <vt:lpstr>PowerPoint 演示文稿</vt:lpstr>
      <vt:lpstr>PowerPoint 演示文稿</vt:lpstr>
      <vt:lpstr>适配器设计模式：后果</vt:lpstr>
      <vt:lpstr>桥接：允许替代实现</vt:lpstr>
      <vt:lpstr>桥接</vt:lpstr>
      <vt:lpstr>桥接</vt:lpstr>
      <vt:lpstr>PowerPoint 演示文稿</vt:lpstr>
      <vt:lpstr>桥接 示例</vt:lpstr>
      <vt:lpstr>桥接 示例</vt:lpstr>
      <vt:lpstr>桥接 示例</vt:lpstr>
      <vt:lpstr>桥接 示例</vt:lpstr>
      <vt:lpstr>桥接 示例</vt:lpstr>
      <vt:lpstr>桥接：允许替代实现</vt:lpstr>
      <vt:lpstr>桥接：后果</vt:lpstr>
      <vt:lpstr>策略：封装算法</vt:lpstr>
      <vt:lpstr>策略示例</vt:lpstr>
      <vt:lpstr>PowerPoint 演示文稿</vt:lpstr>
      <vt:lpstr>设计模式：策略</vt:lpstr>
      <vt:lpstr>设计模式：策略</vt:lpstr>
      <vt:lpstr>设计模式：策略</vt:lpstr>
      <vt:lpstr>设计模式：策略</vt:lpstr>
      <vt:lpstr>策略：封装算法</vt:lpstr>
      <vt:lpstr>策略：后果</vt:lpstr>
      <vt:lpstr>外观：封装子系统</vt:lpstr>
      <vt:lpstr>外观</vt:lpstr>
      <vt:lpstr>外观</vt:lpstr>
      <vt:lpstr>外观</vt:lpstr>
      <vt:lpstr>外观：后果</vt:lpstr>
      <vt:lpstr>组合：表示递归层次结构</vt:lpstr>
      <vt:lpstr>组合：类图</vt:lpstr>
      <vt:lpstr>组合：类图</vt:lpstr>
      <vt:lpstr>组合：类图</vt:lpstr>
      <vt:lpstr>组合：类图</vt:lpstr>
      <vt:lpstr>组合：类图</vt:lpstr>
      <vt:lpstr>组合：表示递归层次结构</vt:lpstr>
      <vt:lpstr>组合：后果</vt:lpstr>
      <vt:lpstr>讨论</vt:lpstr>
      <vt:lpstr>一道旧考题</vt:lpstr>
      <vt:lpstr>一道旧考题</vt:lpstr>
      <vt:lpstr>一道旧考题</vt:lpstr>
      <vt:lpstr>一道旧考题</vt:lpstr>
      <vt:lpstr>一道旧考题</vt:lpstr>
      <vt:lpstr>一道旧考题</vt:lpstr>
      <vt:lpstr>一道旧考题</vt:lpstr>
      <vt:lpstr>一道旧考题</vt:lpstr>
      <vt:lpstr>遗留系统</vt:lpstr>
      <vt:lpstr>遗留系统</vt:lpstr>
      <vt:lpstr>遗留需求</vt:lpstr>
      <vt:lpstr>遗留代码</vt:lpstr>
      <vt:lpstr>遗留代码</vt:lpstr>
      <vt:lpstr>PowerPoint 演示文稿</vt:lpstr>
      <vt:lpstr>缺陷（Bug）、故障（Fault）与失效（Fail）</vt:lpstr>
      <vt:lpstr>缺陷与特性</vt:lpstr>
      <vt:lpstr>术语</vt:lpstr>
      <vt:lpstr>需求的失效</vt:lpstr>
      <vt:lpstr>失效：案例研究</vt:lpstr>
      <vt:lpstr>案例研究：分析</vt:lpstr>
      <vt:lpstr>案例研究：软件教训</vt:lpstr>
      <vt:lpstr>可靠软件的关键因素</vt:lpstr>
      <vt:lpstr>构建可依赖的系统：组织文化</vt:lpstr>
      <vt:lpstr>构建可依赖的系统：组织文化</vt:lpstr>
      <vt:lpstr>构建可靠的软件：质量管理过程</vt:lpstr>
      <vt:lpstr>构建可靠的软件：质量管理过程</vt:lpstr>
      <vt:lpstr>构建可靠的软件：与客户的沟通</vt:lpstr>
      <vt:lpstr>构建可靠的软件：复杂性</vt:lpstr>
      <vt:lpstr>构建可靠的软件：变更</vt:lpstr>
      <vt:lpstr>构建可靠的软件：容错</vt:lpstr>
      <vt:lpstr>容错：恢复</vt:lpstr>
      <vt:lpstr>构建可靠的软件：小团队与小项目</vt:lpstr>
      <vt:lpstr>可靠性度量</vt:lpstr>
      <vt:lpstr>分布式系统的可靠性度量</vt:lpstr>
      <vt:lpstr>度量：用户对可靠性的感知</vt:lpstr>
      <vt:lpstr>需求的可靠性度量</vt:lpstr>
      <vt:lpstr>度量：提高可靠性的成本</vt:lpstr>
      <vt:lpstr>示例：中央计算系统</vt:lpstr>
      <vt:lpstr>示例：中央计算系统</vt:lpstr>
      <vt:lpstr>示例：中央计算系统</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子豪 任</dc:creator>
  <cp:lastModifiedBy>刘光迟</cp:lastModifiedBy>
  <cp:revision>741</cp:revision>
  <dcterms:created xsi:type="dcterms:W3CDTF">2026-04-30T05:34:26Z</dcterms:created>
  <dcterms:modified xsi:type="dcterms:W3CDTF">2026-04-30T05:34:26Z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FD70862913A1891685E9F269697FEB87_43</vt:lpwstr>
  </property>
  <property fmtid="{D5CDD505-2E9C-101B-9397-08002B2CF9AE}" pid="3" name="KSOProductBuildVer">
    <vt:lpwstr>1033-12.1.24031.24031</vt:lpwstr>
  </property>
</Properties>
</file>