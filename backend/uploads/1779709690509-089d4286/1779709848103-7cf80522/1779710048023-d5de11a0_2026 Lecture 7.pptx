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694" r:id="rId3"/>
    <p:sldId id="695" r:id="rId5"/>
    <p:sldId id="698" r:id="rId6"/>
    <p:sldId id="699" r:id="rId7"/>
    <p:sldId id="700" r:id="rId8"/>
    <p:sldId id="701" r:id="rId9"/>
    <p:sldId id="702" r:id="rId10"/>
    <p:sldId id="703" r:id="rId11"/>
    <p:sldId id="704" r:id="rId12"/>
    <p:sldId id="705" r:id="rId13"/>
    <p:sldId id="706" r:id="rId14"/>
    <p:sldId id="707" r:id="rId15"/>
    <p:sldId id="708" r:id="rId16"/>
    <p:sldId id="709" r:id="rId17"/>
    <p:sldId id="710" r:id="rId18"/>
    <p:sldId id="711" r:id="rId19"/>
    <p:sldId id="712" r:id="rId20"/>
    <p:sldId id="713" r:id="rId21"/>
    <p:sldId id="714" r:id="rId22"/>
    <p:sldId id="715" r:id="rId23"/>
    <p:sldId id="716" r:id="rId24"/>
    <p:sldId id="717" r:id="rId25"/>
    <p:sldId id="718" r:id="rId26"/>
    <p:sldId id="719" r:id="rId27"/>
    <p:sldId id="720" r:id="rId28"/>
    <p:sldId id="721" r:id="rId29"/>
    <p:sldId id="722" r:id="rId30"/>
    <p:sldId id="723" r:id="rId31"/>
    <p:sldId id="724" r:id="rId32"/>
    <p:sldId id="725" r:id="rId33"/>
    <p:sldId id="726" r:id="rId34"/>
    <p:sldId id="727" r:id="rId35"/>
    <p:sldId id="728" r:id="rId36"/>
    <p:sldId id="729" r:id="rId37"/>
    <p:sldId id="730" r:id="rId38"/>
    <p:sldId id="731" r:id="rId39"/>
    <p:sldId id="732" r:id="rId40"/>
    <p:sldId id="733" r:id="rId41"/>
    <p:sldId id="734" r:id="rId42"/>
    <p:sldId id="735" r:id="rId43"/>
    <p:sldId id="736" r:id="rId44"/>
    <p:sldId id="737" r:id="rId45"/>
    <p:sldId id="738" r:id="rId46"/>
    <p:sldId id="739" r:id="rId47"/>
    <p:sldId id="740" r:id="rId48"/>
    <p:sldId id="741" r:id="rId49"/>
    <p:sldId id="742" r:id="rId50"/>
    <p:sldId id="743" r:id="rId51"/>
    <p:sldId id="744" r:id="rId52"/>
    <p:sldId id="745" r:id="rId53"/>
    <p:sldId id="746" r:id="rId54"/>
    <p:sldId id="747" r:id="rId55"/>
    <p:sldId id="748" r:id="rId56"/>
    <p:sldId id="749" r:id="rId57"/>
    <p:sldId id="750" r:id="rId58"/>
    <p:sldId id="751" r:id="rId59"/>
    <p:sldId id="752" r:id="rId60"/>
    <p:sldId id="753" r:id="rId61"/>
    <p:sldId id="754" r:id="rId62"/>
    <p:sldId id="755" r:id="rId63"/>
    <p:sldId id="756" r:id="rId64"/>
    <p:sldId id="757" r:id="rId65"/>
    <p:sldId id="758" r:id="rId66"/>
    <p:sldId id="759" r:id="rId67"/>
  </p:sldIdLst>
  <p:sldSz cx="12192000" cy="6858000"/>
  <p:notesSz cx="6858000" cy="9144000"/>
  <p:embeddedFontLst>
    <p:embeddedFont>
      <p:font typeface="Helvetica" pitchFamily="2" charset="0"/>
      <p:regular r:id="rId7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77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25" autoAdjust="0"/>
    <p:restoredTop sz="94695"/>
  </p:normalViewPr>
  <p:slideViewPr>
    <p:cSldViewPr snapToGrid="0">
      <p:cViewPr varScale="1">
        <p:scale>
          <a:sx n="167" d="100"/>
          <a:sy n="167" d="100"/>
        </p:scale>
        <p:origin x="2992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font" Target="fonts/font1.fntdata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B7413-AF54-469D-ABFD-75D5619B00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7" Type="http://schemas.openxmlformats.org/officeDocument/2006/relationships/hyperlink" Target="https://zhuanlan.zhihu.com/p/335298500" TargetMode="External"/><Relationship Id="rId6" Type="http://schemas.openxmlformats.org/officeDocument/2006/relationships/hyperlink" Target="https://weibo.com/p/1005052284144087/photos?type=photo" TargetMode="External"/><Relationship Id="rId5" Type="http://schemas.openxmlformats.org/officeDocument/2006/relationships/hyperlink" Target="https://www.seu.edu.cn/bsxtwxw/main.htm" TargetMode="External"/><Relationship Id="rId4" Type="http://schemas.openxmlformats.org/officeDocument/2006/relationships/hyperlink" Target="https://mp.weixin.qq.com/mp/profile_ext?action=home&amp;__biz=MzA4MzM3Mzc3Ng==&amp;scene=124#wechat_redirect" TargetMode="External"/><Relationship Id="rId3" Type="http://schemas.openxmlformats.org/officeDocument/2006/relationships/hyperlink" Target="http://www.officeplus.cn/p/51/102751.s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本模板基于“</a:t>
            </a:r>
            <a:r>
              <a:rPr lang="zh-CN" altLang="en-US" dirty="0">
                <a:hlinkClick r:id="rId3"/>
              </a:rPr>
              <a:t>中国科学院大学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路人丁</a:t>
            </a:r>
            <a:r>
              <a:rPr lang="en-US" altLang="zh-CN" dirty="0">
                <a:hlinkClick r:id="rId3"/>
              </a:rPr>
              <a:t>-PPT</a:t>
            </a:r>
            <a:r>
              <a:rPr lang="zh-CN" altLang="en-US" dirty="0">
                <a:hlinkClick r:id="rId3"/>
              </a:rPr>
              <a:t>模板</a:t>
            </a:r>
            <a:r>
              <a:rPr lang="zh-CN" altLang="en-US" dirty="0"/>
              <a:t>”魔改而成，著作权归该作者所有。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本模板中使用的东南大学校徽、校标文字组合、校训文字等素材来自于微信公众号“</a:t>
            </a:r>
            <a:r>
              <a:rPr lang="zh-CN" altLang="en-US" dirty="0">
                <a:hlinkClick r:id="rId4"/>
              </a:rPr>
              <a:t>金木屋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本模板的视觉设计参考了“</a:t>
            </a:r>
            <a:r>
              <a:rPr lang="zh-CN" altLang="en-US" dirty="0">
                <a:hlinkClick r:id="rId5"/>
              </a:rPr>
              <a:t>东南大学视觉识别系统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人物介绍页头像素材来自 </a:t>
            </a:r>
            <a:r>
              <a:rPr lang="zh-CN" altLang="en-US" dirty="0">
                <a:hlinkClick r:id="rId6"/>
              </a:rPr>
              <a:t>小肥柴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本模板力求简洁，布局合理，主次分明。以学术风为设计理念，适用于学术报告与论文答辩等相关应用场景。模板未使用任何动画效果。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您仅可以以个人非商业用途使用本</a:t>
            </a:r>
            <a:r>
              <a:rPr lang="en-US" altLang="zh-CN" dirty="0"/>
              <a:t>PPT</a:t>
            </a:r>
            <a:r>
              <a:rPr lang="zh-CN" altLang="en-US" dirty="0"/>
              <a:t>模板，不可将信息内容的全部或部分用以出售，或以出租、出借、转让、分销、发布等其他任何方式供其他人使用。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欢迎 </a:t>
            </a:r>
            <a:r>
              <a:rPr lang="zh-CN" altLang="en-US" dirty="0">
                <a:hlinkClick r:id="rId7"/>
              </a:rPr>
              <a:t>持续关注东南大学止于至善学术风</a:t>
            </a:r>
            <a:r>
              <a:rPr lang="en-US" altLang="zh-CN" dirty="0">
                <a:hlinkClick r:id="rId7"/>
              </a:rPr>
              <a:t> PPT </a:t>
            </a:r>
            <a:r>
              <a:rPr lang="zh-CN" altLang="en-US" dirty="0">
                <a:hlinkClick r:id="rId7"/>
              </a:rPr>
              <a:t>模板</a:t>
            </a:r>
            <a:r>
              <a:rPr lang="zh-CN" altLang="en-US" dirty="0"/>
              <a:t> 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zhuanlan.zhihu.com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/p/335298500</a:t>
            </a:r>
            <a:r>
              <a:rPr lang="zh-CN" altLang="en-US" dirty="0"/>
              <a:t>）后续的功能优化及多语言更新版本。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最后，祝汇报顺利，马到成功！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Version:</a:t>
            </a:r>
            <a:r>
              <a:rPr kumimoji="1" lang="zh-CN" altLang="en-US" dirty="0">
                <a:latin typeface="+mn-ea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(2021) v1.5-en.</a:t>
            </a:r>
            <a:endParaRPr kumimoji="1" lang="zh-CN" altLang="en-US" dirty="0">
              <a:latin typeface="+mn-ea"/>
              <a:cs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/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87" name="任意多边形: 形状 86"/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/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/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/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/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/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/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/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/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/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/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/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/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/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/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/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/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/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/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/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9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9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/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/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/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/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/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/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/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/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/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/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/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/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椭圆 6"/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3791712" y="1239205"/>
            <a:ext cx="8191129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B09S0061 </a:t>
            </a: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软件工程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第</a:t>
            </a: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7</a:t>
            </a: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讲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750859" y="4819809"/>
            <a:ext cx="3003067" cy="6508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2026/04/16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02654" y="4381010"/>
            <a:ext cx="6751272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授课教师：刘</a:t>
            </a: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光迟博士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842946" y="4575127"/>
            <a:ext cx="0" cy="752777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提醒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98690" y="1444626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第二次作业将于 4月20日 23:55 上传到“微助教”，</a:t>
            </a:r>
            <a:r>
              <a:rPr lang="zh-CN" altLang="en-US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截止时间：</a:t>
            </a:r>
            <a:r>
              <a:rPr lang="en-US" altLang="zh-CN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4</a:t>
            </a:r>
            <a:r>
              <a:rPr lang="zh-CN" altLang="en-US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月</a:t>
            </a:r>
            <a:r>
              <a:rPr lang="en-US" altLang="zh-CN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27</a:t>
            </a:r>
            <a:r>
              <a:rPr lang="zh-CN" altLang="en-US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日</a:t>
            </a:r>
            <a:r>
              <a:rPr lang="en-US" altLang="zh-CN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23:55</a:t>
            </a:r>
            <a:r>
              <a:rPr lang="zh-CN" altLang="en-US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。</a:t>
            </a:r>
            <a:endParaRPr lang="zh-CN" altLang="en-US" sz="2000" b="1" u="sng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安全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01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ONE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197" y="237834"/>
            <a:ext cx="9966387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开发过程中的安全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8" y="1250903"/>
            <a:ext cx="10946524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安全目标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确保合法使用的可用性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防止恶意使用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保护隐私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安全是整个系统的属性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       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安全强度取决于最薄弱环节（该环节未必是软件）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       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系统设计完成后极难提升安全性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适当的安全措施需要威胁建模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2376" y="5622249"/>
            <a:ext cx="11031045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安全考量需贯穿整个软件开发过程，并可能对所选系统架构产生重大影响。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安全经济学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4" y="1022985"/>
            <a:ext cx="10974312" cy="5246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安全是一个难以量化、开发和验证的属性。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安全的开发实践成本高昂：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需要具备特定技能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知识的工程师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研究人员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很少有证据表明客户愿意为更高级别的安全支付额外费用。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许多风险由外部承担。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整体系统安全性受限于最薄弱环节。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但软件不安全问题具有可扩展性和脆弱性：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漏洞一旦被发现，利用可能迅速且广泛传播。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spcBef>
                <a:spcPts val="1800"/>
              </a:spcBef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网络系统允许入侵扩散至日益关键的系统。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未来社会成本可能极其巨大。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8865870" cy="7905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安全经济学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409065"/>
            <a:ext cx="10125710" cy="4552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劣质软件年均成本：2万亿美元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dirty="0"/>
              <a:t>其中</a:t>
            </a:r>
            <a:r>
              <a:rPr lang="en-US" altLang="zh-CN" dirty="0"/>
              <a:t>75%</a:t>
            </a:r>
            <a:r>
              <a:rPr lang="zh-CN" altLang="en-US" dirty="0"/>
              <a:t>源于安全漏洞</a:t>
            </a:r>
            <a:endParaRPr lang="en-US" altLang="zh-CN" dirty="0"/>
          </a:p>
          <a:p>
            <a:pPr indent="0" fontAlgn="auto"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网络犯罪年均成本：6万亿美元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dirty="0"/>
              <a:t>勒索软件损失：</a:t>
            </a:r>
            <a:r>
              <a:rPr lang="en-US" altLang="zh-CN" dirty="0"/>
              <a:t>200</a:t>
            </a:r>
            <a:r>
              <a:rPr lang="zh-CN" altLang="en-US" dirty="0"/>
              <a:t>亿美元</a:t>
            </a:r>
            <a:endParaRPr lang="zh-CN" altLang="en-US" dirty="0"/>
          </a:p>
          <a:p>
            <a:pPr indent="0" fontAlgn="auto"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网络战风险不断升级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本讲课程无法让你成为专家，但能助你：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1800"/>
              </a:spcBef>
            </a:pPr>
            <a:r>
              <a:rPr lang="zh-CN" altLang="en-US" dirty="0"/>
              <a:t>熟悉术语和背景</a:t>
            </a:r>
            <a:endParaRPr lang="en-US" altLang="zh-CN" dirty="0"/>
          </a:p>
          <a:p>
            <a:pPr indent="0" fontAlgn="auto">
              <a:spcBef>
                <a:spcPts val="1800"/>
              </a:spcBef>
            </a:pPr>
            <a:r>
              <a:rPr lang="zh-CN" altLang="en-US" dirty="0"/>
              <a:t>避免常见错误</a:t>
            </a:r>
            <a:endParaRPr lang="zh-CN" altLang="en-US" dirty="0"/>
          </a:p>
          <a:p>
            <a:pPr indent="0" fontAlgn="auto">
              <a:spcBef>
                <a:spcPts val="1800"/>
              </a:spcBef>
            </a:pPr>
            <a:endParaRPr lang="en-US" altLang="zh-CN" dirty="0"/>
          </a:p>
          <a:p>
            <a:pPr indent="0" fontAlgn="auto">
              <a:spcBef>
                <a:spcPts val="1800"/>
              </a:spcBef>
            </a:pP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安全功能与危险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6" y="1327446"/>
            <a:ext cx="10946524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功能：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保密性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：控制谁可以读取信息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完整性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：控制信息如何变更或资源如何使用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可用性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：提供对信息和资源的及时访问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可问责性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：知晓谁曾访问过资源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危险：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信息损坏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——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完整性受损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服务中断（拒绝服务）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——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可用性受损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资金失窃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——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完整性受损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信息失窃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——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保密性受损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隐私泄露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——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保密性受损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安全问题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6" y="1028699"/>
            <a:ext cx="10946524" cy="593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系统安全</a:t>
            </a:r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    </a:t>
            </a:r>
            <a:r>
              <a:rPr lang="zh-CN" altLang="en-US" sz="2000" dirty="0">
                <a:solidFill>
                  <a:srgbClr val="202122"/>
                </a:solidFill>
                <a:latin typeface="Arial" panose="020B0604020202090204" pitchFamily="34" charset="0"/>
              </a:rPr>
              <a:t>系统漏洞</a:t>
            </a:r>
            <a:endParaRPr lang="zh-CN" altLang="en-US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网络安全</a:t>
            </a:r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    </a:t>
            </a:r>
            <a:r>
              <a:rPr lang="zh-CN" altLang="en-US" sz="2000" dirty="0">
                <a:solidFill>
                  <a:srgbClr val="202122"/>
                </a:solidFill>
                <a:latin typeface="Arial" panose="020B0604020202090204" pitchFamily="34" charset="0"/>
              </a:rPr>
              <a:t>网络攻击</a:t>
            </a:r>
            <a:endParaRPr lang="zh-CN" altLang="en-US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加密</a:t>
            </a:r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    </a:t>
            </a:r>
            <a:r>
              <a:rPr lang="zh-CN" altLang="en-US" sz="2000" dirty="0">
                <a:solidFill>
                  <a:srgbClr val="202122"/>
                </a:solidFill>
                <a:latin typeface="Arial" panose="020B0604020202090204" pitchFamily="34" charset="0"/>
              </a:rPr>
              <a:t>密码学</a:t>
            </a:r>
            <a:endParaRPr lang="zh-CN" altLang="en-US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AI安全</a:t>
            </a:r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     AI</a:t>
            </a:r>
            <a:r>
              <a:rPr lang="zh-CN" altLang="en-US" sz="2000" dirty="0">
                <a:solidFill>
                  <a:srgbClr val="202122"/>
                </a:solidFill>
                <a:latin typeface="Arial" panose="020B0604020202090204" pitchFamily="34" charset="0"/>
              </a:rPr>
              <a:t>模型漏洞、差分隐私</a:t>
            </a:r>
            <a:endParaRPr lang="zh-CN" altLang="en-US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感知安全</a:t>
            </a:r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    </a:t>
            </a:r>
            <a:r>
              <a:rPr lang="zh-CN" altLang="en-US" sz="2000" dirty="0">
                <a:solidFill>
                  <a:srgbClr val="202122"/>
                </a:solidFill>
                <a:latin typeface="Arial" panose="020B0604020202090204" pitchFamily="34" charset="0"/>
              </a:rPr>
              <a:t>人机接口</a:t>
            </a:r>
            <a:endParaRPr lang="zh-CN" altLang="en-US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内容安全</a:t>
            </a:r>
            <a:endParaRPr lang="zh-CN" altLang="en-US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    </a:t>
            </a:r>
            <a:r>
              <a:rPr lang="zh-CN" altLang="en-US" sz="2000" dirty="0">
                <a:solidFill>
                  <a:srgbClr val="202122"/>
                </a:solidFill>
                <a:latin typeface="Arial" panose="020B0604020202090204" pitchFamily="34" charset="0"/>
              </a:rPr>
              <a:t>虚假信息攻击、</a:t>
            </a:r>
            <a:r>
              <a:rPr lang="en-US" altLang="zh-CN" sz="2000" dirty="0">
                <a:solidFill>
                  <a:srgbClr val="202122"/>
                </a:solidFill>
                <a:latin typeface="Arial" panose="020B0604020202090204" pitchFamily="34" charset="0"/>
              </a:rPr>
              <a:t>AIGC</a:t>
            </a:r>
            <a:r>
              <a:rPr lang="zh-CN" altLang="en-US" sz="2000" dirty="0">
                <a:solidFill>
                  <a:srgbClr val="202122"/>
                </a:solidFill>
                <a:latin typeface="Arial" panose="020B0604020202090204" pitchFamily="34" charset="0"/>
              </a:rPr>
              <a:t>（人工智能生成内容）</a:t>
            </a:r>
            <a:endParaRPr lang="zh-CN" altLang="en-US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  <a:p>
            <a:endParaRPr lang="en-US" altLang="zh-CN" sz="2000" dirty="0">
              <a:solidFill>
                <a:srgbClr val="202122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charset="0"/>
              </a:rPr>
              <a:t>完美安全不切实际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362710"/>
            <a:ext cx="10585428" cy="4759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l" fontAlgn="auto">
              <a:spcBef>
                <a:spcPts val="600"/>
              </a:spcBef>
              <a:buClrTx/>
              <a:buSzTx/>
              <a:buFontTx/>
            </a:pP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安全风险曾被视作经营成本的一部分：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285750" indent="-285750" algn="l" fontAlgn="auto">
              <a:spcBef>
                <a:spcPts val="6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/>
              <a:t>罚款</a:t>
            </a:r>
            <a:endParaRPr lang="en-US" altLang="zh-CN" dirty="0"/>
          </a:p>
          <a:p>
            <a:pPr marL="285750" indent="-285750" algn="l" fontAlgn="auto">
              <a:spcBef>
                <a:spcPts val="6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/>
              <a:t>身份保护服务</a:t>
            </a:r>
            <a:endParaRPr lang="en-US" altLang="zh-CN" dirty="0"/>
          </a:p>
          <a:p>
            <a:pPr marL="285750" indent="-285750" algn="l" fontAlgn="auto">
              <a:spcBef>
                <a:spcPts val="6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/>
              <a:t>客户流失</a:t>
            </a:r>
            <a:endParaRPr lang="en-US" altLang="zh-CN" dirty="0"/>
          </a:p>
          <a:p>
            <a:pPr marL="285750" indent="-285750" algn="l" fontAlgn="auto">
              <a:spcBef>
                <a:spcPts val="6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/>
              <a:t>必要修复的成本</a:t>
            </a:r>
            <a:endParaRPr lang="en-US" altLang="zh-CN" dirty="0"/>
          </a:p>
          <a:p>
            <a:pPr marL="285750" indent="-285750" algn="l" fontAlgn="auto">
              <a:spcBef>
                <a:spcPts val="6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/>
              <a:t>机密信息（商业机密、受出口管制数据）丢失</a:t>
            </a:r>
            <a:endParaRPr lang="en-US" altLang="zh-CN" dirty="0"/>
          </a:p>
          <a:p>
            <a:pPr marL="285750" indent="-285750" algn="l" fontAlgn="auto">
              <a:spcBef>
                <a:spcPts val="6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/>
              <a:t>系统可用性丧失</a:t>
            </a:r>
            <a:endParaRPr lang="en-US" altLang="zh-CN" dirty="0"/>
          </a:p>
          <a:p>
            <a:pPr marL="285750" indent="-285750" algn="l" fontAlgn="auto">
              <a:spcBef>
                <a:spcPts val="6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/>
              <a:t>勒索与赎金</a:t>
            </a:r>
            <a:endParaRPr lang="en-US" altLang="zh-CN" dirty="0"/>
          </a:p>
          <a:p>
            <a:pPr marL="285750" indent="-285750" algn="l" fontAlgn="auto">
              <a:spcBef>
                <a:spcPts val="600"/>
              </a:spcBef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/>
              <a:t>盗窃与欺诈</a:t>
            </a:r>
            <a:endParaRPr lang="zh-CN" altLang="en-US" dirty="0"/>
          </a:p>
          <a:p>
            <a:pPr indent="0" algn="l" fontAlgn="auto">
              <a:spcBef>
                <a:spcPts val="600"/>
              </a:spcBef>
              <a:buClrTx/>
              <a:buSzTx/>
              <a:buFontTx/>
            </a:pPr>
            <a:endParaRPr lang="en-US" altLang="zh-CN" dirty="0"/>
          </a:p>
          <a:p>
            <a:pPr indent="0" algn="l" fontAlgn="auto">
              <a:spcBef>
                <a:spcPts val="600"/>
              </a:spcBef>
              <a:buClrTx/>
              <a:buSzTx/>
              <a:buFontTx/>
            </a:pP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如今，安全风险更类似于 </a:t>
            </a:r>
            <a:r>
              <a:rPr lang="zh-CN" altLang="en-US" dirty="0">
                <a:solidFill>
                  <a:srgbClr val="FF0000"/>
                </a:solidFill>
              </a:rPr>
              <a:t>国家安全问题</a:t>
            </a:r>
            <a:r>
              <a:rPr lang="zh-CN" altLang="en-US" dirty="0"/>
              <a:t>！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组织内部安全：人员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8473" y="1596358"/>
            <a:ext cx="10946524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许多安全问题源自组织内部人员。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大型组织中总存在一些不诚实和心怀不满的人员。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不诚实者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恶意者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安全依赖于可信个体。若他们不可信怎么办？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人员本质上是不安全的因素，易受影响。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示例：社交机器人、虚假信息攻击、零信任环境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为安全而设计：人员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TextBox 3"/>
          <p:cNvSpPr txBox="1"/>
          <p:nvPr/>
        </p:nvSpPr>
        <p:spPr>
          <a:xfrm>
            <a:off x="493548" y="1728512"/>
            <a:ext cx="11698451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让负责任的人易于使用系统，让不可信的人难于作恶。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       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示例：对用户的信任评估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培训人员的负责任行为。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教育人们对未经验证的信息保持警惕。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976572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外部入侵者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822435" y="1690062"/>
            <a:ext cx="1150620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所有网络系统都易受外部入侵者的安全威胁。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现代软件极其复杂，不可能消除所有漏洞。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许多技术娴熟的个人和组织持续寻找并利用新漏洞。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许多政府经常入侵计算机系统。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22365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外部入侵者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2976" y="1737035"/>
            <a:ext cx="10946524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外部安全漏洞示例：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未授权访问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——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修改软件、安装监听设备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后门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——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绕过认证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Deny of Service (DoS) ——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过载及其他形式的阻塞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窃听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欺骗（例如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xxx@seu.com.cn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网络钓鱼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等等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……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712621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外部入侵者：在线数据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02976" y="1558618"/>
            <a:ext cx="10946524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在线系统捕获并存储大量隐私数据：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购物网站：姓名、地址、信用卡（如</a:t>
            </a:r>
            <a:r>
              <a:rPr lang="en-US" altLang="zh-CN" sz="2000" dirty="0"/>
              <a:t> Target </a:t>
            </a:r>
            <a:r>
              <a:rPr lang="zh-CN" altLang="en-US" sz="2000" dirty="0"/>
              <a:t>事件）</a:t>
            </a:r>
            <a:endParaRPr lang="en-US" altLang="zh-CN" sz="2000" dirty="0"/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金融系统：财务数据、身份证号、信用数据</a:t>
            </a:r>
            <a:endParaRPr lang="en-US" altLang="zh-CN" sz="2000" dirty="0"/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社交媒体：好友、搜索词、位置数据（如</a:t>
            </a:r>
            <a:r>
              <a:rPr lang="en-US" altLang="zh-CN" sz="2000" dirty="0"/>
              <a:t> Facebook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pPr marL="0" lvl="1"/>
            <a:endParaRPr lang="en-US" altLang="zh-CN" sz="2000" dirty="0"/>
          </a:p>
          <a:p>
            <a:pPr marL="0" lvl="1" algn="l">
              <a:buClrTx/>
              <a:buSzTx/>
              <a:buFontTx/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若数据被黑：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rgbClr val="FF0000"/>
                </a:solidFill>
              </a:rPr>
              <a:t>对用户的损害：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财务损失（如信用评级受损）</a:t>
            </a:r>
            <a:endParaRPr lang="en-US" altLang="zh-CN" sz="2000" dirty="0"/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情感损失（如病史泄露）</a:t>
            </a:r>
            <a:endParaRPr lang="zh-CN" altLang="en-US" sz="2000" dirty="0"/>
          </a:p>
          <a:p>
            <a:pPr lvl="2"/>
            <a:r>
              <a:rPr lang="zh-CN" altLang="en-US" sz="2000" dirty="0">
                <a:solidFill>
                  <a:srgbClr val="FF0000"/>
                </a:solidFill>
              </a:rPr>
              <a:t>对运营系统的公司的损害：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罚款（甚至刑事指控）</a:t>
            </a:r>
            <a:endParaRPr lang="en-US" altLang="zh-CN" sz="2000" dirty="0"/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损害赔偿的法律和解</a:t>
            </a:r>
            <a:endParaRPr lang="en-US" altLang="zh-CN" sz="2000" dirty="0"/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客户流失</a:t>
            </a:r>
            <a:endParaRPr lang="en-US" altLang="zh-CN" sz="2000" dirty="0"/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修复问题的技术成本</a:t>
            </a:r>
            <a:endParaRPr lang="en-US" altLang="zh-CN" sz="2000" dirty="0"/>
          </a:p>
          <a:p>
            <a:pPr lvl="2"/>
            <a:r>
              <a:rPr lang="zh-CN" altLang="en-US" sz="2000" dirty="0">
                <a:solidFill>
                  <a:srgbClr val="FF0000"/>
                </a:solidFill>
              </a:rPr>
              <a:t>国家安全问题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外部入侵者：风险最小化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02976" y="1614373"/>
            <a:ext cx="10946524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无法保证完全免受外部入侵，但谨慎的软件开发能起重要作用。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最小化风险的方法：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系统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接口设计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——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安全协议、认证、访问屏障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编程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——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防御性编程和严格测试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操作规程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——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备份、审计、漏洞测试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人员培训和监控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270365" cy="79057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风险最小化：依赖性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5" y="1188401"/>
            <a:ext cx="10678509" cy="4323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软件安全依赖整个技术栈：</a:t>
            </a:r>
            <a:endParaRPr lang="en-US" altLang="zh-CN" dirty="0"/>
          </a:p>
          <a:p>
            <a:pPr marL="285750" indent="-285750" fontAlgn="auto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 dirty="0"/>
              <a:t>硬件</a:t>
            </a:r>
            <a:endParaRPr lang="en-US" altLang="zh-CN" dirty="0"/>
          </a:p>
          <a:p>
            <a:pPr marL="285750" indent="-285750" fontAlgn="auto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 dirty="0"/>
              <a:t>操作系统与服务</a:t>
            </a:r>
            <a:endParaRPr lang="en-US" altLang="zh-CN" dirty="0"/>
          </a:p>
          <a:p>
            <a:pPr marL="285750" indent="-285750" fontAlgn="auto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 dirty="0"/>
              <a:t>库依赖项</a:t>
            </a:r>
            <a:endParaRPr lang="en-US" altLang="zh-CN" dirty="0"/>
          </a:p>
          <a:p>
            <a:pPr marL="285750" indent="-285750" fontAlgn="auto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 dirty="0"/>
              <a:t>构建工具与运行时环境</a:t>
            </a:r>
            <a:endParaRPr lang="en-US" altLang="zh-CN" dirty="0"/>
          </a:p>
          <a:p>
            <a:pPr marL="285750" indent="-285750" fontAlgn="auto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 dirty="0"/>
              <a:t>应用程序本身</a:t>
            </a:r>
            <a:endParaRPr lang="en-US" altLang="zh-CN" dirty="0"/>
          </a:p>
          <a:p>
            <a:pPr marL="285750" indent="-285750" fontAlgn="auto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 dirty="0"/>
              <a:t>可信数据与机密数据</a:t>
            </a: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en-US" altLang="zh-CN" dirty="0"/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风险管理需要策略和规划：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285750" indent="-285750" fontAlgn="auto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 dirty="0"/>
              <a:t>及时跟进安全更新（可能需要停机维护）</a:t>
            </a:r>
            <a:endParaRPr lang="en-US" altLang="zh-CN" dirty="0"/>
          </a:p>
          <a:p>
            <a:pPr marL="285750" indent="-285750" fontAlgn="auto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 dirty="0"/>
              <a:t>及时更新吊销列表、续期证书</a:t>
            </a:r>
            <a:endParaRPr lang="en-US" altLang="zh-CN" dirty="0"/>
          </a:p>
          <a:p>
            <a:pPr marL="285750" indent="-285750" fontAlgn="auto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 dirty="0"/>
              <a:t>在可用性与安全性之间平衡（淘汰不安全版本的停服时间表）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957718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风险最小化：系统架构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02976" y="1647826"/>
            <a:ext cx="10946524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系统架构可通过多种方式最小化风险：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   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安全协议，如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HTTPS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加密。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   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认证：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        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传输中和存储时的密码加密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        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双因素认证（有效但可能不便）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        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人脸识别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   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屏障，如防火墙、私有网络、虚拟专用网络（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VPN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）。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   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数据安全，如存储数据加密、备份。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风险最小化：在线数据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02976" y="1569769"/>
            <a:ext cx="10946524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数据收集：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仅收集必要数据。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删除无用数据。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加密敏感数据。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定期执行安全审计。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为故障做好准备：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备份所有数据。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了解隐私相关法律。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制定灾难恢复计划：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领导层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对用户的消息发布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公共关系应对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技术恢复流程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安全技术：屏障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35665"/>
            <a:ext cx="10946524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设置屏障以隔离复杂系统的各部分：</a:t>
            </a:r>
            <a:endParaRPr lang="en-US" altLang="zh-CN" sz="2000" dirty="0"/>
          </a:p>
          <a:p>
            <a:pPr lvl="1"/>
            <a:r>
              <a:rPr lang="zh-CN" altLang="en-US" sz="2000" dirty="0"/>
              <a:t>隔离组件，例如不将某台计算机接入网络。</a:t>
            </a:r>
            <a:endParaRPr lang="en-US" altLang="zh-CN" sz="2000" dirty="0"/>
          </a:p>
          <a:p>
            <a:pPr lvl="1"/>
            <a:r>
              <a:rPr lang="zh-CN" altLang="en-US" sz="2000" dirty="0"/>
              <a:t>防火墙</a:t>
            </a:r>
            <a:endParaRPr lang="en-US" altLang="zh-CN" sz="2000" dirty="0"/>
          </a:p>
          <a:p>
            <a:pPr lvl="1"/>
            <a:r>
              <a:rPr lang="zh-CN" altLang="en-US" sz="2000" dirty="0"/>
              <a:t>要求认证才能访问特定系统或系统部分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>
                <a:solidFill>
                  <a:srgbClr val="FF0000"/>
                </a:solidFill>
              </a:rPr>
              <a:t>每个屏障都会对系统允许的用途施加限制。</a:t>
            </a:r>
            <a:endParaRPr lang="zh-CN" altLang="en-US" sz="2000" dirty="0">
              <a:solidFill>
                <a:srgbClr val="FF0000"/>
              </a:solidFill>
            </a:endParaRPr>
          </a:p>
          <a:p>
            <a:endParaRPr lang="zh-CN" altLang="en-US" sz="2000" dirty="0"/>
          </a:p>
          <a:p>
            <a:r>
              <a:rPr lang="zh-CN" altLang="en-US" sz="2000" dirty="0"/>
              <a:t>当系统可划分为子系统时，屏障最为有效。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示例：</a:t>
            </a:r>
            <a:r>
              <a:rPr lang="en-US" altLang="zh-CN" sz="2000" dirty="0"/>
              <a:t>Internet Explorer </a:t>
            </a:r>
            <a:r>
              <a:rPr lang="zh-CN" altLang="en-US" sz="2000" dirty="0"/>
              <a:t>集成进</a:t>
            </a:r>
            <a:r>
              <a:rPr lang="en-US" altLang="zh-CN" sz="2000" dirty="0"/>
              <a:t> Windows </a:t>
            </a:r>
            <a:r>
              <a:rPr lang="zh-CN" altLang="en-US" sz="2000" dirty="0"/>
              <a:t>系统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11797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屏障：防火墙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079" y="1028699"/>
            <a:ext cx="7250323" cy="1379819"/>
          </a:xfrm>
          <a:prstGeom prst="rect">
            <a:avLst/>
          </a:prstGeom>
        </p:spPr>
      </p:pic>
      <p:sp>
        <p:nvSpPr>
          <p:cNvPr id="10" name="TextBox 3"/>
          <p:cNvSpPr txBox="1"/>
          <p:nvPr/>
        </p:nvSpPr>
        <p:spPr>
          <a:xfrm>
            <a:off x="572376" y="2683880"/>
            <a:ext cx="10946524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防火墙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是位于两个网段交界处的计算机，其功能为：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检查每个试图穿越边界的网络包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拒绝不满足特定条件的任何包，例如：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</a:rPr>
              <a:t>传入的</a:t>
            </a:r>
            <a:r>
              <a:rPr lang="en-US" altLang="zh-CN" sz="2000" dirty="0">
                <a:solidFill>
                  <a:schemeClr val="tx1"/>
                </a:solidFill>
              </a:rPr>
              <a:t> TCP </a:t>
            </a:r>
            <a:r>
              <a:rPr lang="zh-CN" altLang="en-US" sz="2000" dirty="0">
                <a:solidFill>
                  <a:schemeClr val="tx1"/>
                </a:solidFill>
              </a:rPr>
              <a:t>连接请求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</a:rPr>
              <a:t>未知类型的包</a:t>
            </a:r>
            <a:endParaRPr lang="zh-CN" altLang="en-US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防火墙以牺牲部分灵活性、增加用户不便和额外系统管理工作为代价，提供更高的安全性。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10211484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安全技术：认证与授权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72376" y="1591061"/>
            <a:ext cx="10946524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认证 (Authentication) </a:t>
            </a:r>
            <a:r>
              <a:rPr lang="zh-CN" altLang="en-US" sz="2000" dirty="0"/>
              <a:t>确立主体身份：</a:t>
            </a:r>
            <a:endParaRPr lang="en-US" altLang="zh-CN" sz="2000" dirty="0"/>
          </a:p>
          <a:p>
            <a:pPr lvl="1"/>
            <a:r>
              <a:rPr lang="zh-CN" altLang="en-US" sz="2000" dirty="0"/>
              <a:t>主体知道什么（如密码）？</a:t>
            </a:r>
            <a:endParaRPr lang="en-US" altLang="zh-CN" sz="2000" dirty="0"/>
          </a:p>
          <a:p>
            <a:pPr lvl="1"/>
            <a:r>
              <a:rPr lang="zh-CN" altLang="en-US" sz="2000" dirty="0"/>
              <a:t>主体拥有什么（如智能卡）？</a:t>
            </a:r>
            <a:endParaRPr lang="en-US" altLang="zh-CN" sz="2000" dirty="0"/>
          </a:p>
          <a:p>
            <a:pPr lvl="1"/>
            <a:r>
              <a:rPr lang="zh-CN" altLang="en-US" sz="2000" dirty="0"/>
              <a:t>主体物理上能访问什么（如</a:t>
            </a:r>
            <a:r>
              <a:rPr lang="en-US" altLang="zh-CN" sz="2000" dirty="0"/>
              <a:t> Ctrl-Alt-Del </a:t>
            </a:r>
            <a:r>
              <a:rPr lang="zh-CN" altLang="en-US" sz="2000" dirty="0"/>
              <a:t>组合键）？</a:t>
            </a:r>
            <a:endParaRPr lang="en-US" altLang="zh-CN" sz="2000" dirty="0"/>
          </a:p>
          <a:p>
            <a:pPr lvl="1"/>
            <a:r>
              <a:rPr lang="zh-CN" altLang="en-US" sz="2000" dirty="0"/>
              <a:t>主体的物理特性是什么（如指纹）？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授权 (Authorization) </a:t>
            </a:r>
            <a:r>
              <a:rPr lang="zh-CN" altLang="en-US" sz="2000" dirty="0"/>
              <a:t>确立已认证主体可以执行的操作：</a:t>
            </a:r>
            <a:endParaRPr lang="en-US" altLang="zh-CN" sz="2000" dirty="0"/>
          </a:p>
          <a:p>
            <a:pPr lvl="1"/>
            <a:r>
              <a:rPr lang="zh-CN" altLang="en-US" sz="2000" dirty="0"/>
              <a:t>访问控制列表</a:t>
            </a:r>
            <a:endParaRPr lang="en-US" altLang="zh-CN" sz="2000" dirty="0"/>
          </a:p>
          <a:p>
            <a:pPr lvl="1"/>
            <a:r>
              <a:rPr lang="zh-CN" altLang="en-US" sz="2000" dirty="0"/>
              <a:t>组成员身份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zh-CN" altLang="en-US" sz="2800" dirty="0">
                <a:latin typeface="Times New Roman" panose="02020603050405020304" charset="0"/>
              </a:rPr>
              <a:t>示例：数字内容访问架构</a:t>
            </a:r>
            <a:endParaRPr lang="zh-CN" altLang="en-US" sz="2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494" y="1131633"/>
            <a:ext cx="8843011" cy="512178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charset="0"/>
              </a:rPr>
              <a:t>访问控制技术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5" y="1242060"/>
            <a:ext cx="10032365" cy="40995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spcBef>
                <a:spcPts val="600"/>
              </a:spcBef>
            </a:pPr>
            <a:r>
              <a:rPr lang="en-US" altLang="zh-CN" sz="2000" dirty="0"/>
              <a:t>OpenID/OIDC</a:t>
            </a:r>
            <a:r>
              <a:rPr lang="zh-CN" altLang="en-US" sz="2000" dirty="0"/>
              <a:t>（认证）</a:t>
            </a:r>
            <a:endParaRPr lang="en-US" altLang="zh-CN" sz="2000" dirty="0"/>
          </a:p>
          <a:p>
            <a:pPr fontAlgn="auto">
              <a:spcBef>
                <a:spcPts val="600"/>
              </a:spcBef>
            </a:pPr>
            <a:r>
              <a:rPr lang="en-US" altLang="zh-CN" sz="2000" dirty="0"/>
              <a:t>SSH </a:t>
            </a:r>
            <a:r>
              <a:rPr lang="zh-CN" altLang="en-US" sz="2000" dirty="0"/>
              <a:t>密钥（认证）</a:t>
            </a:r>
            <a:endParaRPr lang="en-US" altLang="zh-CN" sz="2000" dirty="0"/>
          </a:p>
          <a:p>
            <a:pPr fontAlgn="auto">
              <a:spcBef>
                <a:spcPts val="600"/>
              </a:spcBef>
            </a:pPr>
            <a:r>
              <a:rPr lang="en-US" altLang="zh-CN" sz="2000" dirty="0"/>
              <a:t>LDAP</a:t>
            </a:r>
            <a:r>
              <a:rPr lang="zh-CN" altLang="en-US" sz="2000" dirty="0"/>
              <a:t>（身份、认证、授权）</a:t>
            </a:r>
            <a:endParaRPr lang="en-US" altLang="zh-CN" sz="2000" dirty="0"/>
          </a:p>
          <a:p>
            <a:pPr fontAlgn="auto">
              <a:spcBef>
                <a:spcPts val="600"/>
              </a:spcBef>
            </a:pPr>
            <a:r>
              <a:rPr lang="en-US" altLang="zh-CN" sz="2000" dirty="0"/>
              <a:t>Kerberos</a:t>
            </a:r>
            <a:r>
              <a:rPr lang="zh-CN" altLang="en-US" sz="2000" dirty="0"/>
              <a:t>（单点登录认证）</a:t>
            </a:r>
            <a:endParaRPr lang="en-US" altLang="zh-CN" sz="2000" dirty="0"/>
          </a:p>
          <a:p>
            <a:pPr fontAlgn="auto">
              <a:spcBef>
                <a:spcPts val="600"/>
              </a:spcBef>
            </a:pPr>
            <a:r>
              <a:rPr lang="en-US" altLang="zh-CN" sz="2000" dirty="0"/>
              <a:t>Unix </a:t>
            </a:r>
            <a:r>
              <a:rPr lang="zh-CN" altLang="en-US" sz="2000" dirty="0"/>
              <a:t>和</a:t>
            </a:r>
            <a:r>
              <a:rPr lang="en-US" altLang="zh-CN" sz="2000" dirty="0"/>
              <a:t> Windows </a:t>
            </a:r>
            <a:r>
              <a:rPr lang="zh-CN" altLang="en-US" sz="2000" dirty="0"/>
              <a:t>均支持</a:t>
            </a:r>
            <a:endParaRPr lang="zh-CN" altLang="en-US" sz="2000" dirty="0"/>
          </a:p>
          <a:p>
            <a:pPr fontAlgn="auto">
              <a:spcBef>
                <a:spcPts val="600"/>
              </a:spcBef>
            </a:pPr>
            <a:r>
              <a:rPr lang="en-US" altLang="zh-CN" sz="2000" dirty="0"/>
              <a:t>SAML/Shibboleth</a:t>
            </a:r>
            <a:r>
              <a:rPr lang="zh-CN" altLang="en-US" sz="2000" dirty="0"/>
              <a:t>（</a:t>
            </a:r>
            <a:r>
              <a:rPr lang="en-US" altLang="zh-CN" sz="2000" dirty="0"/>
              <a:t>Web </a:t>
            </a:r>
            <a:r>
              <a:rPr lang="zh-CN" altLang="en-US" sz="2000" dirty="0"/>
              <a:t>单点登录认证与授权）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charset="0"/>
              </a:rPr>
              <a:t>网络安全与屏障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386205"/>
            <a:ext cx="10942780" cy="4217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实践中，访问控制常与网络位置关联：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拒绝服务攻击无需认证即可影响资源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防火墙、私有网络和物理隔离提供隔离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将系统组件划分为不同信任域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结合其他层面的访问控制（纵深防御）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桥接往往易于构建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云计算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/XaaS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带来挑战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更一般地，当系统划分为子系统时，屏障是一种有用工具。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通信安全技术：加密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22737" y="1267350"/>
            <a:ext cx="10946524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加密使得即使数据位被未授权主体查看且算法公开，数据仍能安全存储和传输。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非对称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/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对称加密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数字签名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421" y="2102445"/>
            <a:ext cx="4115157" cy="26977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charset="0"/>
              </a:rPr>
              <a:t>通信安全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97610" y="1778526"/>
            <a:ext cx="10994390" cy="4166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完整性 —— 接收到的比特是否与发送的一致？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校验和与哈希可防止意外损坏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可信哈希能检测蓄意篡改</a:t>
            </a:r>
            <a:endParaRPr lang="zh-CN" altLang="en-US" dirty="0"/>
          </a:p>
          <a:p>
            <a:pPr>
              <a:spcBef>
                <a:spcPts val="600"/>
              </a:spcBef>
            </a:pPr>
            <a:endParaRPr lang="en-US" altLang="zh-CN" dirty="0"/>
          </a:p>
          <a:p>
            <a:pPr algn="l">
              <a:spcBef>
                <a:spcPts val="600"/>
              </a:spcBef>
              <a:buClrTx/>
              <a:buSzTx/>
              <a:buFontTx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真实性 —— 接收方能否验证消息确由声称的发送者发出？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消息认证码在共享密钥时提供真实性保障</a:t>
            </a:r>
            <a:endParaRPr lang="zh-CN" altLang="en-US" dirty="0"/>
          </a:p>
          <a:p>
            <a:pPr>
              <a:spcBef>
                <a:spcPts val="600"/>
              </a:spcBef>
            </a:pPr>
            <a:endParaRPr lang="en-US" altLang="zh-CN" dirty="0"/>
          </a:p>
          <a:p>
            <a:pPr algn="l">
              <a:spcBef>
                <a:spcPts val="600"/>
              </a:spcBef>
              <a:buClrTx/>
              <a:buSzTx/>
              <a:buFontTx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不可否认性 —— 第三方能否验证消息确由声称的发送者发出？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数字签名允许使用公钥验证（但开销更高）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通信安全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91565" y="1316990"/>
            <a:ext cx="10187940" cy="3091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机密性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——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仅预期接收方能读取消息内容。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通过加密提供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构建模块：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带关联数据的认证加密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+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公钥密码体制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（历史上：分组密码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+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哈希函数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+ 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公钥密码体制）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HTTPS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协议是标准解决方案！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0"/>
            <a:ext cx="8168208" cy="79086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dirty="0">
                <a:solidFill>
                  <a:srgbClr val="515223"/>
                </a:solidFill>
                <a:latin typeface="Times New Roman" panose="02020603050405020304" charset="0"/>
                <a:cs typeface="Arial" panose="020B0604020202090204" pitchFamily="34" charset="0"/>
              </a:rPr>
              <a:t>非对称加密与对称加密对比</a:t>
            </a:r>
            <a:endParaRPr lang="zh-CN" altLang="en-US" sz="3600" b="1" dirty="0">
              <a:solidFill>
                <a:srgbClr val="515223"/>
              </a:solidFill>
              <a:latin typeface="Times New Roman" panose="02020603050405020304" charset="0"/>
              <a:cs typeface="Arial" panose="020B060402020209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03" y="1162487"/>
            <a:ext cx="5492824" cy="304165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746" y="3427879"/>
            <a:ext cx="5157752" cy="28073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8881" y="4285539"/>
            <a:ext cx="65801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对称加密：</a:t>
            </a:r>
            <a:endParaRPr lang="en-US" altLang="zh-CN" dirty="0"/>
          </a:p>
          <a:p>
            <a:pPr lvl="1"/>
            <a:r>
              <a:rPr lang="zh-CN" altLang="en-US" dirty="0"/>
              <a:t>由一方生成，多方共享密钥</a:t>
            </a:r>
            <a:endParaRPr lang="en-US" altLang="zh-CN" dirty="0"/>
          </a:p>
          <a:p>
            <a:pPr lvl="1"/>
            <a:r>
              <a:rPr lang="zh-CN" altLang="en-US" dirty="0"/>
              <a:t>速度快，但有风险（密钥分发）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7778" y="1604537"/>
            <a:ext cx="617271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非对称加密：</a:t>
            </a:r>
            <a:endParaRPr lang="en-US" altLang="zh-CN" dirty="0"/>
          </a:p>
          <a:p>
            <a:pPr lvl="1"/>
            <a:r>
              <a:rPr lang="zh-CN" altLang="en-US" dirty="0"/>
              <a:t>由一方生成，仅共享公钥</a:t>
            </a:r>
            <a:endParaRPr lang="en-US" altLang="zh-CN" dirty="0"/>
          </a:p>
          <a:p>
            <a:pPr lvl="1"/>
            <a:r>
              <a:rPr lang="zh-CN" altLang="en-US" dirty="0"/>
              <a:t>安全，但计算开销高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40187" y="217920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999980" y="217920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7189076" y="438927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1343211" y="438927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HTTPS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070" y="1182146"/>
            <a:ext cx="7772400" cy="4766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79531" y="34290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79531" y="483471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87805" y="161591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87805" y="223434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87805" y="324696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36667" y="356563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14121" y="459804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70861" y="461596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4782" y="4615963"/>
            <a:ext cx="35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52819" y="2325414"/>
            <a:ext cx="35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52819" y="1615912"/>
            <a:ext cx="35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70861" y="2694746"/>
            <a:ext cx="10720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C00000"/>
                </a:solidFill>
              </a:rPr>
              <a:t>Certificate</a:t>
            </a:r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63494" y="2216518"/>
            <a:ext cx="10720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C00000"/>
                </a:solidFill>
              </a:rPr>
              <a:t>Certificate</a:t>
            </a:r>
            <a:endParaRPr lang="en-US" sz="1050" dirty="0">
              <a:solidFill>
                <a:srgbClr val="C00000"/>
              </a:solidFill>
            </a:endParaRPr>
          </a:p>
          <a:p>
            <a:pPr algn="ctr"/>
            <a:r>
              <a:rPr lang="en-US" sz="1050" dirty="0">
                <a:solidFill>
                  <a:srgbClr val="C00000"/>
                </a:solidFill>
              </a:rPr>
              <a:t>Verification</a:t>
            </a:r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30373" y="541259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52819" y="541259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风险最小化：编程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72376" y="1535306"/>
            <a:ext cx="10946524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软件开发挑战：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/>
              <a:t>开发安全可靠的组件</a:t>
            </a:r>
            <a:endParaRPr lang="en-US" altLang="zh-CN" sz="2000" dirty="0"/>
          </a:p>
          <a:p>
            <a:pPr lvl="1"/>
            <a:r>
              <a:rPr lang="zh-CN" altLang="en-US" sz="2000" dirty="0"/>
              <a:t>保护整个系统，使局部安全问题不致扩散至整个系统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大型系统包含众多主体和组件：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/>
              <a:t>每个组件都可能不可靠且不安全</a:t>
            </a:r>
            <a:endParaRPr lang="en-US" altLang="zh-CN" sz="2000" dirty="0"/>
          </a:p>
          <a:p>
            <a:pPr lvl="1"/>
            <a:r>
              <a:rPr lang="zh-CN" altLang="en-US" sz="2000" dirty="0"/>
              <a:t>从第三方获取的组件可能存在未知安全问题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商业现货软件问题：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/>
              <a:t>现货软件开发者有较大动力提供功能丰富的软件</a:t>
            </a:r>
            <a:endParaRPr lang="zh-CN" altLang="en-US" sz="2000" dirty="0"/>
          </a:p>
          <a:p>
            <a:pPr lvl="1"/>
            <a:r>
              <a:rPr lang="zh-CN" altLang="en-US" sz="2000" dirty="0"/>
              <a:t>在快速开发过程中，他们对安全性的重视动力不足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编写安全软件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6" y="1535306"/>
            <a:ext cx="10946524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与外界交互的程序</a:t>
            </a:r>
            <a:r>
              <a:rPr lang="zh-CN" altLang="en-US" sz="2000" dirty="0">
                <a:solidFill>
                  <a:schemeClr val="tx1"/>
                </a:solidFill>
              </a:rPr>
              <a:t>（如网站、邮件服务器）需以抵御入侵的方式编写。</a:t>
            </a:r>
            <a:endParaRPr lang="zh-CN" altLang="en-US" sz="2000" dirty="0">
              <a:solidFill>
                <a:schemeClr val="tx1"/>
              </a:solidFill>
            </a:endParaRPr>
          </a:p>
          <a:p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前</a:t>
            </a:r>
            <a:r>
              <a:rPr lang="en-US" altLang="zh-CN" sz="2000" dirty="0">
                <a:solidFill>
                  <a:schemeClr val="tx1"/>
                </a:solidFill>
              </a:rPr>
              <a:t>25</a:t>
            </a:r>
            <a:r>
              <a:rPr lang="zh-CN" altLang="en-US" sz="2000" dirty="0">
                <a:solidFill>
                  <a:schemeClr val="tx1"/>
                </a:solidFill>
              </a:rPr>
              <a:t>位编程错误请参见：</a:t>
            </a:r>
            <a:r>
              <a:rPr lang="en-US" altLang="zh-CN" sz="2000" dirty="0">
                <a:solidFill>
                  <a:schemeClr val="tx1"/>
                </a:solidFill>
              </a:rPr>
              <a:t>CWE </a:t>
            </a:r>
            <a:r>
              <a:rPr lang="zh-CN" altLang="en-US" sz="2000" dirty="0">
                <a:solidFill>
                  <a:schemeClr val="tx1"/>
                </a:solidFill>
              </a:rPr>
              <a:t>通用缺陷列表</a:t>
            </a:r>
            <a:r>
              <a:rPr lang="en-US" altLang="zh-CN" sz="2000" dirty="0">
                <a:solidFill>
                  <a:schemeClr val="tx1"/>
                </a:solidFill>
              </a:rPr>
              <a:t> http://cwe.mitre.org/top25/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组件间不安全交互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危险的资源管理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脆弱的防御</a:t>
            </a:r>
            <a:endParaRPr lang="zh-CN" altLang="en-US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项目管理和测试流程必须强调避免这些错误。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398635" cy="790575"/>
          </a:xfrm>
        </p:spPr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安全漏洞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34517" y="1485397"/>
            <a:ext cx="11300132" cy="4276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计算机可能执行本不应授权的代码或命令：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sz="1600" dirty="0"/>
              <a:t>缓冲区溢出：用户提供的字节覆盖了内存中的存储区域。</a:t>
            </a:r>
            <a:endParaRPr lang="zh-CN" altLang="en-US" sz="1600" dirty="0"/>
          </a:p>
          <a:p>
            <a:pPr lvl="1" indent="0" fontAlgn="auto">
              <a:spcBef>
                <a:spcPts val="600"/>
              </a:spcBef>
            </a:pPr>
            <a:endParaRPr lang="en-US" altLang="zh-CN" sz="1600" dirty="0"/>
          </a:p>
          <a:p>
            <a:pPr lvl="1" indent="0" fontAlgn="auto">
              <a:spcBef>
                <a:spcPts val="600"/>
              </a:spcBef>
            </a:pPr>
            <a:endParaRPr lang="en-US" altLang="zh-CN" sz="1600" dirty="0"/>
          </a:p>
          <a:p>
            <a:pPr lvl="1" indent="0" fontAlgn="auto">
              <a:spcBef>
                <a:spcPts val="600"/>
              </a:spcBef>
            </a:pPr>
            <a:endParaRPr lang="en-US" altLang="zh-CN" sz="1600" dirty="0"/>
          </a:p>
          <a:p>
            <a:pPr lvl="1" indent="0" fontAlgn="auto">
              <a:spcBef>
                <a:spcPts val="600"/>
              </a:spcBef>
            </a:pPr>
            <a:endParaRPr lang="en-US" altLang="zh-CN" sz="1600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sz="1600" dirty="0"/>
              <a:t>权限提升：已认证用户执行了仅限高权限用户的操作。</a:t>
            </a:r>
            <a:endParaRPr lang="en-US" altLang="zh-CN" sz="1600" dirty="0"/>
          </a:p>
          <a:p>
            <a:pPr lvl="2" indent="0" fontAlgn="auto">
              <a:spcBef>
                <a:spcPts val="600"/>
              </a:spcBef>
            </a:pPr>
            <a:r>
              <a:rPr lang="zh-CN" altLang="en-US" sz="1600" dirty="0"/>
              <a:t>示例：系统服务</a:t>
            </a:r>
            <a:endParaRPr lang="en-US" altLang="zh-CN" sz="1600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sz="1600" dirty="0"/>
              <a:t>注入：软件将用户提供的数据视为指令执行。</a:t>
            </a:r>
            <a:endParaRPr lang="en-US" altLang="zh-CN" sz="1600" dirty="0"/>
          </a:p>
          <a:p>
            <a:pPr lvl="2" indent="0" fontAlgn="auto">
              <a:spcBef>
                <a:spcPts val="600"/>
              </a:spcBef>
            </a:pPr>
            <a:r>
              <a:rPr lang="zh-CN" altLang="en-US" sz="1600" dirty="0"/>
              <a:t>示例：</a:t>
            </a:r>
            <a:r>
              <a:rPr lang="en-US" altLang="zh-CN" sz="1600" dirty="0"/>
              <a:t>printf </a:t>
            </a:r>
            <a:r>
              <a:rPr lang="zh-CN" altLang="en-US" sz="1600" dirty="0"/>
              <a:t>格式化字符串、</a:t>
            </a:r>
            <a:r>
              <a:rPr lang="en-US" altLang="zh-CN" sz="1600" dirty="0"/>
              <a:t>SQL </a:t>
            </a:r>
            <a:r>
              <a:rPr lang="zh-CN" altLang="en-US" sz="1600" dirty="0"/>
              <a:t>语句、</a:t>
            </a:r>
            <a:r>
              <a:rPr lang="en-US" altLang="zh-CN" sz="1600" dirty="0"/>
              <a:t>HTML/JS</a:t>
            </a:r>
            <a:r>
              <a:rPr lang="zh-CN" altLang="en-US" sz="1600" dirty="0"/>
              <a:t>、引号闭合</a:t>
            </a:r>
            <a:endParaRPr lang="en-US" altLang="zh-CN" sz="1600" dirty="0"/>
          </a:p>
          <a:p>
            <a:pPr lvl="2" indent="0" fontAlgn="auto">
              <a:spcBef>
                <a:spcPts val="600"/>
              </a:spcBef>
            </a:pPr>
            <a:r>
              <a:rPr lang="zh-CN" altLang="en-US" sz="1600" dirty="0"/>
              <a:t>网页尤其脆弱（数据与代码混合）：</a:t>
            </a:r>
            <a:endParaRPr lang="en-US" altLang="zh-CN" sz="1600" dirty="0"/>
          </a:p>
          <a:p>
            <a:pPr lvl="3" indent="0" fontAlgn="auto">
              <a:spcBef>
                <a:spcPts val="600"/>
              </a:spcBef>
            </a:pPr>
            <a:r>
              <a:rPr lang="en-US" altLang="zh-CN" sz="1600" dirty="0"/>
              <a:t>XSS</a:t>
            </a:r>
            <a:r>
              <a:rPr lang="zh-CN" altLang="en-US" sz="1600" dirty="0"/>
              <a:t>（跨站脚本）：让可信页面传递引用恶意</a:t>
            </a:r>
            <a:r>
              <a:rPr lang="en-US" altLang="zh-CN" sz="1600" dirty="0"/>
              <a:t> JavaScript </a:t>
            </a:r>
            <a:r>
              <a:rPr lang="zh-CN" altLang="en-US" sz="1600" dirty="0"/>
              <a:t>的内容</a:t>
            </a:r>
            <a:endParaRPr lang="en-US" altLang="zh-CN" sz="1600" dirty="0"/>
          </a:p>
          <a:p>
            <a:pPr lvl="3" indent="0" fontAlgn="auto">
              <a:spcBef>
                <a:spcPts val="600"/>
              </a:spcBef>
            </a:pPr>
            <a:r>
              <a:rPr lang="en-US" altLang="zh-CN" sz="1600" dirty="0"/>
              <a:t>CSRF</a:t>
            </a:r>
            <a:r>
              <a:rPr lang="zh-CN" altLang="en-US" sz="1600" dirty="0"/>
              <a:t>（跨站请求伪造）：让已认证浏览器向服务端提交恶意请求</a:t>
            </a:r>
            <a:endParaRPr lang="zh-CN" alt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39" y="2278380"/>
            <a:ext cx="2223457" cy="10549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10427335" cy="79057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SQL</a:t>
            </a:r>
            <a:r>
              <a:rPr lang="zh-CN" altLang="en-US" dirty="0">
                <a:latin typeface="Times New Roman" panose="02020603050405020304" charset="0"/>
              </a:rPr>
              <a:t>注入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206" y="2023044"/>
            <a:ext cx="8534400" cy="2423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6452" y="1807779"/>
            <a:ext cx="9259614" cy="525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91565" y="1912883"/>
            <a:ext cx="4918841" cy="30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</a:rPr>
              <a:t>SQL</a:t>
            </a:r>
            <a:r>
              <a:rPr lang="zh-CN" altLang="en-US" dirty="0">
                <a:latin typeface="Times New Roman" panose="02020603050405020304" charset="0"/>
              </a:rPr>
              <a:t>注入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631723" y="2032944"/>
            <a:ext cx="405699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pitchFamily="34" charset="-122"/>
                <a:cs typeface="Arial" panose="020B0604020202090204" pitchFamily="34" charset="0"/>
              </a:rPr>
              <a:t>What if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pitchFamily="34" charset="-122"/>
                <a:cs typeface="Arial" panose="020B0604020202090204" pitchFamily="34" charset="0"/>
              </a:rPr>
              <a:t>name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pitchFamily="34" charset="-122"/>
                <a:cs typeface="Arial" panose="020B0604020202090204" pitchFamily="34" charset="0"/>
              </a:rPr>
              <a:t> = </a:t>
            </a:r>
            <a:r>
              <a:rPr 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pitchFamily="34" charset="-122"/>
              </a:rPr>
              <a:t>‘XXX' OR 'a'='a’</a:t>
            </a:r>
            <a:endParaRPr lang="en-US" dirty="0">
              <a:solidFill>
                <a:srgbClr val="C00000"/>
              </a:solidFill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560" y="2393245"/>
            <a:ext cx="8534400" cy="2423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2882" y="2293594"/>
            <a:ext cx="4918841" cy="30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24417" y="2393245"/>
            <a:ext cx="310398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charset="0"/>
              </a:rPr>
              <a:t>SQL</a:t>
            </a:r>
            <a:r>
              <a:rPr lang="zh-CN" altLang="en-US" dirty="0">
                <a:latin typeface="Times New Roman" panose="02020603050405020304" charset="0"/>
              </a:rPr>
              <a:t>注入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02470" y="1973535"/>
            <a:ext cx="405699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pitchFamily="34" charset="-122"/>
                <a:cs typeface="Arial" panose="020B0604020202090204" pitchFamily="34" charset="0"/>
              </a:rPr>
              <a:t>What if name = </a:t>
            </a:r>
            <a:r>
              <a:rPr lang="en-US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pitchFamily="34" charset="-122"/>
              </a:rPr>
              <a:t>‘XXX' OR 'a'='a’</a:t>
            </a:r>
            <a:endParaRPr lang="en-US" dirty="0">
              <a:solidFill>
                <a:srgbClr val="C00000"/>
              </a:solidFill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55" y="2458480"/>
            <a:ext cx="85344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213850" cy="790575"/>
          </a:xfrm>
        </p:spPr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缓解注入攻击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97940"/>
            <a:ext cx="10426700" cy="3466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避免手动将参数拼接到命令字符串中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使用占位符和接受额外参数的</a:t>
            </a:r>
            <a:r>
              <a:rPr lang="en-US" altLang="zh-CN" dirty="0"/>
              <a:t> API</a:t>
            </a:r>
            <a:endParaRPr lang="en-US" altLang="zh-CN" dirty="0"/>
          </a:p>
          <a:p>
            <a:pPr indent="0" fontAlgn="auto">
              <a:spcBef>
                <a:spcPts val="600"/>
              </a:spcBef>
            </a:pPr>
            <a:endParaRPr lang="en-US" altLang="zh-CN" dirty="0"/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输入验证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切勿仅依赖客户端验证</a:t>
            </a: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en-US" altLang="zh-CN" dirty="0"/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污点追踪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标记所有源自用户输入的值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仅允许在通过适当验证函数后使用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333230" cy="790575"/>
          </a:xfrm>
        </p:spPr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侧信道攻击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91565" y="1551940"/>
            <a:ext cx="8761095" cy="4490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时序、功耗、电磁辐射等可能泄露秘密。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spcBef>
                <a:spcPts val="600"/>
              </a:spcBef>
            </a:pP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zh-CN" altLang="en-US" dirty="0"/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可通过专门技术缓解：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或偶尔采用高成本但直接的缓解手段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示例：网络通信中注入随机性</a:t>
            </a: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en-US" altLang="zh-CN" dirty="0"/>
          </a:p>
          <a:p>
            <a:pPr indent="0" fontAlgn="auto">
              <a:spcBef>
                <a:spcPts val="600"/>
              </a:spcBef>
            </a:pPr>
            <a:endParaRPr lang="en-US" altLang="zh-C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942" y="2332355"/>
            <a:ext cx="4698978" cy="219329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015095" cy="790575"/>
          </a:xfrm>
        </p:spPr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捕获</a:t>
            </a:r>
            <a:r>
              <a:rPr lang="en-US" altLang="zh-CN">
                <a:latin typeface="Times New Roman" panose="02020603050405020304" charset="0"/>
              </a:rPr>
              <a:t>/</a:t>
            </a:r>
            <a:r>
              <a:rPr lang="zh-CN" altLang="en-US">
                <a:latin typeface="Times New Roman" panose="02020603050405020304" charset="0"/>
              </a:rPr>
              <a:t>避免安全漏洞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281430"/>
            <a:ext cx="10311765" cy="46774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需要采用最先进的技术来保证软件质量：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昂贵，难以规模化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聚焦社区力量，复用成熟组件，及时更新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崇尚简洁（不幸的是，标准常迁就复杂性）</a:t>
            </a: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en-US" altLang="zh-CN" dirty="0"/>
          </a:p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技术手段：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代码审查、专家审计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测试（模糊测试）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静态与动态分析（污点跟踪、内存检查）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形式化验证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沙箱</a:t>
            </a:r>
            <a:endParaRPr lang="zh-CN" altLang="en-US" dirty="0"/>
          </a:p>
          <a:p>
            <a:pPr indent="0" fontAlgn="auto">
              <a:spcBef>
                <a:spcPts val="600"/>
              </a:spcBef>
            </a:pPr>
            <a:endParaRPr lang="en-US" altLang="zh-CN" dirty="0"/>
          </a:p>
          <a:p>
            <a:pPr indent="0" fontAlgn="auto">
              <a:spcBef>
                <a:spcPts val="600"/>
              </a:spcBef>
            </a:pPr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565" y="238125"/>
            <a:ext cx="9015095" cy="790575"/>
          </a:xfrm>
        </p:spPr>
        <p:txBody>
          <a:bodyPr>
            <a:normAutofit/>
          </a:bodyPr>
          <a:lstStyle/>
          <a:p>
            <a:r>
              <a:rPr lang="zh-CN" altLang="en-US">
                <a:latin typeface="Times New Roman" panose="02020603050405020304" charset="0"/>
              </a:rPr>
              <a:t>沙盒</a:t>
            </a:r>
            <a:r>
              <a:rPr lang="zh-CN" altLang="en-US">
                <a:latin typeface="Times New Roman" panose="02020603050405020304" charset="0"/>
              </a:rPr>
              <a:t>化（Sandboxing）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65" y="1504950"/>
            <a:ext cx="9316720" cy="3848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Bef>
                <a:spcPts val="600"/>
              </a:spcBef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纵深防御：假设应用程序可能被攻破；如何遏制损害？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示例：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en-US" altLang="zh-CN" dirty="0"/>
              <a:t>Java </a:t>
            </a:r>
            <a:r>
              <a:rPr lang="zh-CN" altLang="en-US" dirty="0"/>
              <a:t>安全管理器</a:t>
            </a:r>
            <a:endParaRPr lang="zh-CN" altLang="en-US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进程</a:t>
            </a:r>
            <a:r>
              <a:rPr lang="en-US" altLang="zh-CN" dirty="0"/>
              <a:t> vs. </a:t>
            </a:r>
            <a:r>
              <a:rPr lang="zh-CN" altLang="en-US" dirty="0"/>
              <a:t>线程（</a:t>
            </a:r>
            <a:r>
              <a:rPr lang="en-US" altLang="zh-CN" dirty="0"/>
              <a:t>Chrome </a:t>
            </a:r>
            <a:r>
              <a:rPr lang="zh-CN" altLang="en-US" dirty="0"/>
              <a:t>浏览器标签页）</a:t>
            </a:r>
            <a:endParaRPr lang="en-US" altLang="zh-CN" dirty="0"/>
          </a:p>
          <a:p>
            <a:pPr lvl="1" indent="0" fontAlgn="auto">
              <a:spcBef>
                <a:spcPts val="600"/>
              </a:spcBef>
            </a:pPr>
            <a:r>
              <a:rPr lang="zh-CN" altLang="en-US" dirty="0"/>
              <a:t>容器与虚拟机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风险最小化：操作规程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TextBox 3"/>
          <p:cNvSpPr txBox="1"/>
          <p:nvPr/>
        </p:nvSpPr>
        <p:spPr>
          <a:xfrm>
            <a:off x="572375" y="1223075"/>
            <a:ext cx="11381731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操作规程必须预见安全问题。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需由高级职员负责安全事宜。</a:t>
            </a:r>
            <a:endParaRPr lang="zh-CN" altLang="en-US" sz="2000" dirty="0">
              <a:solidFill>
                <a:srgbClr val="FF0000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设备：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保持系统软件更新至最新安全补丁。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运行最新的病毒检查软件。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明确关于密码、个人设备和非常规软件的规则。</a:t>
            </a:r>
            <a:endParaRPr lang="zh-CN" altLang="en-US" sz="2000" dirty="0">
              <a:solidFill>
                <a:schemeClr val="tx1"/>
              </a:solidFill>
            </a:endParaRPr>
          </a:p>
          <a:p>
            <a:endParaRPr lang="en-US" altLang="zh-CN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例行检查：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定期进行网络安全测试。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运行密码强度检查工具。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示例：卡内基梅隆大学的实践</a:t>
            </a:r>
            <a:endParaRPr lang="zh-CN" altLang="en-US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培训：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让员工了解安全知识，并征求他们的建议。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42559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运维：恢复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5" y="1074509"/>
            <a:ext cx="11381731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有系统迟早都会因硬件、软件、操作或安全问题而出现故障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操作规程必须预见数据丢失和系统损坏，这随时可能发生。</a:t>
            </a:r>
            <a:endParaRPr lang="zh-CN" altLang="en-US" sz="2000" dirty="0">
              <a:solidFill>
                <a:schemeClr val="tx1"/>
              </a:solidFill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备份技术：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定期对系统做检查点。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定期备份所有数据。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保留所有重要事务的完整审计跟踪。</a:t>
            </a:r>
            <a:endParaRPr lang="zh-CN" altLang="en-US" sz="2000" dirty="0">
              <a:solidFill>
                <a:schemeClr val="tx1"/>
              </a:solidFill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恢复软件：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恢复软件复杂，需定期在真实场景下测试。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良好实践是重建整个系统，但这在数据量巨大时可能不现实。</a:t>
            </a:r>
            <a:endParaRPr lang="zh-CN" altLang="en-US" sz="2000" dirty="0">
              <a:solidFill>
                <a:srgbClr val="FF0000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使用</a:t>
            </a:r>
            <a:r>
              <a:rPr lang="en-US" altLang="zh-CN" sz="2000" dirty="0">
                <a:solidFill>
                  <a:srgbClr val="FF0000"/>
                </a:solidFill>
              </a:rPr>
              <a:t> Docker</a:t>
            </a:r>
            <a:r>
              <a:rPr lang="zh-CN" altLang="en-US" sz="2000" dirty="0">
                <a:solidFill>
                  <a:srgbClr val="FF0000"/>
                </a:solidFill>
              </a:rPr>
              <a:t>！</a:t>
            </a:r>
            <a:endParaRPr lang="zh-CN" altLang="en-US" sz="2000" dirty="0">
              <a:solidFill>
                <a:srgbClr val="FF0000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13197" y="237834"/>
            <a:ext cx="9042559" cy="790865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Times New Roman" panose="02020603050405020304" charset="0"/>
              </a:rPr>
              <a:t>开发过程中的安全</a:t>
            </a:r>
            <a:endParaRPr lang="zh-CN" altLang="en-US" sz="3200" dirty="0">
              <a:latin typeface="Times New Roman" panose="02020603050405020304" charset="0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810269" y="1553894"/>
            <a:ext cx="11381731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结论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  <a:sym typeface="+mn-ea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永远无法保证系统绝对安全，但可以采取大量措施将风险降至最低，并具备从问题中恢复的能力。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性能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02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TWO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14745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计算机系统性能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2489271"/>
            <a:ext cx="11163995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性能至关重要：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单个瓶颈可拖慢整个系统。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未来负载可能远超预期。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b="1" dirty="0">
                <a:solidFill>
                  <a:srgbClr val="C00000"/>
                </a:solidFill>
              </a:rPr>
              <a:t>性能是一个直观的关键绩效指标！</a:t>
            </a:r>
            <a:endParaRPr lang="zh-CN" altLang="en-US" sz="2000" b="1" dirty="0">
              <a:solidFill>
                <a:srgbClr val="C00000"/>
              </a:solidFill>
            </a:endParaRPr>
          </a:p>
          <a:p>
            <a:endParaRPr lang="en-US" altLang="zh-CN" sz="2000" b="1" dirty="0">
              <a:solidFill>
                <a:srgbClr val="C00000"/>
              </a:solidFill>
            </a:endParaRPr>
          </a:p>
          <a:p>
            <a:endParaRPr lang="en-US" altLang="zh-CN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何时关注性能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723925"/>
            <a:ext cx="11163995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实时系统：</a:t>
            </a:r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计算速度必须足够快以支持所提供服务，例如电传飞行控制系统对响应时间有严格要求。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大规模计算：</a:t>
            </a:r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运行时间可能以天计，如天气预报计算必须足够快以使预测有价值。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用户界面：</a:t>
            </a:r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用户期望高，如鼠标跟踪必须看似瞬间完成。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事务处理：</a:t>
            </a:r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员工需高效工作，客户不能忍受延迟，如高频交易。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资源受限系统：</a:t>
            </a:r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小型设备仍需处理繁重任务。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15937" cy="790865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latin typeface="Times New Roman" panose="02020603050405020304" charset="0"/>
              </a:rPr>
              <a:t>高性能计算</a:t>
            </a:r>
            <a:endParaRPr lang="zh-CN" altLang="en-US" sz="5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941825"/>
            <a:ext cx="11514522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高性能计算场景：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海量数据与众多事务（如淘宝）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海量用户（如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TikTok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大规模计算（如天气预报）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必须在硬件成本与软件开发成本间平衡：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某些配置极难编程和调试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有时可将应用开发人员与系统复杂性隔离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3194" cy="790865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Times New Roman" panose="02020603050405020304" charset="0"/>
              </a:rPr>
              <a:t>所有软件系统面临的性能挑战</a:t>
            </a:r>
            <a:endParaRPr lang="zh-CN" altLang="en-US" sz="2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14002" y="2167937"/>
            <a:ext cx="11163995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任务：</a:t>
            </a:r>
            <a:endParaRPr lang="zh-CN" altLang="en-US" sz="2000" b="1" dirty="0"/>
          </a:p>
          <a:p>
            <a:endParaRPr lang="en-US" altLang="zh-CN" sz="2000" dirty="0"/>
          </a:p>
          <a:p>
            <a:pPr marL="457200" indent="-457200">
              <a:buAutoNum type="arabicPeriod"/>
            </a:pPr>
            <a:r>
              <a:rPr lang="zh-CN" altLang="en-US" sz="2000" dirty="0"/>
              <a:t>在系统实现前预测性能问题。</a:t>
            </a:r>
            <a:endParaRPr lang="en-US" altLang="zh-CN" sz="2000" dirty="0"/>
          </a:p>
          <a:p>
            <a:pPr marL="457200" indent="-457200">
              <a:buAutoNum type="arabicPeriod"/>
            </a:pPr>
            <a:r>
              <a:rPr lang="zh-CN" altLang="en-US" sz="2000" dirty="0"/>
              <a:t>设计并构建不易出现性能问题的系统。</a:t>
            </a:r>
            <a:endParaRPr lang="en-US" altLang="zh-CN" sz="2000" dirty="0"/>
          </a:p>
          <a:p>
            <a:pPr marL="457200" indent="-457200">
              <a:buAutoNum type="arabicPeriod"/>
            </a:pPr>
            <a:r>
              <a:rPr lang="zh-CN" altLang="en-US" sz="2000" dirty="0"/>
              <a:t>系统实现后识别原因并修复问题。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Times New Roman" panose="02020603050405020304" charset="0"/>
              </a:rPr>
              <a:t>所有软件系统面临的性能挑战</a:t>
            </a:r>
            <a:endParaRPr lang="zh-CN" altLang="en-US" sz="2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50432" y="1879420"/>
            <a:ext cx="11383913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基本技术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理解底层硬件和网络组件在系统执行时如何与软件交互。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为每个子系统计算容量和负载。容量由硬件和软件架构共同决定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识别负载接近峰值容量的子系统。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示例：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计算表明某搜索系统容量为每秒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1000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次搜索。预期的峰值需求是多少？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硬件与软件的交互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83526" y="1732408"/>
            <a:ext cx="11163995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示例问题：</a:t>
            </a:r>
            <a:endParaRPr lang="zh-CN" altLang="en-US" sz="2000" b="1" dirty="0"/>
          </a:p>
          <a:p>
            <a:endParaRPr lang="en-US" altLang="zh-CN" sz="2000" dirty="0"/>
          </a:p>
          <a:p>
            <a:pPr lvl="1"/>
            <a:r>
              <a:rPr lang="zh-CN" altLang="en-US" sz="2000" dirty="0"/>
              <a:t>分布式系统中，节点间传递哪些消息？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单次事务需从磁盘读取多少次？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使用了哪些缓冲和缓存机制？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操作是并行的还是顺序的？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是否有其他系统竞争共享资源（如网络或服务器集群）？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操作系统如何调度任务？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寻找瓶颈：</a:t>
            </a:r>
            <a:r>
              <a:rPr lang="en-US" altLang="zh-CN" dirty="0">
                <a:latin typeface="Times New Roman" panose="02020603050405020304" charset="0"/>
              </a:rPr>
              <a:t>CPU</a:t>
            </a:r>
            <a:r>
              <a:rPr lang="zh-CN" altLang="en-US" dirty="0">
                <a:latin typeface="Times New Roman" panose="02020603050405020304" charset="0"/>
              </a:rPr>
              <a:t>性能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953515"/>
            <a:ext cx="11163995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CPU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性能在某些领域是限制因素，例如：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大型数值计算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数学计算（如特征工程）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压缩与加密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多媒体（如视频）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感知处理（如图像处理）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寻找瓶颈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738113"/>
            <a:ext cx="11619625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但是，</a:t>
            </a:r>
            <a:r>
              <a:rPr lang="zh-CN" altLang="en-US" sz="2000" dirty="0"/>
              <a:t>随着多核机器普及，</a:t>
            </a:r>
            <a:r>
              <a:rPr lang="en-US" altLang="zh-CN" sz="2000" dirty="0"/>
              <a:t>CPU </a:t>
            </a:r>
            <a:r>
              <a:rPr lang="zh-CN" altLang="en-US" sz="2000" dirty="0"/>
              <a:t>性能通常不再是限制因素。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硬件瓶颈：</a:t>
            </a:r>
            <a:endParaRPr lang="en-US" altLang="zh-CN" sz="2000" dirty="0"/>
          </a:p>
          <a:p>
            <a:pPr lvl="1"/>
            <a:r>
              <a:rPr lang="zh-CN" altLang="en-US" sz="2000" dirty="0"/>
              <a:t>从磁盘读取数据</a:t>
            </a:r>
            <a:endParaRPr lang="en-US" altLang="zh-CN" sz="2000" dirty="0"/>
          </a:p>
          <a:p>
            <a:pPr lvl="1"/>
            <a:r>
              <a:rPr lang="zh-CN" altLang="en-US" sz="2000" dirty="0"/>
              <a:t>内存不足（包括页面交换）</a:t>
            </a:r>
            <a:endParaRPr lang="en-US" altLang="zh-CN" sz="2000" dirty="0"/>
          </a:p>
          <a:p>
            <a:pPr lvl="1"/>
            <a:r>
              <a:rPr lang="zh-CN" altLang="en-US" sz="2000" dirty="0"/>
              <a:t>数据从内存移至</a:t>
            </a:r>
            <a:r>
              <a:rPr lang="en-US" altLang="zh-CN" sz="2000" dirty="0"/>
              <a:t> CPU</a:t>
            </a:r>
            <a:endParaRPr lang="en-US" altLang="zh-CN" sz="2000" dirty="0"/>
          </a:p>
          <a:p>
            <a:pPr lvl="1"/>
            <a:r>
              <a:rPr lang="zh-CN" altLang="en-US" sz="2000" dirty="0"/>
              <a:t>网络容量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低效软件：</a:t>
            </a:r>
            <a:endParaRPr lang="en-US" altLang="zh-CN" sz="2000" dirty="0"/>
          </a:p>
          <a:p>
            <a:pPr lvl="1"/>
            <a:r>
              <a:rPr lang="zh-CN" altLang="en-US" sz="2000" dirty="0"/>
              <a:t>扩展性差的算法（如遗留系统中的算法）</a:t>
            </a:r>
            <a:endParaRPr lang="en-US" altLang="zh-CN" sz="2000" dirty="0"/>
          </a:p>
          <a:p>
            <a:pPr lvl="1"/>
            <a:r>
              <a:rPr lang="zh-CN" altLang="en-US" sz="2000" dirty="0"/>
              <a:t>并行与顺序处理的划分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寻找瓶颈：利用率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527293"/>
            <a:ext cx="11163995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利用率是指一项服务平均使用的容量占比。</a:t>
            </a:r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当任何硬件组件的利用率超过</a:t>
            </a:r>
            <a:r>
              <a:rPr lang="en-US" altLang="zh-CN" sz="2000" dirty="0"/>
              <a:t> 0.3 </a:t>
            </a:r>
            <a:r>
              <a:rPr lang="zh-CN" altLang="en-US" sz="2000" dirty="0"/>
              <a:t>时，就应警惕拥塞。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峰值负载和临时需求增长可能远超平均值。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5603" y="2184578"/>
            <a:ext cx="6498166" cy="108165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不同组件的时标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949" y="1438505"/>
            <a:ext cx="9406102" cy="31383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4480" y="5080713"/>
            <a:ext cx="844303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实际性能可能远低于理论峰值。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预测系统性能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2087610"/>
            <a:ext cx="11163995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000" dirty="0">
                <a:solidFill>
                  <a:schemeClr val="tx1"/>
                </a:solidFill>
              </a:rPr>
              <a:t>对子系统的直接测量（基准测试）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zh-CN" altLang="en-US" sz="2000" dirty="0">
                <a:solidFill>
                  <a:schemeClr val="tx1"/>
                </a:solidFill>
              </a:rPr>
              <a:t>数学模型（排队论）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zh-CN" altLang="en-US" sz="2000" dirty="0">
                <a:solidFill>
                  <a:schemeClr val="tx1"/>
                </a:solidFill>
              </a:rPr>
              <a:t>仿真模拟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endParaRPr lang="en-US" altLang="zh-CN" sz="2000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所有方法都需深入理解软硬件系统间的交互。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000" dirty="0">
                <a:latin typeface="Times New Roman" panose="02020603050405020304" charset="0"/>
              </a:rPr>
              <a:t>数学模型：排队论</a:t>
            </a:r>
            <a:endParaRPr lang="zh-CN" altLang="en-US" sz="4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981611"/>
            <a:ext cx="1116399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排队论可对单服务器队列的拥塞进行良好估计，适用条件：</a:t>
            </a:r>
            <a:endParaRPr lang="en-US" altLang="zh-CN" sz="2000" dirty="0"/>
          </a:p>
          <a:p>
            <a:pPr lvl="1"/>
            <a:r>
              <a:rPr lang="zh-CN" altLang="en-US" sz="2000" dirty="0"/>
              <a:t>到达是独立的随机事件（泊松过程）</a:t>
            </a:r>
            <a:endParaRPr lang="en-US" altLang="zh-CN" sz="2000" dirty="0"/>
          </a:p>
          <a:p>
            <a:pPr lvl="1"/>
            <a:r>
              <a:rPr lang="zh-CN" altLang="en-US" sz="2000" dirty="0"/>
              <a:t>服务时间遵循特定分布族（如负指数分布、伽马分布）</a:t>
            </a:r>
            <a:endParaRPr lang="zh-CN" altLang="en-US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许多结果可扩展至多服务器队列。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/>
              <a:t>早期排队论研究由</a:t>
            </a:r>
            <a:r>
              <a:rPr lang="en-US" altLang="zh-CN" sz="2000" dirty="0"/>
              <a:t> Erlang </a:t>
            </a:r>
            <a:r>
              <a:rPr lang="zh-CN" altLang="en-US" sz="2000" dirty="0"/>
              <a:t>用于模拟电话网络拥塞。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数学模型：队列示例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4480187"/>
            <a:ext cx="11109085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示例：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读取磁盘的请求（无缓冲或其他优化）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机场单值机柜台前等待的旅客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518" y="2340888"/>
            <a:ext cx="7818798" cy="1394581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4765490" y="1473217"/>
            <a:ext cx="266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Single server queue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latin typeface="Times New Roman" panose="02020603050405020304" charset="0"/>
              </a:rPr>
              <a:t>队列示例</a:t>
            </a:r>
            <a:endParaRPr lang="zh-CN" altLang="en-US" sz="5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5" y="4942099"/>
            <a:ext cx="1110908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示例：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多处理器计算机上处理的任务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机场多值机柜台前等待的旅客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4765490" y="1322391"/>
            <a:ext cx="266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Multi-server queue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b="2393"/>
          <a:stretch>
            <a:fillRect/>
          </a:stretch>
        </p:blipFill>
        <p:spPr>
          <a:xfrm>
            <a:off x="2178980" y="1884405"/>
            <a:ext cx="7834039" cy="292326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技术：仿真模拟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72375" y="1467066"/>
            <a:ext cx="11163995" cy="4092575"/>
            <a:chOff x="572375" y="1467066"/>
            <a:chExt cx="11163995" cy="4092575"/>
          </a:xfrm>
        </p:grpSpPr>
        <p:sp>
          <p:nvSpPr>
            <p:cNvPr id="7" name="TextBox 3"/>
            <p:cNvSpPr txBox="1"/>
            <p:nvPr/>
          </p:nvSpPr>
          <p:spPr>
            <a:xfrm>
              <a:off x="572375" y="1467066"/>
              <a:ext cx="11163995" cy="40925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构建一个计算机程序，将系统建模为一组状态和事件。</a:t>
              </a:r>
              <a:endPara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endPara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r>
                <a:rPr lang="zh-CN" altLang="en-US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推进仿真时间</a:t>
              </a:r>
              <a:endPara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r>
                <a:rPr lang="en-US" altLang="zh-CN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 </a:t>
              </a:r>
              <a:r>
                <a:rPr lang="zh-CN" altLang="en-US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确定发生了哪些事件</a:t>
              </a:r>
              <a:endPara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r>
                <a:rPr lang="en-US" altLang="zh-CN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 </a:t>
              </a:r>
              <a:r>
                <a:rPr lang="zh-CN" altLang="en-US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更新状态和事件列表</a:t>
              </a:r>
              <a:endPara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r>
                <a:rPr lang="zh-CN" altLang="en-US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重复执行</a:t>
              </a:r>
              <a:endPara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endPara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r>
                <a:rPr lang="zh-CN" altLang="en-US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离散时间仿真：</a:t>
              </a:r>
              <a:r>
                <a:rPr lang="zh-CN" altLang="en-US" sz="2000" dirty="0">
                  <a:solidFill>
                    <a:schemeClr val="tx1"/>
                  </a:solidFill>
                  <a:latin typeface="Helvetica" pitchFamily="2" charset="0"/>
                  <a:cs typeface="Arial" panose="020B0604020202090204" pitchFamily="34" charset="0"/>
                </a:rPr>
                <a:t>时间按固定步长推进（例如，</a:t>
              </a:r>
              <a:r>
                <a:rPr lang="en-US" altLang="zh-CN" sz="2000" dirty="0">
                  <a:solidFill>
                    <a:schemeClr val="tx1"/>
                  </a:solidFill>
                  <a:latin typeface="Helvetica" pitchFamily="2" charset="0"/>
                  <a:cs typeface="Arial" panose="020B0604020202090204" pitchFamily="34" charset="0"/>
                </a:rPr>
                <a:t>1</a:t>
              </a:r>
              <a:r>
                <a:rPr lang="zh-CN" altLang="en-US" sz="2000" dirty="0">
                  <a:solidFill>
                    <a:schemeClr val="tx1"/>
                  </a:solidFill>
                  <a:latin typeface="Helvetica" pitchFamily="2" charset="0"/>
                  <a:cs typeface="Arial" panose="020B0604020202090204" pitchFamily="34" charset="0"/>
                </a:rPr>
                <a:t>毫秒）</a:t>
              </a:r>
              <a:endPara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endPara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r>
                <a:rPr lang="zh-CN" altLang="en-US" sz="2000" b="1" dirty="0">
                  <a:solidFill>
                    <a:srgbClr val="515223"/>
                  </a:solidFill>
                  <a:latin typeface="Helvetica" pitchFamily="2" charset="0"/>
                  <a:cs typeface="Arial" panose="020B0604020202090204" pitchFamily="34" charset="0"/>
                </a:rPr>
                <a:t>下一事件仿真：</a:t>
              </a:r>
              <a:r>
                <a:rPr lang="zh-CN" altLang="en-US" sz="2000" dirty="0">
                  <a:solidFill>
                    <a:schemeClr val="tx1"/>
                  </a:solidFill>
                  <a:latin typeface="Helvetica" pitchFamily="2" charset="0"/>
                  <a:cs typeface="Arial" panose="020B0604020202090204" pitchFamily="34" charset="0"/>
                </a:rPr>
                <a:t>时间推进至下一个事件发生时刻</a:t>
              </a:r>
              <a:endPara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endPara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endParaRPr>
            </a:p>
            <a:p>
              <a:r>
                <a:rPr lang="zh-CN" altLang="en-US" sz="2000" dirty="0">
                  <a:solidFill>
                    <a:schemeClr val="tx1"/>
                  </a:solidFill>
                  <a:latin typeface="Helvetica" pitchFamily="2" charset="0"/>
                  <a:cs typeface="Arial" panose="020B0604020202090204" pitchFamily="34" charset="0"/>
                </a:rPr>
                <a:t>事件可通过随机变量（例如，下一位顾客到达、磁盘延迟完成）或使用从运行系统中收集的数据进行模拟。</a:t>
              </a:r>
              <a:endPara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1297" y="2058176"/>
              <a:ext cx="5993354" cy="12694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4643" y="2153601"/>
            <a:ext cx="6582713" cy="420274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队列行为：利用率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5252224" y="972868"/>
            <a:ext cx="584852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1200" dirty="0">
                <a:solidFill>
                  <a:srgbClr val="FF0000"/>
                </a:solidFill>
                <a:effectLst/>
                <a:latin typeface="Times New Roman" panose="02020603050405020304" charset="0"/>
                <a:ea typeface="微软雅黑" panose="020B0503020204020204" pitchFamily="34" charset="-122"/>
                <a:cs typeface="+mn-cs"/>
              </a:rPr>
              <a:t>曲线的确切形状取决于队列类型（例如，单服务器）以及到达时间与服务时间的统计分布。</a:t>
            </a:r>
            <a:endParaRPr lang="zh-CN" altLang="en-US" sz="1800" kern="1200" dirty="0">
              <a:solidFill>
                <a:srgbClr val="FF0000"/>
              </a:solidFill>
              <a:effectLst/>
              <a:latin typeface="Times New Roman" panose="0202060305040502030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运行系统上的测量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572375" y="1980021"/>
            <a:ext cx="1116399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运行系统测量方法：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基准测试：在标准问题集、样本输入或模拟负载下运行系统。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插桩：为特定事件计时。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若对系统任何部分的性能存疑，用模拟负载进行实验。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000" dirty="0">
                <a:latin typeface="Times New Roman" panose="02020603050405020304" charset="0"/>
              </a:rPr>
              <a:t>示例：</a:t>
            </a:r>
            <a:r>
              <a:rPr lang="en-US" altLang="zh-CN" sz="4000" dirty="0">
                <a:latin typeface="Times New Roman" panose="02020603050405020304" charset="0"/>
              </a:rPr>
              <a:t>Web </a:t>
            </a:r>
            <a:r>
              <a:rPr lang="zh-CN" altLang="en-US" sz="4000" dirty="0">
                <a:latin typeface="Times New Roman" panose="02020603050405020304" charset="0"/>
              </a:rPr>
              <a:t>实验室</a:t>
            </a:r>
            <a:endParaRPr lang="zh-CN" altLang="en-US" sz="4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282669"/>
            <a:ext cx="961810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基准测试展示吞吐量随对称多处理器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CPU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数量的变化曲线。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4231" y="1782661"/>
            <a:ext cx="8463538" cy="475625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修复糟糕的性能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689853"/>
            <a:ext cx="11163995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若系统性能不佳，首先确定原因：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插桩：</a:t>
            </a:r>
            <a:r>
              <a:rPr lang="zh-CN" altLang="en-US" sz="2000" dirty="0">
                <a:solidFill>
                  <a:schemeClr val="tx1"/>
                </a:solidFill>
              </a:rPr>
              <a:t>在代码中添加计时器，常可揭示延迟集中在系统的特定部分。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1"/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测试负载：</a:t>
            </a:r>
            <a:r>
              <a:rPr lang="zh-CN" altLang="en-US" sz="2000" dirty="0">
                <a:solidFill>
                  <a:schemeClr val="tx1"/>
                </a:solidFill>
              </a:rPr>
              <a:t>在不同负载下运行系统，如高事务率、大输入文件、多用户等。这能揭示系统性能恶化的特征。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lvl="1"/>
            <a:endParaRPr lang="en-US" altLang="zh-CN" sz="2000" dirty="0">
              <a:solidFill>
                <a:schemeClr val="tx1"/>
              </a:solidFill>
            </a:endParaRPr>
          </a:p>
          <a:p>
            <a:pPr lvl="1"/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设计与代码审查：</a:t>
            </a:r>
            <a:r>
              <a:rPr lang="zh-CN" altLang="en-US" sz="2000" dirty="0">
                <a:solidFill>
                  <a:schemeClr val="tx1"/>
                </a:solidFill>
              </a:rPr>
              <a:t>团队审查系统设计、程序设计及可疑代码段。这可能揭示运行极慢的算法，如排序、加锁过程等。</a:t>
            </a:r>
            <a:endParaRPr lang="zh-CN" altLang="en-US" sz="2000" dirty="0">
              <a:solidFill>
                <a:schemeClr val="tx1"/>
              </a:solidFill>
            </a:endParaRPr>
          </a:p>
          <a:p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找到根本原因并修复，否则问题会复发！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提升性能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96901" y="1339591"/>
            <a:ext cx="5438255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专用硬件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      </a:t>
            </a:r>
            <a:r>
              <a:rPr lang="zh-CN" altLang="en-US" sz="2000" dirty="0"/>
              <a:t>图形处理器（如</a:t>
            </a:r>
            <a:r>
              <a:rPr lang="en-US" altLang="zh-CN" sz="2000" dirty="0"/>
              <a:t> Nvidia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算法/数据结构设计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      </a:t>
            </a:r>
            <a:r>
              <a:rPr lang="zh-CN" altLang="en-US" sz="2000" dirty="0"/>
              <a:t>时间</a:t>
            </a:r>
            <a:r>
              <a:rPr lang="en-US" altLang="zh-CN" sz="2000" dirty="0"/>
              <a:t>/</a:t>
            </a:r>
            <a:r>
              <a:rPr lang="zh-CN" altLang="en-US" sz="2000" dirty="0"/>
              <a:t>空间复杂度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专用数据库/数据仓库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     Hive, ClickHouse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并行处理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     Spark, Kubernetes (K8s)</a:t>
            </a:r>
            <a:endParaRPr lang="en-US" altLang="zh-CN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991" y="1508760"/>
            <a:ext cx="5036490" cy="18904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02804"/>
            <a:ext cx="3521902" cy="20352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164" y="1646232"/>
            <a:ext cx="1193515" cy="17529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689" y="4160520"/>
            <a:ext cx="2131153" cy="2035289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 rot="5400000">
            <a:off x="8863618" y="3662989"/>
            <a:ext cx="361759" cy="283945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5152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未来思考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1582387"/>
            <a:ext cx="9550399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高性能计算当前趋势：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高性能应用对并行计算、集群计算和云计算的需求持续增长。</a:t>
            </a:r>
            <a:endParaRPr lang="zh-CN" altLang="en-US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网络性能（吞吐量和延迟）至关重要。</a:t>
            </a:r>
            <a:endParaRPr lang="zh-CN" altLang="en-US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数据中心变得极其庞大和复杂。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软件开发者：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少数开发者正在创造这些分布式、并行的基础设施。</a:t>
            </a:r>
            <a:endParaRPr lang="zh-CN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6227</Words>
  <Application>WPS Writer</Application>
  <PresentationFormat>Widescreen</PresentationFormat>
  <Paragraphs>881</Paragraphs>
  <Slides>64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82" baseType="lpstr">
      <vt:lpstr>Arial</vt:lpstr>
      <vt:lpstr>宋体</vt:lpstr>
      <vt:lpstr>Wingdings</vt:lpstr>
      <vt:lpstr>Helvetica Regular</vt:lpstr>
      <vt:lpstr>微软雅黑</vt:lpstr>
      <vt:lpstr>汉仪旗黑</vt:lpstr>
      <vt:lpstr>Helvetica</vt:lpstr>
      <vt:lpstr>Times New Roman</vt:lpstr>
      <vt:lpstr>宋体</vt:lpstr>
      <vt:lpstr>Arial Unicode MS</vt:lpstr>
      <vt:lpstr>等线</vt:lpstr>
      <vt:lpstr>汉仪中等线KW</vt:lpstr>
      <vt:lpstr>Wingdings</vt:lpstr>
      <vt:lpstr>Calibri</vt:lpstr>
      <vt:lpstr>Helvetica Neue</vt:lpstr>
      <vt:lpstr>微软雅黑</vt:lpstr>
      <vt:lpstr>汉仪书宋二KW</vt:lpstr>
      <vt:lpstr>1_Office 主题​​</vt:lpstr>
      <vt:lpstr>PowerPoint 演示文稿</vt:lpstr>
      <vt:lpstr>提醒</vt:lpstr>
      <vt:lpstr>PowerPoint 演示文稿</vt:lpstr>
      <vt:lpstr>开发过程中的安全</vt:lpstr>
      <vt:lpstr>安全经济学</vt:lpstr>
      <vt:lpstr>安全经济学</vt:lpstr>
      <vt:lpstr>安全功能与危险</vt:lpstr>
      <vt:lpstr>安全问题</vt:lpstr>
      <vt:lpstr>完美安全不切实际</vt:lpstr>
      <vt:lpstr>组织内部安全：人员</vt:lpstr>
      <vt:lpstr>为安全而设计：人员</vt:lpstr>
      <vt:lpstr>外部入侵者</vt:lpstr>
      <vt:lpstr>外部入侵者</vt:lpstr>
      <vt:lpstr>外部入侵者：在线数据</vt:lpstr>
      <vt:lpstr>外部入侵者：风险最小化</vt:lpstr>
      <vt:lpstr>风险最小化：依赖性</vt:lpstr>
      <vt:lpstr>风险最小化：系统架构</vt:lpstr>
      <vt:lpstr>风险最小化：在线数据</vt:lpstr>
      <vt:lpstr>安全技术：屏障</vt:lpstr>
      <vt:lpstr>屏障：防火墙</vt:lpstr>
      <vt:lpstr>安全技术：认证与授权</vt:lpstr>
      <vt:lpstr>示例：数字内容访问架构</vt:lpstr>
      <vt:lpstr>访问控制技术</vt:lpstr>
      <vt:lpstr>网络安全与屏障</vt:lpstr>
      <vt:lpstr>通信安全技术：加密</vt:lpstr>
      <vt:lpstr>通信安全</vt:lpstr>
      <vt:lpstr>通信安全</vt:lpstr>
      <vt:lpstr>非对称加密与对称加密对比</vt:lpstr>
      <vt:lpstr>HTTPS</vt:lpstr>
      <vt:lpstr>风险最小化：编程</vt:lpstr>
      <vt:lpstr>编写安全软件</vt:lpstr>
      <vt:lpstr>安全漏洞</vt:lpstr>
      <vt:lpstr>SQL注入</vt:lpstr>
      <vt:lpstr>SQL注入</vt:lpstr>
      <vt:lpstr>SQL注入</vt:lpstr>
      <vt:lpstr>缓解注入攻击</vt:lpstr>
      <vt:lpstr>侧信道攻击</vt:lpstr>
      <vt:lpstr>捕获/避免安全漏洞</vt:lpstr>
      <vt:lpstr>沙盒化（Sandboxing）</vt:lpstr>
      <vt:lpstr>风险最小化：操作规程</vt:lpstr>
      <vt:lpstr>运维：恢复</vt:lpstr>
      <vt:lpstr>开发过程中的安全</vt:lpstr>
      <vt:lpstr>PowerPoint 演示文稿</vt:lpstr>
      <vt:lpstr>计算机系统性能</vt:lpstr>
      <vt:lpstr>何时关注性能</vt:lpstr>
      <vt:lpstr>高性能计算</vt:lpstr>
      <vt:lpstr>所有软件系统面临的性能挑战</vt:lpstr>
      <vt:lpstr>所有软件系统面临的性能挑战</vt:lpstr>
      <vt:lpstr>硬件与软件的交互</vt:lpstr>
      <vt:lpstr>寻找瓶颈：CPU性能</vt:lpstr>
      <vt:lpstr>寻找瓶颈</vt:lpstr>
      <vt:lpstr>寻找瓶颈：利用率</vt:lpstr>
      <vt:lpstr>不同组件的时标</vt:lpstr>
      <vt:lpstr>预测系统性能</vt:lpstr>
      <vt:lpstr>数学模型：排队论</vt:lpstr>
      <vt:lpstr>数学模型：队列示例</vt:lpstr>
      <vt:lpstr>队列示例</vt:lpstr>
      <vt:lpstr>技术：仿真模拟</vt:lpstr>
      <vt:lpstr>队列行为：利用率</vt:lpstr>
      <vt:lpstr>运行系统上的测量</vt:lpstr>
      <vt:lpstr>示例：Web 实验室</vt:lpstr>
      <vt:lpstr>修复糟糕的性能</vt:lpstr>
      <vt:lpstr>提升性能</vt:lpstr>
      <vt:lpstr>未来思考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子豪 任</dc:creator>
  <cp:lastModifiedBy>刘光迟</cp:lastModifiedBy>
  <cp:revision>403</cp:revision>
  <dcterms:created xsi:type="dcterms:W3CDTF">2026-04-16T05:01:12Z</dcterms:created>
  <dcterms:modified xsi:type="dcterms:W3CDTF">2026-04-16T05:01:12Z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29F6D4686202AEB8186DE0696E3D55B8_43</vt:lpwstr>
  </property>
  <property fmtid="{D5CDD505-2E9C-101B-9397-08002B2CF9AE}" pid="3" name="KSOProductBuildVer">
    <vt:lpwstr>1033-7.2.2.8955</vt:lpwstr>
  </property>
</Properties>
</file>