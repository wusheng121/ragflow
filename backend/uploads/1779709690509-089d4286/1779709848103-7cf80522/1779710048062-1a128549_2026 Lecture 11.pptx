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79" r:id="rId3"/>
    <p:sldId id="880" r:id="rId5"/>
    <p:sldId id="881" r:id="rId6"/>
    <p:sldId id="882" r:id="rId7"/>
    <p:sldId id="883" r:id="rId8"/>
    <p:sldId id="884" r:id="rId9"/>
    <p:sldId id="885" r:id="rId10"/>
    <p:sldId id="886" r:id="rId11"/>
    <p:sldId id="887" r:id="rId12"/>
    <p:sldId id="888" r:id="rId13"/>
    <p:sldId id="889" r:id="rId14"/>
    <p:sldId id="890" r:id="rId15"/>
    <p:sldId id="891" r:id="rId16"/>
    <p:sldId id="892" r:id="rId17"/>
    <p:sldId id="893" r:id="rId18"/>
    <p:sldId id="894" r:id="rId19"/>
    <p:sldId id="895" r:id="rId20"/>
    <p:sldId id="896" r:id="rId21"/>
    <p:sldId id="897" r:id="rId22"/>
    <p:sldId id="898" r:id="rId23"/>
    <p:sldId id="899" r:id="rId24"/>
    <p:sldId id="900" r:id="rId25"/>
    <p:sldId id="901" r:id="rId26"/>
    <p:sldId id="902" r:id="rId27"/>
    <p:sldId id="903" r:id="rId28"/>
    <p:sldId id="904" r:id="rId29"/>
    <p:sldId id="905" r:id="rId30"/>
    <p:sldId id="906" r:id="rId31"/>
    <p:sldId id="907" r:id="rId32"/>
    <p:sldId id="908" r:id="rId33"/>
    <p:sldId id="909" r:id="rId34"/>
    <p:sldId id="910" r:id="rId35"/>
    <p:sldId id="911" r:id="rId36"/>
    <p:sldId id="912" r:id="rId37"/>
    <p:sldId id="913" r:id="rId38"/>
    <p:sldId id="914" r:id="rId39"/>
    <p:sldId id="915" r:id="rId40"/>
    <p:sldId id="916" r:id="rId41"/>
    <p:sldId id="917" r:id="rId42"/>
    <p:sldId id="918" r:id="rId43"/>
    <p:sldId id="919" r:id="rId44"/>
    <p:sldId id="920" r:id="rId45"/>
    <p:sldId id="921" r:id="rId46"/>
    <p:sldId id="922" r:id="rId47"/>
    <p:sldId id="923" r:id="rId48"/>
    <p:sldId id="924" r:id="rId49"/>
    <p:sldId id="925" r:id="rId50"/>
    <p:sldId id="926" r:id="rId51"/>
    <p:sldId id="927" r:id="rId52"/>
    <p:sldId id="928" r:id="rId53"/>
    <p:sldId id="929" r:id="rId54"/>
    <p:sldId id="930" r:id="rId55"/>
    <p:sldId id="931" r:id="rId56"/>
    <p:sldId id="932" r:id="rId57"/>
    <p:sldId id="933" r:id="rId58"/>
    <p:sldId id="934" r:id="rId59"/>
    <p:sldId id="935" r:id="rId60"/>
    <p:sldId id="936" r:id="rId61"/>
    <p:sldId id="937" r:id="rId62"/>
    <p:sldId id="938" r:id="rId63"/>
    <p:sldId id="939" r:id="rId64"/>
    <p:sldId id="940" r:id="rId65"/>
    <p:sldId id="941" r:id="rId66"/>
    <p:sldId id="942" r:id="rId67"/>
    <p:sldId id="943" r:id="rId68"/>
    <p:sldId id="944" r:id="rId69"/>
    <p:sldId id="945" r:id="rId70"/>
    <p:sldId id="946" r:id="rId71"/>
    <p:sldId id="947" r:id="rId72"/>
    <p:sldId id="948" r:id="rId73"/>
    <p:sldId id="949" r:id="rId74"/>
    <p:sldId id="950" r:id="rId75"/>
    <p:sldId id="951" r:id="rId76"/>
    <p:sldId id="952" r:id="rId77"/>
    <p:sldId id="953" r:id="rId78"/>
    <p:sldId id="954" r:id="rId79"/>
    <p:sldId id="955" r:id="rId80"/>
    <p:sldId id="956" r:id="rId81"/>
    <p:sldId id="957" r:id="rId82"/>
    <p:sldId id="958" r:id="rId83"/>
    <p:sldId id="959" r:id="rId8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122"/>
    <a:srgbClr val="537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86553"/>
  </p:normalViewPr>
  <p:slideViewPr>
    <p:cSldViewPr snapToGrid="0">
      <p:cViewPr varScale="1">
        <p:scale>
          <a:sx n="161" d="100"/>
          <a:sy n="161" d="100"/>
        </p:scale>
        <p:origin x="4808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8" Type="http://schemas.openxmlformats.org/officeDocument/2006/relationships/commentAuthors" Target="commentAuthors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2.png"/><Relationship Id="rId1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3.png"/><Relationship Id="rId1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B09S0061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软件工程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第11讲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2026/05/14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讲师：刘光</a:t>
            </a: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迟 博士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提醒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1288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第三次作业：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5月1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8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日（周一），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23:55</a:t>
            </a:r>
            <a:r>
              <a:rPr lang="zh-CN" altLang="en-US" sz="2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前提交</a:t>
            </a:r>
            <a:endParaRPr lang="zh-CN" altLang="en-US" sz="2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提醒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01890" y="1384301"/>
            <a:ext cx="10946524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期末考试时间地点：</a:t>
            </a:r>
            <a:r>
              <a:rPr lang="en-US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2026-06-23 14:00-16:00(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星期二</a:t>
            </a:r>
            <a:r>
              <a:rPr lang="en-US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)，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教八</a:t>
            </a:r>
            <a:r>
              <a:rPr lang="en-US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-202 </a:t>
            </a:r>
            <a:endParaRPr lang="en-US" altLang="en-US" sz="2000" b="1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范围：</a:t>
            </a:r>
            <a:r>
              <a:rPr lang="zh-CN" altLang="en-US" sz="2000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第1–11讲</a:t>
            </a:r>
            <a:endParaRPr lang="zh-CN" altLang="en-US" sz="2000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第12讲</a:t>
            </a:r>
            <a:r>
              <a:rPr lang="en-US" altLang="zh-CN" sz="2000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（</a:t>
            </a:r>
            <a:r>
              <a:rPr lang="zh-CN" altLang="en-US" sz="2000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下周</a:t>
            </a:r>
            <a:r>
              <a:rPr lang="en-US" altLang="zh-CN" sz="2000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将进行课程复习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非功能测试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820" y="4114800"/>
            <a:ext cx="4376057" cy="2743200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653398" y="1294477"/>
            <a:ext cx="11060182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性能测试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确保软件应用程序在预期工作负载下正常执行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可用性测试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了解机器是否准备好投放市场</a:t>
            </a:r>
            <a:endParaRPr lang="zh-CN" altLang="en-US" sz="2000" dirty="0"/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兼容性测试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检查软件在不同平台/环境上的运行能力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性能缺陷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9497" y="1192378"/>
            <a:ext cx="5497195" cy="5015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不满足截止时间 / 服务水平协议（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SLA）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响应性、流畅度不满足要求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100 ms：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图形界面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15-30 ms：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动画（30-60 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fps）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10 ms：MIDI、VR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特定输入下的意外降速 / 拒绝服务（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DoS）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漏洞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性能退化（逐渐或急剧）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不同平台上的性能差异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高性能计算（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HPC）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吞吐量次优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000" dirty="0">
                <a:latin typeface="Times New Roman" panose="02020603050405020304" charset="0"/>
              </a:rPr>
              <a:t>性能测试</a:t>
            </a:r>
            <a:endParaRPr lang="zh-CN" altLang="en-US" sz="4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3398" y="1294477"/>
            <a:ext cx="11060182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负载测试</a:t>
            </a:r>
            <a:endParaRPr lang="en-US" altLang="zh-CN" sz="2000" dirty="0"/>
          </a:p>
          <a:p>
            <a:pPr lvl="1"/>
            <a:r>
              <a:rPr lang="zh-CN" altLang="en-US" sz="2000" dirty="0"/>
              <a:t>在不同负载条件下测量系统响应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针对正常和极端负载条件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模拟真实世界负载，观察系统表现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识别瓶颈，确定系统可处理的极限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确保系统能够处理预期的使用水平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性能测试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3398" y="1294477"/>
            <a:ext cx="11060182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压力测试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endParaRPr lang="en-US" altLang="zh-CN" sz="2000" dirty="0"/>
          </a:p>
          <a:p>
            <a:pPr lvl="1"/>
            <a:r>
              <a:rPr lang="zh-CN" altLang="en-US" sz="2000" dirty="0"/>
              <a:t>给系统不利条件，检查其表现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旨在测试集成系统环境中的运行时性能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用于测试程序的速度和有效性</a:t>
            </a:r>
            <a:endParaRPr lang="zh-CN" altLang="en-US" sz="2000" dirty="0"/>
          </a:p>
          <a:p>
            <a:endParaRPr lang="en-US" altLang="zh-CN" sz="2000" dirty="0"/>
          </a:p>
          <a:p>
            <a:pPr algn="l" fontAlgn="base">
              <a:buFont typeface="+mj-lt"/>
              <a:buAutoNum type="arabicPeriod"/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zh-CN" altLang="en-US" sz="6000" dirty="0">
                <a:latin typeface="Times New Roman" panose="02020603050405020304" charset="0"/>
              </a:rPr>
              <a:t>性能测试</a:t>
            </a:r>
            <a:endParaRPr lang="zh-CN" altLang="en-US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3397" y="1294477"/>
            <a:ext cx="11418997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可扩展性测试</a:t>
            </a:r>
            <a:endParaRPr lang="en-US" altLang="zh-CN" sz="2000" dirty="0"/>
          </a:p>
          <a:p>
            <a:pPr lvl="1"/>
            <a:r>
              <a:rPr lang="zh-CN" altLang="en-US" sz="2000" dirty="0"/>
              <a:t>测试用户请求负载或其他性能属性增减时的扩展能力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可在硬件、软件或数据库层面进行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确保软件产品能够管理预期的用户流量、数据量、事务频率等的增长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稳定性测试</a:t>
            </a:r>
            <a:endParaRPr lang="en-US" altLang="zh-CN" sz="2000" dirty="0"/>
          </a:p>
          <a:p>
            <a:pPr lvl="1"/>
            <a:r>
              <a:rPr lang="zh-CN" altLang="en-US" sz="2000" dirty="0"/>
              <a:t>检查软件在不同环境参数下以及长时间运行而不失败的质量和行为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性能测试的挑战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9497" y="1192378"/>
            <a:ext cx="6326505" cy="3169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有多少改进空间？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阿姆达尔定律：并行化和局部优化的加速极限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Roofline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分析：预计受限于带宽还是计算能力？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性能下降是局部的、分散的还是涌现的？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获得可靠测量很困难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不一致性、负载依赖性、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JIT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编译、非代表性数据集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平均情况 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vs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最坏情况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延迟与吞吐量之间的权衡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阿姆达尔定律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39265" y="1299109"/>
            <a:ext cx="9123883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加速比：</a:t>
            </a:r>
            <a:r>
              <a:rPr lang="en-US" altLang="zh-CN" dirty="0"/>
              <a:t>S = T_before / T_after</a:t>
            </a:r>
            <a:endParaRPr lang="en-US" altLang="zh-CN" dirty="0"/>
          </a:p>
          <a:p>
            <a:r>
              <a:rPr lang="zh-CN" altLang="en-US" dirty="0"/>
              <a:t>确定可优化的运行时间比例 </a:t>
            </a:r>
            <a:r>
              <a:rPr lang="en-US" altLang="zh-CN" dirty="0"/>
              <a:t>p</a:t>
            </a:r>
            <a:endParaRPr lang="en-US" altLang="zh-CN" dirty="0"/>
          </a:p>
          <a:p>
            <a:pPr lvl="1"/>
            <a:r>
              <a:rPr lang="en-US" altLang="zh-CN" dirty="0"/>
              <a:t>T_before = p*T + (1-p)*T</a:t>
            </a:r>
            <a:endParaRPr lang="en-US" altLang="zh-CN" dirty="0"/>
          </a:p>
          <a:p>
            <a:r>
              <a:rPr lang="zh-CN" altLang="en-US" dirty="0"/>
              <a:t>设 </a:t>
            </a:r>
            <a:r>
              <a:rPr lang="en-US" altLang="zh-CN" dirty="0"/>
              <a:t>s </a:t>
            </a:r>
            <a:r>
              <a:rPr lang="zh-CN" altLang="en-US" dirty="0"/>
              <a:t>为优化部分的加速比（例如：10核并行化时 </a:t>
            </a:r>
            <a:r>
              <a:rPr lang="en-US" altLang="zh-CN" dirty="0"/>
              <a:t>s=10）</a:t>
            </a:r>
            <a:endParaRPr lang="en-US" altLang="zh-CN" dirty="0"/>
          </a:p>
          <a:p>
            <a:pPr lvl="1"/>
            <a:r>
              <a:rPr lang="zh-CN" altLang="en-US" dirty="0"/>
              <a:t>通常关注 </a:t>
            </a:r>
            <a:r>
              <a:rPr lang="en-US" altLang="zh-CN" dirty="0"/>
              <a:t>s → ∞ </a:t>
            </a:r>
            <a:r>
              <a:rPr lang="zh-CN" altLang="en-US" dirty="0"/>
              <a:t>的极限</a:t>
            </a:r>
            <a:endParaRPr lang="zh-CN" altLang="en-US" dirty="0"/>
          </a:p>
          <a:p>
            <a:endParaRPr lang="zh-CN" altLang="en-US" dirty="0"/>
          </a:p>
          <a:p>
            <a:r>
              <a:rPr lang="en-US" dirty="0" err="1"/>
              <a:t>T_after</a:t>
            </a:r>
            <a:r>
              <a:rPr lang="en-US" dirty="0"/>
              <a:t> = p*T/s + (1 - p)*T </a:t>
            </a:r>
            <a:endParaRPr lang="en-US" dirty="0"/>
          </a:p>
          <a:p>
            <a:endParaRPr lang="en-US" dirty="0"/>
          </a:p>
          <a:p>
            <a:r>
              <a:rPr lang="en-US" dirty="0"/>
              <a:t>S(s) = 1/(1 - p + p/s) </a:t>
            </a:r>
            <a:endParaRPr lang="en-US" dirty="0"/>
          </a:p>
          <a:p>
            <a:endParaRPr lang="en-US" dirty="0"/>
          </a:p>
          <a:p>
            <a:r>
              <a:rPr lang="en-US" dirty="0"/>
              <a:t>S → 1/(1 - p)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466" y="2750515"/>
            <a:ext cx="4598534" cy="3525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性能分析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7773" y="1124522"/>
            <a:ext cx="10036454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505122"/>
                </a:solidFill>
              </a:rPr>
              <a:t>如何估计 </a:t>
            </a:r>
            <a:r>
              <a:rPr lang="en-US" altLang="zh-CN" b="1" dirty="0">
                <a:solidFill>
                  <a:srgbClr val="505122"/>
                </a:solidFill>
              </a:rPr>
              <a:t>p？</a:t>
            </a:r>
            <a:r>
              <a:rPr lang="zh-CN" altLang="en-US" b="1" dirty="0">
                <a:solidFill>
                  <a:srgbClr val="505122"/>
                </a:solidFill>
              </a:rPr>
              <a:t>优化工作应聚焦何处？</a:t>
            </a:r>
            <a:endParaRPr lang="zh-CN" altLang="en-US" b="1" dirty="0">
              <a:solidFill>
                <a:srgbClr val="505122"/>
              </a:solidFill>
            </a:endParaRPr>
          </a:p>
          <a:p>
            <a:endParaRPr lang="en-US" altLang="zh-CN" b="1" dirty="0">
              <a:solidFill>
                <a:srgbClr val="505122"/>
              </a:solidFill>
            </a:endParaRPr>
          </a:p>
          <a:p>
            <a:r>
              <a:rPr lang="zh-CN" altLang="en-US" b="1" dirty="0">
                <a:solidFill>
                  <a:srgbClr val="505122"/>
                </a:solidFill>
              </a:rPr>
              <a:t>性能分析技术</a:t>
            </a:r>
            <a:endParaRPr lang="en-US" altLang="zh-CN" dirty="0"/>
          </a:p>
          <a:p>
            <a:r>
              <a:rPr lang="zh-CN" altLang="en-US" dirty="0"/>
              <a:t>采样：周期性中断进程并检查堆栈跟踪</a:t>
            </a:r>
            <a:endParaRPr lang="en-US" altLang="zh-CN" dirty="0"/>
          </a:p>
          <a:p>
            <a:pPr lvl="1"/>
            <a:r>
              <a:rPr lang="zh-CN" altLang="en-US" dirty="0"/>
              <a:t>低开销</a:t>
            </a:r>
            <a:endParaRPr lang="en-US" altLang="zh-CN" dirty="0"/>
          </a:p>
          <a:p>
            <a:pPr lvl="1"/>
            <a:r>
              <a:rPr lang="zh-CN" altLang="en-US" dirty="0"/>
              <a:t>数据不完整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追踪：记录函数调用和返回</a:t>
            </a:r>
            <a:endParaRPr lang="en-US" altLang="zh-CN" dirty="0"/>
          </a:p>
          <a:p>
            <a:pPr lvl="1"/>
            <a:r>
              <a:rPr lang="zh-CN" altLang="en-US" dirty="0"/>
              <a:t>高开销</a:t>
            </a:r>
            <a:endParaRPr lang="en-US" altLang="zh-CN" dirty="0"/>
          </a:p>
          <a:p>
            <a:pPr lvl="1"/>
            <a:r>
              <a:rPr lang="zh-CN" altLang="en-US" dirty="0"/>
              <a:t>完整的函数调用计数</a:t>
            </a:r>
            <a:endParaRPr lang="en-US" altLang="zh-CN" dirty="0"/>
          </a:p>
          <a:p>
            <a:pPr lvl="1"/>
            <a:r>
              <a:rPr lang="zh-CN" altLang="en-US" dirty="0"/>
              <a:t>时间可能失真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指令级：估计每条语句的成本</a:t>
            </a:r>
            <a:endParaRPr lang="en-US" altLang="zh-CN" dirty="0"/>
          </a:p>
          <a:p>
            <a:pPr lvl="1"/>
            <a:r>
              <a:rPr lang="zh-CN" altLang="en-US" dirty="0"/>
              <a:t>需要 </a:t>
            </a:r>
            <a:r>
              <a:rPr lang="en-US" altLang="zh-CN" dirty="0"/>
              <a:t>CPU </a:t>
            </a:r>
            <a:r>
              <a:rPr lang="zh-CN" altLang="en-US" dirty="0"/>
              <a:t>模型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性能分析工具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7773" y="1124522"/>
            <a:ext cx="10036454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性能分析技术</a:t>
            </a:r>
            <a:endParaRPr lang="zh-CN" altLang="en-US" dirty="0"/>
          </a:p>
          <a:p>
            <a:r>
              <a:rPr lang="en-US" dirty="0"/>
              <a:t>	Native code</a:t>
            </a:r>
            <a:endParaRPr lang="en-US" dirty="0"/>
          </a:p>
          <a:p>
            <a:r>
              <a:rPr lang="en-US" dirty="0"/>
              <a:t>		perf (Linux)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gprof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callgrind</a:t>
            </a:r>
            <a:endParaRPr lang="en-US" dirty="0"/>
          </a:p>
          <a:p>
            <a:r>
              <a:rPr lang="en-US" dirty="0"/>
              <a:t>	Python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cProfile</a:t>
            </a:r>
            <a:endParaRPr lang="en-US" dirty="0"/>
          </a:p>
          <a:p>
            <a:r>
              <a:rPr lang="en-US" dirty="0"/>
              <a:t>	Java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JProfiler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VisualVM</a:t>
            </a:r>
            <a:endParaRPr lang="en-US" dirty="0"/>
          </a:p>
          <a:p>
            <a:r>
              <a:rPr lang="en-US" dirty="0"/>
              <a:t>		NetBeans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54" y="355508"/>
            <a:ext cx="3907017" cy="6965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54" y="1169698"/>
            <a:ext cx="6119353" cy="2196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92048" y="3570797"/>
            <a:ext cx="609467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 err="1"/>
              <a:t>Ncalls</a:t>
            </a:r>
            <a:r>
              <a:rPr lang="en-US" sz="1400" dirty="0"/>
              <a:t>: </a:t>
            </a:r>
            <a:r>
              <a:rPr lang="en-US" sz="1400" dirty="0">
                <a:effectLst/>
              </a:rPr>
              <a:t>for the number of calls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Tottime</a:t>
            </a:r>
            <a:r>
              <a:rPr lang="en-US" sz="1400" dirty="0"/>
              <a:t>: </a:t>
            </a:r>
            <a:r>
              <a:rPr lang="en-US" sz="1400" dirty="0">
                <a:effectLst/>
              </a:rPr>
              <a:t>total time spent in the given function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Percall</a:t>
            </a:r>
            <a:r>
              <a:rPr lang="en-US" sz="1400" dirty="0"/>
              <a:t>: </a:t>
            </a:r>
            <a:r>
              <a:rPr lang="en-US" sz="1400" dirty="0">
                <a:effectLst/>
              </a:rPr>
              <a:t>quotient of </a:t>
            </a:r>
            <a:r>
              <a:rPr lang="en-US" sz="1400" dirty="0" err="1">
                <a:effectLst/>
              </a:rPr>
              <a:t>tottime</a:t>
            </a:r>
            <a:r>
              <a:rPr lang="en-US" sz="1400" dirty="0">
                <a:effectLst/>
              </a:rPr>
              <a:t> divided by </a:t>
            </a:r>
            <a:r>
              <a:rPr lang="en-US" sz="1400" dirty="0" err="1">
                <a:effectLst/>
              </a:rPr>
              <a:t>ncalls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Cumtime</a:t>
            </a:r>
            <a:r>
              <a:rPr lang="en-US" sz="1400" dirty="0"/>
              <a:t>: </a:t>
            </a:r>
            <a:r>
              <a:rPr lang="en-US" sz="1400" dirty="0">
                <a:effectLst/>
              </a:rPr>
              <a:t>cumulative time spent in this and all subfunctions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Percall</a:t>
            </a:r>
            <a:r>
              <a:rPr lang="en-US" sz="1400" dirty="0"/>
              <a:t>:</a:t>
            </a:r>
            <a:r>
              <a:rPr lang="en-US" sz="1400" dirty="0">
                <a:effectLst/>
              </a:rPr>
              <a:t> the quotient of </a:t>
            </a:r>
            <a:r>
              <a:rPr lang="en-US" sz="1400" dirty="0" err="1">
                <a:effectLst/>
              </a:rPr>
              <a:t>cumtime</a:t>
            </a:r>
            <a:r>
              <a:rPr lang="en-US" sz="1400" dirty="0">
                <a:effectLst/>
              </a:rPr>
              <a:t> divided by primitive calls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/>
              <a:t>Filename: </a:t>
            </a:r>
            <a:r>
              <a:rPr lang="en-US" sz="1400" dirty="0" err="1"/>
              <a:t>lineno</a:t>
            </a:r>
            <a:r>
              <a:rPr lang="en-US" sz="1400" dirty="0"/>
              <a:t>(function)</a:t>
            </a:r>
            <a:r>
              <a:rPr lang="en-US" sz="1400" dirty="0">
                <a:effectLst/>
              </a:rPr>
              <a:t>provides the respective data of each function</a:t>
            </a:r>
            <a:endParaRPr lang="en-US" sz="1400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监控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0805" y="1395184"/>
            <a:ext cx="1153119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505122"/>
                </a:solidFill>
              </a:rPr>
              <a:t>为了检测性能退化和回归，需要记录和监控性能指标</a:t>
            </a:r>
            <a:endParaRPr lang="en-US" altLang="zh-CN" dirty="0"/>
          </a:p>
          <a:p>
            <a:pPr lvl="1"/>
            <a:r>
              <a:rPr lang="zh-CN" altLang="en-US" dirty="0"/>
              <a:t>可在持续集成（</a:t>
            </a:r>
            <a:r>
              <a:rPr lang="en-US" altLang="zh-CN" dirty="0"/>
              <a:t>CI）</a:t>
            </a:r>
            <a:r>
              <a:rPr lang="zh-CN" altLang="en-US" dirty="0"/>
              <a:t>中测量测试持续时间，但最好在未加载的服务器上进行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505122"/>
                </a:solidFill>
              </a:rPr>
              <a:t>对于服务，还需要在生产环境中监控性能</a:t>
            </a:r>
            <a:endParaRPr lang="en-US" altLang="zh-CN" dirty="0"/>
          </a:p>
          <a:p>
            <a:pPr lvl="1"/>
            <a:r>
              <a:rPr lang="zh-CN" altLang="en-US" dirty="0"/>
              <a:t>网络条件、负载是动态的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在可扩展的微服务架构中，可能会出现反直觉的瓶颈</a:t>
            </a:r>
            <a:endParaRPr lang="en-US" altLang="zh-CN" dirty="0"/>
          </a:p>
          <a:p>
            <a:pPr lvl="1"/>
            <a:r>
              <a:rPr lang="zh-CN" altLang="en-US" dirty="0"/>
              <a:t>扩展错误的组件可能会移除有益的反压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延迟 </a:t>
            </a:r>
            <a:r>
              <a:rPr lang="en-US" altLang="zh-CN" dirty="0">
                <a:latin typeface="Times New Roman" panose="02020603050405020304" charset="0"/>
              </a:rPr>
              <a:t>vs </a:t>
            </a:r>
            <a:r>
              <a:rPr lang="zh-CN" altLang="en-US" dirty="0">
                <a:latin typeface="Times New Roman" panose="02020603050405020304" charset="0"/>
              </a:rPr>
              <a:t>吞吐量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9497" y="1192378"/>
            <a:ext cx="8034020" cy="3169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延迟：从单个触发到系统响应之间的持续时间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“尾部延迟”（例如：指定负载下的95百分位数）比平均值更重要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吞吐量：处理固定工作量所需的时间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通常是工作负载的函数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通常吞吐量随工作负载大小增加而增加，直到饱和点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通过批处理减少开销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通常以牺牲延迟为代价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测试文档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671436" y="1237240"/>
            <a:ext cx="961810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每个项目都需要一份测试计划，记录测试过程，以便于全面性、可见性和未来维护。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测试计划应包括：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测试方法的描述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测试用例和相关缺陷的列表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运行测试的过程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测试分析报告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charset="0"/>
              </a:rPr>
              <a:t>SQLite </a:t>
            </a:r>
            <a:r>
              <a:rPr lang="zh-CN" altLang="en-US" sz="4400" dirty="0">
                <a:latin typeface="Times New Roman" panose="02020603050405020304" charset="0"/>
              </a:rPr>
              <a:t>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564666" y="433211"/>
            <a:ext cx="4082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https://</a:t>
            </a:r>
            <a:r>
              <a:rPr lang="en-US" altLang="zh-CN" sz="2000" dirty="0" err="1"/>
              <a:t>www.sqlite.org</a:t>
            </a:r>
            <a:r>
              <a:rPr lang="en-US" altLang="zh-CN" sz="2000" dirty="0"/>
              <a:t>/</a:t>
            </a:r>
            <a:r>
              <a:rPr lang="en-US" altLang="zh-CN" sz="2000" dirty="0" err="1"/>
              <a:t>testing.html</a:t>
            </a:r>
            <a:endParaRPr lang="en-US" altLang="zh-C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184145"/>
            <a:ext cx="10202304" cy="532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2000" dirty="0"/>
              <a:t>测试代码量是应用程序代码的640倍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四个独立开发的测试工具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在部署配置中达到100%分支测试覆盖率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数百万个测试用例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内存不足测试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I/O</a:t>
            </a:r>
            <a:r>
              <a:rPr lang="zh-CN" altLang="en-US" sz="2000" dirty="0"/>
              <a:t>错误测试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崩溃和断电测试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模糊测试</a:t>
            </a:r>
            <a:endParaRPr lang="zh-CN" alt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边界值测试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禁用优化测试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回归测试</a:t>
            </a:r>
            <a:endParaRPr lang="zh-CN" alt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畸形数据库测试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大量使用 </a:t>
            </a:r>
            <a:r>
              <a:rPr lang="en-US" altLang="zh-CN" sz="2000" dirty="0"/>
              <a:t>assert() </a:t>
            </a:r>
            <a:r>
              <a:rPr lang="zh-CN" altLang="en-US" sz="2000" dirty="0"/>
              <a:t>和运行时检查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Valgrind </a:t>
            </a:r>
            <a:r>
              <a:rPr lang="zh-CN" altLang="en-US" sz="2000" dirty="0"/>
              <a:t>分析</a:t>
            </a:r>
            <a:endParaRPr lang="en-US" altLang="zh-CN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未定义行为检查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检查清单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隔离缺陷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间歇性 → 可重现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复杂示例 → 简单示例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理解缺陷及其上下文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根本原因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依赖关系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结构交互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修复缺陷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设计更改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文档更改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代码更改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创建新的测试用例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缺陷的迁移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修复缺陷是一个容易出错的过程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修复一个缺陷时，也要修复其环境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缺陷修复需要静态和动态测试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重复所有有轻微相关的测试（回归测试）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缺陷有回归的习惯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当一个缺陷被修复后，将失败用例添加到测试套件中以用于未来的回归测试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坚持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大多数人绕过问题，最优秀的人追查根本原因并永久修复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困难缺陷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某些缺陷极难追踪和隔离，尤其是间歇性故障。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大型中央计算机每月停机几次，没有转储或诊断信息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数据库负载运行数天后无诊断信息而崩溃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图像处理系统运行正确但内存使用巨大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这类问题可能需要数月的努力才能解决。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虚构示例参见：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Ellen Ullman, 《The Bug: a Novel》, (Doubleday 2003)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追踪困难缺陷：海森堡缺陷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0560" y="1407160"/>
            <a:ext cx="9636125" cy="45478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海森堡缺陷（以海森堡不确定性原理命名）是指当试图研究它时会消失或改变特征的计算机缺陷。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时序：</a:t>
            </a:r>
            <a:r>
              <a:rPr lang="zh-CN" altLang="en-US" sz="2000" dirty="0"/>
              <a:t>调试时逐条运行指令，操作之间的延迟可能比生产环境大几个数量级（例如：不同线程的交互）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内存：</a:t>
            </a:r>
            <a:r>
              <a:rPr lang="zh-CN" altLang="en-US" sz="2000" dirty="0"/>
              <a:t>调试时变量的地址可能改变（例如：影响某些语言中浮点比较的精度）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断言：</a:t>
            </a:r>
            <a:r>
              <a:rPr lang="zh-CN" altLang="en-US" sz="2000" dirty="0"/>
              <a:t>启用优化编译时，断言通常被禁用，而在本地开发模式下可能激活（断言求值可能有副作用，如时序）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追踪困难缺陷：海森堡缺陷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04455" y="1257816"/>
            <a:ext cx="9635836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调试的副作用：</a:t>
            </a:r>
            <a:r>
              <a:rPr lang="zh-CN" altLang="en-US" sz="2000" dirty="0"/>
              <a:t>添加日志或打印会改变线程间“错误”交错的可能性；调试器监视表达式的求值也可能有副作用，甚至更糟（如果不小心）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延迟：</a:t>
            </a:r>
            <a:r>
              <a:rPr lang="zh-CN" altLang="en-US" sz="2000" dirty="0"/>
              <a:t>在本地调试或使用模拟服务时，同步调用的延迟会小几个数量级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竞态条件：</a:t>
            </a:r>
            <a:r>
              <a:rPr lang="zh-CN" altLang="en-US" sz="2000" dirty="0"/>
              <a:t>执行依赖操作系统和运行时可用资源。许多此类缺陷只在特定边缘条件下出现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随机化：</a:t>
            </a:r>
            <a:r>
              <a:rPr lang="zh-CN" altLang="en-US" sz="2000" dirty="0"/>
              <a:t>代码中使用随机化可能导致不同运行间的不一致，包括缺陷的发生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系统软件中的缺陷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2360465"/>
            <a:ext cx="961810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即使是优质制造商提供的系统软件也可能包含缺陷：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Fortran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运行时环境中的内置函数（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e0 = 0）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>
              <a:buFont typeface="Arial" panose="020B0604020202090204" pitchFamily="34" charset="0"/>
              <a:buNone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字符串转数字函数在处理整数时非常慢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具有内存泄漏的预加载系统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关于用户界面测试的说明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用户界面需要多种类型的测试。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设计阶段：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与试用用户进行用户测试，确保设计可用。设计测试也用于开发图形元素和验证需求。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实现阶段：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用户界面经历标准的单元测试和系统测试步骤，以检查实现的可靠性。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最后，</a:t>
            </a: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验收测试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与用户一起在完整系统上进行。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37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验收测试</a:t>
            </a:r>
            <a:endParaRPr lang="zh-CN" altLang="en-US" sz="37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045"/>
            <a:chOff x="5865211" y="1319889"/>
            <a:chExt cx="2553904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2730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验收测试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746411"/>
            <a:ext cx="1116399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验收测试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完整系统（包括文档、培训材料、安装脚本等）由客户在开发人员协助下根据需求进行测试。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每个需求单独测试。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使用场景将预期结果与系统实际输出进行比较。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重点放在系统如何处理问题、错误、重启和其他困难上。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“我们构建的系统是你想要的系统吗？它满足你的需求吗？”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修改后瀑布模型中的验收测试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201" y="1122039"/>
            <a:ext cx="9275597" cy="500380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迭代开发中的验收测试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937068"/>
            <a:ext cx="1116399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迭代开发：如果客户恰当地参与开发周期：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客户将在开发过程中测试系统的许多部分，例如：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每次迭代结束时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在用户测试期间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问题和改进建议将被纳入系统。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但是：在系统发布之前，仍然必须进行最终系统的验收测试。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敏捷开发中的验收测试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62948" y="2339278"/>
            <a:ext cx="1116399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增量开发：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验收测试在敏捷开发中尤其重要，因为每个冲刺（</a:t>
            </a:r>
            <a:r>
              <a:rPr lang="en-US" altLang="zh-CN" sz="2000" dirty="0"/>
              <a:t>sprint）</a:t>
            </a:r>
            <a:r>
              <a:rPr lang="zh-CN" altLang="en-US" sz="2000" dirty="0"/>
              <a:t>都应该以完成并准备发布的代码结束。</a:t>
            </a:r>
            <a:endParaRPr lang="en-US" altLang="zh-CN" sz="2000" dirty="0"/>
          </a:p>
          <a:p>
            <a:pPr lvl="1"/>
            <a:r>
              <a:rPr lang="zh-CN" altLang="en-US" sz="2000" dirty="0"/>
              <a:t>每个冲刺应该是一个完整的开发过程，以客户的验收测试和发布结束</a:t>
            </a:r>
            <a:endParaRPr lang="en-US" altLang="zh-CN" sz="2000" dirty="0"/>
          </a:p>
          <a:p>
            <a:pPr lvl="1"/>
            <a:r>
              <a:rPr lang="zh-CN" altLang="en-US" sz="2000" dirty="0"/>
              <a:t>如果多个冲刺相互构建，每个冲刺可能需要重复之前冲刺的验收测试，以检查仍然满足要求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验收测试资源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2302596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验收测试是软件项目的重要组成部分。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需要时间安排在日程中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可能需要大量投资于测试数据、设备和测试软件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好的测试需要好的人员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帮助系统和培训材料是验收测试的重要部分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验收测试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582387"/>
            <a:ext cx="9550399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由客户进行的封闭盒测试，不了解内部结构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整个系统作为一个整体进行测试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重点在于系统是否满足需求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测试应使用真实数据并在真实场景中进行，有实际用户、管理员和操作员参与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在新系统上线或替换旧系统之前，必须成功完成验收测试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完成验收测试可能是支付系统的合同要求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发布技术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90783" y="1141118"/>
            <a:ext cx="9550399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从生产系统先前版本过渡到新版本具有挑战性。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并行测试：</a:t>
            </a:r>
            <a:r>
              <a:rPr lang="zh-CN" altLang="en-US" sz="2000" dirty="0"/>
              <a:t>客户将新系统与旧生产系统并行运行，使用相同数据并比较结果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Alpha 测试：</a:t>
            </a:r>
            <a:r>
              <a:rPr lang="zh-CN" altLang="en-US" sz="2000" dirty="0"/>
              <a:t>客户在真实但非生产环境中操作系统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Beta 测试：</a:t>
            </a:r>
            <a:r>
              <a:rPr lang="zh-CN" altLang="en-US" sz="2000" dirty="0"/>
              <a:t>客户在严格监控的生产环境中操作系统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A/B 测试：</a:t>
            </a:r>
            <a:r>
              <a:rPr lang="zh-CN" altLang="en-US" sz="2000" dirty="0"/>
              <a:t>比较两个版本的系统，确定哪个表现更好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发布：并行测试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921752"/>
            <a:ext cx="9550399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并行测试：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对于数据处理系统（如财务系统、工资系统等），旧系统和新系统一起运行多个生产周期，检查新系统是否复现旧系统的功能。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需要两套所有资源（人员、设备等）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需要控制切换的软件（例如：不要邮寄两套付款）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需要自动化脚本来比较结果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可能需要数月时间。通常，新系统将分阶段投入生产。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发布：</a:t>
            </a:r>
            <a:r>
              <a:rPr lang="en-US" altLang="zh-CN" dirty="0">
                <a:latin typeface="Times New Roman" panose="02020603050405020304" charset="0"/>
              </a:rPr>
              <a:t>Alpha </a:t>
            </a:r>
            <a:r>
              <a:rPr lang="zh-CN" altLang="en-US" dirty="0">
                <a:latin typeface="Times New Roman" panose="02020603050405020304" charset="0"/>
              </a:rPr>
              <a:t>和 </a:t>
            </a:r>
            <a:r>
              <a:rPr lang="en-US" altLang="zh-CN" dirty="0">
                <a:latin typeface="Times New Roman" panose="02020603050405020304" charset="0"/>
              </a:rPr>
              <a:t>Beta </a:t>
            </a:r>
            <a:r>
              <a:rPr lang="zh-CN" altLang="en-US" dirty="0">
                <a:latin typeface="Times New Roman" panose="02020603050405020304" charset="0"/>
              </a:rPr>
              <a:t>测试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8304" y="1612081"/>
            <a:ext cx="9550399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Alpha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测试可以在缺少某些功能的软件上进行。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Beta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测试需要功能完整的系统。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Alpha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和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Beta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测试必须进行管理。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如果你只是将软件版本提供给客户：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许多客户永远不会使用它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其他客户只会使用少数功能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只有少数客户会系统地测试它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只有少数客户会系统地报告问题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你能给客户什么激励来为你测试软件？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财务（例如：产品折扣）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声望（例如：认可、宣传）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发布：</a:t>
            </a:r>
            <a:r>
              <a:rPr lang="en-US" altLang="zh-CN" dirty="0">
                <a:latin typeface="Times New Roman" panose="02020603050405020304" charset="0"/>
              </a:rPr>
              <a:t>A/B </a:t>
            </a:r>
            <a:r>
              <a:rPr lang="zh-CN" altLang="en-US" dirty="0">
                <a:latin typeface="Times New Roman" panose="02020603050405020304" charset="0"/>
              </a:rPr>
              <a:t>测试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46976" y="1377032"/>
            <a:ext cx="103719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在 </a:t>
            </a:r>
            <a:r>
              <a:rPr lang="en-US" altLang="zh-CN" sz="2000" dirty="0"/>
              <a:t>A/B </a:t>
            </a:r>
            <a:r>
              <a:rPr lang="zh-CN" altLang="en-US" sz="2000" dirty="0"/>
              <a:t>测试中，你取一个网页或应用界面，修改它创建第二个版本。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一半流量看到原始版本（称为控制组或 </a:t>
            </a:r>
            <a:r>
              <a:rPr lang="en-US" altLang="zh-CN" sz="2000" dirty="0"/>
              <a:t>A），</a:t>
            </a:r>
            <a:r>
              <a:rPr lang="zh-CN" altLang="en-US" sz="2000" dirty="0"/>
              <a:t>另一半看到修改版本（称为变体或 </a:t>
            </a:r>
            <a:r>
              <a:rPr lang="en-US" altLang="zh-CN" sz="2000" dirty="0"/>
              <a:t>B）。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当访问者被展示控制组或变体时，收集他们与每个体验的互动数据，并通过统计分析。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开发人员可以确定改变体验（变体或 </a:t>
            </a:r>
            <a:r>
              <a:rPr lang="en-US" altLang="zh-CN" sz="2000" dirty="0"/>
              <a:t>B）</a:t>
            </a:r>
            <a:r>
              <a:rPr lang="zh-CN" altLang="en-US" sz="2000" dirty="0"/>
              <a:t>相对于基线（控制组或 </a:t>
            </a:r>
            <a:r>
              <a:rPr lang="en-US" altLang="zh-CN" sz="2000" dirty="0"/>
              <a:t>A）</a:t>
            </a:r>
            <a:r>
              <a:rPr lang="zh-CN" altLang="en-US" sz="2000" dirty="0"/>
              <a:t>产生了积极、消极还是中性的影响。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19048" y="1319889"/>
            <a:ext cx="2553904" cy="2646045"/>
            <a:chOff x="5865211" y="1319889"/>
            <a:chExt cx="2553904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2730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en-US" altLang="zh-CN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THREE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0" y="3680460"/>
            <a:ext cx="121926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构建系统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什么是构建系统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84605"/>
            <a:ext cx="10427335" cy="4658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 dirty="0">
                <a:solidFill>
                  <a:srgbClr val="C00000"/>
                </a:solidFill>
              </a:rPr>
              <a:t>构建</a:t>
            </a:r>
            <a:r>
              <a:rPr lang="zh-CN" altLang="en-US" sz="2000" dirty="0"/>
              <a:t>在软件开发中是指将源代码文件“翻译”成可执行二进制代码文件的过程。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当项目变得复杂时，编译器就不够了：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1800"/>
              </a:spcBef>
            </a:pPr>
            <a:r>
              <a:rPr lang="zh-CN" altLang="en-US" sz="2000" dirty="0"/>
              <a:t>无法找到存储在文件系统其他部分的代码</a:t>
            </a:r>
            <a:endParaRPr lang="en-US" altLang="zh-CN" sz="2000" dirty="0"/>
          </a:p>
          <a:p>
            <a:pPr lvl="1" indent="0" fontAlgn="auto">
              <a:spcBef>
                <a:spcPts val="1800"/>
              </a:spcBef>
            </a:pPr>
            <a:r>
              <a:rPr lang="zh-CN" altLang="en-US" sz="2000" dirty="0"/>
              <a:t>大型系统通常包含用多种编程语言编写的不同部分，以及这些部分之间的依赖关系网络</a:t>
            </a:r>
            <a:endParaRPr lang="zh-CN" altLang="en-US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dirty="0">
                <a:solidFill>
                  <a:srgbClr val="C00000"/>
                </a:solidFill>
              </a:rPr>
              <a:t>构建系统</a:t>
            </a:r>
            <a:r>
              <a:rPr lang="zh-CN" altLang="en-US" sz="2000" dirty="0"/>
              <a:t>是用于促进构建过程的软件工具集合。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094" y="1111687"/>
            <a:ext cx="5007212" cy="52299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659" y="1496410"/>
            <a:ext cx="39497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0110" y="1028699"/>
            <a:ext cx="540094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05122"/>
                </a:solidFill>
              </a:rPr>
              <a:t>GNU Make </a:t>
            </a:r>
            <a:r>
              <a:rPr lang="zh-CN" altLang="en-US" sz="2000" dirty="0">
                <a:solidFill>
                  <a:schemeClr val="tx1"/>
                </a:solidFill>
              </a:rPr>
              <a:t>构建项目，遵循名为 </a:t>
            </a:r>
            <a:r>
              <a:rPr lang="en-US" altLang="zh-CN" sz="2000" dirty="0">
                <a:solidFill>
                  <a:schemeClr val="tx1"/>
                </a:solidFill>
              </a:rPr>
              <a:t>makefile </a:t>
            </a:r>
            <a:r>
              <a:rPr lang="zh-CN" altLang="en-US" sz="2000" dirty="0">
                <a:solidFill>
                  <a:schemeClr val="tx1"/>
                </a:solidFill>
              </a:rPr>
              <a:t>的文件中的信息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41" y="237834"/>
            <a:ext cx="5621643" cy="637791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41" y="237834"/>
            <a:ext cx="5621643" cy="63779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80" y="1282759"/>
            <a:ext cx="1041400" cy="292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31741" y="1713607"/>
            <a:ext cx="2517665" cy="3043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31741" y="2051252"/>
            <a:ext cx="5418521" cy="13032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31740" y="3370301"/>
            <a:ext cx="5418521" cy="23157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45" y="1881352"/>
            <a:ext cx="3925085" cy="6420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504" y="1881352"/>
            <a:ext cx="3775663" cy="6004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45" y="2967137"/>
            <a:ext cx="4043596" cy="5587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504" y="2967010"/>
            <a:ext cx="3944152" cy="6331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45" y="3969613"/>
            <a:ext cx="5689316" cy="77235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504" y="4051496"/>
            <a:ext cx="5597496" cy="52243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530" y="5547710"/>
            <a:ext cx="3225800" cy="41910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2182932" y="2531634"/>
            <a:ext cx="0" cy="435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477080" y="2511543"/>
            <a:ext cx="0" cy="435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198697" y="3525926"/>
            <a:ext cx="0" cy="435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477080" y="3600150"/>
            <a:ext cx="0" cy="435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8" idx="0"/>
          </p:cNvCxnSpPr>
          <p:nvPr/>
        </p:nvCxnSpPr>
        <p:spPr>
          <a:xfrm>
            <a:off x="3149884" y="4855779"/>
            <a:ext cx="2770546" cy="6919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071761" y="4649468"/>
            <a:ext cx="2405319" cy="8982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4247" y="1143824"/>
            <a:ext cx="5400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Dependency Graph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41" y="237834"/>
            <a:ext cx="5621643" cy="637791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42251" y="3352800"/>
            <a:ext cx="3831458" cy="551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60" y="1268677"/>
            <a:ext cx="2044700" cy="2667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42250" y="4524703"/>
            <a:ext cx="3831459" cy="551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41" y="237834"/>
            <a:ext cx="5621643" cy="63779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42250" y="3946635"/>
            <a:ext cx="3978605" cy="5307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55" y="1262993"/>
            <a:ext cx="2006600" cy="25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42248" y="5081497"/>
            <a:ext cx="3978605" cy="615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Make </a:t>
            </a:r>
            <a:r>
              <a:rPr lang="zh-CN" altLang="en-US" dirty="0">
                <a:latin typeface="Times New Roman" panose="02020603050405020304" charset="0"/>
              </a:rPr>
              <a:t>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41" y="237834"/>
            <a:ext cx="5621643" cy="63779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63269" y="5709086"/>
            <a:ext cx="4535655" cy="906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81" y="1203873"/>
            <a:ext cx="12573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使用构建系统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84605"/>
            <a:ext cx="10427335" cy="4658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 dirty="0"/>
              <a:t>自动化所有组件的编译和链接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dirty="0"/>
              <a:t>当发生变化时重新构建必要的组件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dirty="0"/>
              <a:t>管理多种配置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dirty="0"/>
              <a:t>管理外部依赖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dirty="0"/>
              <a:t>自动化测试</a:t>
            </a:r>
            <a:endParaRPr lang="en-US" altLang="zh-CN" sz="2000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dirty="0"/>
              <a:t>自动化发布操作</a:t>
            </a:r>
            <a:endParaRPr lang="zh-CN" altLang="en-US" sz="2000" dirty="0"/>
          </a:p>
          <a:p>
            <a:pPr lvl="1" indent="0" fontAlgn="auto">
              <a:spcBef>
                <a:spcPts val="1800"/>
              </a:spcBef>
            </a:pPr>
            <a:r>
              <a:rPr lang="zh-CN" altLang="en-US" sz="2000" dirty="0"/>
              <a:t>去掉调试符号</a:t>
            </a:r>
            <a:endParaRPr lang="zh-CN" altLang="en-US" sz="2000" dirty="0"/>
          </a:p>
          <a:p>
            <a:pPr lvl="1" indent="0" fontAlgn="auto">
              <a:spcBef>
                <a:spcPts val="1800"/>
              </a:spcBef>
            </a:pPr>
            <a:r>
              <a:rPr lang="zh-CN" altLang="en-US" sz="2000" dirty="0"/>
              <a:t>压缩 </a:t>
            </a:r>
            <a:r>
              <a:rPr lang="en-US" altLang="zh-CN" sz="2000" dirty="0"/>
              <a:t>Web </a:t>
            </a:r>
            <a:r>
              <a:rPr lang="zh-CN" altLang="en-US" sz="2000" dirty="0"/>
              <a:t>资源</a:t>
            </a:r>
            <a:endParaRPr lang="en-US" altLang="zh-CN" sz="2000" dirty="0"/>
          </a:p>
          <a:p>
            <a:pPr lvl="1" indent="0" fontAlgn="auto">
              <a:spcBef>
                <a:spcPts val="1800"/>
              </a:spcBef>
            </a:pPr>
            <a:r>
              <a:rPr lang="zh-CN" altLang="en-US" sz="2000" dirty="0"/>
              <a:t>生成安装程序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选项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85520" y="1152525"/>
            <a:ext cx="10427335" cy="5203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编写自己的脚本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为提供灵活性和功能需要大量重复工作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定制系统的维护成本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遵循约定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新项目方便地利用构建工具功能，工作量最小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良好的 </a:t>
            </a:r>
            <a:r>
              <a:rPr lang="en-US" altLang="zh-CN" sz="2000" dirty="0">
                <a:solidFill>
                  <a:schemeClr val="tx1"/>
                </a:solidFill>
              </a:rPr>
              <a:t>IDE </a:t>
            </a:r>
            <a:r>
              <a:rPr lang="zh-CN" altLang="en-US" sz="2000" dirty="0">
                <a:solidFill>
                  <a:schemeClr val="tx1"/>
                </a:solidFill>
              </a:rPr>
              <a:t>支持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难以适应大型、异构、遗留项目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难以诊断隐式规则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可能导致依赖臃肿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配置构建工具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必须学习复杂的工具和配置语法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2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但知识可迁移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必须维护构建配置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2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但是显式通常很好，避免依赖膨胀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2" indent="0" fontAlgn="auto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可以适应自定义过程（代码生成、多语言）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IDE </a:t>
            </a:r>
            <a:r>
              <a:rPr lang="zh-CN" altLang="en-US" sz="2000" dirty="0">
                <a:solidFill>
                  <a:schemeClr val="tx1"/>
                </a:solidFill>
              </a:rPr>
              <a:t>可能需要额外配置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构建工具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85520" y="1090930"/>
            <a:ext cx="10427335" cy="5203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常见工具包括：</a:t>
            </a:r>
            <a:endParaRPr lang="zh-CN" altLang="en-US" sz="2000" dirty="0">
              <a:sym typeface="+mn-ea"/>
            </a:endParaRPr>
          </a:p>
          <a:p>
            <a:pPr marL="0" lvl="0" indent="0" fontAlgn="auto">
              <a:spcBef>
                <a:spcPts val="0"/>
              </a:spcBef>
              <a:buNone/>
            </a:pPr>
            <a:r>
              <a:rPr lang="en-US" altLang="zh-CN" sz="2000" dirty="0">
                <a:sym typeface="+mn-ea"/>
              </a:rPr>
              <a:t>GNU Make, CMake, Maven (Ant+), pip, setuptools, Bazel </a:t>
            </a:r>
            <a:r>
              <a:rPr lang="zh-CN" altLang="en-US" sz="2000" dirty="0">
                <a:sym typeface="+mn-ea"/>
              </a:rPr>
              <a:t>等。</a:t>
            </a:r>
            <a:endParaRPr lang="zh-CN" altLang="en-US" sz="2000" dirty="0">
              <a:sym typeface="+mn-ea"/>
            </a:endParaRPr>
          </a:p>
          <a:p>
            <a:pPr marL="0" lvl="0" indent="0" fontAlgn="auto">
              <a:spcBef>
                <a:spcPts val="0"/>
              </a:spcBef>
              <a:buNone/>
            </a:pPr>
            <a:endParaRPr lang="en-US" altLang="zh-CN" sz="2000" dirty="0">
              <a:sym typeface="+mn-ea"/>
            </a:endParaRPr>
          </a:p>
          <a:p>
            <a:pPr marL="0" lvl="0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负责构建</a:t>
            </a:r>
            <a:r>
              <a:rPr lang="zh-CN" altLang="en-US" sz="2000" dirty="0">
                <a:solidFill>
                  <a:srgbClr val="C00000"/>
                </a:solidFill>
                <a:sym typeface="+mn-ea"/>
              </a:rPr>
              <a:t>依赖关系图</a:t>
            </a:r>
            <a:endParaRPr lang="en-US" altLang="zh-CN" sz="2000" dirty="0">
              <a:sym typeface="+mn-ea"/>
            </a:endParaRPr>
          </a:p>
          <a:p>
            <a:pPr marL="457200" lvl="1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基于任务：目标可以执行任意命令</a:t>
            </a:r>
            <a:endParaRPr lang="zh-CN" altLang="en-US" sz="2000" dirty="0">
              <a:sym typeface="+mn-ea"/>
            </a:endParaRPr>
          </a:p>
          <a:p>
            <a:pPr marL="914400" lvl="2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难以正确指定何时不需要重新运行任务</a:t>
            </a:r>
            <a:endParaRPr lang="en-US" altLang="zh-CN" sz="2000" dirty="0">
              <a:sym typeface="+mn-ea"/>
            </a:endParaRPr>
          </a:p>
          <a:p>
            <a:pPr marL="914400" lvl="2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难以安全地并行化</a:t>
            </a:r>
            <a:endParaRPr lang="en-US" altLang="zh-CN" sz="2000" dirty="0">
              <a:sym typeface="+mn-ea"/>
            </a:endParaRPr>
          </a:p>
          <a:p>
            <a:pPr marL="457200" lvl="1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基于工件：目标必须声明输入、输出</a:t>
            </a:r>
            <a:endParaRPr lang="en-US" altLang="zh-CN" sz="2000" dirty="0">
              <a:sym typeface="+mn-ea"/>
            </a:endParaRPr>
          </a:p>
          <a:p>
            <a:pPr marL="914400" lvl="2" indent="0" fontAlgn="auto">
              <a:spcBef>
                <a:spcPts val="0"/>
              </a:spcBef>
              <a:buNone/>
            </a:pPr>
            <a:r>
              <a:rPr lang="zh-CN" altLang="en-US" sz="2000" dirty="0">
                <a:sym typeface="+mn-ea"/>
              </a:rPr>
              <a:t>支持安全的缓存、并行化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基于任务的构建工具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283" y="1169291"/>
            <a:ext cx="6032717" cy="5688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6550" y="1028700"/>
            <a:ext cx="575945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构建文件用 </a:t>
            </a:r>
            <a:r>
              <a:rPr lang="en-US" altLang="zh-CN" dirty="0"/>
              <a:t>XML </a:t>
            </a:r>
            <a:r>
              <a:rPr lang="zh-CN" altLang="en-US" dirty="0"/>
              <a:t>编写，定义一些简单的构建元数据以及一系列任务（</a:t>
            </a:r>
            <a:r>
              <a:rPr lang="en-US" altLang="zh-CN" dirty="0"/>
              <a:t>XML </a:t>
            </a:r>
            <a:r>
              <a:rPr lang="zh-CN" altLang="en-US" dirty="0"/>
              <a:t>中的 &lt;</a:t>
            </a:r>
            <a:r>
              <a:rPr lang="en-US" altLang="zh-CN" dirty="0"/>
              <a:t>target&gt; </a:t>
            </a:r>
            <a:r>
              <a:rPr lang="zh-CN" altLang="en-US" dirty="0"/>
              <a:t>标签）。</a:t>
            </a:r>
            <a:endParaRPr lang="zh-CN" altLang="en-US" dirty="0"/>
          </a:p>
          <a:p>
            <a:r>
              <a:rPr lang="zh-CN" altLang="en-US" dirty="0"/>
              <a:t>每个任务执行由 </a:t>
            </a:r>
            <a:r>
              <a:rPr lang="en-US" altLang="zh-CN" dirty="0"/>
              <a:t>Ant </a:t>
            </a:r>
            <a:r>
              <a:rPr lang="zh-CN" altLang="en-US" dirty="0"/>
              <a:t>定义的一系列可能命令，包括创建和删除目录、运行 </a:t>
            </a:r>
            <a:r>
              <a:rPr lang="en-US" altLang="zh-CN" dirty="0"/>
              <a:t>javac、</a:t>
            </a:r>
            <a:r>
              <a:rPr lang="zh-CN" altLang="en-US" dirty="0"/>
              <a:t>创建 </a:t>
            </a:r>
            <a:r>
              <a:rPr lang="en-US" altLang="zh-CN" dirty="0"/>
              <a:t>JAR </a:t>
            </a:r>
            <a:r>
              <a:rPr lang="zh-CN" altLang="en-US" dirty="0"/>
              <a:t>文件等。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基于任务的构建工具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283" y="1169291"/>
            <a:ext cx="6032717" cy="56887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3540" y="1028700"/>
            <a:ext cx="585978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在命令行运行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ant dist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时，发生以下步骤：</a:t>
            </a:r>
            <a:endParaRPr lang="zh-CN" altLang="en-US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algn="l"/>
            <a:endParaRPr lang="en-US" altLang="zh-CN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加载名为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build.xml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的文件</a:t>
            </a:r>
            <a:endParaRPr lang="zh-CN" altLang="en-US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查找名为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dist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的任务，它依赖于名为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 compile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的任务</a:t>
            </a:r>
            <a:endParaRPr lang="zh-CN" altLang="en-US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查找名为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compile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的任务，它依赖于名为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 init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的任务</a:t>
            </a:r>
            <a:endParaRPr lang="zh-CN" altLang="en-US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查找名为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 init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的任务，发现它没有依赖</a:t>
            </a:r>
            <a:endParaRPr lang="zh-CN" altLang="en-US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顺序执行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 init、compile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和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Roboto" panose="020F0502020204030204" pitchFamily="34" charset="0"/>
              </a:rPr>
              <a:t>dist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Roboto" panose="020F0502020204030204" pitchFamily="34" charset="0"/>
              </a:rPr>
              <a:t>中定义的命令</a:t>
            </a:r>
            <a:endParaRPr lang="zh-CN" altLang="en-US" b="0" i="0" dirty="0">
              <a:solidFill>
                <a:schemeClr val="tx1"/>
              </a:solidFill>
              <a:effectLst/>
              <a:latin typeface="Roboto" panose="020F050202020403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基于任务的构建工具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283" y="1169291"/>
            <a:ext cx="6032717" cy="56887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32" y="1860331"/>
            <a:ext cx="5818686" cy="11062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032" y="1343197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等价于以下 </a:t>
            </a:r>
            <a:r>
              <a:rPr lang="en-US" altLang="zh-CN" dirty="0"/>
              <a:t>shell </a:t>
            </a:r>
            <a:r>
              <a:rPr lang="zh-CN" altLang="en-US" dirty="0"/>
              <a:t>脚本：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基于任务的构建工具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4032" y="1343197"/>
            <a:ext cx="10685196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优点：</a:t>
            </a:r>
            <a:endParaRPr lang="zh-CN" altLang="en-US" dirty="0"/>
          </a:p>
          <a:p>
            <a:pPr lvl="1"/>
            <a:r>
              <a:rPr lang="zh-CN" altLang="en-US" dirty="0"/>
              <a:t>强大，允许你做几乎任何你能想象到的事情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zh-CN" altLang="en-US" dirty="0"/>
          </a:p>
          <a:p>
            <a:endParaRPr lang="en-US" altLang="zh-CN" dirty="0"/>
          </a:p>
          <a:p>
            <a:pPr lvl="1"/>
            <a:r>
              <a:rPr lang="zh-CN" altLang="en-US" dirty="0"/>
              <a:t>难以并行化构建步骤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难以执行增量构建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难以维护和调试脚本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基于工件的构建工具（</a:t>
            </a:r>
            <a:r>
              <a:rPr lang="en-US" altLang="zh-CN" dirty="0">
                <a:latin typeface="Times New Roman" panose="02020603050405020304" charset="0"/>
              </a:rPr>
              <a:t>Bazel）</a:t>
            </a:r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9902" y="1182605"/>
            <a:ext cx="618959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Roboto" panose="020F0502020204030204" pitchFamily="34" charset="0"/>
              </a:rPr>
              <a:t>每个目标对应一个可由系统创建的工件：</a:t>
            </a:r>
            <a:r>
              <a:rPr lang="en-US" altLang="zh-CN" dirty="0">
                <a:solidFill>
                  <a:srgbClr val="C00000"/>
                </a:solidFill>
                <a:latin typeface="Roboto" panose="020F0502020204030204" pitchFamily="34" charset="0"/>
              </a:rPr>
              <a:t>java_binary, java_library</a:t>
            </a:r>
            <a:endParaRPr lang="en-US" altLang="zh-CN" dirty="0">
              <a:solidFill>
                <a:srgbClr val="C00000"/>
              </a:solidFill>
              <a:latin typeface="Roboto" panose="020F0502020204030204" pitchFamily="34" charset="0"/>
            </a:endParaRPr>
          </a:p>
          <a:p>
            <a:endParaRPr lang="en-US" altLang="zh-CN" dirty="0">
              <a:solidFill>
                <a:srgbClr val="C00000"/>
              </a:solidFill>
              <a:latin typeface="Roboto" panose="020F0502020204030204" pitchFamily="34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Roboto" panose="020F0502020204030204" pitchFamily="34" charset="0"/>
              </a:rPr>
              <a:t>name：</a:t>
            </a:r>
            <a:r>
              <a:rPr lang="zh-CN" altLang="en-US" dirty="0">
                <a:solidFill>
                  <a:schemeClr val="tx1"/>
                </a:solidFill>
                <a:latin typeface="Roboto" panose="020F0502020204030204" pitchFamily="34" charset="0"/>
              </a:rPr>
              <a:t>目标在命令行和其他目标中引用的方式</a:t>
            </a:r>
            <a:endParaRPr lang="zh-CN" altLang="en-US" dirty="0">
              <a:solidFill>
                <a:schemeClr val="tx1"/>
              </a:solidFill>
              <a:latin typeface="Roboto" panose="020F0502020204030204" pitchFamily="34" charset="0"/>
            </a:endParaRPr>
          </a:p>
          <a:p>
            <a:endParaRPr lang="en-US" altLang="zh-CN" dirty="0">
              <a:solidFill>
                <a:schemeClr val="tx1"/>
              </a:solidFill>
              <a:latin typeface="Roboto" panose="020F0502020204030204" pitchFamily="34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Roboto" panose="020F0502020204030204" pitchFamily="34" charset="0"/>
              </a:rPr>
              <a:t>srcs：</a:t>
            </a:r>
            <a:r>
              <a:rPr lang="zh-CN" altLang="en-US" dirty="0">
                <a:solidFill>
                  <a:schemeClr val="tx1"/>
                </a:solidFill>
                <a:latin typeface="Roboto" panose="020F0502020204030204" pitchFamily="34" charset="0"/>
              </a:rPr>
              <a:t>要编译以创建目标工件的源文件</a:t>
            </a:r>
            <a:endParaRPr lang="zh-CN" altLang="en-US" dirty="0">
              <a:solidFill>
                <a:schemeClr val="tx1"/>
              </a:solidFill>
              <a:latin typeface="Roboto" panose="020F0502020204030204" pitchFamily="34" charset="0"/>
            </a:endParaRPr>
          </a:p>
          <a:p>
            <a:endParaRPr lang="en-US" altLang="zh-CN" dirty="0">
              <a:solidFill>
                <a:srgbClr val="C00000"/>
              </a:solidFill>
              <a:latin typeface="Roboto" panose="020F0502020204030204" pitchFamily="34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Roboto" panose="020F0502020204030204" pitchFamily="34" charset="0"/>
              </a:rPr>
              <a:t>deps：</a:t>
            </a:r>
            <a:r>
              <a:rPr lang="zh-CN" altLang="en-US" dirty="0">
                <a:solidFill>
                  <a:schemeClr val="tx1"/>
                </a:solidFill>
                <a:latin typeface="Roboto" panose="020F0502020204030204" pitchFamily="34" charset="0"/>
              </a:rPr>
              <a:t>必须在当前目标之前构建并链接到它的其他目标</a:t>
            </a:r>
            <a:endParaRPr lang="zh-CN" altLang="en-US" dirty="0">
              <a:solidFill>
                <a:schemeClr val="tx1"/>
              </a:solidFill>
              <a:latin typeface="Roboto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492" y="1113221"/>
            <a:ext cx="5515109" cy="299632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基于工件的构建工具（</a:t>
            </a:r>
            <a:r>
              <a:rPr lang="en-US" altLang="zh-CN" dirty="0">
                <a:latin typeface="Times New Roman" panose="02020603050405020304" charset="0"/>
              </a:rPr>
              <a:t>Bazel）</a:t>
            </a:r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141" y="1028700"/>
            <a:ext cx="5515109" cy="29963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2334" y="3676589"/>
            <a:ext cx="12307615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运行 </a:t>
            </a:r>
            <a:r>
              <a:rPr lang="en-US" altLang="zh-CN" dirty="0">
                <a:solidFill>
                  <a:srgbClr val="202124"/>
                </a:solidFill>
                <a:latin typeface="Roboto" panose="020F0502020204030204" pitchFamily="34" charset="0"/>
              </a:rPr>
              <a:t>bazel build :MyBinary：</a:t>
            </a:r>
            <a:endParaRPr lang="en-US" altLang="zh-CN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endParaRPr lang="en-US" altLang="zh-CN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在工件之间创建依赖关系图</a:t>
            </a:r>
            <a:endParaRPr lang="zh-CN" altLang="en-US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endParaRPr lang="en-US" altLang="zh-CN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使用该图递归确定 </a:t>
            </a:r>
            <a:r>
              <a:rPr lang="en-US" altLang="zh-CN" dirty="0">
                <a:solidFill>
                  <a:srgbClr val="202124"/>
                </a:solidFill>
                <a:latin typeface="Roboto" panose="020F0502020204030204" pitchFamily="34" charset="0"/>
              </a:rPr>
              <a:t>MyBinary </a:t>
            </a:r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的传递依赖</a:t>
            </a:r>
            <a:endParaRPr lang="zh-CN" altLang="en-US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endParaRPr lang="en-US" altLang="zh-CN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按顺序构建每个依赖</a:t>
            </a:r>
            <a:endParaRPr lang="zh-CN" altLang="en-US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endParaRPr lang="en-US" altLang="zh-CN" dirty="0">
              <a:solidFill>
                <a:srgbClr val="202124"/>
              </a:solidFill>
              <a:latin typeface="Roboto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构建 </a:t>
            </a:r>
            <a:r>
              <a:rPr lang="en-US" altLang="zh-CN" dirty="0">
                <a:solidFill>
                  <a:srgbClr val="202124"/>
                </a:solidFill>
                <a:latin typeface="Roboto" panose="020F0502020204030204" pitchFamily="34" charset="0"/>
              </a:rPr>
              <a:t>MyBinary，</a:t>
            </a:r>
            <a:r>
              <a:rPr lang="zh-CN" altLang="en-US" dirty="0">
                <a:solidFill>
                  <a:srgbClr val="202124"/>
                </a:solidFill>
                <a:latin typeface="Roboto" panose="020F0502020204030204" pitchFamily="34" charset="0"/>
              </a:rPr>
              <a:t>生成最终的可执行二进制文件，链接所有在第3步中构建的依赖</a:t>
            </a:r>
            <a:endParaRPr lang="zh-CN" altLang="en-US" dirty="0">
              <a:solidFill>
                <a:srgbClr val="202124"/>
              </a:solidFill>
              <a:latin typeface="Roboto" panose="020F050202020403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Bazel（</a:t>
            </a:r>
            <a:r>
              <a:rPr lang="zh-CN" altLang="en-US" dirty="0">
                <a:latin typeface="Times New Roman" panose="02020603050405020304" charset="0"/>
              </a:rPr>
              <a:t>基于工件）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274445"/>
            <a:ext cx="5884545" cy="3296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</a:rPr>
              <a:t>沙箱</a:t>
            </a:r>
            <a:r>
              <a:rPr lang="zh-CN" altLang="en-US" sz="2000" dirty="0"/>
              <a:t>执行以强制工件依赖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分布式编译、</a:t>
            </a:r>
            <a:r>
              <a:rPr lang="zh-CN" altLang="en-US" sz="2000" dirty="0">
                <a:solidFill>
                  <a:srgbClr val="C00000"/>
                </a:solidFill>
              </a:rPr>
              <a:t>缓存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测试依赖和缓存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依赖包括环境变量、工具链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保守的头文件依赖提取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zh-CN" altLang="en-US" sz="2000" dirty="0"/>
              <a:t>可扩展以支持自定义语言、工具</a:t>
            </a:r>
            <a:endParaRPr lang="zh-CN" altLang="en-US" sz="2000" dirty="0"/>
          </a:p>
          <a:p>
            <a:pPr fontAlgn="auto">
              <a:spcBef>
                <a:spcPts val="600"/>
              </a:spcBef>
            </a:pPr>
            <a:endParaRPr lang="en-US" altLang="zh-CN" sz="2000" dirty="0"/>
          </a:p>
          <a:p>
            <a:pPr fontAlgn="auto">
              <a:spcBef>
                <a:spcPts val="600"/>
              </a:spcBef>
            </a:pP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290" y="1345565"/>
            <a:ext cx="3933825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19048" y="1319889"/>
            <a:ext cx="2553904" cy="2646045"/>
            <a:chOff x="5865211" y="1319889"/>
            <a:chExt cx="2553904" cy="2646045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27300" cy="26460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04</a:t>
              </a:r>
              <a:endParaRPr lang="en-US" altLang="zh-CN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FOUR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0" y="3680460"/>
            <a:ext cx="121926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依赖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内部依赖 </a:t>
            </a:r>
            <a:r>
              <a:rPr lang="en-US" altLang="zh-CN">
                <a:latin typeface="Times New Roman" panose="02020603050405020304" charset="0"/>
              </a:rPr>
              <a:t>vs </a:t>
            </a:r>
            <a:r>
              <a:rPr lang="zh-CN" altLang="en-US">
                <a:latin typeface="Times New Roman" panose="02020603050405020304" charset="0"/>
              </a:rPr>
              <a:t>外部依赖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217295"/>
            <a:ext cx="10903211" cy="4785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内部依赖：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维护者的目标（希望）一致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可以审计库的所有使用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可以协调所有使用库的代码的大规模更改（通过 </a:t>
            </a:r>
            <a:r>
              <a:rPr lang="en-US" altLang="zh-CN" sz="2000" dirty="0">
                <a:solidFill>
                  <a:schemeClr val="tx1"/>
                </a:solidFill>
              </a:rPr>
              <a:t>monorepo </a:t>
            </a:r>
            <a:r>
              <a:rPr lang="zh-CN" altLang="en-US" sz="2000" dirty="0">
                <a:solidFill>
                  <a:schemeClr val="tx1"/>
                </a:solidFill>
              </a:rPr>
              <a:t>促进）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可以使用</a:t>
            </a:r>
            <a:r>
              <a:rPr lang="zh-CN" altLang="en-US" sz="2000" dirty="0">
                <a:solidFill>
                  <a:srgbClr val="C00000"/>
                </a:solidFill>
              </a:rPr>
              <a:t>源代码控制</a:t>
            </a:r>
            <a:r>
              <a:rPr lang="zh-CN" altLang="en-US" sz="2000" dirty="0">
                <a:solidFill>
                  <a:schemeClr val="tx1"/>
                </a:solidFill>
              </a:rPr>
              <a:t>工具和策略管理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外部依赖：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无法假设库与用户之间的协调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无法强制兼容性和维护策略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无法控制发布计划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存在菱形依赖问题的风险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属于</a:t>
            </a:r>
            <a:r>
              <a:rPr lang="zh-CN" altLang="en-US" sz="2000" dirty="0">
                <a:solidFill>
                  <a:srgbClr val="C00000"/>
                </a:solidFill>
              </a:rPr>
              <a:t>依赖管理</a:t>
            </a:r>
            <a:r>
              <a:rPr lang="zh-CN" altLang="en-US" sz="2000" dirty="0">
                <a:solidFill>
                  <a:schemeClr val="tx1"/>
                </a:solidFill>
              </a:rPr>
              <a:t>的领域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270365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为什么要依赖外部代码？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280160"/>
            <a:ext cx="10427335" cy="4702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优点：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提高生产力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受益于更高质量</a:t>
            </a:r>
            <a:endParaRPr lang="en-US" altLang="zh-CN" sz="2000" dirty="0"/>
          </a:p>
          <a:p>
            <a:pPr lvl="2">
              <a:spcBef>
                <a:spcPts val="600"/>
              </a:spcBef>
            </a:pPr>
            <a:r>
              <a:rPr lang="zh-CN" altLang="en-US" sz="2000" dirty="0"/>
              <a:t>外部专业知识</a:t>
            </a:r>
            <a:endParaRPr lang="en-US" altLang="zh-CN" sz="2000" dirty="0"/>
          </a:p>
          <a:p>
            <a:pPr lvl="2">
              <a:spcBef>
                <a:spcPts val="600"/>
              </a:spcBef>
            </a:pPr>
            <a:r>
              <a:rPr lang="zh-CN" altLang="en-US" sz="2000" dirty="0"/>
              <a:t>融合不同用户的经验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外包维护负担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缺点：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依赖不受你控制的代码</a:t>
            </a:r>
            <a:endParaRPr lang="en-US" altLang="zh-CN" sz="2000" dirty="0"/>
          </a:p>
          <a:p>
            <a:pPr lvl="2">
              <a:spcBef>
                <a:spcPts val="600"/>
              </a:spcBef>
            </a:pPr>
            <a:r>
              <a:rPr lang="zh-CN" altLang="en-US" sz="2000" dirty="0"/>
              <a:t>你是否有资源审计它？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依赖膨胀的潜在可能</a:t>
            </a:r>
            <a:endParaRPr lang="zh-CN" altLang="en-US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不兼容的潜在可能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供应链漏洞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依赖从哪里获取？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8860" y="1028700"/>
            <a:ext cx="10480040" cy="5231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交给用户/发行版：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例如：列出要安装的 </a:t>
            </a:r>
            <a:r>
              <a:rPr lang="en-US" altLang="zh-CN" sz="2000" dirty="0">
                <a:solidFill>
                  <a:schemeClr val="tx1"/>
                </a:solidFill>
              </a:rPr>
              <a:t>Debian </a:t>
            </a:r>
            <a:r>
              <a:rPr lang="zh-CN" altLang="en-US" sz="2000" dirty="0">
                <a:solidFill>
                  <a:schemeClr val="tx1"/>
                </a:solidFill>
              </a:rPr>
              <a:t>软件包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常见于库、系统软件（</a:t>
            </a:r>
            <a:r>
              <a:rPr lang="en-US" altLang="zh-CN" sz="2000" dirty="0">
                <a:solidFill>
                  <a:schemeClr val="tx1"/>
                </a:solidFill>
              </a:rPr>
              <a:t>C/C++），</a:t>
            </a:r>
            <a:r>
              <a:rPr lang="zh-CN" altLang="en-US" sz="2000" dirty="0">
                <a:solidFill>
                  <a:schemeClr val="tx1"/>
                </a:solidFill>
              </a:rPr>
              <a:t>通常用于“标准”依赖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构建系统应确认依赖已满足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可能需要提升权限，可能掩盖可移植性问题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 fontAlgn="auto">
              <a:spcBef>
                <a:spcPts val="6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供应商化：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将第三方源代码（或工件）复制到你的仓库中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 fontAlgn="auto">
              <a:spcBef>
                <a:spcPts val="6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工件仓库：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下载二进制工件及其传递依赖（例如：</a:t>
            </a:r>
            <a:r>
              <a:rPr lang="en-US" altLang="zh-CN" sz="2000" dirty="0">
                <a:solidFill>
                  <a:schemeClr val="tx1"/>
                </a:solidFill>
              </a:rPr>
              <a:t>Maven Central, Python Wheels, Debian </a:t>
            </a:r>
            <a:r>
              <a:rPr lang="zh-CN" altLang="en-US" sz="2000" dirty="0">
                <a:solidFill>
                  <a:schemeClr val="tx1"/>
                </a:solidFill>
              </a:rPr>
              <a:t>软件包）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l" fontAlgn="auto">
              <a:spcBef>
                <a:spcPts val="6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源代码仓库：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下载源代码并在本地编译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仓库镜像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38225" y="1221740"/>
            <a:ext cx="10835528" cy="3927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依赖公共仓库是有风险的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如果它们的服务器不可用怎么办？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如果软件包被移除了怎么办？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你相信一个工件永远不会改变吗？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你雇主的防火墙会阻止二进制文件吗？他们是否需要扫描病毒？</a:t>
            </a:r>
            <a:endParaRPr lang="zh-CN" altLang="en-US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可以将构建工具指向内部仓库镜像，而不是公共互联网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在维护和控制之间进行权衡</a:t>
            </a:r>
            <a:endParaRPr lang="zh-CN" altLang="en-US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依赖树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00997" y="1251093"/>
            <a:ext cx="10032365" cy="5975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依赖有自己的传递依赖。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5" y="1893922"/>
            <a:ext cx="4210526" cy="19345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473" y="3301161"/>
            <a:ext cx="3390003" cy="2753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3359" y="2577886"/>
            <a:ext cx="339000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fontAlgn="auto">
              <a:spcBef>
                <a:spcPts val="600"/>
              </a:spcBef>
            </a:pPr>
            <a:r>
              <a:rPr lang="en-US" altLang="zh-CN" sz="1800" dirty="0"/>
              <a:t>A Java Example:</a:t>
            </a:r>
            <a:endParaRPr lang="en-US" altLang="zh-CN" sz="1800" dirty="0"/>
          </a:p>
          <a:p>
            <a:pPr indent="457200" fontAlgn="auto">
              <a:spcBef>
                <a:spcPts val="600"/>
              </a:spcBef>
            </a:pPr>
            <a:r>
              <a:rPr lang="en-US" altLang="zh-CN" sz="1800" i="1" dirty="0" err="1"/>
              <a:t>mvn</a:t>
            </a:r>
            <a:r>
              <a:rPr lang="en-US" altLang="zh-CN" sz="1800" i="1" dirty="0"/>
              <a:t> </a:t>
            </a:r>
            <a:r>
              <a:rPr lang="en-US" altLang="zh-CN" sz="1800" i="1" dirty="0" err="1"/>
              <a:t>dependency:tree</a:t>
            </a:r>
            <a:endParaRPr lang="zh-CN" altLang="en-US" sz="1800" i="1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依赖管理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5"/>
          <p:cNvSpPr txBox="1"/>
          <p:nvPr/>
        </p:nvSpPr>
        <p:spPr>
          <a:xfrm>
            <a:off x="650129" y="1040979"/>
            <a:ext cx="10032365" cy="253253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依赖解析：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fontAlgn="auto">
              <a:spcBef>
                <a:spcPts val="600"/>
              </a:spcBef>
            </a:pPr>
            <a:r>
              <a:rPr lang="zh-CN" altLang="en-US" sz="2000" dirty="0"/>
              <a:t>确定和解决软件系统各组件或模块之间依赖关系的过程</a:t>
            </a:r>
            <a:endParaRPr lang="zh-CN" altLang="en-US" sz="2000" dirty="0"/>
          </a:p>
          <a:p>
            <a:pPr lvl="1" fontAlgn="auto">
              <a:spcBef>
                <a:spcPts val="600"/>
              </a:spcBef>
            </a:pPr>
            <a:endParaRPr lang="zh-CN" altLang="en-US" sz="2000" dirty="0"/>
          </a:p>
          <a:p>
            <a:pPr lvl="1" fontAlgn="auto">
              <a:spcBef>
                <a:spcPts val="600"/>
              </a:spcBef>
            </a:pPr>
            <a:r>
              <a:rPr lang="zh-CN" altLang="en-US" sz="2000" dirty="0"/>
              <a:t>确保对一个组件的更改或更新不会意外破坏其他组件的功能</a:t>
            </a:r>
            <a:endParaRPr lang="zh-CN" alt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29" y="3365501"/>
            <a:ext cx="4634986" cy="289602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菱形依赖问题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86205"/>
            <a:ext cx="10426700" cy="1204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dirty="0"/>
              <a:t>两个或更多库在依赖树中消费一个公共库，使用版本化引用，但没有一个公共库的版本包含所有消费者期望的功能。</a:t>
            </a:r>
            <a:endParaRPr lang="zh-CN" alt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5" y="2763202"/>
            <a:ext cx="3292938" cy="26088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013" y="2895600"/>
            <a:ext cx="3160796" cy="2476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844" y="2817013"/>
            <a:ext cx="3066105" cy="255508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依赖管理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0930" y="1305560"/>
            <a:ext cx="10321290" cy="4166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dirty="0"/>
              <a:t>应该导入依赖的哪个版本？</a:t>
            </a:r>
            <a:endParaRPr lang="zh-CN" altLang="en-US" sz="2000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dirty="0"/>
              <a:t>何时升级依赖版本？</a:t>
            </a:r>
            <a:endParaRPr lang="en-US" altLang="zh-CN" sz="2000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dirty="0"/>
              <a:t>四种选项：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永不升级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语义化版本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捆绑发行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sz="2000" dirty="0"/>
              <a:t>“Live at HEAD”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依赖管理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21080" y="1028700"/>
            <a:ext cx="10611485" cy="532764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>
                <a:solidFill>
                  <a:srgbClr val="505122"/>
                </a:solidFill>
              </a:rPr>
              <a:t>永不升级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可预测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避免因外部更改导致的失败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项目初期或短期项目自然选择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与“供应商化”兼容</a:t>
            </a:r>
            <a:endParaRPr lang="zh-CN" altLang="en-US" dirty="0"/>
          </a:p>
          <a:p>
            <a:pPr>
              <a:spcBef>
                <a:spcPts val="600"/>
              </a:spcBef>
            </a:pPr>
            <a:r>
              <a:rPr lang="zh-CN" altLang="en-US" dirty="0"/>
              <a:t>问题：依赖出现安全漏洞怎么办？新依赖需要旧依赖的更新版本怎么办？</a:t>
            </a:r>
            <a:endParaRPr lang="zh-CN" altLang="en-US" dirty="0"/>
          </a:p>
          <a:p>
            <a:pPr>
              <a:spcBef>
                <a:spcPts val="600"/>
              </a:spcBef>
            </a:pP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b="1" dirty="0">
                <a:solidFill>
                  <a:srgbClr val="505122"/>
                </a:solidFill>
              </a:rPr>
              <a:t>捆绑发行</a:t>
            </a:r>
            <a:endParaRPr lang="zh-CN" altLang="en-US" b="1" dirty="0">
              <a:solidFill>
                <a:srgbClr val="505122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dirty="0"/>
              <a:t>将依赖管理交给发行版维护者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负责在合并安全更新的同时保持兼容性</a:t>
            </a:r>
            <a:endParaRPr lang="zh-CN" altLang="en-US" dirty="0"/>
          </a:p>
          <a:p>
            <a:pPr>
              <a:spcBef>
                <a:spcPts val="600"/>
              </a:spcBef>
            </a:pPr>
            <a:r>
              <a:rPr lang="zh-CN" altLang="en-US" dirty="0"/>
              <a:t>依赖捆绑包及其提供的任何依赖版本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常见于商业应用</a:t>
            </a:r>
            <a:endParaRPr lang="zh-CN" altLang="en-US" dirty="0"/>
          </a:p>
          <a:p>
            <a:pPr>
              <a:spcBef>
                <a:spcPts val="600"/>
              </a:spcBef>
            </a:pPr>
            <a:r>
              <a:rPr lang="zh-CN" altLang="en-US" dirty="0"/>
              <a:t>缺点：限制（经验证的）可移植性，无法利用最新特性</a:t>
            </a:r>
            <a:endParaRPr lang="zh-CN" altLang="en-US" dirty="0"/>
          </a:p>
          <a:p>
            <a:pPr>
              <a:spcBef>
                <a:spcPts val="600"/>
              </a:spcBef>
            </a:pPr>
            <a:endParaRPr lang="en-US" altLang="zh-CN" dirty="0"/>
          </a:p>
          <a:p>
            <a:pPr>
              <a:spcBef>
                <a:spcPts val="600"/>
              </a:spcBef>
            </a:pPr>
            <a:endParaRPr lang="en-US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193800"/>
            <a:ext cx="10544175" cy="280013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/>
              <a:t>语义化版本</a:t>
            </a:r>
            <a:r>
              <a:rPr lang="en-US" altLang="zh-CN" sz="2000" dirty="0"/>
              <a:t> （Semantic </a:t>
            </a:r>
            <a:r>
              <a:rPr lang="en-US" altLang="zh-CN" sz="2000" dirty="0"/>
              <a:t>Versioning）</a:t>
            </a:r>
            <a:endParaRPr lang="en-US" altLang="zh-CN" sz="2000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依赖管理</a:t>
            </a:r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依赖管理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82015" y="1251902"/>
            <a:ext cx="10427970" cy="483358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向后兼容：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使用旧版本依赖的代码可以继续使用新版本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在 </a:t>
            </a:r>
            <a:r>
              <a:rPr lang="en-US" altLang="zh-CN" sz="2000" dirty="0"/>
              <a:t>MINOR </a:t>
            </a:r>
            <a:r>
              <a:rPr lang="zh-CN" altLang="en-US" sz="2000" dirty="0"/>
              <a:t>版本中保持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意味着公共类型和函数不能被移除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对于 </a:t>
            </a:r>
            <a:r>
              <a:rPr lang="en-US" altLang="zh-CN" sz="2000" dirty="0"/>
              <a:t>ABI </a:t>
            </a:r>
            <a:r>
              <a:rPr lang="zh-CN" altLang="en-US" sz="2000" dirty="0"/>
              <a:t>兼容性，公共数据结构不能在“保留”字段之外更改</a:t>
            </a:r>
            <a:endParaRPr lang="zh-CN" altLang="en-US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向前兼容：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使用新版本依赖构建的代码也能在旧版本上工作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在 </a:t>
            </a:r>
            <a:r>
              <a:rPr lang="en-US" altLang="zh-CN" sz="2000" dirty="0"/>
              <a:t>PATCH </a:t>
            </a:r>
            <a:r>
              <a:rPr lang="zh-CN" altLang="en-US" sz="2000" dirty="0"/>
              <a:t>版本中保持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意味着不能添加新的公共类型、字段或函数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193800"/>
            <a:ext cx="10544175" cy="280013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语义化版本：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/>
              <a:t>依赖版本号遵循 </a:t>
            </a:r>
            <a:r>
              <a:rPr lang="en-US" altLang="zh-CN" sz="2000" dirty="0"/>
              <a:t>MAJOR.MINOR.PATCH </a:t>
            </a:r>
            <a:r>
              <a:rPr lang="zh-CN" altLang="en-US" sz="2000" dirty="0"/>
              <a:t>格式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en-US" altLang="zh-CN" sz="2000" dirty="0"/>
              <a:t>PATCH </a:t>
            </a:r>
            <a:r>
              <a:rPr lang="zh-CN" altLang="en-US" sz="2000" dirty="0"/>
              <a:t>更改应完全兼容（错误修复、安全修复）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en-US" altLang="zh-CN" sz="2000" dirty="0"/>
              <a:t>MINOR </a:t>
            </a:r>
            <a:r>
              <a:rPr lang="zh-CN" altLang="en-US" sz="2000" dirty="0"/>
              <a:t>更改可以以向后兼容的方式添加功能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en-US" altLang="zh-CN" sz="2000" dirty="0"/>
              <a:t>MAJOR </a:t>
            </a:r>
            <a:r>
              <a:rPr lang="zh-CN" altLang="en-US" sz="2000" dirty="0"/>
              <a:t>更改表示 </a:t>
            </a:r>
            <a:r>
              <a:rPr lang="en-US" altLang="zh-CN" sz="2000" dirty="0"/>
              <a:t>API </a:t>
            </a:r>
            <a:r>
              <a:rPr lang="zh-CN" altLang="en-US" sz="2000" dirty="0"/>
              <a:t>不兼容变更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许多构建工具假定这一点：</a:t>
            </a:r>
            <a:endParaRPr lang="zh-CN" altLang="en-US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依赖特定的 </a:t>
            </a:r>
            <a:r>
              <a:rPr lang="en-US" altLang="zh-CN" sz="2000" dirty="0"/>
              <a:t>MAJOR </a:t>
            </a:r>
            <a:r>
              <a:rPr lang="zh-CN" altLang="en-US" sz="2000" dirty="0"/>
              <a:t>版本和最低 </a:t>
            </a:r>
            <a:r>
              <a:rPr lang="en-US" altLang="zh-CN" sz="2000" dirty="0"/>
              <a:t>MINOR </a:t>
            </a:r>
            <a:r>
              <a:rPr lang="zh-CN" altLang="en-US" sz="2000" dirty="0"/>
              <a:t>版本</a:t>
            </a:r>
            <a:endParaRPr lang="zh-CN" altLang="en-US" sz="2000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依赖管理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7700" y="399393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In version </a:t>
            </a:r>
            <a:r>
              <a:rPr lang="en-US" b="0" i="1" dirty="0">
                <a:solidFill>
                  <a:srgbClr val="0C0D0E"/>
                </a:solidFill>
                <a:effectLst/>
                <a:latin typeface="inherit"/>
              </a:rPr>
              <a:t>2.3.0.X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:</a:t>
            </a:r>
            <a:endParaRPr lang="en-US" b="0" i="0" dirty="0">
              <a:solidFill>
                <a:srgbClr val="0C0D0E"/>
              </a:solidFill>
              <a:effectLst/>
              <a:latin typeface="-apple-system"/>
            </a:endParaRPr>
          </a:p>
          <a:p>
            <a:pPr lvl="1" fontAlgn="base"/>
            <a:r>
              <a:rPr lang="en-US" b="1" i="0" dirty="0">
                <a:solidFill>
                  <a:srgbClr val="0C0D0E"/>
                </a:solidFill>
                <a:effectLst/>
                <a:latin typeface="inherit"/>
              </a:rPr>
              <a:t>2</a:t>
            </a: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: Major revision (Breaking changes including new API, lots of new features, conceptual change, etc.)</a:t>
            </a:r>
            <a:endParaRPr lang="en-US" b="0" i="0" dirty="0">
              <a:solidFill>
                <a:srgbClr val="0C0D0E"/>
              </a:solidFill>
              <a:effectLst/>
              <a:latin typeface="inherit"/>
            </a:endParaRPr>
          </a:p>
          <a:p>
            <a:pPr lvl="1" fontAlgn="base"/>
            <a:r>
              <a:rPr lang="en-US" b="1" i="0" dirty="0">
                <a:solidFill>
                  <a:srgbClr val="0C0D0E"/>
                </a:solidFill>
                <a:effectLst/>
                <a:latin typeface="inherit"/>
              </a:rPr>
              <a:t>3</a:t>
            </a: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: Minor revision (maybe a change to a internal </a:t>
            </a:r>
            <a:r>
              <a:rPr lang="en-US" dirty="0">
                <a:solidFill>
                  <a:srgbClr val="0C0D0E"/>
                </a:solidFill>
                <a:latin typeface="inherit"/>
              </a:rPr>
              <a:t>logic</a:t>
            </a: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, 1 feature added, collection of bug fixes)</a:t>
            </a:r>
            <a:endParaRPr lang="en-US" b="0" i="0" dirty="0">
              <a:solidFill>
                <a:srgbClr val="0C0D0E"/>
              </a:solidFill>
              <a:effectLst/>
              <a:latin typeface="inherit"/>
            </a:endParaRPr>
          </a:p>
          <a:p>
            <a:pPr lvl="1" fontAlgn="base"/>
            <a:r>
              <a:rPr lang="en-US" b="1" i="0" dirty="0">
                <a:solidFill>
                  <a:srgbClr val="0C0D0E"/>
                </a:solidFill>
                <a:effectLst/>
                <a:latin typeface="inherit"/>
              </a:rPr>
              <a:t>0</a:t>
            </a: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: Bug fix release</a:t>
            </a:r>
            <a:endParaRPr lang="en-US" b="0" i="0" dirty="0">
              <a:solidFill>
                <a:srgbClr val="0C0D0E"/>
              </a:solidFill>
              <a:effectLst/>
              <a:latin typeface="inherit"/>
            </a:endParaRPr>
          </a:p>
          <a:p>
            <a:pPr lvl="1" fontAlgn="base"/>
            <a:r>
              <a:rPr lang="en-US" b="1" i="0" dirty="0">
                <a:solidFill>
                  <a:srgbClr val="0C0D0E"/>
                </a:solidFill>
                <a:effectLst/>
                <a:latin typeface="inherit"/>
              </a:rPr>
              <a:t>X</a:t>
            </a:r>
            <a:r>
              <a:rPr lang="en-US" b="0" i="0" dirty="0">
                <a:solidFill>
                  <a:srgbClr val="0C0D0E"/>
                </a:solidFill>
                <a:effectLst/>
                <a:latin typeface="inherit"/>
              </a:rPr>
              <a:t>: Build number (if used)—Auditing track number</a:t>
            </a:r>
            <a:endParaRPr lang="en-US" b="0" i="0" dirty="0">
              <a:solidFill>
                <a:srgbClr val="0C0D0E"/>
              </a:solidFill>
              <a:effectLst/>
              <a:latin typeface="inheri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84" y="4274206"/>
            <a:ext cx="3655116" cy="208214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193799"/>
            <a:ext cx="10544175" cy="516254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语义化版本的挑战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并非所有依赖都遵循此方案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人工维护者会犯错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en-US" altLang="zh-CN" sz="2000" dirty="0"/>
              <a:t>Hyrum </a:t>
            </a:r>
            <a:r>
              <a:rPr lang="zh-CN" altLang="en-US" sz="2000" dirty="0"/>
              <a:t>定律：一个人的“错误”是另一个人的“特性”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可能过度约束（</a:t>
            </a:r>
            <a:r>
              <a:rPr lang="en-US" altLang="zh-CN" sz="2000" dirty="0"/>
              <a:t>SAT </a:t>
            </a:r>
            <a:r>
              <a:rPr lang="zh-CN" altLang="en-US" sz="2000" dirty="0"/>
              <a:t>问题无解）</a:t>
            </a:r>
            <a:endParaRPr lang="zh-CN" altLang="en-US" sz="20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启发式方法放宽某些要求</a:t>
            </a:r>
            <a:endParaRPr lang="zh-CN" altLang="en-US" sz="2000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依赖管理</a:t>
            </a:r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选择哪个版本？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50947" y="1210002"/>
            <a:ext cx="11490106" cy="497338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 fontAlgn="auto">
              <a:spcBef>
                <a:spcPts val="600"/>
              </a:spcBef>
            </a:pPr>
            <a:r>
              <a:rPr lang="zh-CN" altLang="en-US" sz="2000" dirty="0"/>
              <a:t>为了实现确定性构建，选择不应依赖于依赖解析执行的时间。</a:t>
            </a:r>
            <a:endParaRPr lang="zh-CN" altLang="en-US" sz="2000" dirty="0"/>
          </a:p>
          <a:p>
            <a:pPr lvl="1" indent="0" algn="just" fontAlgn="auto">
              <a:spcBef>
                <a:spcPts val="600"/>
              </a:spcBef>
            </a:pPr>
            <a:r>
              <a:rPr lang="zh-CN" altLang="en-US" sz="2000" dirty="0"/>
              <a:t>锁定文件：捕获依赖解析的结果</a:t>
            </a:r>
            <a:endParaRPr lang="zh-CN" altLang="en-US" sz="2000" dirty="0"/>
          </a:p>
          <a:p>
            <a:pPr lvl="1" indent="0" algn="just" fontAlgn="auto">
              <a:spcBef>
                <a:spcPts val="600"/>
              </a:spcBef>
            </a:pPr>
            <a:r>
              <a:rPr lang="zh-CN" altLang="en-US" sz="2000" dirty="0"/>
              <a:t>仅当锁定版本不满足约束时，才考虑新依赖。将锁定文件提交到仓库。</a:t>
            </a:r>
            <a:endParaRPr lang="zh-CN" altLang="en-US" sz="2000" dirty="0"/>
          </a:p>
          <a:p>
            <a:pPr indent="0" algn="just" fontAlgn="auto">
              <a:spcBef>
                <a:spcPts val="600"/>
              </a:spcBef>
            </a:pPr>
            <a:endParaRPr lang="en-US" altLang="zh-CN" sz="2000" dirty="0"/>
          </a:p>
          <a:p>
            <a:pPr indent="0" algn="just" fontAlgn="auto">
              <a:spcBef>
                <a:spcPts val="600"/>
              </a:spcBef>
            </a:pPr>
            <a:endParaRPr lang="en-US" altLang="zh-CN" sz="2000" dirty="0"/>
          </a:p>
          <a:p>
            <a:pPr indent="0" algn="just" fontAlgn="auto">
              <a:spcBef>
                <a:spcPts val="600"/>
              </a:spcBef>
            </a:pPr>
            <a:endParaRPr lang="en-US" altLang="zh-CN" sz="2000" dirty="0"/>
          </a:p>
          <a:p>
            <a:pPr indent="0" algn="just" fontAlgn="auto">
              <a:spcBef>
                <a:spcPts val="600"/>
              </a:spcBef>
            </a:pPr>
            <a:endParaRPr lang="en-US" altLang="zh-CN" sz="2000" dirty="0"/>
          </a:p>
          <a:p>
            <a:pPr indent="0" algn="just" fontAlgn="auto">
              <a:spcBef>
                <a:spcPts val="600"/>
              </a:spcBef>
            </a:pPr>
            <a:r>
              <a:rPr lang="zh-CN" altLang="en-US" sz="2000" dirty="0"/>
              <a:t>通常选择依赖网络要求的最低 </a:t>
            </a:r>
            <a:r>
              <a:rPr lang="en-US" altLang="zh-CN" sz="2000" dirty="0"/>
              <a:t>MINOR </a:t>
            </a:r>
            <a:r>
              <a:rPr lang="zh-CN" altLang="en-US" sz="2000" dirty="0"/>
              <a:t>版本。</a:t>
            </a:r>
            <a:endParaRPr lang="zh-CN" altLang="en-US" sz="2000" dirty="0"/>
          </a:p>
          <a:p>
            <a:pPr lvl="1" indent="0" algn="just" fontAlgn="auto">
              <a:spcBef>
                <a:spcPts val="600"/>
              </a:spcBef>
            </a:pPr>
            <a:r>
              <a:rPr lang="zh-CN" altLang="en-US" sz="2000" dirty="0"/>
              <a:t>如果 </a:t>
            </a:r>
            <a:r>
              <a:rPr lang="en-US" altLang="zh-CN" sz="2000" dirty="0"/>
              <a:t>MINOR </a:t>
            </a:r>
            <a:r>
              <a:rPr lang="zh-CN" altLang="en-US" sz="2000" dirty="0"/>
              <a:t>版本作为发布分支维护，希望安全修复能够作为 </a:t>
            </a:r>
            <a:r>
              <a:rPr lang="en-US" altLang="zh-CN" sz="2000" dirty="0"/>
              <a:t>PATCH </a:t>
            </a:r>
            <a:r>
              <a:rPr lang="zh-CN" altLang="en-US" sz="2000" dirty="0"/>
              <a:t>向后移植到它们。</a:t>
            </a:r>
            <a:endParaRPr lang="zh-CN" alt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969" y="2678279"/>
            <a:ext cx="45974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398635" cy="790575"/>
          </a:xfrm>
        </p:spPr>
        <p:txBody>
          <a:bodyPr>
            <a:normAutofit/>
          </a:bodyPr>
          <a:lstStyle/>
          <a:p>
            <a:r>
              <a:rPr>
                <a:latin typeface="Times New Roman" panose="02020603050405020304" charset="0"/>
              </a:rPr>
              <a:t>"Live at HEAD"</a:t>
            </a:r>
            <a:endParaRPr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196340"/>
            <a:ext cx="10427335" cy="387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dirty="0"/>
              <a:t>依赖维护者负责不破坏所有用户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有效地要求世界上所有软件都进行持续集成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如果无法保持兼容性，维护者将提供升级工具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zh-CN" altLang="en-US" dirty="0"/>
              <a:t>部分基础设施已存在：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“滚动”</a:t>
            </a:r>
            <a:r>
              <a:rPr lang="en-US" altLang="zh-CN" dirty="0"/>
              <a:t>Linux </a:t>
            </a:r>
            <a:r>
              <a:rPr lang="zh-CN" altLang="en-US" dirty="0"/>
              <a:t>发行版（如 </a:t>
            </a:r>
            <a:r>
              <a:rPr lang="en-US" altLang="zh-CN" dirty="0"/>
              <a:t>Gentoo）</a:t>
            </a:r>
            <a:r>
              <a:rPr lang="zh-CN" altLang="en-US" dirty="0"/>
              <a:t>持续集成数万个包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编程语言（如 </a:t>
            </a:r>
            <a:r>
              <a:rPr lang="en-US" altLang="zh-CN" dirty="0"/>
              <a:t>Scala、Rust）</a:t>
            </a:r>
            <a:r>
              <a:rPr lang="zh-CN" altLang="en-US" dirty="0"/>
              <a:t>主动针对主要库/应用程序测试所有更改</a:t>
            </a:r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688705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依赖漏洞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04595"/>
            <a:ext cx="10427335" cy="2859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505122"/>
                </a:solidFill>
              </a:rPr>
              <a:t>NPM（JavaScript </a:t>
            </a:r>
            <a:r>
              <a:rPr lang="zh-CN" altLang="en-US" b="1" dirty="0">
                <a:solidFill>
                  <a:srgbClr val="505122"/>
                </a:solidFill>
              </a:rPr>
              <a:t>包管理器）依赖相关灾难：</a:t>
            </a:r>
            <a:endParaRPr lang="en-US" altLang="zh-CN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/>
              <a:t>left-pad </a:t>
            </a:r>
            <a:r>
              <a:rPr lang="zh-CN" altLang="en-US" dirty="0"/>
              <a:t>被取消发布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event-stream </a:t>
            </a:r>
            <a:r>
              <a:rPr lang="zh-CN" altLang="en-US" dirty="0"/>
              <a:t>中窃取比特币的传递依赖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node-ipc </a:t>
            </a:r>
            <a:r>
              <a:rPr lang="zh-CN" altLang="en-US" dirty="0"/>
              <a:t>中的乌克兰战争“抗议软件”</a:t>
            </a:r>
            <a:endParaRPr lang="zh-CN" altLang="en-US" dirty="0"/>
          </a:p>
          <a:p>
            <a:pPr>
              <a:spcBef>
                <a:spcPts val="600"/>
              </a:spcBef>
            </a:pP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b="1" dirty="0">
                <a:solidFill>
                  <a:srgbClr val="505122"/>
                </a:solidFill>
              </a:rPr>
              <a:t>为什么影响如此之大？</a:t>
            </a:r>
            <a:endParaRPr lang="en-US" altLang="zh-CN" b="1" dirty="0">
              <a:solidFill>
                <a:srgbClr val="505122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dirty="0"/>
              <a:t>工具依赖外部仓库服务而不是内部镜像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项目依赖浮动版本而不是固定版本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项目构建“太连续”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细粒度依赖被许多其他库依赖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en-US" altLang="zh-CN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THREE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0" y="3680460"/>
            <a:ext cx="121926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发布软件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软件何时准备好发布？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247140"/>
            <a:ext cx="8249285" cy="3806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spcBef>
                <a:spcPts val="1800"/>
              </a:spcBef>
              <a:buClrTx/>
              <a:buSzTx/>
              <a:buNone/>
            </a:pPr>
            <a:r>
              <a:rPr lang="zh-CN" altLang="en-US" sz="2000" dirty="0"/>
              <a:t>当功能完成时？</a:t>
            </a:r>
            <a:endParaRPr lang="en-US" altLang="zh-CN" sz="2000" dirty="0"/>
          </a:p>
          <a:p>
            <a:pPr algn="l">
              <a:spcBef>
                <a:spcPts val="1800"/>
              </a:spcBef>
              <a:buClrTx/>
              <a:buSzTx/>
              <a:buNone/>
            </a:pPr>
            <a:r>
              <a:rPr lang="zh-CN" altLang="en-US" sz="2000" dirty="0"/>
              <a:t>当没有缺陷时？</a:t>
            </a:r>
            <a:endParaRPr lang="en-US" altLang="zh-CN" sz="2000" dirty="0"/>
          </a:p>
          <a:p>
            <a:pPr algn="l">
              <a:spcBef>
                <a:spcPts val="1800"/>
              </a:spcBef>
              <a:buClrTx/>
              <a:buSzTx/>
              <a:buNone/>
            </a:pPr>
            <a:r>
              <a:rPr lang="zh-CN" altLang="en-US" sz="2000" dirty="0"/>
              <a:t>当经过足够长时间的浸泡？</a:t>
            </a:r>
            <a:endParaRPr lang="en-US" altLang="zh-CN" sz="2000" dirty="0"/>
          </a:p>
          <a:p>
            <a:pPr algn="l">
              <a:spcBef>
                <a:spcPts val="1800"/>
              </a:spcBef>
              <a:buClrTx/>
              <a:buSzTx/>
              <a:buNone/>
            </a:pPr>
            <a:r>
              <a:rPr lang="zh-CN" altLang="en-US" sz="2000" dirty="0"/>
              <a:t>在发布日期？</a:t>
            </a:r>
            <a:endParaRPr lang="en-US" altLang="zh-CN" sz="2000" dirty="0"/>
          </a:p>
          <a:p>
            <a:pPr algn="l">
              <a:spcBef>
                <a:spcPts val="1800"/>
              </a:spcBef>
              <a:buClrTx/>
              <a:buSzTx/>
              <a:buNone/>
            </a:pPr>
            <a:r>
              <a:rPr lang="zh-CN" altLang="en-US" sz="2000" dirty="0"/>
              <a:t>持续发布？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传统发布流程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916305"/>
            <a:ext cx="10213975" cy="5149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以 </a:t>
            </a:r>
            <a:r>
              <a:rPr lang="en-US" altLang="zh-CN" sz="1600" dirty="0">
                <a:solidFill>
                  <a:schemeClr val="tx1"/>
                </a:solidFill>
              </a:rPr>
              <a:t>GCC </a:t>
            </a:r>
            <a:r>
              <a:rPr lang="zh-CN" altLang="en-US" sz="1600" dirty="0">
                <a:solidFill>
                  <a:schemeClr val="tx1"/>
                </a:solidFill>
              </a:rPr>
              <a:t>为例：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1.</a:t>
            </a:r>
            <a:r>
              <a:rPr lang="zh-CN" altLang="en-US" sz="1600" dirty="0">
                <a:solidFill>
                  <a:schemeClr val="tx1"/>
                </a:solidFill>
              </a:rPr>
              <a:t>合并窗口（定长时间）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准备就绪的分支合并到主干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2.</a:t>
            </a:r>
            <a:r>
              <a:rPr lang="zh-CN" altLang="en-US" sz="1600" dirty="0">
                <a:solidFill>
                  <a:schemeClr val="tx1"/>
                </a:solidFill>
              </a:rPr>
              <a:t>错误修复（定长时间）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切出发布分支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无新功能（耦合的）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3.</a:t>
            </a:r>
            <a:r>
              <a:rPr lang="zh-CN" altLang="en-US" sz="1600" dirty="0">
                <a:solidFill>
                  <a:schemeClr val="tx1"/>
                </a:solidFill>
              </a:rPr>
              <a:t>回归和文档修复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4.</a:t>
            </a:r>
            <a:r>
              <a:rPr lang="zh-CN" altLang="en-US" sz="1600" dirty="0">
                <a:solidFill>
                  <a:schemeClr val="tx1"/>
                </a:solidFill>
              </a:rPr>
              <a:t>发布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当所有高优先级缺陷被修复时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1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挑战：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2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需要协调流程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2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错过合并窗口的特性必须等到下一个周期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2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有问题的特性难以移除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lvl="2" indent="0" fontAlgn="auto">
              <a:lnSpc>
                <a:spcPts val="136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分支分歧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基于时间的发布 </a:t>
            </a:r>
            <a:r>
              <a:rPr lang="en-US" altLang="zh-CN" dirty="0">
                <a:latin typeface="Times New Roman" panose="02020603050405020304" charset="0"/>
              </a:rPr>
              <a:t>vs </a:t>
            </a:r>
            <a:r>
              <a:rPr lang="zh-CN" altLang="en-US" dirty="0">
                <a:latin typeface="Times New Roman" panose="02020603050405020304" charset="0"/>
              </a:rPr>
              <a:t>基于特性的发布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29055"/>
            <a:ext cx="10213975" cy="4622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基于特性：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产品经理决定哪些主要特性定义下一个版本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开发人员争论自己的特性是否包含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哪些特性应延迟发布？（容易膨胀）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05122"/>
                </a:solidFill>
              </a:rPr>
              <a:t>基于时间：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所有在发布截止日期前完成（测试过）的特性都包含在发布中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未准备好的特性必须等到下一个版本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更短的发布周期降低了错过截止日期的成本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dirty="0">
              <a:solidFill>
                <a:schemeClr val="tx1"/>
              </a:solidFill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长发布周期的风险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88695" y="1160780"/>
            <a:ext cx="10213975" cy="4780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0"/>
              </a:spcBef>
            </a:pPr>
            <a:r>
              <a:rPr lang="zh-CN" altLang="en-US" sz="2000" dirty="0"/>
              <a:t>延迟为客户提供价值</a:t>
            </a:r>
            <a:endParaRPr lang="en-US" altLang="zh-CN" sz="2000" dirty="0"/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/>
              <a:t>可能落后于竞争对手</a:t>
            </a:r>
            <a:endParaRPr lang="zh-CN" altLang="en-US" sz="2000" dirty="0"/>
          </a:p>
          <a:p>
            <a:pPr indent="0" fontAlgn="auto">
              <a:spcBef>
                <a:spcPts val="0"/>
              </a:spcBef>
            </a:pPr>
            <a:endParaRPr lang="en-US" altLang="zh-CN" sz="2000" dirty="0"/>
          </a:p>
          <a:p>
            <a:pPr indent="0" fontAlgn="auto">
              <a:spcBef>
                <a:spcPts val="0"/>
              </a:spcBef>
            </a:pPr>
            <a:r>
              <a:rPr lang="zh-CN" altLang="en-US" sz="2000" dirty="0"/>
              <a:t>对功能效用的反馈缓慢</a:t>
            </a:r>
            <a:endParaRPr lang="zh-CN" altLang="en-US" sz="2000" dirty="0"/>
          </a:p>
          <a:p>
            <a:pPr indent="0" fontAlgn="auto">
              <a:spcBef>
                <a:spcPts val="0"/>
              </a:spcBef>
            </a:pPr>
            <a:endParaRPr lang="en-US" altLang="zh-CN" sz="2000" dirty="0"/>
          </a:p>
          <a:p>
            <a:pPr indent="0" fontAlgn="auto">
              <a:spcBef>
                <a:spcPts val="0"/>
              </a:spcBef>
            </a:pPr>
            <a:r>
              <a:rPr lang="zh-CN" altLang="en-US" sz="2000" dirty="0"/>
              <a:t>打击士气</a:t>
            </a:r>
            <a:endParaRPr lang="en-US" altLang="zh-CN" sz="2000" dirty="0"/>
          </a:p>
          <a:p>
            <a:pPr lvl="1" indent="0" fontAlgn="auto">
              <a:spcBef>
                <a:spcPts val="0"/>
              </a:spcBef>
            </a:pPr>
            <a:r>
              <a:rPr lang="zh-CN" altLang="en-US" sz="2000" dirty="0"/>
              <a:t>发布经理的频繁更替妨碍专业知识积累</a:t>
            </a:r>
            <a:endParaRPr lang="zh-CN" altLang="en-US" sz="2000" dirty="0"/>
          </a:p>
          <a:p>
            <a:pPr indent="0" fontAlgn="auto">
              <a:spcBef>
                <a:spcPts val="0"/>
              </a:spcBef>
            </a:pPr>
            <a:endParaRPr lang="en-US" altLang="zh-CN" sz="2000" dirty="0"/>
          </a:p>
          <a:p>
            <a:pPr indent="0" fontAlgn="auto">
              <a:spcBef>
                <a:spcPts val="0"/>
              </a:spcBef>
            </a:pPr>
            <a:r>
              <a:rPr lang="zh-CN" altLang="en-US" sz="2000" dirty="0"/>
              <a:t>难以诊断问题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特性标志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89330" y="1240155"/>
            <a:ext cx="10529570" cy="4823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dirty="0"/>
              <a:t>将特性与二进制构建绑定是有风险的：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二进制发布和回滚需要时间</a:t>
            </a:r>
            <a:endParaRPr lang="zh-CN" altLang="en-US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版本偏差的风险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无法使特性可用性与公告同步</a:t>
            </a:r>
            <a:endParaRPr lang="en-US" altLang="zh-CN" sz="20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/>
              <a:t>修复回归需要回滚所有新特性</a:t>
            </a:r>
            <a:endParaRPr lang="zh-CN" altLang="en-US" sz="2000" dirty="0"/>
          </a:p>
          <a:p>
            <a:pPr indent="0" fontAlgn="auto">
              <a:spcBef>
                <a:spcPts val="600"/>
              </a:spcBef>
            </a:pPr>
            <a:endParaRPr lang="en-US" altLang="zh-CN" sz="2000" dirty="0"/>
          </a:p>
          <a:p>
            <a:pPr indent="0" fontAlgn="auto">
              <a:spcBef>
                <a:spcPts val="600"/>
              </a:spcBef>
            </a:pPr>
            <a:endParaRPr lang="en-US" altLang="zh-C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852" y="3602294"/>
            <a:ext cx="5250525" cy="217288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9894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使用 </a:t>
            </a:r>
            <a:r>
              <a:rPr lang="en-US" altLang="zh-CN" dirty="0">
                <a:latin typeface="Times New Roman" panose="02020603050405020304" charset="0"/>
              </a:rPr>
              <a:t>Spring Boot </a:t>
            </a:r>
            <a:r>
              <a:rPr lang="zh-CN" altLang="en-US" dirty="0">
                <a:latin typeface="Times New Roman" panose="02020603050405020304" charset="0"/>
              </a:rPr>
              <a:t>的特性标志技术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89330" y="1240155"/>
            <a:ext cx="10529570" cy="4823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/>
              <a:t>在</a:t>
            </a:r>
            <a:r>
              <a:rPr lang="en-US" altLang="en-US" sz="2000" dirty="0"/>
              <a:t> Spring Boot </a:t>
            </a:r>
            <a:r>
              <a:rPr lang="zh-CN" altLang="en-US" sz="2000" dirty="0"/>
              <a:t>应用中使用</a:t>
            </a:r>
            <a:r>
              <a:rPr lang="en-US" altLang="en-US" sz="2000" dirty="0"/>
              <a:t> application.yml </a:t>
            </a:r>
            <a:r>
              <a:rPr lang="zh-CN" altLang="en-US" sz="2000" dirty="0"/>
              <a:t>配置功能开关。该文件通常用于定义应用配置，同时也非常适合用来配置功能灰度开关</a:t>
            </a:r>
            <a:r>
              <a:rPr lang="en-US" altLang="en-US" sz="2000" dirty="0"/>
              <a:t> / </a:t>
            </a:r>
            <a:r>
              <a:rPr lang="zh-CN" altLang="en-US" sz="2000" dirty="0"/>
              <a:t>特性切换。</a:t>
            </a:r>
            <a:endParaRPr lang="zh-CN" alt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4" y="2400935"/>
            <a:ext cx="3711034" cy="89471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9894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使用 </a:t>
            </a:r>
            <a:r>
              <a:rPr lang="en-US" altLang="zh-CN" dirty="0">
                <a:latin typeface="Times New Roman" panose="02020603050405020304" charset="0"/>
              </a:rPr>
              <a:t>Spring Boot </a:t>
            </a:r>
            <a:r>
              <a:rPr lang="zh-CN" altLang="en-US" dirty="0">
                <a:latin typeface="Times New Roman" panose="02020603050405020304" charset="0"/>
              </a:rPr>
              <a:t>的特性标志技术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89330" y="1240155"/>
            <a:ext cx="10529570" cy="4823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/>
              <a:t>使用 @</a:t>
            </a:r>
            <a:r>
              <a:rPr lang="en-US" altLang="zh-CN" sz="2000" dirty="0"/>
              <a:t>ConditionalOnProperty </a:t>
            </a:r>
            <a:r>
              <a:rPr lang="zh-CN" altLang="en-US" sz="2000" dirty="0"/>
              <a:t>注解来开启特性的实现选项：</a:t>
            </a:r>
            <a:endParaRPr lang="zh-CN" alt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998" y="1866582"/>
            <a:ext cx="545450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9894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使用 </a:t>
            </a:r>
            <a:r>
              <a:rPr lang="en-US" altLang="zh-CN" dirty="0">
                <a:latin typeface="Times New Roman" panose="02020603050405020304" charset="0"/>
              </a:rPr>
              <a:t>Spring Boot </a:t>
            </a:r>
            <a:r>
              <a:rPr lang="zh-CN" altLang="en-US" dirty="0">
                <a:latin typeface="Times New Roman" panose="02020603050405020304" charset="0"/>
              </a:rPr>
              <a:t>的特性标志技术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1215" y="960755"/>
            <a:ext cx="10529570" cy="4823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/>
              <a:t>如果 </a:t>
            </a:r>
            <a:r>
              <a:rPr lang="en-US" altLang="zh-CN" sz="2000" dirty="0"/>
              <a:t>feature-flags.is-new-books-service-enabled </a:t>
            </a:r>
            <a:r>
              <a:rPr lang="zh-CN" altLang="en-US" sz="2000" dirty="0"/>
              <a:t>值为 </a:t>
            </a:r>
            <a:r>
              <a:rPr lang="en-US" altLang="zh-CN" sz="2000" dirty="0"/>
              <a:t>false </a:t>
            </a:r>
            <a:r>
              <a:rPr lang="zh-CN" altLang="en-US" sz="2000" dirty="0"/>
              <a:t>或没有该标志，将创建 </a:t>
            </a:r>
            <a:r>
              <a:rPr lang="en-US" altLang="zh-CN" sz="2000" dirty="0"/>
              <a:t>BooksDefaultService </a:t>
            </a:r>
            <a:r>
              <a:rPr lang="zh-CN" altLang="en-US" sz="2000" dirty="0"/>
              <a:t>类的对象；如果为 </a:t>
            </a:r>
            <a:r>
              <a:rPr lang="en-US" altLang="zh-CN" sz="2000" dirty="0"/>
              <a:t>true，</a:t>
            </a:r>
            <a:r>
              <a:rPr lang="zh-CN" altLang="en-US" sz="2000" dirty="0"/>
              <a:t>则创建 </a:t>
            </a:r>
            <a:r>
              <a:rPr lang="en-US" altLang="zh-CN" sz="2000" dirty="0"/>
              <a:t>BooksNewService </a:t>
            </a:r>
            <a:r>
              <a:rPr lang="zh-CN" altLang="en-US" sz="2000" dirty="0"/>
              <a:t>类的对象。</a:t>
            </a:r>
            <a:endParaRPr lang="zh-CN" alt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450" y="2457450"/>
            <a:ext cx="5245100" cy="265694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9894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使用 </a:t>
            </a:r>
            <a:r>
              <a:rPr lang="en-US" altLang="zh-CN" dirty="0">
                <a:latin typeface="Times New Roman" panose="02020603050405020304" charset="0"/>
              </a:rPr>
              <a:t>Spring Boot </a:t>
            </a:r>
            <a:r>
              <a:rPr lang="zh-CN" altLang="en-US" dirty="0">
                <a:latin typeface="Times New Roman" panose="02020603050405020304" charset="0"/>
              </a:rPr>
              <a:t>的特性标志技术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1215" y="960755"/>
            <a:ext cx="10529570" cy="4823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/>
              <a:t>现在可以使用 </a:t>
            </a:r>
            <a:r>
              <a:rPr lang="en-US" altLang="zh-CN" sz="2000" dirty="0"/>
              <a:t>BookService </a:t>
            </a:r>
            <a:r>
              <a:rPr lang="zh-CN" altLang="en-US" sz="2000" dirty="0"/>
              <a:t>接口的对象，实际实现由标志决定（多态起作用）：</a:t>
            </a:r>
            <a:endParaRPr lang="zh-CN" alt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780" y="2552700"/>
            <a:ext cx="4791919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540868" y="2606037"/>
            <a:ext cx="7978032" cy="914400"/>
          </a:xfrm>
        </p:spPr>
        <p:txBody>
          <a:bodyPr>
            <a:normAutofit/>
          </a:bodyPr>
          <a:lstStyle/>
          <a:p>
            <a:pPr algn="r"/>
            <a:r>
              <a:rPr lang="zh-CN" altLang="en-US" dirty="0"/>
              <a:t>感谢聆听！</a:t>
            </a:r>
            <a:endParaRPr lang="zh-CN" altLang="en-US" dirty="0"/>
          </a:p>
        </p:txBody>
      </p:sp>
      <p:cxnSp>
        <p:nvCxnSpPr>
          <p:cNvPr id="27" name="直接连接符 2"/>
          <p:cNvCxnSpPr/>
          <p:nvPr/>
        </p:nvCxnSpPr>
        <p:spPr>
          <a:xfrm>
            <a:off x="11226555" y="4069080"/>
            <a:ext cx="0" cy="786699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66"/>
          <p:cNvSpPr/>
          <p:nvPr/>
        </p:nvSpPr>
        <p:spPr>
          <a:xfrm>
            <a:off x="4295518" y="3921753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讲师：刘光</a:t>
            </a: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迟 博士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8474</Words>
  <Application>WPS Presentation</Application>
  <PresentationFormat>Widescreen</PresentationFormat>
  <Paragraphs>977</Paragraphs>
  <Slides>81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105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Times New Roman</vt:lpstr>
      <vt:lpstr>宋体</vt:lpstr>
      <vt:lpstr>Arial Unicode MS</vt:lpstr>
      <vt:lpstr>等线</vt:lpstr>
      <vt:lpstr>汉仪中等线KW</vt:lpstr>
      <vt:lpstr>Roboto</vt:lpstr>
      <vt:lpstr>苹方-简</vt:lpstr>
      <vt:lpstr>-apple-system</vt:lpstr>
      <vt:lpstr>Thonburi</vt:lpstr>
      <vt:lpstr>inherit</vt:lpstr>
      <vt:lpstr>Calibri</vt:lpstr>
      <vt:lpstr>Helvetica Neue</vt:lpstr>
      <vt:lpstr>-apple-system</vt:lpstr>
      <vt:lpstr>inherit</vt:lpstr>
      <vt:lpstr>微软雅黑</vt:lpstr>
      <vt:lpstr>汉仪书宋二KW</vt:lpstr>
      <vt:lpstr>1_Office 主题​​</vt:lpstr>
      <vt:lpstr>PowerPoint 演示文稿</vt:lpstr>
      <vt:lpstr>提醒</vt:lpstr>
      <vt:lpstr>提醒</vt:lpstr>
      <vt:lpstr>非功能测试</vt:lpstr>
      <vt:lpstr>性能缺陷</vt:lpstr>
      <vt:lpstr>性能测试</vt:lpstr>
      <vt:lpstr>性能测试</vt:lpstr>
      <vt:lpstr>性能测试</vt:lpstr>
      <vt:lpstr>性能测试的挑战</vt:lpstr>
      <vt:lpstr>阿姆达尔定律</vt:lpstr>
      <vt:lpstr>性能分析</vt:lpstr>
      <vt:lpstr>性能分析工具</vt:lpstr>
      <vt:lpstr>监控</vt:lpstr>
      <vt:lpstr>延迟 vs 吞吐量</vt:lpstr>
      <vt:lpstr>测试文档</vt:lpstr>
      <vt:lpstr>SQLite 示例</vt:lpstr>
      <vt:lpstr>检查清单</vt:lpstr>
      <vt:lpstr>缺陷的迁移</vt:lpstr>
      <vt:lpstr>困难缺陷</vt:lpstr>
      <vt:lpstr>追踪困难缺陷：海森堡缺陷</vt:lpstr>
      <vt:lpstr>追踪困难缺陷：海森堡缺陷</vt:lpstr>
      <vt:lpstr>系统软件中的缺陷</vt:lpstr>
      <vt:lpstr>关于用户界面测试的说明</vt:lpstr>
      <vt:lpstr>PowerPoint 演示文稿</vt:lpstr>
      <vt:lpstr>验收测试</vt:lpstr>
      <vt:lpstr>修改后瀑布模型中的验收测试</vt:lpstr>
      <vt:lpstr>迭代开发中的验收测试</vt:lpstr>
      <vt:lpstr>敏捷开发中的验收测试</vt:lpstr>
      <vt:lpstr>验收测试资源</vt:lpstr>
      <vt:lpstr>验收测试</vt:lpstr>
      <vt:lpstr>发布技术</vt:lpstr>
      <vt:lpstr>发布：并行测试</vt:lpstr>
      <vt:lpstr>发布：Alpha 和 Beta 测试</vt:lpstr>
      <vt:lpstr>发布：A/B 测试</vt:lpstr>
      <vt:lpstr>PowerPoint 演示文稿</vt:lpstr>
      <vt:lpstr>什么是构建系统</vt:lpstr>
      <vt:lpstr>Make 示例</vt:lpstr>
      <vt:lpstr>Make 示例</vt:lpstr>
      <vt:lpstr>Make 示例</vt:lpstr>
      <vt:lpstr>Make 示例</vt:lpstr>
      <vt:lpstr>Make 示例</vt:lpstr>
      <vt:lpstr>Make 示例</vt:lpstr>
      <vt:lpstr>Make 示例</vt:lpstr>
      <vt:lpstr>使用构建系统</vt:lpstr>
      <vt:lpstr>选项</vt:lpstr>
      <vt:lpstr>构建工具</vt:lpstr>
      <vt:lpstr>基于任务的构建工具</vt:lpstr>
      <vt:lpstr>基于任务的构建工具</vt:lpstr>
      <vt:lpstr>基于任务的构建工具</vt:lpstr>
      <vt:lpstr>基于任务的构建工具</vt:lpstr>
      <vt:lpstr>基于工件的构建工具（Bazel）</vt:lpstr>
      <vt:lpstr>基于工件的构建工具（Bazel）</vt:lpstr>
      <vt:lpstr>Bazel（基于工件）</vt:lpstr>
      <vt:lpstr>PowerPoint 演示文稿</vt:lpstr>
      <vt:lpstr>内部依赖 vs 外部依赖</vt:lpstr>
      <vt:lpstr>为什么要依赖外部代码？</vt:lpstr>
      <vt:lpstr>依赖从哪里获取？</vt:lpstr>
      <vt:lpstr>仓库镜像</vt:lpstr>
      <vt:lpstr>依赖树</vt:lpstr>
      <vt:lpstr>依赖管理</vt:lpstr>
      <vt:lpstr>菱形依赖问题</vt:lpstr>
      <vt:lpstr>依赖管理</vt:lpstr>
      <vt:lpstr>依赖管理</vt:lpstr>
      <vt:lpstr>依赖管理</vt:lpstr>
      <vt:lpstr>依赖管理</vt:lpstr>
      <vt:lpstr>依赖管理</vt:lpstr>
      <vt:lpstr>依赖管理</vt:lpstr>
      <vt:lpstr>选择哪个版本？</vt:lpstr>
      <vt:lpstr>"Live at HEAD"</vt:lpstr>
      <vt:lpstr>依赖漏洞</vt:lpstr>
      <vt:lpstr>PowerPoint 演示文稿</vt:lpstr>
      <vt:lpstr>软件何时准备好发布？</vt:lpstr>
      <vt:lpstr>传统发布流程</vt:lpstr>
      <vt:lpstr>基于时间的发布 vs 基于特性的发布</vt:lpstr>
      <vt:lpstr>长发布周期的风险</vt:lpstr>
      <vt:lpstr>特性标志</vt:lpstr>
      <vt:lpstr>使用 Spring Boot 的特性标志技术</vt:lpstr>
      <vt:lpstr>使用 Spring Boot 的特性标志技术</vt:lpstr>
      <vt:lpstr>使用 Spring Boot 的特性标志技术</vt:lpstr>
      <vt:lpstr>使用 Spring Boot 的特性标志技术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1222</cp:revision>
  <dcterms:created xsi:type="dcterms:W3CDTF">2026-05-14T05:36:21Z</dcterms:created>
  <dcterms:modified xsi:type="dcterms:W3CDTF">2026-05-14T05:36:21Z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05DFE0459F9C59C1555F056A2FB08176_43</vt:lpwstr>
  </property>
  <property fmtid="{D5CDD505-2E9C-101B-9397-08002B2CF9AE}" pid="3" name="KSOProductBuildVer">
    <vt:lpwstr>1033-7.2.2.8955</vt:lpwstr>
  </property>
</Properties>
</file>