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899" r:id="rId3"/>
    <p:sldId id="900" r:id="rId5"/>
    <p:sldId id="901" r:id="rId6"/>
    <p:sldId id="902" r:id="rId7"/>
    <p:sldId id="903" r:id="rId8"/>
    <p:sldId id="904" r:id="rId9"/>
    <p:sldId id="905" r:id="rId10"/>
    <p:sldId id="906" r:id="rId11"/>
    <p:sldId id="907" r:id="rId12"/>
    <p:sldId id="908" r:id="rId13"/>
    <p:sldId id="909" r:id="rId14"/>
    <p:sldId id="910" r:id="rId15"/>
    <p:sldId id="911" r:id="rId16"/>
    <p:sldId id="912" r:id="rId17"/>
    <p:sldId id="913" r:id="rId18"/>
    <p:sldId id="914" r:id="rId19"/>
    <p:sldId id="915" r:id="rId20"/>
    <p:sldId id="916" r:id="rId21"/>
    <p:sldId id="917" r:id="rId22"/>
    <p:sldId id="918" r:id="rId23"/>
    <p:sldId id="919" r:id="rId24"/>
    <p:sldId id="920" r:id="rId25"/>
    <p:sldId id="921" r:id="rId26"/>
    <p:sldId id="922" r:id="rId27"/>
    <p:sldId id="923" r:id="rId28"/>
    <p:sldId id="924" r:id="rId29"/>
    <p:sldId id="925" r:id="rId30"/>
    <p:sldId id="926" r:id="rId31"/>
    <p:sldId id="927" r:id="rId32"/>
    <p:sldId id="928" r:id="rId33"/>
    <p:sldId id="929" r:id="rId34"/>
    <p:sldId id="930" r:id="rId35"/>
    <p:sldId id="931" r:id="rId36"/>
    <p:sldId id="932" r:id="rId37"/>
    <p:sldId id="933" r:id="rId38"/>
    <p:sldId id="934" r:id="rId39"/>
    <p:sldId id="935" r:id="rId40"/>
    <p:sldId id="936" r:id="rId41"/>
    <p:sldId id="937" r:id="rId42"/>
    <p:sldId id="938" r:id="rId43"/>
    <p:sldId id="939" r:id="rId44"/>
    <p:sldId id="940" r:id="rId45"/>
    <p:sldId id="941" r:id="rId46"/>
    <p:sldId id="942" r:id="rId47"/>
    <p:sldId id="943" r:id="rId48"/>
    <p:sldId id="944" r:id="rId49"/>
    <p:sldId id="945" r:id="rId50"/>
    <p:sldId id="946" r:id="rId51"/>
    <p:sldId id="947" r:id="rId52"/>
    <p:sldId id="948" r:id="rId53"/>
    <p:sldId id="949" r:id="rId54"/>
    <p:sldId id="950" r:id="rId55"/>
    <p:sldId id="951" r:id="rId56"/>
    <p:sldId id="952" r:id="rId57"/>
    <p:sldId id="953" r:id="rId58"/>
    <p:sldId id="954" r:id="rId59"/>
    <p:sldId id="955" r:id="rId60"/>
    <p:sldId id="956" r:id="rId61"/>
    <p:sldId id="957" r:id="rId62"/>
    <p:sldId id="958" r:id="rId63"/>
    <p:sldId id="959" r:id="rId64"/>
    <p:sldId id="960" r:id="rId65"/>
    <p:sldId id="961" r:id="rId66"/>
    <p:sldId id="962" r:id="rId67"/>
    <p:sldId id="963" r:id="rId68"/>
    <p:sldId id="964" r:id="rId69"/>
    <p:sldId id="965" r:id="rId70"/>
    <p:sldId id="966" r:id="rId71"/>
    <p:sldId id="967" r:id="rId72"/>
    <p:sldId id="968" r:id="rId73"/>
    <p:sldId id="969" r:id="rId74"/>
    <p:sldId id="970" r:id="rId75"/>
    <p:sldId id="971" r:id="rId76"/>
    <p:sldId id="972" r:id="rId77"/>
    <p:sldId id="973" r:id="rId78"/>
    <p:sldId id="974" r:id="rId79"/>
    <p:sldId id="975" r:id="rId80"/>
    <p:sldId id="976" r:id="rId81"/>
    <p:sldId id="977" r:id="rId82"/>
    <p:sldId id="978" r:id="rId83"/>
    <p:sldId id="979" r:id="rId84"/>
    <p:sldId id="980" r:id="rId85"/>
    <p:sldId id="981" r:id="rId86"/>
    <p:sldId id="982" r:id="rId87"/>
    <p:sldId id="983" r:id="rId88"/>
    <p:sldId id="984" r:id="rId89"/>
    <p:sldId id="985" r:id="rId90"/>
    <p:sldId id="986" r:id="rId91"/>
    <p:sldId id="987" r:id="rId92"/>
    <p:sldId id="988" r:id="rId93"/>
    <p:sldId id="989" r:id="rId94"/>
    <p:sldId id="990" r:id="rId95"/>
    <p:sldId id="991" r:id="rId96"/>
    <p:sldId id="992" r:id="rId97"/>
    <p:sldId id="993" r:id="rId98"/>
    <p:sldId id="994" r:id="rId99"/>
    <p:sldId id="995" r:id="rId100"/>
    <p:sldId id="996" r:id="rId101"/>
    <p:sldId id="997" r:id="rId102"/>
    <p:sldId id="998" r:id="rId103"/>
    <p:sldId id="999" r:id="rId104"/>
    <p:sldId id="1000" r:id="rId105"/>
    <p:sldId id="1001" r:id="rId106"/>
    <p:sldId id="1002" r:id="rId107"/>
    <p:sldId id="1003" r:id="rId108"/>
    <p:sldId id="1004" r:id="rId109"/>
    <p:sldId id="1005" r:id="rId110"/>
    <p:sldId id="1006" r:id="rId111"/>
    <p:sldId id="1007" r:id="rId112"/>
    <p:sldId id="1008" r:id="rId113"/>
    <p:sldId id="1009" r:id="rId114"/>
    <p:sldId id="1010" r:id="rId115"/>
    <p:sldId id="1011" r:id="rId116"/>
  </p:sldIdLst>
  <p:sldSz cx="12192000" cy="6858000"/>
  <p:notesSz cx="6858000" cy="9144000"/>
  <p:embeddedFontLst>
    <p:embeddedFont>
      <p:font typeface="Helvetica" pitchFamily="2" charset="0"/>
      <p:regular r:id="rId12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5122"/>
    <a:srgbClr val="5377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02" autoAdjust="0"/>
    <p:restoredTop sz="93120" autoAdjust="0"/>
  </p:normalViewPr>
  <p:slideViewPr>
    <p:cSldViewPr snapToGrid="0">
      <p:cViewPr varScale="1">
        <p:scale>
          <a:sx n="102" d="100"/>
          <a:sy n="102" d="100"/>
        </p:scale>
        <p:origin x="648" y="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6.xml"/><Relationship Id="rId98" Type="http://schemas.openxmlformats.org/officeDocument/2006/relationships/slide" Target="slides/slide95.xml"/><Relationship Id="rId97" Type="http://schemas.openxmlformats.org/officeDocument/2006/relationships/slide" Target="slides/slide94.xml"/><Relationship Id="rId96" Type="http://schemas.openxmlformats.org/officeDocument/2006/relationships/slide" Target="slides/slide93.xml"/><Relationship Id="rId95" Type="http://schemas.openxmlformats.org/officeDocument/2006/relationships/slide" Target="slides/slide92.xml"/><Relationship Id="rId94" Type="http://schemas.openxmlformats.org/officeDocument/2006/relationships/slide" Target="slides/slide91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6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0" Type="http://schemas.openxmlformats.org/officeDocument/2006/relationships/font" Target="fonts/font1.fntdata"/><Relationship Id="rId12" Type="http://schemas.openxmlformats.org/officeDocument/2006/relationships/slide" Target="slides/slide9.xml"/><Relationship Id="rId119" Type="http://schemas.openxmlformats.org/officeDocument/2006/relationships/tableStyles" Target="tableStyles.xml"/><Relationship Id="rId118" Type="http://schemas.openxmlformats.org/officeDocument/2006/relationships/viewProps" Target="viewProps.xml"/><Relationship Id="rId117" Type="http://schemas.openxmlformats.org/officeDocument/2006/relationships/presProps" Target="presProps.xml"/><Relationship Id="rId116" Type="http://schemas.openxmlformats.org/officeDocument/2006/relationships/slide" Target="slides/slide113.xml"/><Relationship Id="rId115" Type="http://schemas.openxmlformats.org/officeDocument/2006/relationships/slide" Target="slides/slide112.xml"/><Relationship Id="rId114" Type="http://schemas.openxmlformats.org/officeDocument/2006/relationships/slide" Target="slides/slide111.xml"/><Relationship Id="rId113" Type="http://schemas.openxmlformats.org/officeDocument/2006/relationships/slide" Target="slides/slide110.xml"/><Relationship Id="rId112" Type="http://schemas.openxmlformats.org/officeDocument/2006/relationships/slide" Target="slides/slide109.xml"/><Relationship Id="rId111" Type="http://schemas.openxmlformats.org/officeDocument/2006/relationships/slide" Target="slides/slide108.xml"/><Relationship Id="rId110" Type="http://schemas.openxmlformats.org/officeDocument/2006/relationships/slide" Target="slides/slide107.xml"/><Relationship Id="rId11" Type="http://schemas.openxmlformats.org/officeDocument/2006/relationships/slide" Target="slides/slide8.xml"/><Relationship Id="rId109" Type="http://schemas.openxmlformats.org/officeDocument/2006/relationships/slide" Target="slides/slide106.xml"/><Relationship Id="rId108" Type="http://schemas.openxmlformats.org/officeDocument/2006/relationships/slide" Target="slides/slide105.xml"/><Relationship Id="rId107" Type="http://schemas.openxmlformats.org/officeDocument/2006/relationships/slide" Target="slides/slide104.xml"/><Relationship Id="rId106" Type="http://schemas.openxmlformats.org/officeDocument/2006/relationships/slide" Target="slides/slide103.xml"/><Relationship Id="rId105" Type="http://schemas.openxmlformats.org/officeDocument/2006/relationships/slide" Target="slides/slide102.xml"/><Relationship Id="rId104" Type="http://schemas.openxmlformats.org/officeDocument/2006/relationships/slide" Target="slides/slide101.xml"/><Relationship Id="rId103" Type="http://schemas.openxmlformats.org/officeDocument/2006/relationships/slide" Target="slides/slide100.xml"/><Relationship Id="rId102" Type="http://schemas.openxmlformats.org/officeDocument/2006/relationships/slide" Target="slides/slide99.xml"/><Relationship Id="rId101" Type="http://schemas.openxmlformats.org/officeDocument/2006/relationships/slide" Target="slides/slide98.xml"/><Relationship Id="rId100" Type="http://schemas.openxmlformats.org/officeDocument/2006/relationships/slide" Target="slides/slide97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AB7413-AF54-469D-ABFD-75D5619B000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7" Type="http://schemas.openxmlformats.org/officeDocument/2006/relationships/hyperlink" Target="https://zhuanlan.zhihu.com/p/335298500" TargetMode="External"/><Relationship Id="rId6" Type="http://schemas.openxmlformats.org/officeDocument/2006/relationships/hyperlink" Target="https://weibo.com/p/1005052284144087/photos?type=photo" TargetMode="External"/><Relationship Id="rId5" Type="http://schemas.openxmlformats.org/officeDocument/2006/relationships/hyperlink" Target="https://www.seu.edu.cn/bsxtwxw/main.htm" TargetMode="External"/><Relationship Id="rId4" Type="http://schemas.openxmlformats.org/officeDocument/2006/relationships/hyperlink" Target="https://mp.weixin.qq.com/mp/profile_ext?action=home&amp;__biz=MzA4MzM3Mzc3Ng==&amp;scene=124#wechat_redirect" TargetMode="External"/><Relationship Id="rId3" Type="http://schemas.openxmlformats.org/officeDocument/2006/relationships/hyperlink" Target="http://www.officeplus.cn/p/51/102751.shtml" TargetMode="External"/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>
                <a:cs typeface="+mn-ea"/>
                <a:sym typeface="+mn-lt"/>
              </a:rPr>
              <a:t>本模板基于“</a:t>
            </a:r>
            <a:r>
              <a:rPr lang="zh-CN" altLang="en-US" dirty="0">
                <a:hlinkClick r:id="rId3"/>
              </a:rPr>
              <a:t>中国科学院大学</a:t>
            </a:r>
            <a:r>
              <a:rPr lang="en-US" altLang="zh-CN" dirty="0">
                <a:hlinkClick r:id="rId3"/>
              </a:rPr>
              <a:t>-</a:t>
            </a:r>
            <a:r>
              <a:rPr lang="zh-CN" altLang="en-US" dirty="0">
                <a:hlinkClick r:id="rId3"/>
              </a:rPr>
              <a:t>路人丁</a:t>
            </a:r>
            <a:r>
              <a:rPr lang="en-US" altLang="zh-CN" dirty="0">
                <a:hlinkClick r:id="rId3"/>
              </a:rPr>
              <a:t>-PPT</a:t>
            </a:r>
            <a:r>
              <a:rPr lang="zh-CN" altLang="en-US" dirty="0">
                <a:hlinkClick r:id="rId3"/>
              </a:rPr>
              <a:t>模板</a:t>
            </a:r>
            <a:r>
              <a:rPr lang="zh-CN" altLang="en-US" dirty="0"/>
              <a:t>”魔改而成，著作权归该作者所有。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本模板中使用的东南大学校徽、校标文字组合、校训文字等素材来自于微信公众号“</a:t>
            </a:r>
            <a:r>
              <a:rPr lang="zh-CN" altLang="en-US" dirty="0">
                <a:hlinkClick r:id="rId4"/>
              </a:rPr>
              <a:t>金木屋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本模板的视觉设计参考了“</a:t>
            </a:r>
            <a:r>
              <a:rPr lang="zh-CN" altLang="en-US" dirty="0">
                <a:hlinkClick r:id="rId5"/>
              </a:rPr>
              <a:t>东南大学视觉识别系统</a:t>
            </a:r>
            <a:r>
              <a:rPr lang="zh-CN" altLang="en-US" dirty="0"/>
              <a:t>”。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人物介绍页头像素材来自 </a:t>
            </a:r>
            <a:r>
              <a:rPr lang="zh-CN" altLang="en-US" dirty="0">
                <a:hlinkClick r:id="rId6"/>
              </a:rPr>
              <a:t>小肥柴</a:t>
            </a:r>
            <a:r>
              <a:rPr lang="zh-CN" altLang="en-US" dirty="0"/>
              <a:t>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本模板力求简洁，布局合理，主次分明。以学术风为设计理念，适用于学术报告与论文答辩等相关应用场景。模板未使用任何动画效果。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您仅可以以个人非商业用途使用本</a:t>
            </a:r>
            <a:r>
              <a:rPr lang="en-US" altLang="zh-CN" dirty="0"/>
              <a:t>PPT</a:t>
            </a:r>
            <a:r>
              <a:rPr lang="zh-CN" altLang="en-US" dirty="0"/>
              <a:t>模板，不可将信息内容的全部或部分用以出售，或以出租、出借、转让、分销、发布等其他任何方式供其他人使用。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sz="800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欢迎 </a:t>
            </a:r>
            <a:r>
              <a:rPr lang="zh-CN" altLang="en-US" dirty="0">
                <a:hlinkClick r:id="rId7"/>
              </a:rPr>
              <a:t>持续关注东南大学止于至善学术风</a:t>
            </a:r>
            <a:r>
              <a:rPr lang="en-US" altLang="zh-CN" dirty="0">
                <a:hlinkClick r:id="rId7"/>
              </a:rPr>
              <a:t> PPT </a:t>
            </a:r>
            <a:r>
              <a:rPr lang="zh-CN" altLang="en-US" dirty="0">
                <a:hlinkClick r:id="rId7"/>
              </a:rPr>
              <a:t>模板</a:t>
            </a:r>
            <a:r>
              <a:rPr lang="zh-CN" altLang="en-US" dirty="0"/>
              <a:t> （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https://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zhuanlan.zhihu.com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/p/335298500</a:t>
            </a:r>
            <a:r>
              <a:rPr lang="zh-CN" altLang="en-US" dirty="0"/>
              <a:t>）后续的功能优化及多语言更新版本。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dirty="0"/>
              <a:t>最后，祝汇报顺利，马到成功！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 dirty="0"/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Char char="•"/>
              <a:defRPr/>
            </a:pP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Version:</a:t>
            </a:r>
            <a:r>
              <a:rPr kumimoji="1" lang="zh-CN" altLang="en-US" dirty="0">
                <a:latin typeface="+mn-ea"/>
                <a:cs typeface="Arial" panose="020B0604020202090204" pitchFamily="34" charset="0"/>
              </a:rPr>
              <a:t> </a:t>
            </a:r>
            <a:r>
              <a:rPr kumimoji="1" lang="en-US" altLang="zh-CN" dirty="0">
                <a:latin typeface="+mn-ea"/>
                <a:cs typeface="Arial" panose="020B0604020202090204" pitchFamily="34" charset="0"/>
              </a:rPr>
              <a:t>(2021) v1.5-en.</a:t>
            </a:r>
            <a:endParaRPr kumimoji="1" lang="zh-CN" altLang="en-US" dirty="0">
              <a:latin typeface="+mn-ea"/>
              <a:cs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71B729-817F-448C-AF52-5327A956947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A31E6-CBE9-40EA-A2F4-8D17CCD5DDD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幻灯片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箭头: 五边形 46"/>
          <p:cNvSpPr/>
          <p:nvPr userDrawn="1"/>
        </p:nvSpPr>
        <p:spPr>
          <a:xfrm rot="5400000">
            <a:off x="-1070579" y="2025798"/>
            <a:ext cx="6858002" cy="2806406"/>
          </a:xfrm>
          <a:prstGeom prst="homePlate">
            <a:avLst>
              <a:gd name="adj" fmla="val 32231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solidFill>
                <a:schemeClr val="accent6"/>
              </a:solidFill>
              <a:latin typeface="Helvetica Regular" pitchFamily="2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3142" y="2263721"/>
            <a:ext cx="2330560" cy="23305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任意多边形: 形状 84"/>
          <p:cNvSpPr/>
          <p:nvPr userDrawn="1"/>
        </p:nvSpPr>
        <p:spPr bwMode="auto">
          <a:xfrm rot="5400000">
            <a:off x="4539448" y="-380490"/>
            <a:ext cx="3113105" cy="2609911"/>
          </a:xfrm>
          <a:custGeom>
            <a:avLst/>
            <a:gdLst>
              <a:gd name="connsiteX0" fmla="*/ 0 w 3113105"/>
              <a:gd name="connsiteY0" fmla="*/ 2609911 h 2609911"/>
              <a:gd name="connsiteX1" fmla="*/ 0 w 3113105"/>
              <a:gd name="connsiteY1" fmla="*/ 0 h 2609911"/>
              <a:gd name="connsiteX2" fmla="*/ 2301594 w 3113105"/>
              <a:gd name="connsiteY2" fmla="*/ 0 h 2609911"/>
              <a:gd name="connsiteX3" fmla="*/ 3113105 w 3113105"/>
              <a:gd name="connsiteY3" fmla="*/ 1304956 h 2609911"/>
              <a:gd name="connsiteX4" fmla="*/ 2301594 w 3113105"/>
              <a:gd name="connsiteY4" fmla="*/ 2609910 h 2609911"/>
              <a:gd name="connsiteX5" fmla="*/ 2301594 w 3113105"/>
              <a:gd name="connsiteY5" fmla="*/ 2609911 h 2609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13105" h="2609911">
                <a:moveTo>
                  <a:pt x="0" y="2609911"/>
                </a:moveTo>
                <a:lnTo>
                  <a:pt x="0" y="0"/>
                </a:lnTo>
                <a:lnTo>
                  <a:pt x="2301594" y="0"/>
                </a:lnTo>
                <a:lnTo>
                  <a:pt x="3113105" y="1304956"/>
                </a:lnTo>
                <a:lnTo>
                  <a:pt x="2301594" y="2609910"/>
                </a:lnTo>
                <a:lnTo>
                  <a:pt x="2301594" y="260991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86" name="文本框 85"/>
          <p:cNvSpPr txBox="1"/>
          <p:nvPr userDrawn="1"/>
        </p:nvSpPr>
        <p:spPr>
          <a:xfrm>
            <a:off x="4781377" y="483991"/>
            <a:ext cx="2629246" cy="9082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Contents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87" name="任意多边形: 形状 86"/>
          <p:cNvSpPr/>
          <p:nvPr userDrawn="1"/>
        </p:nvSpPr>
        <p:spPr bwMode="auto">
          <a:xfrm rot="5400000">
            <a:off x="4384812" y="-485285"/>
            <a:ext cx="3422377" cy="3128773"/>
          </a:xfrm>
          <a:custGeom>
            <a:avLst/>
            <a:gdLst>
              <a:gd name="connsiteX0" fmla="*/ 0 w 3422377"/>
              <a:gd name="connsiteY0" fmla="*/ 3128773 h 3128773"/>
              <a:gd name="connsiteX1" fmla="*/ 0 w 3422377"/>
              <a:gd name="connsiteY1" fmla="*/ 0 h 3128773"/>
              <a:gd name="connsiteX2" fmla="*/ 2449535 w 3422377"/>
              <a:gd name="connsiteY2" fmla="*/ 0 h 3128773"/>
              <a:gd name="connsiteX3" fmla="*/ 3422377 w 3422377"/>
              <a:gd name="connsiteY3" fmla="*/ 1564387 h 3128773"/>
              <a:gd name="connsiteX4" fmla="*/ 2449535 w 3422377"/>
              <a:gd name="connsiteY4" fmla="*/ 3128772 h 3128773"/>
              <a:gd name="connsiteX5" fmla="*/ 2449535 w 3422377"/>
              <a:gd name="connsiteY5" fmla="*/ 3128773 h 3128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22377" h="3128773">
                <a:moveTo>
                  <a:pt x="0" y="3128773"/>
                </a:moveTo>
                <a:lnTo>
                  <a:pt x="0" y="0"/>
                </a:lnTo>
                <a:lnTo>
                  <a:pt x="2449535" y="0"/>
                </a:lnTo>
                <a:lnTo>
                  <a:pt x="3422377" y="1564387"/>
                </a:lnTo>
                <a:lnTo>
                  <a:pt x="2449535" y="3128772"/>
                </a:lnTo>
                <a:lnTo>
                  <a:pt x="2449535" y="3128773"/>
                </a:lnTo>
                <a:close/>
              </a:path>
            </a:pathLst>
          </a:custGeom>
          <a:noFill/>
          <a:ln w="12700">
            <a:solidFill>
              <a:schemeClr val="accent1"/>
            </a:solidFill>
            <a:prstDash val="lgDash"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bg1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89" name="图片 88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428999" y="0"/>
            <a:ext cx="6858000" cy="6858000"/>
          </a:xfrm>
          <a:prstGeom prst="rect">
            <a:avLst/>
          </a:prstGeom>
        </p:spPr>
      </p:pic>
      <p:pic>
        <p:nvPicPr>
          <p:cNvPr id="90" name="图片 89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3997387" y="1330387"/>
            <a:ext cx="4197226" cy="419722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01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椭圆 9"/>
          <p:cNvSpPr/>
          <p:nvPr userDrawn="1"/>
        </p:nvSpPr>
        <p:spPr>
          <a:xfrm>
            <a:off x="3775702" y="1108702"/>
            <a:ext cx="4640596" cy="4640596"/>
          </a:xfrm>
          <a:prstGeom prst="ellipse">
            <a:avLst/>
          </a:prstGeom>
          <a:noFill/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1" name="椭圆 10"/>
          <p:cNvSpPr/>
          <p:nvPr userDrawn="1"/>
        </p:nvSpPr>
        <p:spPr>
          <a:xfrm>
            <a:off x="9613900" y="5273613"/>
            <a:ext cx="764381" cy="76438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2" name="椭圆 11"/>
          <p:cNvSpPr/>
          <p:nvPr userDrawn="1"/>
        </p:nvSpPr>
        <p:spPr>
          <a:xfrm>
            <a:off x="2209800" y="6134100"/>
            <a:ext cx="1130300" cy="1130300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3" name="椭圆 12"/>
          <p:cNvSpPr/>
          <p:nvPr userDrawn="1"/>
        </p:nvSpPr>
        <p:spPr>
          <a:xfrm>
            <a:off x="10818188" y="-911691"/>
            <a:ext cx="2092326" cy="209232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4" name="椭圆 13"/>
          <p:cNvSpPr/>
          <p:nvPr userDrawn="1"/>
        </p:nvSpPr>
        <p:spPr>
          <a:xfrm>
            <a:off x="-1048048" y="-250249"/>
            <a:ext cx="2861767" cy="2861767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51320"/>
            <a:ext cx="3996000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/>
        </p:nvSpPr>
        <p:spPr>
          <a:xfrm>
            <a:off x="4000500" y="1050677"/>
            <a:ext cx="4191000" cy="4097866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02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等腰三角形 8"/>
          <p:cNvSpPr/>
          <p:nvPr userDrawn="1"/>
        </p:nvSpPr>
        <p:spPr>
          <a:xfrm>
            <a:off x="3564087" y="505131"/>
            <a:ext cx="5063826" cy="4951296"/>
          </a:xfrm>
          <a:prstGeom prst="triangle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等腰三角形 9"/>
          <p:cNvSpPr/>
          <p:nvPr userDrawn="1"/>
        </p:nvSpPr>
        <p:spPr>
          <a:xfrm rot="10800000">
            <a:off x="1390650" y="6496115"/>
            <a:ext cx="1493560" cy="14603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等腰三角形 10"/>
          <p:cNvSpPr/>
          <p:nvPr userDrawn="1"/>
        </p:nvSpPr>
        <p:spPr>
          <a:xfrm>
            <a:off x="11153775" y="1013971"/>
            <a:ext cx="2076450" cy="2030307"/>
          </a:xfrm>
          <a:prstGeom prst="triangl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等腰三角形 11"/>
          <p:cNvSpPr/>
          <p:nvPr userDrawn="1"/>
        </p:nvSpPr>
        <p:spPr>
          <a:xfrm rot="10800000">
            <a:off x="-414337" y="-187450"/>
            <a:ext cx="2386788" cy="2333749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等腰三角形 12"/>
          <p:cNvSpPr/>
          <p:nvPr userDrawn="1"/>
        </p:nvSpPr>
        <p:spPr>
          <a:xfrm rot="5400000">
            <a:off x="9449232" y="5270665"/>
            <a:ext cx="883117" cy="863492"/>
          </a:xfrm>
          <a:prstGeom prst="triangl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sz="quarter" idx="11" hasCustomPrompt="1"/>
          </p:nvPr>
        </p:nvSpPr>
        <p:spPr>
          <a:xfrm>
            <a:off x="4098000" y="3959372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3pPr marL="914400" indent="0">
              <a:buNone/>
              <a:defRPr/>
            </a:lvl3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 rot="18893364">
            <a:off x="4380710" y="1706822"/>
            <a:ext cx="3444573" cy="344457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矩形 6"/>
          <p:cNvSpPr/>
          <p:nvPr userDrawn="1"/>
        </p:nvSpPr>
        <p:spPr>
          <a:xfrm rot="18893364">
            <a:off x="4161891" y="1495013"/>
            <a:ext cx="3868219" cy="3868219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03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矩形 9"/>
          <p:cNvSpPr/>
          <p:nvPr userDrawn="1"/>
        </p:nvSpPr>
        <p:spPr>
          <a:xfrm rot="18893364">
            <a:off x="-897505" y="-513190"/>
            <a:ext cx="2663805" cy="2663805"/>
          </a:xfrm>
          <a:prstGeom prst="rect">
            <a:avLst/>
          </a:prstGeom>
          <a:solidFill>
            <a:srgbClr val="A4A8A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 rot="18893364">
            <a:off x="725976" y="6497388"/>
            <a:ext cx="1300124" cy="1300124"/>
          </a:xfrm>
          <a:prstGeom prst="rect">
            <a:avLst/>
          </a:prstGeom>
          <a:solidFill>
            <a:srgbClr val="C3C7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 rot="18893364">
            <a:off x="11407699" y="1261300"/>
            <a:ext cx="1568601" cy="156860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 rot="18893364">
            <a:off x="9270159" y="5188596"/>
            <a:ext cx="861175" cy="861175"/>
          </a:xfrm>
          <a:prstGeom prst="rect">
            <a:avLst/>
          </a:prstGeom>
          <a:solidFill>
            <a:srgbClr val="8589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>
            <a:spLocks noChangeAspect="1"/>
          </p:cNvSpPr>
          <p:nvPr userDrawn="1"/>
        </p:nvSpPr>
        <p:spPr>
          <a:xfrm>
            <a:off x="3870642" y="1106412"/>
            <a:ext cx="4450715" cy="4238776"/>
          </a:xfrm>
          <a:prstGeom prst="pen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7" name="文本框 6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04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五边形 8"/>
          <p:cNvSpPr>
            <a:spLocks noChangeAspect="1"/>
          </p:cNvSpPr>
          <p:nvPr userDrawn="1"/>
        </p:nvSpPr>
        <p:spPr>
          <a:xfrm>
            <a:off x="3575685" y="806045"/>
            <a:ext cx="5040628" cy="4800598"/>
          </a:xfrm>
          <a:prstGeom prst="pentagon">
            <a:avLst/>
          </a:prstGeom>
          <a:noFill/>
          <a:ln>
            <a:solidFill>
              <a:schemeClr val="accent1">
                <a:shade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0" name="五边形 9"/>
          <p:cNvSpPr>
            <a:spLocks noChangeAspect="1"/>
          </p:cNvSpPr>
          <p:nvPr userDrawn="1"/>
        </p:nvSpPr>
        <p:spPr>
          <a:xfrm rot="18978551">
            <a:off x="1199607" y="5189314"/>
            <a:ext cx="1114961" cy="1061868"/>
          </a:xfrm>
          <a:prstGeom prst="pentagon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五边形 10"/>
          <p:cNvSpPr>
            <a:spLocks noChangeAspect="1"/>
          </p:cNvSpPr>
          <p:nvPr userDrawn="1"/>
        </p:nvSpPr>
        <p:spPr>
          <a:xfrm>
            <a:off x="-1122630" y="516786"/>
            <a:ext cx="2245259" cy="2138343"/>
          </a:xfrm>
          <a:prstGeom prst="pentagon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五边形 11"/>
          <p:cNvSpPr>
            <a:spLocks noChangeAspect="1"/>
          </p:cNvSpPr>
          <p:nvPr userDrawn="1"/>
        </p:nvSpPr>
        <p:spPr>
          <a:xfrm rot="6589711">
            <a:off x="10153440" y="4944146"/>
            <a:ext cx="2774574" cy="2642453"/>
          </a:xfrm>
          <a:prstGeom prst="pentagon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五边形 12"/>
          <p:cNvSpPr>
            <a:spLocks noChangeAspect="1"/>
          </p:cNvSpPr>
          <p:nvPr userDrawn="1"/>
        </p:nvSpPr>
        <p:spPr>
          <a:xfrm rot="10800000">
            <a:off x="9654125" y="-530934"/>
            <a:ext cx="1114961" cy="1061868"/>
          </a:xfrm>
          <a:prstGeom prst="pentagon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六边形 5"/>
          <p:cNvSpPr>
            <a:spLocks noChangeAspect="1"/>
          </p:cNvSpPr>
          <p:nvPr userDrawn="1"/>
        </p:nvSpPr>
        <p:spPr>
          <a:xfrm rot="16200000">
            <a:off x="3978962" y="1603967"/>
            <a:ext cx="4234076" cy="3650066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2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05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六边形 9"/>
          <p:cNvSpPr/>
          <p:nvPr userDrawn="1"/>
        </p:nvSpPr>
        <p:spPr>
          <a:xfrm rot="16200000">
            <a:off x="3695701" y="1359776"/>
            <a:ext cx="4800598" cy="4138446"/>
          </a:xfrm>
          <a:prstGeom prst="hex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六边形 10"/>
          <p:cNvSpPr>
            <a:spLocks noChangeAspect="1"/>
          </p:cNvSpPr>
          <p:nvPr userDrawn="1"/>
        </p:nvSpPr>
        <p:spPr>
          <a:xfrm rot="16200000">
            <a:off x="-687663" y="4872077"/>
            <a:ext cx="2798353" cy="2412373"/>
          </a:xfrm>
          <a:prstGeom prst="hexagon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六边形 11"/>
          <p:cNvSpPr>
            <a:spLocks noChangeAspect="1"/>
          </p:cNvSpPr>
          <p:nvPr userDrawn="1"/>
        </p:nvSpPr>
        <p:spPr>
          <a:xfrm rot="16200000">
            <a:off x="9480973" y="5159003"/>
            <a:ext cx="1015781" cy="87567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六边形 12"/>
          <p:cNvSpPr>
            <a:spLocks noChangeAspect="1"/>
          </p:cNvSpPr>
          <p:nvPr userDrawn="1"/>
        </p:nvSpPr>
        <p:spPr>
          <a:xfrm rot="16200000">
            <a:off x="11493500" y="210644"/>
            <a:ext cx="1397000" cy="1204310"/>
          </a:xfrm>
          <a:prstGeom prst="hexag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六边形 13"/>
          <p:cNvSpPr>
            <a:spLocks noChangeAspect="1"/>
          </p:cNvSpPr>
          <p:nvPr userDrawn="1"/>
        </p:nvSpPr>
        <p:spPr>
          <a:xfrm rot="16200000">
            <a:off x="641459" y="-437837"/>
            <a:ext cx="1015781" cy="875673"/>
          </a:xfrm>
          <a:prstGeom prst="hexagon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47897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短标题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七边形 5"/>
          <p:cNvSpPr>
            <a:spLocks noChangeAspect="1"/>
          </p:cNvSpPr>
          <p:nvPr userDrawn="1"/>
        </p:nvSpPr>
        <p:spPr>
          <a:xfrm>
            <a:off x="3972000" y="1047224"/>
            <a:ext cx="4248000" cy="4248000"/>
          </a:xfrm>
          <a:prstGeom prst="hept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5093161" y="3044279"/>
            <a:ext cx="206819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cs typeface="Arial" panose="020B0604020202090204" pitchFamily="34" charset="0"/>
              </a:rPr>
              <a:t>Part 06</a:t>
            </a:r>
            <a:endParaRPr lang="zh-CN" altLang="en-US" sz="4400" b="1" i="0" dirty="0">
              <a:solidFill>
                <a:schemeClr val="bg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4908550" y="3851820"/>
            <a:ext cx="23749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七边形 9"/>
          <p:cNvSpPr/>
          <p:nvPr userDrawn="1"/>
        </p:nvSpPr>
        <p:spPr>
          <a:xfrm rot="1563509">
            <a:off x="10682028" y="-776191"/>
            <a:ext cx="3268663" cy="3268663"/>
          </a:xfrm>
          <a:prstGeom prst="heptagon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1" name="七边形 10"/>
          <p:cNvSpPr/>
          <p:nvPr userDrawn="1"/>
        </p:nvSpPr>
        <p:spPr>
          <a:xfrm>
            <a:off x="1384129" y="5078241"/>
            <a:ext cx="1047921" cy="1047921"/>
          </a:xfrm>
          <a:prstGeom prst="hept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2" name="七边形 11"/>
          <p:cNvSpPr/>
          <p:nvPr userDrawn="1"/>
        </p:nvSpPr>
        <p:spPr>
          <a:xfrm rot="20151602">
            <a:off x="-1111336" y="360448"/>
            <a:ext cx="2222671" cy="2222671"/>
          </a:xfrm>
          <a:prstGeom prst="heptagon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3" name="七边形 12"/>
          <p:cNvSpPr/>
          <p:nvPr userDrawn="1"/>
        </p:nvSpPr>
        <p:spPr>
          <a:xfrm rot="20592885">
            <a:off x="8879510" y="6235700"/>
            <a:ext cx="2222671" cy="2222671"/>
          </a:xfrm>
          <a:prstGeom prst="heptagon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4" name="七边形 13"/>
          <p:cNvSpPr>
            <a:spLocks noChangeAspect="1"/>
          </p:cNvSpPr>
          <p:nvPr userDrawn="1"/>
        </p:nvSpPr>
        <p:spPr>
          <a:xfrm>
            <a:off x="3683000" y="774700"/>
            <a:ext cx="4826000" cy="4826000"/>
          </a:xfrm>
          <a:prstGeom prst="heptagon">
            <a:avLst/>
          </a:prstGeom>
          <a:noFill/>
          <a:ln>
            <a:solidFill>
              <a:srgbClr val="183883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Helvetica" pitchFamily="2" charset="0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sz="quarter" idx="10" hasCustomPrompt="1"/>
          </p:nvPr>
        </p:nvSpPr>
        <p:spPr>
          <a:xfrm>
            <a:off x="4098000" y="3966909"/>
            <a:ext cx="3996000" cy="914400"/>
          </a:xfrm>
        </p:spPr>
        <p:txBody>
          <a:bodyPr anchor="ctr" anchorCtr="0"/>
          <a:lstStyle>
            <a:lvl1pPr marL="0" indent="0" algn="ctr">
              <a:buNone/>
              <a:defRPr b="1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Edit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长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箭头: 五边形 5"/>
          <p:cNvSpPr/>
          <p:nvPr userDrawn="1"/>
        </p:nvSpPr>
        <p:spPr>
          <a:xfrm>
            <a:off x="2" y="0"/>
            <a:ext cx="2835871" cy="6858000"/>
          </a:xfrm>
          <a:prstGeom prst="homePlat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elvetica" pitchFamily="2" charset="0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140677" y="3106616"/>
            <a:ext cx="2520462" cy="1066800"/>
          </a:xfrm>
          <a:prstGeom prst="rect">
            <a:avLst/>
          </a:prstGeom>
          <a:noFill/>
          <a:ln w="158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  <a:latin typeface="Helvetica" pitchFamily="2" charset="0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2782511" y="612708"/>
            <a:ext cx="8695230" cy="5632585"/>
          </a:xfrm>
          <a:prstGeom prst="rect">
            <a:avLst/>
          </a:prstGeom>
          <a:noFill/>
          <a:ln w="1905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elvetica" pitchFamily="2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23448" y="2848709"/>
            <a:ext cx="2782509" cy="1574934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ctr"/>
            <a:r>
              <a:rPr lang="en-US" altLang="zh-CN" sz="4400" b="1" i="0" dirty="0">
                <a:solidFill>
                  <a:schemeClr val="bg1"/>
                </a:solidFill>
                <a:latin typeface="Helvetica" pitchFamily="2" charset="0"/>
                <a:ea typeface="+mj-ea"/>
                <a:cs typeface="Arial" panose="020B0604020202090204" pitchFamily="34" charset="0"/>
              </a:rPr>
              <a:t>Contents</a:t>
            </a:r>
            <a:endParaRPr lang="zh-CN" altLang="en-US" sz="4000" b="1" i="0" dirty="0">
              <a:solidFill>
                <a:schemeClr val="bg1"/>
              </a:solidFill>
              <a:latin typeface="Helvetica" pitchFamily="2" charset="0"/>
              <a:ea typeface="+mj-ea"/>
              <a:cs typeface="Arial" panose="020B0604020202090204" pitchFamily="34" charset="0"/>
            </a:endParaRPr>
          </a:p>
        </p:txBody>
      </p:sp>
      <p:pic>
        <p:nvPicPr>
          <p:cNvPr id="47" name="图片 46"/>
          <p:cNvPicPr>
            <a:picLocks noChangeAspect="1"/>
          </p:cNvPicPr>
          <p:nvPr userDrawn="1"/>
        </p:nvPicPr>
        <p:blipFill>
          <a:blip r:embed="rId2" cstate="print">
            <a:alphaModFix amt="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转场-长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箭头: 五边形 6"/>
          <p:cNvSpPr/>
          <p:nvPr userDrawn="1"/>
        </p:nvSpPr>
        <p:spPr>
          <a:xfrm rot="19659736">
            <a:off x="-59387" y="6355211"/>
            <a:ext cx="1593667" cy="240022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5" name="箭头: 五边形 24"/>
          <p:cNvSpPr/>
          <p:nvPr userDrawn="1"/>
        </p:nvSpPr>
        <p:spPr>
          <a:xfrm rot="19659736">
            <a:off x="501875" y="5626509"/>
            <a:ext cx="1198809" cy="202681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6" name="箭头: 五边形 25"/>
          <p:cNvSpPr/>
          <p:nvPr userDrawn="1"/>
        </p:nvSpPr>
        <p:spPr>
          <a:xfrm rot="19659736">
            <a:off x="11343042" y="442070"/>
            <a:ext cx="869215" cy="124045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27" name="箭头: 五边形 26"/>
          <p:cNvSpPr/>
          <p:nvPr userDrawn="1"/>
        </p:nvSpPr>
        <p:spPr>
          <a:xfrm rot="19659736">
            <a:off x="10829985" y="427917"/>
            <a:ext cx="542830" cy="99029"/>
          </a:xfrm>
          <a:prstGeom prst="homePlate">
            <a:avLst>
              <a:gd name="adj" fmla="val 62948"/>
            </a:avLst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任意多边形: 形状 11"/>
          <p:cNvSpPr/>
          <p:nvPr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  <p:sp>
        <p:nvSpPr>
          <p:cNvPr id="8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 i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4" name="页脚占位符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横向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 noChangeAspect="1"/>
          </p:cNvSpPr>
          <p:nvPr>
            <p:ph type="pic" sz="quarter" idx="13"/>
          </p:nvPr>
        </p:nvSpPr>
        <p:spPr>
          <a:xfrm>
            <a:off x="862171" y="1825888"/>
            <a:ext cx="4826535" cy="2736000"/>
          </a:xfrm>
          <a:custGeom>
            <a:avLst/>
            <a:gdLst>
              <a:gd name="connsiteX0" fmla="*/ 0 w 4241800"/>
              <a:gd name="connsiteY0" fmla="*/ 0 h 2404533"/>
              <a:gd name="connsiteX1" fmla="*/ 4241800 w 4241800"/>
              <a:gd name="connsiteY1" fmla="*/ 0 h 2404533"/>
              <a:gd name="connsiteX2" fmla="*/ 4241800 w 4241800"/>
              <a:gd name="connsiteY2" fmla="*/ 2404533 h 2404533"/>
              <a:gd name="connsiteX3" fmla="*/ 0 w 4241800"/>
              <a:gd name="connsiteY3" fmla="*/ 2404533 h 240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41800" h="2404533">
                <a:moveTo>
                  <a:pt x="0" y="0"/>
                </a:moveTo>
                <a:lnTo>
                  <a:pt x="4241800" y="0"/>
                </a:lnTo>
                <a:lnTo>
                  <a:pt x="4241800" y="2404533"/>
                </a:lnTo>
                <a:lnTo>
                  <a:pt x="0" y="240453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692274" y="1541374"/>
            <a:ext cx="3238088" cy="43200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-圆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任意多边形: 形状 92"/>
          <p:cNvSpPr/>
          <p:nvPr userDrawn="1"/>
        </p:nvSpPr>
        <p:spPr>
          <a:xfrm>
            <a:off x="660400" y="1531871"/>
            <a:ext cx="10858500" cy="4491875"/>
          </a:xfrm>
          <a:custGeom>
            <a:avLst/>
            <a:gdLst>
              <a:gd name="connsiteX0" fmla="*/ 2682382 w 10858500"/>
              <a:gd name="connsiteY0" fmla="*/ 0 h 4491875"/>
              <a:gd name="connsiteX1" fmla="*/ 4661514 w 10858500"/>
              <a:gd name="connsiteY1" fmla="*/ 1979131 h 4491875"/>
              <a:gd name="connsiteX2" fmla="*/ 4081840 w 10858500"/>
              <a:gd name="connsiteY2" fmla="*/ 3378588 h 4491875"/>
              <a:gd name="connsiteX3" fmla="*/ 3948253 w 10858500"/>
              <a:gd name="connsiteY3" fmla="*/ 3500000 h 4491875"/>
              <a:gd name="connsiteX4" fmla="*/ 10858500 w 10858500"/>
              <a:gd name="connsiteY4" fmla="*/ 3500000 h 4491875"/>
              <a:gd name="connsiteX5" fmla="*/ 10858500 w 10858500"/>
              <a:gd name="connsiteY5" fmla="*/ 4491875 h 4491875"/>
              <a:gd name="connsiteX6" fmla="*/ 0 w 10858500"/>
              <a:gd name="connsiteY6" fmla="*/ 4491875 h 4491875"/>
              <a:gd name="connsiteX7" fmla="*/ 0 w 10858500"/>
              <a:gd name="connsiteY7" fmla="*/ 3500000 h 4491875"/>
              <a:gd name="connsiteX8" fmla="*/ 1416512 w 10858500"/>
              <a:gd name="connsiteY8" fmla="*/ 3500000 h 4491875"/>
              <a:gd name="connsiteX9" fmla="*/ 1282925 w 10858500"/>
              <a:gd name="connsiteY9" fmla="*/ 3378588 h 4491875"/>
              <a:gd name="connsiteX10" fmla="*/ 703250 w 10858500"/>
              <a:gd name="connsiteY10" fmla="*/ 1979131 h 4491875"/>
              <a:gd name="connsiteX11" fmla="*/ 2682382 w 10858500"/>
              <a:gd name="connsiteY11" fmla="*/ 0 h 4491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858500" h="4491875">
                <a:moveTo>
                  <a:pt x="2682382" y="0"/>
                </a:moveTo>
                <a:cubicBezTo>
                  <a:pt x="3775426" y="0"/>
                  <a:pt x="4661514" y="886087"/>
                  <a:pt x="4661514" y="1979131"/>
                </a:cubicBezTo>
                <a:cubicBezTo>
                  <a:pt x="4661514" y="2525653"/>
                  <a:pt x="4439992" y="3020436"/>
                  <a:pt x="4081840" y="3378588"/>
                </a:cubicBezTo>
                <a:lnTo>
                  <a:pt x="3948253" y="3500000"/>
                </a:lnTo>
                <a:lnTo>
                  <a:pt x="10858500" y="3500000"/>
                </a:lnTo>
                <a:lnTo>
                  <a:pt x="10858500" y="4491875"/>
                </a:lnTo>
                <a:lnTo>
                  <a:pt x="0" y="4491875"/>
                </a:lnTo>
                <a:lnTo>
                  <a:pt x="0" y="3500000"/>
                </a:lnTo>
                <a:lnTo>
                  <a:pt x="1416512" y="3500000"/>
                </a:lnTo>
                <a:lnTo>
                  <a:pt x="1282925" y="3378588"/>
                </a:lnTo>
                <a:cubicBezTo>
                  <a:pt x="924772" y="3020436"/>
                  <a:pt x="703250" y="2525653"/>
                  <a:pt x="703250" y="1979131"/>
                </a:cubicBezTo>
                <a:cubicBezTo>
                  <a:pt x="703250" y="886087"/>
                  <a:pt x="1589338" y="0"/>
                  <a:pt x="2682382" y="0"/>
                </a:cubicBezTo>
                <a:close/>
              </a:path>
            </a:pathLst>
          </a:custGeom>
          <a:solidFill>
            <a:schemeClr val="accent1"/>
          </a:solidFill>
          <a:ln w="19050">
            <a:noFill/>
          </a:ln>
          <a:effectLst>
            <a:outerShdw blurRad="127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任意多边形: 形状 90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图片占位符 91"/>
          <p:cNvSpPr>
            <a:spLocks noGrp="1" noChangeAspect="1"/>
          </p:cNvSpPr>
          <p:nvPr>
            <p:ph type="pic" sz="quarter" idx="13"/>
          </p:nvPr>
        </p:nvSpPr>
        <p:spPr>
          <a:xfrm>
            <a:off x="1451524" y="1608975"/>
            <a:ext cx="3780000" cy="3780000"/>
          </a:xfrm>
          <a:custGeom>
            <a:avLst/>
            <a:gdLst>
              <a:gd name="connsiteX0" fmla="*/ 1657350 w 3314700"/>
              <a:gd name="connsiteY0" fmla="*/ 0 h 3314700"/>
              <a:gd name="connsiteX1" fmla="*/ 3314700 w 3314700"/>
              <a:gd name="connsiteY1" fmla="*/ 1657350 h 3314700"/>
              <a:gd name="connsiteX2" fmla="*/ 1657350 w 3314700"/>
              <a:gd name="connsiteY2" fmla="*/ 3314700 h 3314700"/>
              <a:gd name="connsiteX3" fmla="*/ 0 w 3314700"/>
              <a:gd name="connsiteY3" fmla="*/ 1657350 h 3314700"/>
              <a:gd name="connsiteX4" fmla="*/ 1657350 w 3314700"/>
              <a:gd name="connsiteY4" fmla="*/ 0 h 331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14700" h="3314700">
                <a:moveTo>
                  <a:pt x="1657350" y="0"/>
                </a:moveTo>
                <a:cubicBezTo>
                  <a:pt x="2572679" y="0"/>
                  <a:pt x="3314700" y="742021"/>
                  <a:pt x="3314700" y="1657350"/>
                </a:cubicBezTo>
                <a:cubicBezTo>
                  <a:pt x="3314700" y="2572679"/>
                  <a:pt x="2572679" y="3314700"/>
                  <a:pt x="1657350" y="3314700"/>
                </a:cubicBezTo>
                <a:cubicBezTo>
                  <a:pt x="742021" y="3314700"/>
                  <a:pt x="0" y="2572679"/>
                  <a:pt x="0" y="1657350"/>
                </a:cubicBezTo>
                <a:cubicBezTo>
                  <a:pt x="0" y="742021"/>
                  <a:pt x="742021" y="0"/>
                  <a:pt x="1657350" y="0"/>
                </a:cubicBezTo>
                <a:close/>
              </a:path>
            </a:pathLst>
          </a:custGeom>
        </p:spPr>
        <p:txBody>
          <a:bodyPr wrap="square" anchor="ctr" anchorCtr="0">
            <a:noAutofit/>
          </a:bodyPr>
          <a:lstStyle/>
          <a:p>
            <a:endParaRPr lang="zh-CN" altLang="en-US" dirty="0"/>
          </a:p>
        </p:txBody>
      </p:sp>
      <p:sp>
        <p:nvSpPr>
          <p:cNvPr id="90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0" name="图片占位符 6"/>
          <p:cNvSpPr>
            <a:spLocks noGrp="1" noChangeAspect="1"/>
          </p:cNvSpPr>
          <p:nvPr>
            <p:ph type="pic" sz="quarter" idx="10"/>
          </p:nvPr>
        </p:nvSpPr>
        <p:spPr>
          <a:xfrm>
            <a:off x="1114722" y="1132945"/>
            <a:ext cx="1735608" cy="231551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1" name="图片占位符 6"/>
          <p:cNvSpPr>
            <a:spLocks noGrp="1" noChangeAspect="1"/>
          </p:cNvSpPr>
          <p:nvPr>
            <p:ph type="pic" sz="quarter" idx="13"/>
          </p:nvPr>
        </p:nvSpPr>
        <p:spPr>
          <a:xfrm>
            <a:off x="9351363" y="3674135"/>
            <a:ext cx="1755000" cy="2341381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92" name="任意多边形: 形状 91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3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8" name="图片 9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 userDrawn="1"/>
        </p:nvCxnSpPr>
        <p:spPr>
          <a:xfrm>
            <a:off x="660400" y="6238240"/>
            <a:ext cx="10858500" cy="0"/>
          </a:xfrm>
          <a:prstGeom prst="line">
            <a:avLst/>
          </a:prstGeom>
          <a:ln w="3175" cap="rnd">
            <a:solidFill>
              <a:schemeClr val="bg1">
                <a:lumMod val="75000"/>
                <a:alpha val="47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灯片编号占位符 6"/>
          <p:cNvSpPr>
            <a:spLocks noGrp="1"/>
          </p:cNvSpPr>
          <p:nvPr userDrawn="1">
            <p:ph type="sldNum" sz="quarter" idx="12"/>
          </p:nvPr>
        </p:nvSpPr>
        <p:spPr>
          <a:xfrm>
            <a:off x="8746825" y="635634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1" name="图片占位符 90"/>
          <p:cNvSpPr>
            <a:spLocks noGrp="1"/>
          </p:cNvSpPr>
          <p:nvPr>
            <p:ph type="pic" sz="quarter" idx="13"/>
          </p:nvPr>
        </p:nvSpPr>
        <p:spPr>
          <a:xfrm>
            <a:off x="1219984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5" name="图片占位符 94"/>
          <p:cNvSpPr>
            <a:spLocks noGrp="1"/>
          </p:cNvSpPr>
          <p:nvPr>
            <p:ph type="pic" sz="quarter" idx="14"/>
          </p:nvPr>
        </p:nvSpPr>
        <p:spPr>
          <a:xfrm>
            <a:off x="9369946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8" name="图片占位符 97"/>
          <p:cNvSpPr>
            <a:spLocks noGrp="1"/>
          </p:cNvSpPr>
          <p:nvPr>
            <p:ph type="pic" sz="quarter" idx="15"/>
          </p:nvPr>
        </p:nvSpPr>
        <p:spPr>
          <a:xfrm>
            <a:off x="3936638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9" name="图片占位符 98"/>
          <p:cNvSpPr>
            <a:spLocks noGrp="1"/>
          </p:cNvSpPr>
          <p:nvPr>
            <p:ph type="pic" sz="quarter" idx="16"/>
          </p:nvPr>
        </p:nvSpPr>
        <p:spPr>
          <a:xfrm>
            <a:off x="6653292" y="1645829"/>
            <a:ext cx="1755000" cy="1755000"/>
          </a:xfrm>
          <a:custGeom>
            <a:avLst/>
            <a:gdLst>
              <a:gd name="connsiteX0" fmla="*/ 877500 w 1755000"/>
              <a:gd name="connsiteY0" fmla="*/ 0 h 1755000"/>
              <a:gd name="connsiteX1" fmla="*/ 1755000 w 1755000"/>
              <a:gd name="connsiteY1" fmla="*/ 877500 h 1755000"/>
              <a:gd name="connsiteX2" fmla="*/ 877500 w 1755000"/>
              <a:gd name="connsiteY2" fmla="*/ 1755000 h 1755000"/>
              <a:gd name="connsiteX3" fmla="*/ 0 w 1755000"/>
              <a:gd name="connsiteY3" fmla="*/ 877500 h 1755000"/>
              <a:gd name="connsiteX4" fmla="*/ 877500 w 1755000"/>
              <a:gd name="connsiteY4" fmla="*/ 0 h 1755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55000" h="1755000">
                <a:moveTo>
                  <a:pt x="877500" y="0"/>
                </a:moveTo>
                <a:cubicBezTo>
                  <a:pt x="1362130" y="0"/>
                  <a:pt x="1755000" y="392870"/>
                  <a:pt x="1755000" y="877500"/>
                </a:cubicBezTo>
                <a:cubicBezTo>
                  <a:pt x="1755000" y="1362130"/>
                  <a:pt x="1362130" y="1755000"/>
                  <a:pt x="877500" y="1755000"/>
                </a:cubicBezTo>
                <a:cubicBezTo>
                  <a:pt x="392870" y="1755000"/>
                  <a:pt x="0" y="1362130"/>
                  <a:pt x="0" y="877500"/>
                </a:cubicBezTo>
                <a:cubicBezTo>
                  <a:pt x="0" y="392870"/>
                  <a:pt x="392870" y="0"/>
                  <a:pt x="877500" y="0"/>
                </a:cubicBezTo>
                <a:close/>
              </a:path>
            </a:pathLst>
          </a:custGeom>
          <a:ln w="47625">
            <a:gradFill flip="none" rotWithShape="1">
              <a:gsLst>
                <a:gs pos="0">
                  <a:schemeClr val="accent1">
                    <a:alpha val="0"/>
                  </a:schemeClr>
                </a:gs>
                <a:gs pos="100000">
                  <a:schemeClr val="accent1"/>
                </a:gs>
              </a:gsLst>
              <a:lin ang="2700000" scaled="1"/>
              <a:tileRect/>
            </a:gradFill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90" name="任意多边形: 形状 89"/>
          <p:cNvSpPr/>
          <p:nvPr userDrawn="1"/>
        </p:nvSpPr>
        <p:spPr bwMode="auto">
          <a:xfrm rot="5400000">
            <a:off x="93484" y="218081"/>
            <a:ext cx="1133344" cy="494119"/>
          </a:xfrm>
          <a:custGeom>
            <a:avLst/>
            <a:gdLst>
              <a:gd name="connsiteX0" fmla="*/ 0 w 4641513"/>
              <a:gd name="connsiteY0" fmla="*/ 0 h 2088000"/>
              <a:gd name="connsiteX1" fmla="*/ 3814008 w 4641513"/>
              <a:gd name="connsiteY1" fmla="*/ 0 h 2088000"/>
              <a:gd name="connsiteX2" fmla="*/ 4641513 w 4641513"/>
              <a:gd name="connsiteY2" fmla="*/ 1044000 h 2088000"/>
              <a:gd name="connsiteX3" fmla="*/ 3814008 w 4641513"/>
              <a:gd name="connsiteY3" fmla="*/ 2087999 h 2088000"/>
              <a:gd name="connsiteX4" fmla="*/ 3814008 w 4641513"/>
              <a:gd name="connsiteY4" fmla="*/ 2088000 h 2088000"/>
              <a:gd name="connsiteX5" fmla="*/ 0 w 4641513"/>
              <a:gd name="connsiteY5" fmla="*/ 2088000 h 208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41513" h="2088000">
                <a:moveTo>
                  <a:pt x="0" y="0"/>
                </a:moveTo>
                <a:lnTo>
                  <a:pt x="3814008" y="0"/>
                </a:lnTo>
                <a:lnTo>
                  <a:pt x="4641513" y="1044000"/>
                </a:lnTo>
                <a:lnTo>
                  <a:pt x="3814008" y="2087999"/>
                </a:lnTo>
                <a:lnTo>
                  <a:pt x="3814008" y="2088000"/>
                </a:lnTo>
                <a:lnTo>
                  <a:pt x="0" y="208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algn="ctr">
              <a:lnSpc>
                <a:spcPct val="130000"/>
              </a:lnSpc>
            </a:pPr>
            <a:endParaRPr lang="en-US" sz="4000" b="0" i="0" dirty="0">
              <a:solidFill>
                <a:schemeClr val="accent3"/>
              </a:solidFill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92" name="标题 1"/>
          <p:cNvSpPr>
            <a:spLocks noGrp="1"/>
          </p:cNvSpPr>
          <p:nvPr>
            <p:ph type="title" hasCustomPrompt="1"/>
          </p:nvPr>
        </p:nvSpPr>
        <p:spPr>
          <a:xfrm>
            <a:off x="1091255" y="237834"/>
            <a:ext cx="8168208" cy="790865"/>
          </a:xfrm>
        </p:spPr>
        <p:txBody>
          <a:bodyPr wrap="square" lIns="0" tIns="0" rIns="0" bIns="0">
            <a:normAutofit/>
          </a:bodyPr>
          <a:lstStyle>
            <a:lvl1pPr>
              <a:defRPr sz="36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pic>
        <p:nvPicPr>
          <p:cNvPr id="93" name="图片 9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128" y="6420492"/>
            <a:ext cx="958362" cy="236837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66201" y="381027"/>
            <a:ext cx="1552699" cy="4949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 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/>
          <p:cNvSpPr>
            <a:spLocks noGrp="1"/>
          </p:cNvSpPr>
          <p:nvPr>
            <p:ph type="body" sz="quarter" idx="10" hasCustomPrompt="1"/>
          </p:nvPr>
        </p:nvSpPr>
        <p:spPr>
          <a:xfrm>
            <a:off x="3735420" y="2971800"/>
            <a:ext cx="7783479" cy="914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5400" b="1">
                <a:solidFill>
                  <a:schemeClr val="accent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US" altLang="zh-CN" dirty="0"/>
              <a:t>Here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text</a:t>
            </a:r>
            <a:r>
              <a:rPr lang="zh-CN" altLang="en-US" dirty="0"/>
              <a:t> </a:t>
            </a:r>
            <a:endParaRPr lang="en-US" altLang="zh-CN" dirty="0"/>
          </a:p>
          <a:p>
            <a:pPr lvl="0"/>
            <a:r>
              <a:rPr lang="en-US" altLang="zh-CN" dirty="0"/>
              <a:t>(Helvetica</a:t>
            </a:r>
            <a:r>
              <a:rPr lang="zh-CN" altLang="en-US" dirty="0"/>
              <a:t> </a:t>
            </a:r>
            <a:r>
              <a:rPr lang="en-US" altLang="zh-CN" dirty="0"/>
              <a:t>/</a:t>
            </a:r>
            <a:r>
              <a:rPr lang="zh-CN" altLang="en-US" dirty="0"/>
              <a:t> </a:t>
            </a:r>
            <a:r>
              <a:rPr lang="en-US" altLang="zh-CN" dirty="0"/>
              <a:t>Arial</a:t>
            </a:r>
            <a:r>
              <a:rPr lang="zh-CN" altLang="en-US" dirty="0"/>
              <a:t> </a:t>
            </a:r>
            <a:r>
              <a:rPr lang="en-US" altLang="zh-CN" dirty="0"/>
              <a:t>36Pt)</a:t>
            </a:r>
            <a:endParaRPr lang="zh-CN" altLang="en-US" dirty="0"/>
          </a:p>
        </p:txBody>
      </p:sp>
      <p:sp>
        <p:nvSpPr>
          <p:cNvPr id="6" name="箭头: 五边形 5"/>
          <p:cNvSpPr/>
          <p:nvPr userDrawn="1"/>
        </p:nvSpPr>
        <p:spPr>
          <a:xfrm rot="16200000">
            <a:off x="10605854" y="5156200"/>
            <a:ext cx="2879387" cy="3403600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箭头: 五边形 7"/>
          <p:cNvSpPr/>
          <p:nvPr userDrawn="1"/>
        </p:nvSpPr>
        <p:spPr>
          <a:xfrm>
            <a:off x="-2680781" y="0"/>
            <a:ext cx="5753100" cy="9620654"/>
          </a:xfrm>
          <a:prstGeom prst="homePlate">
            <a:avLst>
              <a:gd name="adj" fmla="val 5086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5" name="箭头: 五边形 4"/>
          <p:cNvSpPr/>
          <p:nvPr userDrawn="1"/>
        </p:nvSpPr>
        <p:spPr>
          <a:xfrm rot="5400000">
            <a:off x="7310335" y="-1872573"/>
            <a:ext cx="2616740" cy="4241259"/>
          </a:xfrm>
          <a:prstGeom prst="homePlate">
            <a:avLst>
              <a:gd name="adj" fmla="val 10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 userDrawn="1"/>
        </p:nvSpPr>
        <p:spPr>
          <a:xfrm>
            <a:off x="-2319371" y="4211980"/>
            <a:ext cx="5113371" cy="511337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  <p:sp>
        <p:nvSpPr>
          <p:cNvPr id="7" name="椭圆 6"/>
          <p:cNvSpPr/>
          <p:nvPr userDrawn="1"/>
        </p:nvSpPr>
        <p:spPr>
          <a:xfrm>
            <a:off x="10560051" y="-2647819"/>
            <a:ext cx="4418254" cy="4418254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217487"/>
            <a:ext cx="10858500" cy="81121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60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75700" y="63563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Helvetica Regular" pitchFamily="2" charset="0"/>
              </a:defRPr>
            </a:lvl1pPr>
          </a:lstStyle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椭圆 6"/>
          <p:cNvSpPr/>
          <p:nvPr userDrawn="1"/>
        </p:nvSpPr>
        <p:spPr>
          <a:xfrm>
            <a:off x="4749800" y="-45720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  <p:sp>
        <p:nvSpPr>
          <p:cNvPr id="8" name="椭圆 7"/>
          <p:cNvSpPr/>
          <p:nvPr userDrawn="1"/>
        </p:nvSpPr>
        <p:spPr>
          <a:xfrm>
            <a:off x="4572000" y="9093200"/>
            <a:ext cx="1168400" cy="81121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 dirty="0">
              <a:latin typeface="Helvetica Regular" pitchFamily="2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b="0" i="0" kern="1200">
          <a:solidFill>
            <a:schemeClr val="tx1"/>
          </a:solidFill>
          <a:latin typeface="Helvetica Regular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7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0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1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3.png"/></Relationships>
</file>

<file path=ppt/slides/_rels/slide5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6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7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3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4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25.png"/><Relationship Id="rId1" Type="http://schemas.openxmlformats.org/officeDocument/2006/relationships/image" Target="../media/image15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1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2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3.png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6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1"/>
          <p:cNvSpPr txBox="1"/>
          <p:nvPr/>
        </p:nvSpPr>
        <p:spPr>
          <a:xfrm>
            <a:off x="3791712" y="1239205"/>
            <a:ext cx="8191129" cy="2189795"/>
          </a:xfrm>
          <a:prstGeom prst="rect">
            <a:avLst/>
          </a:prstGeom>
        </p:spPr>
        <p:txBody>
          <a:bodyPr lIns="0" rIns="0" anchor="ctr" anchorCtr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B09S0061 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软件工程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  <a:p>
            <a:pPr marL="0" indent="0" algn="r">
              <a:lnSpc>
                <a:spcPct val="100000"/>
              </a:lnSpc>
              <a:buNone/>
            </a:pP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第</a:t>
            </a:r>
            <a:r>
              <a:rPr lang="en-US" altLang="zh-CN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10</a:t>
            </a:r>
            <a:r>
              <a:rPr lang="zh-CN" altLang="en-US" sz="4000" b="1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讲</a:t>
            </a:r>
            <a:endParaRPr lang="zh-CN" altLang="en-US" sz="4000" b="1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8750859" y="4819809"/>
            <a:ext cx="3003067" cy="650875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algn="r">
              <a:lnSpc>
                <a:spcPct val="130000"/>
              </a:lnSpc>
            </a:pP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2026/05/07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5002654" y="4381010"/>
            <a:ext cx="6751272" cy="650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主讲教师：刘光迟</a:t>
            </a:r>
            <a:r>
              <a:rPr lang="en-US" altLang="zh-CN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 </a:t>
            </a:r>
            <a:r>
              <a:rPr lang="zh-CN" altLang="en-US" sz="28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rPr>
              <a:t>博士</a:t>
            </a:r>
            <a:endParaRPr lang="zh-CN" altLang="en-US" sz="2800" dirty="0">
              <a:solidFill>
                <a:schemeClr val="accent1"/>
              </a:solidFill>
              <a:latin typeface="Helvetica" pitchFamily="2" charset="0"/>
              <a:cs typeface="Arial" panose="020B0604020202090204" pitchFamily="34" charset="0"/>
              <a:sym typeface="+mn-lt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11842946" y="4575127"/>
            <a:ext cx="0" cy="752777"/>
          </a:xfrm>
          <a:prstGeom prst="line">
            <a:avLst/>
          </a:prstGeom>
          <a:ln w="508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98690" y="1444626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第三次作业将于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下周一（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5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月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11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日）晚上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23:55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上传至微助教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8" y="112886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第三次实验课：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5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月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14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日（星期</a:t>
            </a:r>
            <a:r>
              <a:rPr lang="zh-CN" altLang="en-US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四），</a:t>
            </a:r>
            <a:r>
              <a:rPr lang="en-US" altLang="zh-CN" sz="2000" b="1" dirty="0">
                <a:solidFill>
                  <a:srgbClr val="C00000"/>
                </a:solidFill>
                <a:latin typeface="Helvetica" pitchFamily="2" charset="0"/>
                <a:cs typeface="Arial" panose="020B0604020202090204" pitchFamily="34" charset="0"/>
              </a:rPr>
              <a:t>J4-101</a:t>
            </a:r>
            <a:endParaRPr lang="en-US" altLang="zh-CN" sz="2000" b="1" dirty="0">
              <a:solidFill>
                <a:srgbClr val="C0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提醒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2738" y="1261527"/>
            <a:ext cx="1094652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提醒：准备以下问题（每题</a:t>
            </a:r>
            <a:r>
              <a:rPr lang="en-US" altLang="zh-CN" sz="2000" b="1" dirty="0">
                <a:solidFill>
                  <a:srgbClr val="505122"/>
                </a:solidFill>
              </a:rPr>
              <a:t>10</a:t>
            </a:r>
            <a:r>
              <a:rPr lang="zh-CN" altLang="en-US" sz="2000" b="1" dirty="0">
                <a:solidFill>
                  <a:srgbClr val="505122"/>
                </a:solidFill>
              </a:rPr>
              <a:t>分）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en-US" altLang="zh-CN" sz="2000" dirty="0">
                <a:solidFill>
                  <a:srgbClr val="C00000"/>
                </a:solidFill>
              </a:rPr>
              <a:t>Q1</a:t>
            </a:r>
            <a:r>
              <a:rPr lang="en-US" altLang="zh-CN" sz="2000" dirty="0"/>
              <a:t> </a:t>
            </a:r>
            <a:r>
              <a:rPr lang="zh-CN" altLang="en-US" sz="2000" dirty="0"/>
              <a:t>你的项目中使用了哪种</a:t>
            </a:r>
            <a:r>
              <a:rPr lang="en-US" altLang="zh-CN" sz="2000" dirty="0"/>
              <a:t>IDE</a:t>
            </a:r>
            <a:r>
              <a:rPr lang="zh-CN" altLang="en-US" sz="2000" dirty="0"/>
              <a:t>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Q2</a:t>
            </a:r>
            <a:r>
              <a:rPr lang="en-US" altLang="zh-CN" sz="2000" dirty="0"/>
              <a:t> </a:t>
            </a:r>
            <a:r>
              <a:rPr lang="zh-CN" altLang="en-US" sz="2000" dirty="0"/>
              <a:t>你的项目中是否使用了高级</a:t>
            </a:r>
            <a:r>
              <a:rPr lang="en-US" altLang="zh-CN" sz="2000" dirty="0"/>
              <a:t>IDE</a:t>
            </a:r>
            <a:r>
              <a:rPr lang="zh-CN" altLang="en-US" sz="2000" dirty="0"/>
              <a:t>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Q3</a:t>
            </a:r>
            <a:r>
              <a:rPr lang="en-US" altLang="zh-CN" sz="2000" dirty="0"/>
              <a:t> </a:t>
            </a:r>
            <a:r>
              <a:rPr lang="zh-CN" altLang="en-US" sz="2000" dirty="0"/>
              <a:t>你是否在项目中使用了任何现有的包或组件？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Q4</a:t>
            </a:r>
            <a:r>
              <a:rPr lang="en-US" altLang="zh-CN" sz="2000" dirty="0"/>
              <a:t> </a:t>
            </a:r>
            <a:r>
              <a:rPr lang="zh-CN" altLang="en-US" sz="2000" dirty="0"/>
              <a:t>使用这些框架或组件的好处是什么？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Q5</a:t>
            </a:r>
            <a:r>
              <a:rPr lang="en-US" altLang="zh-CN" sz="2000" dirty="0"/>
              <a:t> </a:t>
            </a:r>
            <a:r>
              <a:rPr lang="zh-CN" altLang="en-US" sz="2000" dirty="0"/>
              <a:t>你项目的类图是什么样的？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Q6</a:t>
            </a:r>
            <a:r>
              <a:rPr lang="en-US" altLang="zh-CN" sz="2000" dirty="0"/>
              <a:t> </a:t>
            </a:r>
            <a:r>
              <a:rPr lang="zh-CN" altLang="en-US" sz="2000" dirty="0"/>
              <a:t>你项目的对象图是什么样的？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Q7</a:t>
            </a:r>
            <a:r>
              <a:rPr lang="en-US" altLang="zh-CN" sz="2000" dirty="0"/>
              <a:t> </a:t>
            </a:r>
            <a:r>
              <a:rPr lang="zh-CN" altLang="en-US" sz="2000" dirty="0"/>
              <a:t>你项目的顺序图是什么样的？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Q8</a:t>
            </a:r>
            <a:r>
              <a:rPr lang="en-US" altLang="zh-CN" sz="2000" dirty="0"/>
              <a:t> </a:t>
            </a:r>
            <a:r>
              <a:rPr lang="zh-CN" altLang="en-US" sz="2000" dirty="0"/>
              <a:t>你的项目中是否使用了任何设计模式？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Q9 </a:t>
            </a:r>
            <a:r>
              <a:rPr lang="zh-CN" altLang="en-US" sz="2000" dirty="0"/>
              <a:t>你将来如何处理组件变更或功能扩展？</a:t>
            </a:r>
            <a:endParaRPr lang="zh-CN" altLang="en-US" sz="2000" dirty="0"/>
          </a:p>
          <a:p>
            <a:r>
              <a:rPr lang="en-US" altLang="zh-CN" sz="2000" dirty="0">
                <a:solidFill>
                  <a:srgbClr val="C00000"/>
                </a:solidFill>
              </a:rPr>
              <a:t>Q10</a:t>
            </a:r>
            <a:r>
              <a:rPr lang="en-US" altLang="zh-CN" sz="2000" dirty="0"/>
              <a:t> </a:t>
            </a:r>
            <a:r>
              <a:rPr lang="zh-CN" altLang="en-US" sz="2000" dirty="0"/>
              <a:t>随着项目迭代，你如何处理遗留代码？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37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可靠性</a:t>
            </a:r>
            <a:endParaRPr lang="zh-CN" altLang="en-US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01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ONE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3197" y="237834"/>
            <a:ext cx="9966387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Bug</a:t>
            </a:r>
            <a:r>
              <a:rPr lang="zh-CN" altLang="en-US" dirty="0">
                <a:latin typeface="Times New Roman" panose="02020603050405020304" charset="0"/>
              </a:rPr>
              <a:t>、故障和失效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2321041"/>
            <a:ext cx="10946524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（故障）：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编程或设计错误，导致交付的系统不符合规范（例如编码错误、协议错误）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失效：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软件未能提供用户期望的服务（例如需求错误、用户界面混乱）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998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术语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6" y="1756834"/>
            <a:ext cx="109465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故障避免：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构建目标为创建无故障（无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）软件的系统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故障检测（测试与验证）：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在系统投入运行前或发布后发现问题时检测故障（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故障容错：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构建在出现问题（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、过载、坏数据等）时仍能继续运行的系统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8332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需求的失效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22738" y="2081756"/>
            <a:ext cx="11310761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05122"/>
                </a:solidFill>
              </a:rPr>
              <a:t>2000</a:t>
            </a:r>
            <a:r>
              <a:rPr lang="zh-CN" altLang="en-US" sz="2000" b="1" dirty="0">
                <a:solidFill>
                  <a:srgbClr val="505122"/>
                </a:solidFill>
              </a:rPr>
              <a:t>年问题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许多</a:t>
            </a:r>
            <a:r>
              <a:rPr lang="en-US" altLang="zh-CN" sz="2000" dirty="0"/>
              <a:t>2000</a:t>
            </a:r>
            <a:r>
              <a:rPr lang="zh-CN" altLang="en-US" sz="2000" dirty="0"/>
              <a:t>年前开发的程序简单地在年份前加上</a:t>
            </a:r>
            <a:r>
              <a:rPr lang="en-US" altLang="zh-CN" sz="2000" dirty="0"/>
              <a:t>"19"</a:t>
            </a:r>
            <a:r>
              <a:rPr lang="zh-CN" altLang="en-US" sz="2000" dirty="0"/>
              <a:t>，只存储年份的后两位。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问题源于当时内存昂贵。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dirty="0"/>
              <a:t>这些策略通过减少存储数据文件和数据库的大小来节省成本，但导致在</a:t>
            </a:r>
            <a:r>
              <a:rPr lang="en-US" altLang="zh-CN" sz="2000" dirty="0"/>
              <a:t>2000</a:t>
            </a:r>
            <a:r>
              <a:rPr lang="zh-CN" altLang="en-US" sz="2000" dirty="0"/>
              <a:t>年后无法使用。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失效案例研究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2375906"/>
            <a:ext cx="1094652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一艘载有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1509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人的客船在马萨诸塞州楠塔基特岛附近搁浅。当时船只距离船员认为的位置约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17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英里。该船当时正从百慕大前往波士顿。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351" y="233626"/>
            <a:ext cx="10427646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案例分析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2113283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根据美国国家运输安全委员会的报告：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船舶由自动驾驶仪操控，依赖全球定位系统（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）的位置信息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如果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无法从卫星获取位置，它会基于航位推算提供估计位置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在离开百慕大一小时后失效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船员未能看到显示屏上的警告信息（或未检查仪表）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34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小时、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600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英里后，航位推算误差达到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17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英里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76572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案例研究：软件教训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493549" y="1730662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所有软件都按规范工作（没有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），但是：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软件规格确定后，需求发生了变化（从独立系统变为集成系统的一部分）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自动驾驶仪和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制造商采用了不同的模式变更通信设计理念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自动驾驶仪未被编程识别来自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GPS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消息中的有效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无效状态位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用户界面提供的警告不够显眼，无法提醒船员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船员未接受过关于此设备的适当培训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可靠的软件需要软件开发过程的每个环节都做好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任何环节的弱点都会影响最终产品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2236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可靠软件的关键因素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93549" y="1730662"/>
            <a:ext cx="1094652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追求质量的组织文化：来自管理层和高级技术人员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精确、无歧义的需求协议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隐藏复杂性的设计与实现（如结构化设计、面向对象编程）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强调简单性、可读性和避免危险结构的编程风格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sym typeface="+mn-ea"/>
              </a:rPr>
              <a:t>https://</a:t>
            </a:r>
            <a:r>
              <a:rPr lang="en-US" altLang="zh-CN" sz="2000" dirty="0" err="1">
                <a:solidFill>
                  <a:srgbClr val="C00000"/>
                </a:solidFill>
                <a:sym typeface="+mn-ea"/>
              </a:rPr>
              <a:t>google.github.io</a:t>
            </a:r>
            <a:r>
              <a:rPr lang="en-US" altLang="zh-CN" sz="2000" dirty="0">
                <a:solidFill>
                  <a:srgbClr val="C00000"/>
                </a:solidFill>
                <a:sym typeface="+mn-ea"/>
              </a:rPr>
              <a:t>/</a:t>
            </a:r>
            <a:r>
              <a:rPr lang="en-US" altLang="zh-CN" sz="2000" dirty="0" err="1">
                <a:solidFill>
                  <a:srgbClr val="C00000"/>
                </a:solidFill>
                <a:sym typeface="+mn-ea"/>
              </a:rPr>
              <a:t>styleguide</a:t>
            </a:r>
            <a:r>
              <a:rPr lang="en-US" altLang="zh-CN" sz="2000" dirty="0">
                <a:solidFill>
                  <a:srgbClr val="C00000"/>
                </a:solidFill>
                <a:sym typeface="+mn-ea"/>
              </a:rPr>
              <a:t>/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限制或检测错误的软件工具（如强类型语言、源码控制系统、调试器）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开发各阶段的系统性验证（需求、架构、设计、实现、用户测试）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特别关注变更和维护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712621" cy="790865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Times New Roman" panose="02020603050405020304" charset="0"/>
              </a:rPr>
              <a:t>构建可靠系统：组织文化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02976" y="1946697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好的组织创造好的系统：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管理层和高级技术人员必须以身作则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接受团队的工作风格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可见性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完成任务后再进行下一步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zh-CN" altLang="en-US" sz="2400" dirty="0">
                <a:latin typeface="Times New Roman" panose="02020603050405020304" charset="0"/>
              </a:rPr>
              <a:t>构建可靠系统：组织文化示例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TextBox 3"/>
          <p:cNvSpPr txBox="1"/>
          <p:nvPr/>
        </p:nvSpPr>
        <p:spPr>
          <a:xfrm>
            <a:off x="834446" y="1561647"/>
            <a:ext cx="1094652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图书馆联盟案例：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问题：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数据库反复崩溃，数据丢失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后续版本未能修复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分析：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团队技术计划良好但需要时间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高级管理层坚持在未准备好时发布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解决方案：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给团队时间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更换高级管理层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957718" cy="790865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Times New Roman" panose="02020603050405020304" charset="0"/>
              </a:rPr>
              <a:t>构建可靠软件：质量管理流程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1797068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假设：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没有好的流程就不可能有好的软件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常规的重要性：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标准术语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软件标准（编码标准、命名约定等）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定期构建完整系统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内部和外部文档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报告程序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这些常规对重量级和轻量级开发流程都很重要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2400" dirty="0">
                <a:latin typeface="Times New Roman" panose="02020603050405020304" charset="0"/>
              </a:rPr>
              <a:t>构建可靠软件：质量管理流程</a:t>
            </a:r>
            <a:endParaRPr lang="zh-CN" altLang="en-US" sz="2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2101864"/>
            <a:ext cx="1094652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时间紧迫时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...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格外注意流程的早期阶段：可行性、需求、设计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如果在需求过程中犯错，后期几乎没有时间修正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经验表明，在早期阶段多花时间通常会减少总发布时间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构建可靠软件：与客户沟通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2017559"/>
            <a:ext cx="109465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系统若不能满足客户需求则毫无用处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客户必须理解并详细审查商定的需求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仅向客户提供规格文档并要求签字是不够的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客户的适当人员必须审查设计的相关领域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验收测试必须属于客户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构建可靠软件：复杂性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2380723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人脑只能处理有限的复杂性：</a:t>
            </a:r>
            <a:endParaRPr lang="en-US" altLang="zh-CN" sz="2000" b="1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可理解性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简单性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复杂性的划分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简单的组件比复杂的组件更容易正确实现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构建可靠软件：变更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1414444"/>
            <a:ext cx="1094652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变更很容易引入问题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变更管理：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源码管理和版本控制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变更请求和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报告跟踪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需求规格和设计文档的变更程序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回归测试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发布控制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添加新功能或修复</a:t>
            </a:r>
            <a:r>
              <a:rPr lang="en-US" altLang="zh-CN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时，很容易写出破坏系统架构或整体设计的补丁，应尽可能避免。准备好修改架构以保持高质量系统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构建可靠软件：容错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1414444"/>
            <a:ext cx="1094652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目标：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在出现问题时仍能继续运行的系统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en-US" altLang="zh-CN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无效输入数据（例如在数据处理应用中）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过载（例如在网络系统中）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硬件故障（例如在控制系统中）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通用方法：</a:t>
            </a:r>
            <a:endParaRPr lang="en-US" altLang="zh-CN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故障检测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损害评估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故障恢复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2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故障修复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1256" cy="790865"/>
          </a:xfrm>
        </p:spPr>
        <p:txBody>
          <a:bodyPr>
            <a:noAutofit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容错：恢复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622737" y="1414444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向后恢复：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在特定事件时记录系统状态（检查点）。故障后，恢复到最后一个检查点的状态。</a:t>
            </a:r>
            <a:endParaRPr lang="zh-CN" altLang="en-US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结合系统日志（事务的审计跟踪），允许自动重做自最后一个检查点以来的事务</a:t>
            </a:r>
            <a:endParaRPr lang="zh-CN" altLang="en-US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恢复软件难以测试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0" lvl="1"/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整个网络被雷击后，重启因过载而崩溃（增量增长的问题）</a:t>
            </a:r>
            <a:endParaRPr lang="zh-CN" altLang="en-US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10211484" cy="790865"/>
          </a:xfrm>
        </p:spPr>
        <p:txBody>
          <a:bodyPr>
            <a:noAutofit/>
          </a:bodyPr>
          <a:lstStyle/>
          <a:p>
            <a:r>
              <a:rPr lang="zh-CN" altLang="en-US" sz="2400" dirty="0">
                <a:solidFill>
                  <a:srgbClr val="515223"/>
                </a:solidFill>
                <a:latin typeface="Times New Roman" panose="02020603050405020304" charset="0"/>
                <a:sym typeface="+mn-ea"/>
              </a:rPr>
              <a:t>构建可靠软件：小团队和小项目</a:t>
            </a:r>
            <a:endParaRPr lang="zh-CN" altLang="en-US" sz="2400" dirty="0">
              <a:solidFill>
                <a:srgbClr val="515223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1591061"/>
            <a:ext cx="1094652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小团队和小项目对可靠性的优势：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小团队沟通减少了中间文档需求，同时减少误解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小项目更容易测试和实现可靠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项目周期更短，需求错误更少且修复成本更低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完成一个项目后，更容易规划下一个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可靠性提升是敏捷开发近年流行的原因之一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  <a:sym typeface="+mn-ea"/>
              </a:rPr>
              <a:t>可靠性度量</a:t>
            </a:r>
            <a:endParaRPr lang="zh-CN" altLang="en-US" dirty="0"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772324"/>
            <a:ext cx="1094652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可靠性</a:t>
            </a:r>
            <a:r>
              <a:rPr lang="zh-CN" altLang="en-US" sz="2000" dirty="0"/>
              <a:t>：</a:t>
            </a:r>
            <a:endParaRPr lang="zh-CN" altLang="en-US" sz="2000" dirty="0"/>
          </a:p>
          <a:p>
            <a:pPr lvl="1" indent="0">
              <a:buNone/>
            </a:pPr>
            <a:r>
              <a:rPr lang="zh-CN" altLang="en-US" sz="2000" dirty="0"/>
              <a:t>在运行使用中发生失效的概率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在线系统的传统度量：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平均故障间隔时间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可用性（正常运行时间）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平均修复时间</a:t>
            </a:r>
            <a:endParaRPr lang="zh-CN" altLang="en-US" sz="2000" dirty="0"/>
          </a:p>
          <a:p>
            <a:endParaRPr lang="zh-CN" altLang="en-US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市场度量：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投诉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客户留存率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966387" cy="79086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rgbClr val="515223"/>
                </a:solidFill>
                <a:latin typeface="Times New Roman" panose="02020603050405020304" charset="0"/>
                <a:sym typeface="+mn-ea"/>
              </a:rPr>
              <a:t>分布式系统的可靠性度量</a:t>
            </a:r>
            <a:endParaRPr lang="zh-CN" altLang="en-US" sz="3200" dirty="0">
              <a:solidFill>
                <a:srgbClr val="515223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3"/>
          <p:cNvSpPr txBox="1"/>
          <p:nvPr/>
        </p:nvSpPr>
        <p:spPr>
          <a:xfrm>
            <a:off x="572376" y="2176329"/>
            <a:ext cx="1094652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传统度量在多组件系统中难以应用：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平均可靠性优秀的系统可能对特定用户服务极差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大型网络中，总会有某些组件出问题，但很少用户能看到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系统管理员依赖自动报告系统识别问题区域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  <a:sym typeface="+mn-ea"/>
              </a:rPr>
              <a:t>度量：用户对可靠性的感知</a:t>
            </a:r>
            <a:endParaRPr lang="zh-CN" altLang="en-US" sz="6000" dirty="0"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600564"/>
            <a:ext cx="10946524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感知可靠性取决于：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用户行为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输入集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失效的痛苦程度</a:t>
            </a:r>
            <a:endParaRPr lang="zh-CN" altLang="en-US" sz="2000" dirty="0"/>
          </a:p>
          <a:p>
            <a:endParaRPr lang="zh-CN" altLang="en-US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用户感知受失效分布影响：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频繁崩溃的</a:t>
            </a:r>
            <a:r>
              <a:rPr lang="en-US" altLang="zh-CN" sz="2000" dirty="0"/>
              <a:t>PC vs </a:t>
            </a:r>
            <a:r>
              <a:rPr lang="zh-CN" altLang="en-US" sz="2000" dirty="0"/>
              <a:t>几年才宕机两天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频繁崩溃但快速恢复不丢数据的数据库</a:t>
            </a:r>
            <a:r>
              <a:rPr lang="en-US" altLang="zh-CN" sz="2000" dirty="0"/>
              <a:t> vs </a:t>
            </a:r>
            <a:r>
              <a:rPr lang="zh-CN" altLang="en-US" sz="2000" dirty="0"/>
              <a:t>三年一次但需从备份恢复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不失效但有时运行极慢的系统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需求的可靠性度量示例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29732"/>
            <a:ext cx="10946524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ym typeface="+mn-ea"/>
              </a:rPr>
              <a:t>示例：</a:t>
            </a:r>
            <a:r>
              <a:rPr lang="en-US" altLang="zh-CN" sz="2000" dirty="0">
                <a:sym typeface="+mn-ea"/>
              </a:rPr>
              <a:t>ATM</a:t>
            </a:r>
            <a:r>
              <a:rPr lang="zh-CN" altLang="en-US" sz="2000" dirty="0">
                <a:sym typeface="+mn-ea"/>
              </a:rPr>
              <a:t>读卡器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058" y="1715312"/>
            <a:ext cx="10173884" cy="4217001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提高可靠性的成本示例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669652" y="4830394"/>
            <a:ext cx="1094652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示例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许多超级计算机平均每天有效工作</a:t>
            </a:r>
            <a:r>
              <a:rPr lang="en-US" altLang="zh-CN" sz="2000" dirty="0"/>
              <a:t>10</a:t>
            </a:r>
            <a:r>
              <a:rPr lang="zh-CN" altLang="en-US" sz="2000" dirty="0"/>
              <a:t>小时。如何花钱提高可靠性？</a:t>
            </a:r>
            <a:endParaRPr lang="zh-CN" altLang="en-US" sz="20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2140" y="1131665"/>
            <a:ext cx="7847720" cy="37561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示例：中央计算系统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600564"/>
            <a:ext cx="109465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对整个组织至关重要的中央计算机系统，任何失效都很严重</a:t>
            </a:r>
            <a:endParaRPr lang="zh-CN" altLang="en-US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步骤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1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：收集每次失效的数据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建立记录每次失效的数据库</a:t>
            </a:r>
            <a:endParaRPr lang="en-US" altLang="zh-CN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分析每次失效：</a:t>
            </a:r>
            <a:endParaRPr lang="zh-CN" altLang="en-US" sz="2000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硬件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软件（默认）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环境（例如电源、空调）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人为（例如操作员错误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）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示例：中央计算系统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1600564"/>
            <a:ext cx="109465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步骤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2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：分析数据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每周、每月、每年的统计数据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失效次数和中断次数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平均修复时间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按组件绘制的趋势图，例如：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磁盘驱动器的故障率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电源故障后的硬件故障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每个组件软件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导致的崩溃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人为错误的分类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438486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示例：中央计算系统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6" y="2333386"/>
            <a:ext cx="1094652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步骤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3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：将资源投入到收益最大的地方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软件改进的优先级顺序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操作员流程变更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硬件更换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断电后的有序重启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zh-CN" altLang="en-US" sz="37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验证、测试和</a:t>
            </a:r>
            <a:r>
              <a:rPr lang="en-US" altLang="zh-CN" sz="3700" b="1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rPr>
              <a:t>Bug</a:t>
            </a:r>
            <a:endParaRPr lang="en-US" altLang="zh-CN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02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PART</a:t>
              </a:r>
              <a:r>
                <a:rPr lang="zh-CN" altLang="en-US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TWO 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8814745" cy="790865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Times New Roman" panose="02020603050405020304" charset="0"/>
              </a:rPr>
              <a:t>构建可靠系统的两个原则</a:t>
            </a:r>
            <a:endParaRPr lang="zh-CN" altLang="en-US" sz="32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515281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构建可靠系统的两个原则：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软件开发的每个阶段都必须做好，并进行增量验证和测试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测试和修正不能保证质量，但没有彻底测试就不可能有可靠系统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315937" cy="790865"/>
          </a:xfrm>
        </p:spPr>
        <p:txBody>
          <a:bodyPr>
            <a:normAutofit fontScale="90000"/>
          </a:bodyPr>
          <a:lstStyle/>
          <a:p>
            <a:r>
              <a:rPr lang="zh-CN" altLang="en-US" sz="5400" dirty="0">
                <a:latin typeface="Times New Roman" panose="02020603050405020304" charset="0"/>
              </a:rPr>
              <a:t>静态与动态验证</a:t>
            </a:r>
            <a:endParaRPr lang="zh-CN" altLang="en-US" sz="5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2535" y="1912372"/>
            <a:ext cx="1116399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静态验证：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不执行软件的验证技术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手动或使用计算机工具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动态验证：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用试验数据测试软件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调试以消除错误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5" y="237834"/>
            <a:ext cx="8703194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静态验证：审查</a:t>
            </a:r>
            <a:r>
              <a:rPr lang="en-US" altLang="zh-CN" sz="4800" dirty="0">
                <a:latin typeface="Times New Roman" panose="02020603050405020304" charset="0"/>
              </a:rPr>
              <a:t>（</a:t>
            </a:r>
            <a:r>
              <a:rPr lang="en-US" altLang="zh-CN" sz="4800" dirty="0">
                <a:latin typeface="Times New Roman" panose="02020603050405020304" charset="0"/>
              </a:rPr>
              <a:t>Review）</a:t>
            </a:r>
            <a:endParaRPr lang="en-US" altLang="zh-CN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1539207"/>
            <a:ext cx="11163995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</a:rPr>
              <a:t>审查是一种贯穿软件开发过程始终的静态验证形式。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3455" y="2524110"/>
            <a:ext cx="7765089" cy="301129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审查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0432" y="1138115"/>
            <a:ext cx="10301365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审查是贯穿软件开发过程的静态验证形式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概念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同事互相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审查工作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可应用于软件开发的任何阶段，但对评审程序设计或代码尤其有价值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可以是正式的或非正式的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准备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开发者向同事提供文档（例如模型、规格说明或设计）或代码清单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参与者提前研究材料。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会议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开发者引导评审者浏览材料，描述每部分的功能并鼓励提问。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审查会议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83526" y="1732408"/>
            <a:ext cx="1116399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审查</a:t>
            </a:r>
            <a:r>
              <a:rPr lang="zh-CN" altLang="en-US" sz="2000" dirty="0">
                <a:solidFill>
                  <a:srgbClr val="FF0000"/>
                </a:solidFill>
              </a:rPr>
              <a:t>会议是结构化的会议</a:t>
            </a:r>
            <a:endParaRPr lang="zh-CN" altLang="en-US" sz="2000" dirty="0">
              <a:solidFill>
                <a:srgbClr val="FF0000"/>
              </a:solidFill>
            </a:endParaRPr>
          </a:p>
          <a:p>
            <a:endParaRPr lang="zh-CN" altLang="en-US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参与者及其角色：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开发者：被评审工作的负责人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主持人：确保会议顺利进行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记录员：建设性地记录讨论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相关方：项目上的其他开发者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外部专家：了解情况但未参与本项目的人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客户：熟悉此部分流程的客户代表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审查的好处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218011"/>
            <a:ext cx="1116399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好处：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额外的眼睛发现错误、提出改进建议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同事分享专业知识，有助于培训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识别组件间的不兼容性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激励开发者整理松散部分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有助于调度和管理控制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成功</a:t>
            </a:r>
            <a:r>
              <a:rPr lang="zh-CN" altLang="en-US" dirty="0">
                <a:latin typeface="Times New Roman" panose="02020603050405020304" charset="0"/>
              </a:rPr>
              <a:t>审查的要点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135" y="2019935"/>
            <a:ext cx="11163935" cy="24669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成功</a:t>
            </a:r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审查的要点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高级团队成员必须发挥领导作用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好的评审需要每个人都做好充分准备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每个人都必须提供帮助，而不是威胁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留出充足时间，准备改天继续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静态验证：结对设计和结对编程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5" name="TextBox 3"/>
          <p:cNvSpPr txBox="1"/>
          <p:nvPr/>
        </p:nvSpPr>
        <p:spPr>
          <a:xfrm>
            <a:off x="572375" y="1738307"/>
            <a:ext cx="11163995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概念：通过共享开发实现</a:t>
            </a: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审查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两人作为一个团队工作：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设计和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或编码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测试和系统集成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文档和交接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好处：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两个人创造更好的软件，更少错误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交叉培训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许多软件公司报告称生产率很高。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1328" y="1176766"/>
            <a:ext cx="3618301" cy="5560261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静态验证：程序检查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572375" y="2058893"/>
            <a:ext cx="11163995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正式的代码</a:t>
            </a: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审查，目标是检测故障：</a:t>
            </a:r>
            <a:endParaRPr lang="en-US" altLang="zh-CN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逐行阅读或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审查代码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两小时会议处理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150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到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250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行代码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使用常见错误检查表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需要团队承诺，例如经过培训的主持人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如此有效，以至于有人声称它可以替代单元测试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515223"/>
                </a:solidFill>
                <a:latin typeface="Times New Roman" panose="02020603050405020304" charset="0"/>
                <a:sym typeface="+mn-ea"/>
              </a:rPr>
              <a:t>静态验证：分析工具</a:t>
            </a:r>
            <a:endParaRPr lang="zh-CN" altLang="en-US" sz="5400" dirty="0">
              <a:solidFill>
                <a:srgbClr val="515223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572375" y="1397620"/>
            <a:ext cx="11109085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程序分析器扫描源代码以发现可能的错误和异常：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控制流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：多出口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入口的循环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数据使用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：未声明或未初始化的变量、未使用的变量、多次赋值、数组越界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接口故障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：参数不匹配、未使用函数结果、未调用的过程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存储管理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：未赋值指针、指针运算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  <a:sym typeface="+mn-ea"/>
              </a:rPr>
              <a:t>静态分析工具（续）</a:t>
            </a:r>
            <a:endParaRPr lang="zh-CN" altLang="en-US" sz="6000" dirty="0"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2290675"/>
            <a:ext cx="1116399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静态分析工具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交叉引用表</a:t>
            </a:r>
            <a:r>
              <a:rPr lang="zh-CN" altLang="en-US" sz="2000" dirty="0"/>
              <a:t>：显示每个变量、过程、对象等的每次使用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信息流分析</a:t>
            </a:r>
            <a:r>
              <a:rPr lang="zh-CN" altLang="en-US" sz="2000" dirty="0"/>
              <a:t>：识别输出依赖的输入变量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rgbClr val="FF0000"/>
                </a:solidFill>
              </a:rPr>
              <a:t>路径分析</a:t>
            </a:r>
            <a:r>
              <a:rPr lang="zh-CN" altLang="en-US" sz="2000" dirty="0"/>
              <a:t>：识别程序中所有可能的路径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编程工具包中的静态分析工具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7465" y="1028699"/>
            <a:ext cx="8657070" cy="547163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编程工具包中的静态分析工具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8354" y="979559"/>
            <a:ext cx="7935292" cy="537679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4400" dirty="0">
                <a:solidFill>
                  <a:srgbClr val="505122"/>
                </a:solidFill>
                <a:latin typeface="Times New Roman" panose="02020603050405020304" charset="0"/>
                <a:sym typeface="+mn-ea"/>
              </a:rPr>
              <a:t>动态验证</a:t>
            </a:r>
            <a:endParaRPr lang="zh-CN" altLang="en-US" sz="4400" dirty="0">
              <a:solidFill>
                <a:srgbClr val="505122"/>
              </a:solidFill>
              <a:latin typeface="Times New Roman" panose="02020603050405020304" charset="0"/>
              <a:sym typeface="+mn-ea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动态验证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用一组给定的测试用例执行编程代码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动态验证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测试最好分阶段进行：</a:t>
            </a:r>
            <a:endParaRPr lang="en-US" altLang="zh-CN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用户界面测试（单独进行）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单元测试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  <a:sym typeface="+mn-ea"/>
              </a:rPr>
              <a:t>单元测试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系统测试</a:t>
            </a:r>
            <a:endParaRPr lang="en-US" altLang="zh-CN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集成测试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功能测试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性能测试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 algn="l"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 sz="2000" dirty="0">
                <a:latin typeface="Helvetica" pitchFamily="2" charset="0"/>
                <a:cs typeface="Arial" panose="020B0604020202090204" pitchFamily="34" charset="0"/>
              </a:rPr>
              <a:t>安装测试</a:t>
            </a:r>
            <a:endParaRPr lang="zh-CN" altLang="en-US" sz="2000" dirty="0"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验收测试（单独进行）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软件测试类型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6754" y="1275585"/>
            <a:ext cx="6653996" cy="508076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术语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34275" y="1221998"/>
            <a:ext cx="12710487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白盒</a:t>
            </a:r>
            <a:r>
              <a:rPr lang="en-US" altLang="zh-CN" sz="2000" b="1" dirty="0">
                <a:solidFill>
                  <a:srgbClr val="505122"/>
                </a:solidFill>
              </a:rPr>
              <a:t>/</a:t>
            </a:r>
            <a:r>
              <a:rPr lang="zh-CN" altLang="en-US" sz="2000" b="1" dirty="0">
                <a:solidFill>
                  <a:srgbClr val="505122"/>
                </a:solidFill>
              </a:rPr>
              <a:t>玻璃盒</a:t>
            </a:r>
            <a:r>
              <a:rPr lang="en-US" altLang="zh-CN" sz="2000" b="1" dirty="0">
                <a:solidFill>
                  <a:srgbClr val="505122"/>
                </a:solidFill>
              </a:rPr>
              <a:t>/</a:t>
            </a:r>
            <a:r>
              <a:rPr lang="zh-CN" altLang="en-US" sz="2000" b="1" dirty="0">
                <a:solidFill>
                  <a:srgbClr val="505122"/>
                </a:solidFill>
              </a:rPr>
              <a:t>开盒测试：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/>
              <a:t>涉及测试软件应用的内部结构和工作原理，测试者可访问源代码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黑盒测试：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/>
              <a:t>测试者不关心内部知识或实现细节，专注于基于规格或需求验证功能</a:t>
            </a:r>
            <a:endParaRPr lang="zh-CN" alt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98" y="4000500"/>
            <a:ext cx="42926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Times New Roman" panose="02020603050405020304" charset="0"/>
              </a:rPr>
              <a:t>术语</a:t>
            </a:r>
            <a:endParaRPr lang="zh-CN" altLang="en-US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11415" y="1258963"/>
            <a:ext cx="12710487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功能测试：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/>
              <a:t>针对功能需求和规格进行测试</a:t>
            </a:r>
            <a:endParaRPr lang="zh-CN" altLang="en-US" sz="2000" dirty="0"/>
          </a:p>
          <a:p>
            <a:pPr lvl="1"/>
            <a:r>
              <a:rPr lang="zh-CN" altLang="en-US" sz="2000" dirty="0"/>
              <a:t>单元</a:t>
            </a:r>
            <a:r>
              <a:rPr lang="en-US" altLang="zh-CN" sz="2000" dirty="0"/>
              <a:t>/</a:t>
            </a:r>
            <a:r>
              <a:rPr lang="zh-CN" altLang="en-US" sz="2000" dirty="0"/>
              <a:t>集成</a:t>
            </a:r>
            <a:r>
              <a:rPr lang="en-US" altLang="zh-CN" sz="2000" dirty="0"/>
              <a:t>/</a:t>
            </a:r>
            <a:r>
              <a:rPr lang="zh-CN" altLang="en-US" sz="2000" dirty="0"/>
              <a:t>系统</a:t>
            </a:r>
            <a:r>
              <a:rPr lang="en-US" altLang="zh-CN" sz="2000" dirty="0"/>
              <a:t>/</a:t>
            </a:r>
            <a:r>
              <a:rPr lang="zh-CN" altLang="en-US" sz="2000" dirty="0"/>
              <a:t>冒烟测试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非功能测试：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/>
              <a:t>针对非功能需求和规格进行测试</a:t>
            </a:r>
            <a:endParaRPr lang="zh-CN" altLang="en-US" sz="2000" dirty="0"/>
          </a:p>
          <a:p>
            <a:pPr lvl="1"/>
            <a:r>
              <a:rPr lang="zh-CN" altLang="en-US" sz="2000" dirty="0"/>
              <a:t>性能、可用性、安全性等</a:t>
            </a:r>
            <a:endParaRPr lang="zh-CN" altLang="en-US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0020" y="3915040"/>
            <a:ext cx="51308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 fontScale="90000"/>
          </a:bodyPr>
          <a:lstStyle/>
          <a:p>
            <a:r>
              <a:rPr lang="zh-CN" altLang="en-US" sz="6000" dirty="0">
                <a:latin typeface="Times New Roman" panose="02020603050405020304" charset="0"/>
              </a:rPr>
              <a:t>术语</a:t>
            </a:r>
            <a:endParaRPr lang="zh-CN" altLang="en-US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325120" y="1028700"/>
            <a:ext cx="11720195" cy="53155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单元测试：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测试单个单元或组件。</a:t>
            </a:r>
            <a:endParaRPr lang="zh-CN" altLang="en-US" sz="2000" dirty="0">
              <a:sym typeface="+mn-ea"/>
            </a:endParaRPr>
          </a:p>
          <a:p>
            <a:pPr lvl="1"/>
            <a:r>
              <a:rPr lang="zh-CN" altLang="en-US" sz="2000" dirty="0">
                <a:sym typeface="+mn-ea"/>
              </a:rPr>
              <a:t>测试数据通常由开发者根据他们对规格的理解和单元的知识选择。</a:t>
            </a:r>
            <a:endParaRPr lang="zh-CN" altLang="en-US" sz="2000" dirty="0">
              <a:sym typeface="+mn-ea"/>
            </a:endParaRPr>
          </a:p>
          <a:p>
            <a:pPr lvl="1"/>
            <a:r>
              <a:rPr lang="zh-CN" altLang="en-US" sz="2000" dirty="0">
                <a:sym typeface="+mn-ea"/>
              </a:rPr>
              <a:t>由单元的开发者或专门的测试人员创建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集成测试：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测试软件应用的单元或组件之间的交互。</a:t>
            </a:r>
            <a:endParaRPr lang="zh-CN" altLang="en-US" sz="2000" dirty="0"/>
          </a:p>
          <a:p>
            <a:pPr lvl="1"/>
            <a:r>
              <a:rPr lang="zh-CN" altLang="en-US" sz="2000" dirty="0">
                <a:sym typeface="+mn-ea"/>
              </a:rPr>
              <a:t>增量测试</a:t>
            </a:r>
            <a:r>
              <a:rPr lang="en-US" altLang="zh-CN" sz="2000" dirty="0">
                <a:sym typeface="+mn-ea"/>
              </a:rPr>
              <a:t>/</a:t>
            </a:r>
            <a:r>
              <a:rPr lang="zh-CN" altLang="en-US" sz="2000" dirty="0">
                <a:sym typeface="+mn-ea"/>
              </a:rPr>
              <a:t>非增量测试（大爆炸测试）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  <a:sym typeface="+mn-ea"/>
              </a:rPr>
              <a:t>系统测试：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1"/>
            <a:r>
              <a:rPr lang="zh-CN" altLang="en-US" sz="2000" dirty="0">
                <a:sym typeface="+mn-ea"/>
              </a:rPr>
              <a:t>评估完整集成软件解决方案的整体功能和性能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8600" y="16195"/>
            <a:ext cx="3863400" cy="123414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428" y="3581588"/>
            <a:ext cx="5557106" cy="143637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单元测试设计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724776" y="1580140"/>
            <a:ext cx="961810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测试永远无法证明系统是正确的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只能表明（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a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）系统在单个案例中正确，或（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）它有错误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测试的目标是发现错误或证明程序在特定实例中正确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测试从来不是全面的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测试是昂贵的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测试用例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831814" y="1143852"/>
            <a:ext cx="9618104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测试用例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：因可能发现特定问题而被选中的特定测试。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测试用例的选择要在成本与发现严重错误的可能性之间权衡。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由开发团队选择的用例：有效测试已知脆弱区域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由有经验的外部人员和客户选择的用例：发现开发者留下的缺口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由无经验用户选择的用例：发现其他错误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测试覆盖率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：衡量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"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测试了多少代码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"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的方法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语句（行）覆盖率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分支覆盖率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路径覆盖率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……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语句覆盖率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2216" y="1758940"/>
            <a:ext cx="7631904" cy="374142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分支覆盖率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6920" y="1652111"/>
            <a:ext cx="7772400" cy="381029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路径覆盖率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4035" y="1290377"/>
            <a:ext cx="8724900" cy="427724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模糊测试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538275" y="1221823"/>
            <a:ext cx="10152982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给程序随机输入，寻找崩溃、断言违例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在</a:t>
            </a:r>
            <a:r>
              <a:rPr lang="en-US" altLang="zh-CN" sz="2000" dirty="0"/>
              <a:t>2010</a:t>
            </a:r>
            <a:r>
              <a:rPr lang="zh-CN" altLang="en-US" sz="2000" dirty="0"/>
              <a:t>年代流行起来，对发现安全漏洞非常有效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可通过覆盖率反馈增强（使用遗传算法、神经网络构建能执行特定分支的输入）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单元测试：</a:t>
            </a:r>
            <a:r>
              <a:rPr lang="en-US" altLang="zh-CN" sz="4400" dirty="0">
                <a:latin typeface="Times New Roman" panose="02020603050405020304" charset="0"/>
              </a:rPr>
              <a:t>Java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807" y="1410193"/>
            <a:ext cx="3037490" cy="64799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5546" y="2609479"/>
            <a:ext cx="5359400" cy="26797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单元测试：</a:t>
            </a:r>
            <a:r>
              <a:rPr lang="en-US" altLang="zh-CN" sz="4400" dirty="0">
                <a:latin typeface="Times New Roman" panose="02020603050405020304" charset="0"/>
              </a:rPr>
              <a:t>Java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02" y="1241096"/>
            <a:ext cx="5691998" cy="257415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0960" y="3311633"/>
            <a:ext cx="3517900" cy="28321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单元测试：</a:t>
            </a:r>
            <a:r>
              <a:rPr lang="en-US" altLang="zh-CN" sz="4400" dirty="0">
                <a:latin typeface="Times New Roman" panose="02020603050405020304" charset="0"/>
              </a:rPr>
              <a:t>Java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0" y="1455015"/>
            <a:ext cx="7772400" cy="4475018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单元测试：</a:t>
            </a:r>
            <a:r>
              <a:rPr lang="en-US" altLang="zh-CN" sz="4400" dirty="0">
                <a:latin typeface="Times New Roman" panose="02020603050405020304" charset="0"/>
              </a:rPr>
              <a:t>Java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617518"/>
            <a:ext cx="12412718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505122"/>
                </a:solidFill>
              </a:rPr>
              <a:t>命令行运行：</a:t>
            </a:r>
            <a:endParaRPr lang="zh-CN" altLang="en-US" b="1" dirty="0">
              <a:solidFill>
                <a:srgbClr val="505122"/>
              </a:solidFill>
            </a:endParaRPr>
          </a:p>
          <a:p>
            <a:endParaRPr lang="zh-CN" altLang="en-US" dirty="0"/>
          </a:p>
          <a:p>
            <a:r>
              <a:rPr lang="en-US" dirty="0"/>
              <a:t>$ javac -d target -cp target:junit-platform-console-standalone-1.7.2.jar  /Path/to/Folder/FactorialTest.java</a:t>
            </a:r>
            <a:endParaRPr lang="en-US" dirty="0"/>
          </a:p>
          <a:p>
            <a:endParaRPr lang="en-US" dirty="0"/>
          </a:p>
          <a:p>
            <a:r>
              <a:rPr lang="en-US" dirty="0"/>
              <a:t>$ java -jar junit-platform-console-standalone-1.7.2.jar --class-path target --select-class Path.to.Folder.FactorialTest.java</a:t>
            </a:r>
            <a:endParaRPr lang="en-US" dirty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4082" y="4525542"/>
            <a:ext cx="12412718" cy="983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使用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Maven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运行：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dirty="0"/>
              <a:t>$ </a:t>
            </a:r>
            <a:r>
              <a:rPr lang="en-US" dirty="0" err="1"/>
              <a:t>mvn</a:t>
            </a:r>
            <a:r>
              <a:rPr lang="en-US" dirty="0"/>
              <a:t> test -</a:t>
            </a:r>
            <a:r>
              <a:rPr lang="en-US" dirty="0" err="1"/>
              <a:t>Dtest</a:t>
            </a:r>
            <a:r>
              <a:rPr lang="en-US" dirty="0"/>
              <a:t>= FactorialTest</a:t>
            </a:r>
            <a:endParaRPr 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单元测试：</a:t>
            </a:r>
            <a:r>
              <a:rPr lang="en-US" altLang="zh-CN" sz="4400" dirty="0">
                <a:latin typeface="Times New Roman" panose="02020603050405020304" charset="0"/>
              </a:rPr>
              <a:t>Java</a:t>
            </a:r>
            <a:r>
              <a:rPr lang="zh-CN" altLang="en-US" sz="4400" dirty="0">
                <a:latin typeface="Times New Roman" panose="02020603050405020304" charset="0"/>
              </a:rPr>
              <a:t>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4580" y="1811173"/>
            <a:ext cx="6222840" cy="3447914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系统测试和集成测试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647790" y="1244222"/>
            <a:ext cx="9618104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对已彻底测试的单元组合进行测试。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强调集成和接口。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使用典型的实际数据或系统边界数据（例如失效、重启）。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系统化进行，逐步添加组件直到整个系统组装完成。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可以是黑盒或白盒测试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：由开发团队或专门的测试人员进行。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如果每个组件在组装下一个之前完全调试完毕，系统测试完成得最快。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313" y="4937620"/>
            <a:ext cx="5557106" cy="143637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6514" y="4525857"/>
            <a:ext cx="2324045" cy="2332143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增量测试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11619624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螺旋开发和增量测试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创建第一个迭代，包含最终系统的结构和一些基本功能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创建初始测试用例集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每天签入系统变更，每天重建整个系统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每天运行全面的测试用例集，识别并处理任何新错误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持续添加新的测试用例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许多大型软件公司（如微软）遵循这一流程，每天构建整个系统并运行全面的测试用例集。对于非常大的系统，这可能需要成百上千台测试计算机和大量的测试人员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29196" y="1084231"/>
            <a:ext cx="9618104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自底向上测试：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2"/>
            <a:r>
              <a:rPr lang="zh-CN" altLang="en-US" sz="2000" dirty="0"/>
              <a:t>每个单元在自己的测试环境中测试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自顶向下测试：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lvl="2"/>
            <a:r>
              <a:rPr lang="zh-CN" altLang="en-US" sz="2000" dirty="0"/>
              <a:t>大型组件用虚拟</a:t>
            </a:r>
            <a:r>
              <a:rPr lang="zh-CN" altLang="en-US" sz="2000" dirty="0"/>
              <a:t>模块测试，尤其适用于</a:t>
            </a:r>
            <a:endParaRPr lang="zh-CN" altLang="en-US" sz="2000" dirty="0"/>
          </a:p>
          <a:p>
            <a:pPr lvl="4"/>
            <a:r>
              <a:rPr lang="zh-CN" altLang="en-US" sz="2000" dirty="0"/>
              <a:t>用户界面</a:t>
            </a:r>
            <a:endParaRPr lang="zh-CN" altLang="en-US" sz="2000" dirty="0"/>
          </a:p>
          <a:p>
            <a:pPr lvl="4"/>
            <a:r>
              <a:rPr lang="zh-CN" altLang="en-US" sz="2000" dirty="0"/>
              <a:t>工作流</a:t>
            </a:r>
            <a:endParaRPr lang="zh-CN" altLang="en-US" sz="2000" dirty="0"/>
          </a:p>
          <a:p>
            <a:pPr lvl="4"/>
            <a:r>
              <a:rPr lang="zh-CN" altLang="en-US" sz="2000" dirty="0"/>
              <a:t>客户和管理演示</a:t>
            </a:r>
            <a:endParaRPr lang="zh-CN" altLang="en-US" sz="20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5479" y="0"/>
            <a:ext cx="2588595" cy="2037644"/>
          </a:xfrm>
          <a:prstGeom prst="rect">
            <a:avLst/>
          </a:prstGeom>
        </p:spPr>
      </p:pic>
      <p:sp>
        <p:nvSpPr>
          <p:cNvPr id="8" name="Title 1"/>
          <p:cNvSpPr txBox="1"/>
          <p:nvPr/>
        </p:nvSpPr>
        <p:spPr>
          <a:xfrm>
            <a:off x="1213175" y="148356"/>
            <a:ext cx="9099225" cy="790865"/>
          </a:xfrm>
          <a:prstGeom prst="rect">
            <a:avLst/>
          </a:prstGeom>
        </p:spPr>
        <p:txBody>
          <a:bodyPr vert="horz" wrap="square" lIns="0" tIns="0" rIns="0" bIns="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6000" dirty="0">
                <a:latin typeface="Times New Roman" panose="02020603050405020304" charset="0"/>
              </a:rPr>
              <a:t>术语</a:t>
            </a:r>
            <a:endParaRPr lang="zh-CN" altLang="en-US" sz="6000" dirty="0">
              <a:latin typeface="Times New Roman" panose="0202060305040502030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6" y="4239429"/>
            <a:ext cx="4175523" cy="211692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139" y="4621359"/>
            <a:ext cx="1211648" cy="173499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增量测试示例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示例：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一个由多个模块组成的日历包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起点：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一个具有良好整体结构和大部分功能但编码仓促、不够健壮的原型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方法：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每天循环：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设计并编码包的一小部分（例如一个接口、一个虚拟存根）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集成到原型中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如果需要，创建额外的测试用例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回归测试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8" name="Title 1"/>
          <p:cNvSpPr txBox="1"/>
          <p:nvPr/>
        </p:nvSpPr>
        <p:spPr>
          <a:xfrm>
            <a:off x="1213175" y="148356"/>
            <a:ext cx="9099225" cy="790865"/>
          </a:xfrm>
          <a:prstGeom prst="rect">
            <a:avLst/>
          </a:prstGeom>
        </p:spPr>
        <p:txBody>
          <a:bodyPr vert="horz" wrap="square" lIns="0" tIns="0" rIns="0" bIns="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i="0" kern="1200">
                <a:solidFill>
                  <a:schemeClr val="accent1"/>
                </a:solidFill>
                <a:latin typeface="Helvetica" pitchFamily="2" charset="0"/>
                <a:ea typeface="微软雅黑" panose="020B0503020204020204" pitchFamily="34" charset="-122"/>
                <a:cs typeface="Arial" panose="020B0604020202090204" pitchFamily="34" charset="0"/>
              </a:defRPr>
            </a:lvl1pPr>
          </a:lstStyle>
          <a:p>
            <a:r>
              <a:rPr lang="zh-CN" altLang="en-US" sz="4000" dirty="0">
                <a:latin typeface="Times New Roman" panose="02020603050405020304" charset="0"/>
              </a:rPr>
              <a:t>自底向上</a:t>
            </a:r>
            <a:r>
              <a:rPr lang="en-US" altLang="zh-CN" sz="4000" dirty="0">
                <a:latin typeface="Times New Roman" panose="02020603050405020304" charset="0"/>
              </a:rPr>
              <a:t> vs </a:t>
            </a:r>
            <a:r>
              <a:rPr lang="zh-CN" altLang="en-US" sz="4000" dirty="0">
                <a:latin typeface="Times New Roman" panose="02020603050405020304" charset="0"/>
              </a:rPr>
              <a:t>自顶向下</a:t>
            </a:r>
            <a:endParaRPr lang="zh-CN" altLang="en-US" sz="4000" dirty="0">
              <a:latin typeface="Times New Roman" panose="02020603050405020304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852" y="1864891"/>
            <a:ext cx="6449208" cy="437531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62270" y="939221"/>
            <a:ext cx="6626860" cy="3442153"/>
          </a:xfrm>
          <a:prstGeom prst="rect">
            <a:avLst/>
          </a:prstGeom>
        </p:spPr>
      </p:pic>
      <p:sp>
        <p:nvSpPr>
          <p:cNvPr id="2" name="Right Arrow 1"/>
          <p:cNvSpPr/>
          <p:nvPr/>
        </p:nvSpPr>
        <p:spPr>
          <a:xfrm rot="7295926">
            <a:off x="4869180" y="3587595"/>
            <a:ext cx="609600" cy="411480"/>
          </a:xfrm>
          <a:prstGeom prst="rightArrow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257800" y="2191836"/>
            <a:ext cx="6831330" cy="9829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/>
          <a:lstStyle/>
          <a:p>
            <a:r>
              <a:rPr lang="zh-CN" altLang="en-US" sz="4400" dirty="0">
                <a:latin typeface="Times New Roman" panose="02020603050405020304" charset="0"/>
              </a:rPr>
              <a:t>回归测试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686676" y="1707365"/>
            <a:ext cx="9618104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当软件被修改时，回归测试用于检查修改是否按预期工作，并且不会对未修改代码的行为产生不利影响。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每次变更后，无论多小，都要重新运行整个测试套件。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回归测试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296820"/>
            <a:ext cx="11430572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收集一组</a:t>
            </a:r>
            <a:r>
              <a:rPr lang="en-US" altLang="zh-CN" sz="2000" dirty="0">
                <a:solidFill>
                  <a:srgbClr val="C00000"/>
                </a:solidFill>
              </a:rPr>
              <a:t>测试用例</a:t>
            </a:r>
            <a:r>
              <a:rPr lang="en-US" altLang="zh-CN" sz="2000" dirty="0"/>
              <a:t>，每个用例均包含其预期行为。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dirty="0"/>
              <a:t>编写脚本以运行所有测试用例，并将其与预期行为进行比较。（脚本可为自动化执行，也可包含人工干预。）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dirty="0"/>
              <a:t>然而，当对系统进行任何修改（无论多么微小，例如修复了一个漏洞）时，都应添加一个新的测试用例来体现该修改（例如，能够揭示该漏洞的测试用例）。</a:t>
            </a:r>
            <a:endParaRPr lang="en-US" altLang="zh-CN" sz="2000" dirty="0"/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r>
              <a:rPr lang="en-US" altLang="zh-CN" sz="2000" dirty="0"/>
              <a:t>在发布修改后的代码之前，</a:t>
            </a:r>
            <a:r>
              <a:rPr lang="en-US" altLang="zh-CN" sz="2000" dirty="0">
                <a:solidFill>
                  <a:srgbClr val="C00000"/>
                </a:solidFill>
              </a:rPr>
              <a:t>请重新运行整个测试套件</a:t>
            </a:r>
            <a:r>
              <a:rPr lang="en-US" altLang="zh-CN" sz="2000" dirty="0"/>
              <a:t>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通常附带</a:t>
            </a:r>
            <a:r>
              <a:rPr lang="zh-CN" altLang="en-US" sz="2000" dirty="0">
                <a:solidFill>
                  <a:srgbClr val="C00000"/>
                </a:solidFill>
              </a:rPr>
              <a:t>发烟</a:t>
            </a:r>
            <a:r>
              <a:rPr lang="en-US" altLang="zh-CN" sz="2000" dirty="0">
                <a:solidFill>
                  <a:srgbClr val="C00000"/>
                </a:solidFill>
              </a:rPr>
              <a:t>测试</a:t>
            </a:r>
            <a:endParaRPr lang="en-US" altLang="zh-CN" sz="2000" b="1" dirty="0">
              <a:solidFill>
                <a:srgbClr val="C00000"/>
              </a:solidFill>
            </a:endParaRPr>
          </a:p>
          <a:p>
            <a:pPr lvl="1"/>
            <a:r>
              <a:rPr lang="en-US" altLang="zh-CN" sz="2000" dirty="0"/>
              <a:t>快速浏览这套基础测试用例</a:t>
            </a:r>
            <a:endParaRPr lang="en-US" altLang="zh-CN" sz="2000" dirty="0"/>
          </a:p>
          <a:p>
            <a:pPr lvl="1"/>
            <a:r>
              <a:rPr lang="en-US" altLang="zh-CN" sz="2000" dirty="0"/>
              <a:t>确保被测软件已准备就绪或达到稳定状态，以便进行后续测试。</a:t>
            </a:r>
            <a:br>
              <a:rPr lang="en-US" sz="2000" dirty="0"/>
            </a:br>
            <a:endParaRPr lang="en-US" altLang="zh-CN" sz="20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Times New Roman" panose="02020603050405020304" charset="0"/>
              </a:rPr>
              <a:t>持续集成</a:t>
            </a:r>
            <a:r>
              <a:rPr lang="en-US" sz="3600" dirty="0">
                <a:latin typeface="Times New Roman" panose="02020603050405020304" charset="0"/>
              </a:rPr>
              <a:t>（Continous Integration, CI）</a:t>
            </a:r>
            <a:endParaRPr lang="en-US" sz="36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296820"/>
            <a:ext cx="11430572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定期构建并测试整个系统。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更早发现问题</a:t>
            </a:r>
            <a:endParaRPr lang="en-US" sz="2000" dirty="0"/>
          </a:p>
          <a:p>
            <a:pPr lvl="1"/>
            <a:r>
              <a:rPr lang="en-US" sz="2000" dirty="0"/>
              <a:t>通过自动化和问题隔离减轻集成复杂性</a:t>
            </a:r>
            <a:endParaRPr lang="en-US" sz="2000" dirty="0"/>
          </a:p>
          <a:p>
            <a:pPr lvl="1"/>
            <a:r>
              <a:rPr lang="en-US" sz="2000" dirty="0"/>
              <a:t>超越单一开发者的资源限制</a:t>
            </a:r>
            <a:endParaRPr lang="en-US" sz="2000" dirty="0"/>
          </a:p>
          <a:p>
            <a:pPr lvl="1"/>
            <a:r>
              <a:rPr lang="en-US" sz="2000" dirty="0"/>
              <a:t>消除对开发者专业素养的依赖</a:t>
            </a:r>
            <a:endParaRPr lang="en-US" sz="2000" dirty="0"/>
          </a:p>
          <a:p>
            <a:pPr lvl="1"/>
            <a:r>
              <a:rPr lang="en-US" sz="2000" dirty="0"/>
              <a:t>持续监控代码的就绪状态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适用于开发和发布阶段。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持续构建+测试</a:t>
            </a:r>
            <a:endParaRPr lang="en-US" sz="2000" dirty="0"/>
          </a:p>
          <a:p>
            <a:pPr lvl="1"/>
            <a:r>
              <a:rPr lang="en-US" sz="2000" dirty="0"/>
              <a:t>持续配送</a:t>
            </a:r>
            <a:br>
              <a:rPr lang="en-US" sz="2000" dirty="0"/>
            </a:br>
            <a:endParaRPr lang="en-US" altLang="zh-CN" sz="2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</a:rPr>
              <a:t>CI决策</a:t>
            </a:r>
            <a:endParaRPr lang="en-US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1009981" y="1244568"/>
            <a:ext cx="11430572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如何根据发布工作流构建系统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在发布工作流过程中应运行哪些测试？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典型设置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提交前测试套件会审核所有合并操作。</a:t>
            </a:r>
            <a:endParaRPr lang="en-US" sz="2000" dirty="0"/>
          </a:p>
          <a:p>
            <a:pPr lvl="2"/>
            <a:r>
              <a:rPr lang="en-US" sz="2000" dirty="0"/>
              <a:t>与受影响代码相关的编译及快速测试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提交后测试套件用于验证主干上的部分提交记录</a:t>
            </a:r>
            <a:endParaRPr lang="en-US" sz="2000" dirty="0"/>
          </a:p>
          <a:p>
            <a:pPr lvl="2"/>
            <a:r>
              <a:rPr lang="en-US" sz="2000" dirty="0"/>
              <a:t>包含更大、更集成化的测试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发布推广流程用于筛选适合发布的候选内容</a:t>
            </a:r>
            <a:endParaRPr lang="en-US" sz="2000" dirty="0"/>
          </a:p>
          <a:p>
            <a:pPr lvl="2"/>
            <a:r>
              <a:rPr lang="en-US" sz="2000" dirty="0"/>
              <a:t>包含更复杂的测试，可能需要专用资源</a:t>
            </a:r>
            <a:br>
              <a:rPr lang="en-US" sz="2000" dirty="0"/>
            </a:br>
            <a:endParaRPr lang="en-US" altLang="zh-CN" sz="2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charset="0"/>
              </a:rPr>
              <a:t>自动化、速度与基础设施</a:t>
            </a:r>
            <a:endParaRPr lang="en-US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1009981" y="1244568"/>
            <a:ext cx="11430572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测试必须自动化且可靠。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理想情况下完全可重复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大多数步骤必须快速执行，以免影响工作效率。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dirty="0"/>
              <a:t>缓存</a:t>
            </a:r>
            <a:r>
              <a:rPr lang="zh-CN" altLang="en-US" sz="2000" dirty="0"/>
              <a:t>已经完成</a:t>
            </a:r>
            <a:r>
              <a:rPr lang="en-US" sz="2000" dirty="0"/>
              <a:t>构建</a:t>
            </a:r>
            <a:r>
              <a:rPr lang="zh-CN" altLang="en-US" sz="2000" dirty="0"/>
              <a:t>的</a:t>
            </a:r>
            <a:r>
              <a:rPr lang="en-US" sz="2000" dirty="0"/>
              <a:t>产品</a:t>
            </a:r>
            <a:endParaRPr lang="en-US" sz="2000" dirty="0"/>
          </a:p>
          <a:p>
            <a:r>
              <a:rPr lang="en-US" sz="2000" dirty="0"/>
              <a:t>跳过不受影响的测试</a:t>
            </a:r>
            <a:endParaRPr lang="en-US" sz="2000" dirty="0"/>
          </a:p>
          <a:p>
            <a:r>
              <a:rPr lang="en-US" sz="2000" dirty="0"/>
              <a:t>并行化并投资计算资源</a:t>
            </a:r>
            <a:endParaRPr lang="en-US" sz="2000" dirty="0"/>
          </a:p>
          <a:p>
            <a:endParaRPr lang="en-US" sz="2000" dirty="0"/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工具链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带来的好处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 algn="l">
              <a:buClrTx/>
              <a:buSzTx/>
              <a:buNone/>
            </a:pPr>
            <a:r>
              <a:rPr lang="en-US" sz="2000" dirty="0"/>
              <a:t>与版本控制和代码审查集成</a:t>
            </a:r>
            <a:endParaRPr lang="en-US" sz="2000" dirty="0"/>
          </a:p>
          <a:p>
            <a:pPr lvl="2" algn="l">
              <a:buClrTx/>
              <a:buSzTx/>
              <a:buNone/>
            </a:pPr>
            <a:r>
              <a:rPr lang="en-US" sz="2000" dirty="0"/>
              <a:t>合并前及发布前的审核环节</a:t>
            </a:r>
            <a:endParaRPr lang="en-US" sz="2000" dirty="0"/>
          </a:p>
          <a:p>
            <a:pPr lvl="2" algn="l">
              <a:buClrTx/>
              <a:buSzTx/>
              <a:buNone/>
            </a:pPr>
            <a:r>
              <a:rPr lang="en-US" sz="2000" dirty="0"/>
              <a:t>“Last-known-good”分支（新工作应从该分支而非主干分支开始）</a:t>
            </a:r>
            <a:endParaRPr lang="en-US" sz="2000" dirty="0"/>
          </a:p>
          <a:p>
            <a:pPr lvl="1" algn="l">
              <a:buClrTx/>
              <a:buSzTx/>
              <a:buNone/>
            </a:pPr>
            <a:r>
              <a:rPr lang="en-US" sz="2000" dirty="0"/>
              <a:t>双向断裂</a:t>
            </a:r>
            <a:endParaRPr lang="en-US" sz="2000" dirty="0"/>
          </a:p>
          <a:p>
            <a:pPr lvl="1" algn="l">
              <a:buClrTx/>
              <a:buSzTx/>
              <a:buNone/>
            </a:pPr>
            <a:r>
              <a:rPr lang="en-US" sz="2000" dirty="0"/>
              <a:t>记录所有结果</a:t>
            </a:r>
            <a:endParaRPr lang="en-US" sz="2000" dirty="0"/>
          </a:p>
          <a:p>
            <a:pPr lvl="1" algn="l">
              <a:buClrTx/>
              <a:buSzTx/>
              <a:buNone/>
            </a:pPr>
            <a:r>
              <a:rPr lang="en-US" sz="2000" dirty="0"/>
              <a:t>自动重新运行不稳定测试</a:t>
            </a:r>
            <a:br>
              <a:rPr lang="en-US" sz="2000" dirty="0"/>
            </a:br>
            <a:endParaRPr lang="en-US" altLang="zh-CN" sz="20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952" y="5053054"/>
            <a:ext cx="56261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非功能性测试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3820" y="4114800"/>
            <a:ext cx="4376057" cy="2743200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>
            <a:off x="653398" y="1294477"/>
            <a:ext cx="1106018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性能测试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dirty="0"/>
              <a:t>确保软件应用程序在预期工作负载下正常运行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可用性测试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dirty="0"/>
              <a:t>了解该机器是否已准备好投入市场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兼容性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dirty="0"/>
              <a:t>检验其在不同平台/环境下的兼容性（运行能力）。</a:t>
            </a:r>
            <a:endParaRPr lang="en-US" altLang="zh-CN" sz="20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性能漏洞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7028815" cy="42767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未按时完成/未满足服务级别协议（SLA）要求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响应速度和运行流畅度未达到要求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dirty="0"/>
              <a:t>100 毫秒：GUI</a:t>
            </a:r>
            <a:endParaRPr lang="en-US" dirty="0"/>
          </a:p>
          <a:p>
            <a:pPr lvl="1"/>
            <a:r>
              <a:rPr lang="en-US" dirty="0"/>
              <a:t>15–30 毫秒：动画（30–60 帧/秒）</a:t>
            </a:r>
            <a:endParaRPr lang="en-US" dirty="0"/>
          </a:p>
          <a:p>
            <a:pPr lvl="1"/>
            <a:r>
              <a:rPr lang="en-US" dirty="0"/>
              <a:t>10 毫秒：MIDI、VR</a:t>
            </a:r>
            <a:endParaRPr lang="en-US" dirty="0"/>
          </a:p>
          <a:p>
            <a:endParaRPr lang="en-US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某些输入数据出现意外减速现象 / 存在拒绝服务（DoS）漏洞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性能退化（渐进性与急性退化）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不同平台之间的性能差异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HPC 吞吐量未达最优水平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性能测试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8" y="1294477"/>
            <a:ext cx="11060182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负载测试</a:t>
            </a:r>
            <a:endParaRPr lang="en-US" sz="2000" dirty="0"/>
          </a:p>
          <a:p>
            <a:pPr lvl="1"/>
            <a:r>
              <a:rPr lang="en-US" sz="2000" dirty="0"/>
              <a:t>在不同负载条件下测得的系统响应</a:t>
            </a:r>
            <a:endParaRPr lang="en-US" altLang="zh-CN" sz="2000" dirty="0"/>
          </a:p>
          <a:p>
            <a:pPr lvl="1"/>
            <a:endParaRPr lang="en-US" altLang="zh-CN" sz="2000" dirty="0"/>
          </a:p>
          <a:p>
            <a:pPr lvl="1" algn="l" fontAlgn="base"/>
            <a:r>
              <a:rPr lang="en-US" sz="2000" dirty="0"/>
              <a:t>适用于正常及极端载荷条件。</a:t>
            </a:r>
            <a:endParaRPr lang="en-US" sz="2000" dirty="0"/>
          </a:p>
          <a:p>
            <a:pPr lvl="1" algn="l" fontAlgn="base"/>
            <a:endParaRPr lang="en-US" sz="2000" dirty="0"/>
          </a:p>
          <a:p>
            <a:pPr lvl="1" algn="l" fontAlgn="base"/>
            <a:r>
              <a:rPr lang="en-US" sz="2000" dirty="0"/>
              <a:t>通过模拟系统承受真实世界负载，以评估其在压力下的性能表现。</a:t>
            </a:r>
            <a:endParaRPr lang="en-US" sz="2000" dirty="0"/>
          </a:p>
          <a:p>
            <a:pPr lvl="1" algn="l" fontAlgn="base"/>
            <a:endParaRPr lang="en-US" sz="2000" dirty="0"/>
          </a:p>
          <a:p>
            <a:pPr lvl="1" algn="l" fontAlgn="base"/>
            <a:r>
              <a:rPr lang="en-US" sz="2000" dirty="0"/>
              <a:t>识别瓶颈并确定系统可处理的极限。</a:t>
            </a:r>
            <a:endParaRPr lang="en-US" sz="2000" dirty="0"/>
          </a:p>
          <a:p>
            <a:pPr lvl="1" algn="l" fontAlgn="base">
              <a:buFont typeface="+mj-lt"/>
              <a:buAutoNum type="arabicPeriod" startAt="3"/>
            </a:pPr>
            <a:endParaRPr lang="en-US" sz="2000" dirty="0"/>
          </a:p>
          <a:p>
            <a:pPr lvl="1" algn="l" fontAlgn="base"/>
            <a:r>
              <a:rPr lang="en-US" sz="2000" dirty="0"/>
              <a:t>确保系统能够应对预期的使用水平</a:t>
            </a:r>
            <a:endParaRPr lang="en-US" sz="20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性能测试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8" y="1294477"/>
            <a:ext cx="11060182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压力测试</a:t>
            </a:r>
            <a:endParaRPr lang="en-US" sz="2000" dirty="0"/>
          </a:p>
          <a:p>
            <a:pPr lvl="1"/>
            <a:r>
              <a:rPr lang="en-US" sz="2000" dirty="0"/>
              <a:t>评估系统在不利条件下的运行状况，并检验其在这些条件下的性能表现。</a:t>
            </a:r>
            <a:endParaRPr lang="en-US" sz="2000" dirty="0"/>
          </a:p>
          <a:p>
            <a:pPr lvl="1"/>
            <a:endParaRPr lang="en-US" altLang="zh-CN" sz="2000" dirty="0"/>
          </a:p>
          <a:p>
            <a:pPr lvl="1" algn="l" fontAlgn="base"/>
            <a:r>
              <a:rPr lang="en-US" sz="2000" dirty="0"/>
              <a:t>旨在集成系统环境下测试软件的运行时性能</a:t>
            </a:r>
            <a:endParaRPr lang="en-US" sz="2000" dirty="0"/>
          </a:p>
          <a:p>
            <a:pPr lvl="1" algn="l" fontAlgn="base">
              <a:buFont typeface="+mj-lt"/>
              <a:buAutoNum type="arabicPeriod"/>
            </a:pPr>
            <a:endParaRPr lang="en-US" sz="2000" dirty="0"/>
          </a:p>
          <a:p>
            <a:pPr lvl="1" algn="l" fontAlgn="base"/>
            <a:r>
              <a:rPr lang="en-US" sz="2000" dirty="0"/>
              <a:t>该方法用于测试程序的速度和有效性。</a:t>
            </a:r>
            <a:endParaRPr lang="en-US" sz="2000" dirty="0"/>
          </a:p>
          <a:p>
            <a:pPr algn="l" fontAlgn="base">
              <a:buFont typeface="+mj-lt"/>
              <a:buAutoNum type="arabicPeriod"/>
            </a:pPr>
            <a:endParaRPr lang="en-US" sz="2000" dirty="0"/>
          </a:p>
          <a:p>
            <a:pPr algn="l" fontAlgn="base">
              <a:buFont typeface="+mj-lt"/>
              <a:buAutoNum type="arabicPeriod"/>
            </a:pPr>
            <a:endParaRPr lang="en-US" sz="20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性能测试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TextBox 3"/>
          <p:cNvSpPr txBox="1"/>
          <p:nvPr/>
        </p:nvSpPr>
        <p:spPr>
          <a:xfrm>
            <a:off x="653397" y="1294477"/>
            <a:ext cx="11418997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可扩展性测试</a:t>
            </a:r>
            <a:endParaRPr lang="en-US" sz="2000" dirty="0"/>
          </a:p>
          <a:p>
            <a:pPr lvl="1"/>
            <a:r>
              <a:rPr lang="en-US" sz="2000" dirty="0"/>
              <a:t>测试系统扩大或缩小用户请求负载数量的能力，以及其他相关性能指标。</a:t>
            </a:r>
            <a:endParaRPr lang="en-US" sz="2000" dirty="0"/>
          </a:p>
          <a:p>
            <a:pPr lvl="1"/>
            <a:endParaRPr lang="en-US" altLang="zh-CN" sz="2000" dirty="0"/>
          </a:p>
          <a:p>
            <a:pPr lvl="1" fontAlgn="base"/>
            <a:r>
              <a:rPr lang="en-US" sz="2000" dirty="0"/>
              <a:t>该操作可在硬件、软件或数据库层面实现。</a:t>
            </a:r>
            <a:endParaRPr lang="en-US" sz="2000" dirty="0"/>
          </a:p>
          <a:p>
            <a:pPr lvl="1" fontAlgn="base"/>
            <a:endParaRPr lang="en-US" sz="2000" dirty="0"/>
          </a:p>
          <a:p>
            <a:pPr lvl="1" fontAlgn="base"/>
            <a:r>
              <a:rPr lang="en-US" sz="2000" dirty="0"/>
              <a:t>确保软件产品能够应对用户流量、数据量、交易频率等各项指标的计划性增长。</a:t>
            </a:r>
            <a:endParaRPr lang="en-US" sz="2000" dirty="0"/>
          </a:p>
          <a:p>
            <a:pPr algn="l" fontAlgn="base">
              <a:buFont typeface="+mj-lt"/>
              <a:buAutoNum type="arabicPeriod"/>
            </a:pPr>
            <a:endParaRPr lang="en-US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653397" y="3867860"/>
            <a:ext cx="11418997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稳定性测试</a:t>
            </a:r>
            <a:endParaRPr lang="en-US" sz="2000" dirty="0"/>
          </a:p>
          <a:p>
            <a:pPr lvl="1"/>
            <a:r>
              <a:rPr lang="en-US" sz="2000" dirty="0"/>
              <a:t>在不同环境参数及随时间变化的条件下，持续无故障地检测软件的质量与运行行为。</a:t>
            </a:r>
            <a:endParaRPr lang="en-US" sz="2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性能测试挑战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7328535" cy="31692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还有多少改进的空间？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Amdahl定律：并行化与局部优化对加速效果的限制</a:t>
            </a:r>
            <a:endParaRPr lang="en-US" sz="2000" dirty="0"/>
          </a:p>
          <a:p>
            <a:pPr lvl="1"/>
            <a:r>
              <a:rPr lang="en-US" sz="2000" dirty="0"/>
              <a:t>屋顶线分析：您是否预计会受到带宽或计算能力的限制？</a:t>
            </a:r>
            <a:endParaRPr lang="en-US" sz="2000" dirty="0"/>
          </a:p>
          <a:p>
            <a:pPr lvl="1"/>
            <a:endParaRPr lang="en-US" sz="2000" dirty="0"/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性能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放缓是局部性的、分散性的，还是突然出现的？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获得可靠的测量数据十分困难。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不一致性、负载依赖性、即时编译（JIT）、非代表性数据集</a:t>
            </a:r>
            <a:endParaRPr lang="en-US" sz="2000" dirty="0"/>
          </a:p>
          <a:p>
            <a:pPr lvl="1"/>
            <a:r>
              <a:rPr lang="en-US" sz="2000" dirty="0"/>
              <a:t>平均情况 vs. 最坏情况</a:t>
            </a:r>
            <a:endParaRPr lang="en-US" sz="2000" dirty="0"/>
          </a:p>
          <a:p>
            <a:pPr lvl="1"/>
            <a:r>
              <a:rPr lang="en-US" sz="2000" dirty="0"/>
              <a:t>延迟与带宽之间的紧张关系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阿姆达尔定律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39265" y="1299109"/>
            <a:ext cx="9123883" cy="3415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加速比：S = T-before / T-after</a:t>
            </a:r>
            <a:endParaRPr lang="en-US" dirty="0"/>
          </a:p>
          <a:p>
            <a:r>
              <a:rPr lang="en-US" dirty="0"/>
              <a:t>识别可优化的运行时成本部分 p</a:t>
            </a:r>
            <a:endParaRPr lang="en-US" dirty="0"/>
          </a:p>
          <a:p>
            <a:pPr lvl="2"/>
            <a:r>
              <a:rPr lang="en-US" dirty="0" err="1"/>
              <a:t>T BEFORE = p*T + (1 - p)*T</a:t>
            </a:r>
            <a:endParaRPr lang="en-US" dirty="0"/>
          </a:p>
          <a:p>
            <a:r>
              <a:rPr lang="en-US" dirty="0"/>
              <a:t>设 s 为该部分优化过程的加速倍数。</a:t>
            </a:r>
            <a:endParaRPr lang="en-US" dirty="0"/>
          </a:p>
          <a:p>
            <a:pPr lvl="2"/>
            <a:r>
              <a:rPr lang="en-US" dirty="0"/>
              <a:t>示例：s = 10，用于在10核机器上进行并行计算。</a:t>
            </a:r>
            <a:endParaRPr lang="en-US" dirty="0"/>
          </a:p>
          <a:p>
            <a:pPr lvl="2"/>
            <a:r>
              <a:rPr lang="en-US" dirty="0"/>
              <a:t>通常对 s → ∞ 时的极限感兴趣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A_</a:t>
            </a:r>
            <a:r>
              <a:rPr lang="en-US" dirty="0" err="1"/>
              <a:t>after = p*T/s + (1 - p)*T</a:t>
            </a:r>
            <a:endParaRPr lang="en-US" dirty="0"/>
          </a:p>
          <a:p>
            <a:endParaRPr lang="en-US" dirty="0"/>
          </a:p>
          <a:p>
            <a:r>
              <a:rPr lang="en-US" dirty="0"/>
              <a:t>S(s) = 1/(1 - p + p/s)</a:t>
            </a:r>
            <a:endParaRPr lang="en-US" dirty="0"/>
          </a:p>
          <a:p>
            <a:endParaRPr lang="en-US" dirty="0"/>
          </a:p>
          <a:p>
            <a:r>
              <a:rPr lang="en-US" dirty="0"/>
              <a:t>S → 1/(1 - p)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3466" y="2750515"/>
            <a:ext cx="4598534" cy="3525836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画像分析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7773" y="1124522"/>
            <a:ext cx="10036454" cy="406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我们如何估算p值？优化工作应重点关注哪些方面？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特征分析技术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en-US" dirty="0"/>
              <a:t>采样：定期中断进程并检查堆栈跟踪信息</a:t>
            </a:r>
            <a:endParaRPr lang="en-US" dirty="0"/>
          </a:p>
          <a:p>
            <a:pPr lvl="4"/>
            <a:r>
              <a:rPr lang="en-US" dirty="0"/>
              <a:t>低开销</a:t>
            </a:r>
            <a:endParaRPr lang="en-US" dirty="0"/>
          </a:p>
          <a:p>
            <a:pPr lvl="4"/>
            <a:r>
              <a:rPr lang="en-US" dirty="0"/>
              <a:t>数据不完整</a:t>
            </a:r>
            <a:endParaRPr lang="en-US" dirty="0"/>
          </a:p>
          <a:p>
            <a:endParaRPr lang="en-US" dirty="0"/>
          </a:p>
          <a:p>
            <a:pPr lvl="2"/>
            <a:r>
              <a:rPr lang="en-US" dirty="0"/>
              <a:t>追踪：每当函数被调用或返回时均进行记录。</a:t>
            </a:r>
            <a:endParaRPr lang="en-US" dirty="0"/>
          </a:p>
          <a:p>
            <a:pPr lvl="4"/>
            <a:r>
              <a:rPr lang="en-US" dirty="0"/>
              <a:t>高开销</a:t>
            </a:r>
            <a:endParaRPr lang="en-US" dirty="0"/>
          </a:p>
          <a:p>
            <a:pPr lvl="4"/>
            <a:r>
              <a:rPr lang="en-US" dirty="0"/>
              <a:t>完整函数计数</a:t>
            </a:r>
            <a:endParaRPr lang="en-US" dirty="0"/>
          </a:p>
          <a:p>
            <a:pPr lvl="4"/>
            <a:r>
              <a:rPr lang="en-US" dirty="0"/>
              <a:t>时间可能被扭曲</a:t>
            </a:r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dirty="0"/>
              <a:t>指令级别：估算每条语句的成本</a:t>
            </a:r>
            <a:endParaRPr lang="en-US" dirty="0"/>
          </a:p>
          <a:p>
            <a:pPr lvl="4"/>
            <a:r>
              <a:rPr lang="en-US" dirty="0"/>
              <a:t>所需 CPU 型号</a:t>
            </a:r>
            <a:endParaRPr lang="en-US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配置文件工具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7773" y="1124522"/>
            <a:ext cx="1003645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特征分析技术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2"/>
            <a:r>
              <a:rPr lang="en-US" dirty="0"/>
              <a:t>原生代码</a:t>
            </a:r>
            <a:endParaRPr lang="en-US" dirty="0"/>
          </a:p>
          <a:p>
            <a:pPr lvl="3"/>
            <a:r>
              <a:rPr lang="en-US" dirty="0"/>
              <a:t>PERF（Linux）</a:t>
            </a:r>
            <a:endParaRPr lang="en-US" dirty="0"/>
          </a:p>
          <a:p>
            <a:pPr lvl="3"/>
            <a:r>
              <a:rPr lang="en-US" dirty="0" err="1"/>
              <a:t>gprof</a:t>
            </a:r>
            <a:endParaRPr lang="en-US" dirty="0"/>
          </a:p>
          <a:p>
            <a:pPr lvl="3"/>
            <a:r>
              <a:rPr lang="en-US" dirty="0" err="1"/>
              <a:t>Callgrind</a:t>
            </a:r>
            <a:endParaRPr lang="en-US" dirty="0"/>
          </a:p>
          <a:p>
            <a:pPr lvl="2"/>
            <a:r>
              <a:rPr lang="en-US" dirty="0"/>
              <a:t>Python</a:t>
            </a:r>
            <a:endParaRPr lang="en-US" dirty="0"/>
          </a:p>
          <a:p>
            <a:pPr lvl="3"/>
            <a:r>
              <a:rPr lang="en-US" dirty="0" err="1"/>
              <a:t>cProfile</a:t>
            </a:r>
            <a:endParaRPr lang="en-US" dirty="0"/>
          </a:p>
          <a:p>
            <a:pPr lvl="2"/>
            <a:r>
              <a:rPr lang="en-US" dirty="0"/>
              <a:t>Java</a:t>
            </a:r>
            <a:endParaRPr lang="en-US" dirty="0"/>
          </a:p>
          <a:p>
            <a:pPr lvl="3"/>
            <a:r>
              <a:rPr lang="en-US" dirty="0" err="1"/>
              <a:t>JProfiler</a:t>
            </a:r>
            <a:endParaRPr lang="en-US" dirty="0"/>
          </a:p>
          <a:p>
            <a:pPr lvl="3"/>
            <a:r>
              <a:rPr lang="en-US" dirty="0" err="1"/>
              <a:t>VisualVM</a:t>
            </a:r>
            <a:endParaRPr lang="en-US" dirty="0"/>
          </a:p>
          <a:p>
            <a:pPr lvl="3"/>
            <a:r>
              <a:rPr lang="en-US" dirty="0"/>
              <a:t>Net Beans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4" y="355508"/>
            <a:ext cx="3907017" cy="69651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954" y="1169698"/>
            <a:ext cx="6119353" cy="219602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592048" y="3570797"/>
            <a:ext cx="6094674" cy="2461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400" dirty="0" err="1"/>
              <a:t>NCALLS：表示</a:t>
            </a:r>
            <a:r>
              <a:rPr lang="zh-CN" altLang="en-US" sz="1400" dirty="0" err="1"/>
              <a:t>调用</a:t>
            </a:r>
            <a:r>
              <a:rPr lang="en-US" sz="1400" dirty="0" err="1"/>
              <a:t>次数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Tottime：在给定函数中花费的总时间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Percall：总</a:t>
            </a:r>
            <a:r>
              <a:rPr lang="zh-CN" altLang="en-US" sz="1400" dirty="0" err="1"/>
              <a:t>调用</a:t>
            </a:r>
            <a:r>
              <a:rPr lang="en-US" sz="1400" dirty="0" err="1"/>
              <a:t>次数除以非通话次数的商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Cumtime：在该子函数及所有子函数中累计花费的时间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 err="1"/>
              <a:t>Percall：累积时间与原始调用次数的商值</a:t>
            </a:r>
            <a:endParaRPr lang="en-US" sz="1400" dirty="0">
              <a:effectLst/>
            </a:endParaRPr>
          </a:p>
          <a:p>
            <a:pPr algn="l"/>
            <a:endParaRPr lang="en-US" sz="1400" dirty="0">
              <a:effectLst/>
            </a:endParaRPr>
          </a:p>
          <a:p>
            <a:pPr algn="l"/>
            <a:r>
              <a:rPr lang="en-US" sz="1400" dirty="0"/>
              <a:t>文件名：lineno（函数）提供了每个函数的相应数据。</a:t>
            </a:r>
            <a:endParaRPr lang="en-US" sz="1400" dirty="0">
              <a:effectLst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监测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60805" y="1395184"/>
            <a:ext cx="11531195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为检测性能下降并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执行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回归</a:t>
            </a:r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测试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，需对性能指标进行日志记录与监控。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可测量CI中的测试持续时间，但</a:t>
            </a:r>
            <a:r>
              <a:rPr lang="zh-CN" altLang="en-US" sz="2000" dirty="0"/>
              <a:t>可能</a:t>
            </a:r>
            <a:r>
              <a:rPr lang="en-US" sz="2000" dirty="0"/>
              <a:t>受益于无负载服务器环境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对于服务而言，还需要监控生产环境中的性能表现。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网络条件和负载是动态变化的。</a:t>
            </a:r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在可扩展的微服务架构中，可能会出现反直觉的瓶颈现象；对错误组件进行扩展会消除有益的背压效应。</a:t>
            </a:r>
            <a:endParaRPr lang="en-US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charset="0"/>
              </a:rPr>
              <a:t>延迟与吞吐量</a:t>
            </a:r>
            <a:endParaRPr 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009497" y="1192378"/>
            <a:ext cx="8486140" cy="25533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延迟</a:t>
            </a:r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：单次触发与系统响应之间的持续时间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“尾部延迟”（例如在特定负载下的第95百分位数）比平均值更为重要。</a:t>
            </a:r>
            <a:endParaRPr lang="en-US" sz="2000" dirty="0"/>
          </a:p>
          <a:p>
            <a:endParaRPr lang="en-US" sz="2000" dirty="0"/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吞吐量：处理固定工作量所需的时间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en-US" sz="2000" dirty="0"/>
              <a:t>通常与工作量有关</a:t>
            </a:r>
            <a:endParaRPr lang="en-US" sz="2000" dirty="0"/>
          </a:p>
          <a:p>
            <a:pPr lvl="2"/>
            <a:r>
              <a:rPr lang="en-US" sz="2000" dirty="0"/>
              <a:t>通常，吞吐量会随工作负载规模的增加而提升，直至达到饱和点。</a:t>
            </a:r>
            <a:endParaRPr lang="en-US" sz="2000" dirty="0"/>
          </a:p>
          <a:p>
            <a:pPr lvl="1"/>
            <a:r>
              <a:rPr lang="en-US" sz="2000" dirty="0"/>
              <a:t>通过批量处理减少开销</a:t>
            </a:r>
            <a:endParaRPr lang="en-US" sz="2000" dirty="0"/>
          </a:p>
          <a:p>
            <a:pPr lvl="2"/>
            <a:r>
              <a:rPr lang="en-US" sz="2000" dirty="0"/>
              <a:t>通常是以牺牲延迟为代价的。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测试文档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671436" y="1237240"/>
            <a:ext cx="961810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每个项目都需要一份测试计划，该计划应详细记录测试流程，以确保测试的全面性、可追溯性，并便于未来的维护工作。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测试计划应包括：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测试方法描述。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测试用例及相关错误列表。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测试运行流程。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测试分析报告。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SQLite：一个示例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564666" y="433211"/>
            <a:ext cx="40822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https://www.sqlite.org/testing.html</a:t>
            </a:r>
            <a:endParaRPr lang="en-US" altLang="zh-CN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184145"/>
            <a:ext cx="10202304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sz="2000" dirty="0"/>
              <a:t>测试代码量是应用程序代码量的640倍。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四个独立开发的测试框架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在实际部署配置下实现100%的分支测试覆盖率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数以百万计的测试用例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内存不足测试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I/O 错误测试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碰撞和断电测试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模糊测试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边界值测试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禁用的优化测试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回归测试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数据库测试异常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广泛使用 assert() 函数及运行时检查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 err="1"/>
              <a:t>瓦格里恩德分析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未定义的行为检查</a:t>
            </a:r>
            <a:endParaRPr lang="en-US" sz="2000" dirty="0"/>
          </a:p>
          <a:p>
            <a:pPr marL="1257300" lvl="2" indent="-342900">
              <a:buFont typeface="Arial" panose="020B0604020202090204" pitchFamily="34" charset="0"/>
              <a:buChar char="•"/>
            </a:pPr>
            <a:r>
              <a:rPr lang="en-US" sz="2000" dirty="0"/>
              <a:t>检查清单</a:t>
            </a:r>
            <a:endParaRPr lang="en-US" sz="20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修复</a:t>
            </a:r>
            <a:r>
              <a:rPr lang="en-US" altLang="zh-CN" dirty="0">
                <a:latin typeface="Times New Roman" panose="02020603050405020304" charset="0"/>
              </a:rPr>
              <a:t>Bug</a:t>
            </a:r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隔离该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间歇性 --&gt; 可重复的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复杂示例 --&gt; 简单示例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了解该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Bug及其背景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根本原因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依赖关系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结构相互作用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修复此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设计变更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文档变更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代码变更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创建新的测试用例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移除</a:t>
            </a:r>
            <a:r>
              <a:rPr lang="en-US" altLang="zh-CN" dirty="0">
                <a:latin typeface="Times New Roman" panose="02020603050405020304" charset="0"/>
              </a:rPr>
              <a:t>Bug</a:t>
            </a:r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修复</a:t>
            </a:r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Bug是一个容易出错的过程。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修复一个漏洞时，也要修复其运行环境。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修复漏洞需要进行静态和动态测试。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重复执行所有具有最低相关性的测试（回归测试）。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Bug总是会回来。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当错误修复后，应将该失败用例添加到测试套件中，以便后续进行回归测试。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持久性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大多数人只是应对问题；而最优秀的人则能找出问题的根源，并彻底解决它。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棘手的</a:t>
            </a:r>
            <a:r>
              <a:rPr lang="en-US" altLang="zh-CN" dirty="0">
                <a:latin typeface="Times New Roman" panose="02020603050405020304" charset="0"/>
              </a:rPr>
              <a:t>Bug</a:t>
            </a:r>
            <a:endParaRPr lang="en-US" altLang="zh-CN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某些漏洞可能极难追踪和隔离，间歇性故障尤为如此。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一台大型中央计算机每月会多次停止运行，且未生成任何转储文件或进行其他诊断操作。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该数据库加载程序运行数天后崩溃，且未显示任何诊断信息。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该图像处理系统运行正常，但会消耗大量内存。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这类问题可能需要数月时间才能查明。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关于一个虚构的例子，请参阅：Ellen Ullman所著《The Bug：一部小说》（Doubleday出版社，2003年）。</a:t>
            </a:r>
            <a:endParaRPr lang="en-US" altLang="zh-CN" sz="2000" b="1" i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Times New Roman" panose="02020603050405020304" charset="0"/>
              </a:rPr>
              <a:t>追踪一个棘手的</a:t>
            </a:r>
            <a:r>
              <a:rPr lang="en-US" altLang="zh-CN" sz="2800" dirty="0">
                <a:latin typeface="Times New Roman" panose="02020603050405020304" charset="0"/>
              </a:rPr>
              <a:t>bug：Heisenbug</a:t>
            </a:r>
            <a:endParaRPr lang="en-US" altLang="zh-CN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511464" y="1072586"/>
            <a:ext cx="10854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海森堡漏洞（得名于海森堡不确定性原理）是一种计算机漏洞。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在尝试对其进行研究时，其特性会消失或发生改变。</a:t>
            </a:r>
            <a:endParaRPr 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791" y="2170559"/>
            <a:ext cx="9635836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调试</a:t>
            </a:r>
            <a:r>
              <a:rPr lang="en-US" sz="2000" dirty="0">
                <a:solidFill>
                  <a:schemeClr val="tx1"/>
                </a:solidFill>
              </a:rPr>
              <a:t>时，</a:t>
            </a:r>
            <a:r>
              <a:rPr lang="zh-CN" altLang="en-US" sz="2000" dirty="0">
                <a:solidFill>
                  <a:schemeClr val="tx1"/>
                </a:solidFill>
              </a:rPr>
              <a:t>你</a:t>
            </a:r>
            <a:r>
              <a:rPr lang="en-US" sz="2000" dirty="0">
                <a:solidFill>
                  <a:schemeClr val="tx1"/>
                </a:solidFill>
              </a:rPr>
              <a:t>会逐行执行指令，操作之间的延迟可能比生产环境中的延迟大几个数量级（例如，不同线程之间的交互）。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/>
          </a:p>
          <a:p>
            <a:r>
              <a:rPr lang="en-US" sz="2000" dirty="0">
                <a:solidFill>
                  <a:srgbClr val="C00000"/>
                </a:solidFill>
              </a:rPr>
              <a:t>调试</a:t>
            </a:r>
            <a:r>
              <a:rPr lang="en-US" sz="2000" dirty="0">
                <a:solidFill>
                  <a:schemeClr val="tx1"/>
                </a:solidFill>
              </a:rPr>
              <a:t>期间内存变量的地址可能发生变更（例如，可能影响某些语言中浮点比较所使用的精度）。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>
                <a:solidFill>
                  <a:srgbClr val="C00000"/>
                </a:solidFill>
              </a:rPr>
              <a:t>断言：</a:t>
            </a:r>
            <a:r>
              <a:rPr lang="en-US" sz="2000" dirty="0">
                <a:solidFill>
                  <a:schemeClr val="tx1"/>
                </a:solidFill>
              </a:rPr>
              <a:t>当代码在启用优化选项的情况下编译时，断言通常会被禁用；而在本地开发模式下编译时，断言很可能处于激活状态。（评估断言可能会产生副作用，例如影响运行时性能。）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Times New Roman" panose="02020603050405020304" charset="0"/>
              </a:rPr>
              <a:t>追踪一个棘手的</a:t>
            </a:r>
            <a:r>
              <a:rPr lang="en-US" altLang="zh-CN" sz="2800" dirty="0">
                <a:latin typeface="Times New Roman" panose="02020603050405020304" charset="0"/>
              </a:rPr>
              <a:t>bug：Heisenbug</a:t>
            </a:r>
            <a:endParaRPr lang="en-US" altLang="zh-CN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004455" y="1257816"/>
            <a:ext cx="9635836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</a:rPr>
              <a:t>调试的副作用：</a:t>
            </a:r>
            <a:r>
              <a:rPr lang="en-US" sz="2000" dirty="0">
                <a:solidFill>
                  <a:schemeClr val="tx1"/>
                </a:solidFill>
              </a:rPr>
              <a:t>添加日志记录或打印输出会改变线程之间发生“错误”交错的概率；调试器监视器中检查的表达式可能产生相同的结果，甚至（如果不谨慎）引发副作用。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/>
          </a:p>
          <a:p>
            <a:r>
              <a:rPr lang="en-US" sz="2000" dirty="0">
                <a:solidFill>
                  <a:schemeClr val="tx1"/>
                </a:solidFill>
              </a:rPr>
              <a:t>若在本地或使用模拟服务进行调试，同步调用的延迟将显著降低（降低数个数量级）。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/>
          </a:p>
          <a:p>
            <a:r>
              <a:rPr lang="en-US" sz="2000" dirty="0">
                <a:solidFill>
                  <a:schemeClr val="tx1"/>
                </a:solidFill>
              </a:rPr>
              <a:t>执行顺序取决于操作系统以及运行时可用的资源。许多此类错误仅在遇到特定边缘条件时才会发生。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rgbClr val="C0000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代码中使用随机化可能导致不同运行结果之间出现不一致现象，包括错误的发生。</a:t>
            </a:r>
            <a:endParaRPr lang="en-US" sz="2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Times New Roman" panose="02020603050405020304" charset="0"/>
              </a:rPr>
              <a:t>修复一个</a:t>
            </a:r>
            <a:r>
              <a:rPr lang="en-US" altLang="zh-CN" sz="2800" dirty="0">
                <a:latin typeface="Times New Roman" panose="02020603050405020304" charset="0"/>
              </a:rPr>
              <a:t>Bug反而会给客户带来麻烦</a:t>
            </a:r>
            <a:endParaRPr lang="en-US" altLang="zh-CN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/>
              <a:t>有时客户会开发依赖于某个漏洞的应用程序；修复该漏洞反而会导致应用程序无法正常运行。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该图形包绕Z轴的旋转方向有误。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应用程序在使用模拟器时崩溃，尽管该模拟器本身没有漏洞。（此为对漏洞问题的补偿性修复。）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微软 Internet Explorer 存在的 3 像素渲染问题。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针对这些漏洞，代码都很容易修复，但发布后可能会对现有程序造成问题。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fr-FR" altLang="zh-CN" dirty="0">
                <a:latin typeface="Times New Roman" panose="02020603050405020304" charset="0"/>
              </a:rPr>
              <a:t>关于用户界面测试的说明</a:t>
            </a:r>
            <a:endParaRPr lang="fr-FR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6" y="1394179"/>
            <a:ext cx="961810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用户界面需要进行多类测试。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在设计阶段，会与试用用户进行用户测试，以确保设计方案具备可用性。设计测试还用于开发图形元素并验证需求。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在实施阶段，用户界面需经过单元测试和系统测试的标准流程，以验证实施的可靠性。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最后，将在完整系统上与用户共同进行验收测试。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1335087" y="3977885"/>
            <a:ext cx="9521825" cy="644144"/>
          </a:xfrm>
          <a:prstGeom prst="rect">
            <a:avLst/>
          </a:prstGeom>
        </p:spPr>
        <p:txBody>
          <a:bodyPr wrap="square">
            <a:normAutofit lnSpcReduction="10000"/>
          </a:bodyPr>
          <a:lstStyle/>
          <a:p>
            <a:pPr algn="ctr"/>
            <a:r>
              <a:rPr lang="en-US" altLang="zh-CN" sz="3700" b="1" dirty="0">
                <a:solidFill>
                  <a:schemeClr val="accent1"/>
                </a:solidFill>
                <a:latin typeface="Helvetica" pitchFamily="2" charset="0"/>
                <a:cs typeface="+mn-ea"/>
              </a:rPr>
              <a:t>验收测试与交付</a:t>
            </a:r>
            <a:endParaRPr lang="zh-CN" altLang="en-US" sz="3700" b="1" dirty="0">
              <a:solidFill>
                <a:schemeClr val="accent1"/>
              </a:solidFill>
              <a:latin typeface="Helvetica" pitchFamily="2" charset="0"/>
              <a:cs typeface="+mn-ea"/>
              <a:sym typeface="+mn-lt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819048" y="1319889"/>
            <a:ext cx="2553904" cy="2646878"/>
            <a:chOff x="5865211" y="1319889"/>
            <a:chExt cx="2553904" cy="2646878"/>
          </a:xfrm>
        </p:grpSpPr>
        <p:sp>
          <p:nvSpPr>
            <p:cNvPr id="2" name="文本框 1"/>
            <p:cNvSpPr txBox="1"/>
            <p:nvPr/>
          </p:nvSpPr>
          <p:spPr>
            <a:xfrm>
              <a:off x="5865211" y="1319889"/>
              <a:ext cx="2553904" cy="26468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600" dirty="0">
                  <a:solidFill>
                    <a:schemeClr val="accent1"/>
                  </a:solidFill>
                  <a:latin typeface="Helvetica" pitchFamily="2" charset="0"/>
                  <a:cs typeface="+mn-ea"/>
                  <a:sym typeface="+mn-lt"/>
                </a:rPr>
                <a:t>03</a:t>
              </a:r>
              <a:endParaRPr lang="zh-CN" altLang="en-US" sz="16600" dirty="0">
                <a:solidFill>
                  <a:schemeClr val="accent1"/>
                </a:solidFill>
                <a:latin typeface="Helvetica" pitchFamily="2" charset="0"/>
                <a:cs typeface="+mn-ea"/>
                <a:sym typeface="+mn-lt"/>
              </a:endParaRPr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5865211" y="2574748"/>
              <a:ext cx="255390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dist"/>
              <a:r>
                <a:rPr lang="en-US" altLang="zh-CN" sz="2400" dirty="0">
                  <a:solidFill>
                    <a:schemeClr val="accent1"/>
                  </a:solidFill>
                  <a:latin typeface="Helvetica" pitchFamily="2" charset="0"/>
                  <a:cs typeface="Arial" panose="020B0604020202090204" pitchFamily="34" charset="0"/>
                  <a:sym typeface="+mn-lt"/>
                </a:rPr>
                <a:t>第三部分</a:t>
              </a:r>
              <a:endParaRPr lang="zh-CN" altLang="en-US" sz="2400" dirty="0">
                <a:solidFill>
                  <a:schemeClr val="accent1"/>
                </a:solidFill>
                <a:latin typeface="Helvetica" pitchFamily="2" charset="0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dirty="0">
                <a:latin typeface="Times New Roman" panose="02020603050405020304" charset="0"/>
              </a:rPr>
              <a:t>验收测试</a:t>
            </a:r>
            <a:endParaRPr lang="en-US" altLang="zh-CN" sz="60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746411"/>
            <a:ext cx="111639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验收测试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整个系统（包括文档、培训材料、安装脚本等）均在开发人员协助下，由客户根据相关要求进行测试。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每项要求均单独进行测试。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场景用于将预期结果与系统实际执行的结果进行比较。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重点在于该系统如何处理问题、错误、重启及其他困难情况。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我们构建的系统就是您想要的系统吗？它是否满足您的需求？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en-US" altLang="zh-CN" sz="2800" dirty="0">
                <a:latin typeface="Times New Roman" panose="02020603050405020304" charset="0"/>
              </a:rPr>
              <a:t>改进瀑布模型中的验收测试</a:t>
            </a:r>
            <a:endParaRPr lang="en-US" altLang="zh-CN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8201" y="1122039"/>
            <a:ext cx="9275597" cy="5003809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rmAutofit/>
          </a:bodyPr>
          <a:lstStyle/>
          <a:p>
            <a:r>
              <a:rPr lang="en-US" altLang="zh-CN" sz="2800" dirty="0">
                <a:latin typeface="Times New Roman" panose="02020603050405020304" charset="0"/>
              </a:rPr>
              <a:t>采用迭代开发方法进行验收测试</a:t>
            </a:r>
            <a:endParaRPr lang="en-US" altLang="zh-CN" sz="2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TextBox 3"/>
          <p:cNvSpPr txBox="1"/>
          <p:nvPr/>
        </p:nvSpPr>
        <p:spPr>
          <a:xfrm>
            <a:off x="572375" y="1937068"/>
            <a:ext cx="1116399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迭代开发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en-US" altLang="zh-CN" sz="2000" dirty="0"/>
              <a:t>如果客户能够充分参与开发周期：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客户已对系统的多个部分进行了测试，例如：</a:t>
            </a:r>
            <a:endParaRPr lang="en-US" altLang="zh-CN" sz="2000" dirty="0"/>
          </a:p>
          <a:p>
            <a:pPr lvl="2"/>
            <a:r>
              <a:rPr lang="en-US" altLang="zh-CN" sz="2000" dirty="0"/>
              <a:t>在每次迭代结束时</a:t>
            </a:r>
            <a:endParaRPr lang="en-US" altLang="zh-CN" sz="2000" dirty="0"/>
          </a:p>
          <a:p>
            <a:pPr lvl="2"/>
            <a:r>
              <a:rPr lang="en-US" altLang="zh-CN" sz="2000" dirty="0"/>
              <a:t>用户测试期间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en-US" altLang="zh-CN" sz="2000" dirty="0"/>
              <a:t>相关问题及改进建议已纳入该系统。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但：最终系统在发布前仍需经过验收测试。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敏捷开发中的验收测试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62948" y="2339278"/>
            <a:ext cx="11163995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增量开发：</a:t>
            </a:r>
            <a:endParaRPr lang="en-US" altLang="zh-CN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验收测试对敏捷开发尤其重要，因为每个冲刺（</a:t>
            </a:r>
            <a:r>
              <a:rPr lang="en-US" altLang="zh-CN" sz="2000" dirty="0"/>
              <a:t>sprint</a:t>
            </a:r>
            <a:r>
              <a:rPr lang="zh-CN" altLang="en-US" sz="2000" dirty="0"/>
              <a:t>）应以准备好发布的完整代码结束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每个冲刺应是一个完整的开发过程，以客户验收测试和发布结束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如果多个冲刺相互构建，每个冲刺可能需要重复早期冲刺的验收测试，以检查它们仍然满足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验收测试的资源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3"/>
          <p:cNvSpPr txBox="1"/>
          <p:nvPr/>
        </p:nvSpPr>
        <p:spPr>
          <a:xfrm>
            <a:off x="572375" y="2302596"/>
            <a:ext cx="11163995" cy="1630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验收测试是软件项目的重要组成部分。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它需要时间（在日程安排中）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大量投资（测试数据、设备、测试软件）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优秀的人员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帮助系统和培训材料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验收测试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582387"/>
            <a:ext cx="9550399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由客户在黑盒条件下进行，不了解内部细节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整个系统作为一个整体进行测试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重点是系统是否满足需求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测试应使用真实数据在现实情景中，与实际用户、管理员和操作员一起进行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342900" indent="-342900">
              <a:buFont typeface="Arial" panose="020B0604020202090204" pitchFamily="34" charset="0"/>
              <a:buChar char="•"/>
            </a:pP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在新系统上线或替换旧系统之前，必须成功完成验收测试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>
              <a:buNone/>
            </a:pP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indent="0"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完成验收测试可能是系统付款的合同要求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发布技术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990783" y="1141118"/>
            <a:ext cx="9550399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从生产系统的前一版本过渡到新版本是有挑战性的。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505122"/>
                </a:solidFill>
              </a:rPr>
              <a:t>并行测试：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客户同时操作新旧系统，使用相同数据，比较结果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Alpha测试：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客户在现实但非生产环境中操作系统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Beta测试：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客户在严格监控的生产环境中操作系统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A/B测试：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r>
              <a:rPr lang="zh-CN" altLang="en-US" sz="2000" dirty="0"/>
              <a:t>比较两个系统版本，确定哪个表现更好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发布：并行测试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921752"/>
            <a:ext cx="9550399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并行测试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对于数据处理系统（如财务系统、工资系统等），旧系统和新系统一起运行多个生产周期，以检查新系统是否复现旧系统的功能。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需要两套资源（人员、设备等）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需要控制切换的软件（例如不要邮寄两份付款）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需要自动化脚本比较结果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可能需要数月。通常，新系统会分阶段投入生产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dirty="0">
                <a:latin typeface="Times New Roman" panose="02020603050405020304" charset="0"/>
              </a:rPr>
              <a:t>发布：</a:t>
            </a:r>
            <a:r>
              <a:rPr lang="en-US" altLang="zh-CN" dirty="0">
                <a:latin typeface="Times New Roman" panose="02020603050405020304" charset="0"/>
              </a:rPr>
              <a:t>Alpha</a:t>
            </a:r>
            <a:r>
              <a:rPr lang="zh-CN" altLang="en-US" dirty="0">
                <a:latin typeface="Times New Roman" panose="02020603050405020304" charset="0"/>
              </a:rPr>
              <a:t>和</a:t>
            </a:r>
            <a:r>
              <a:rPr lang="en-US" altLang="zh-CN" dirty="0">
                <a:latin typeface="Times New Roman" panose="02020603050405020304" charset="0"/>
              </a:rPr>
              <a:t>Beta</a:t>
            </a:r>
            <a:r>
              <a:rPr lang="zh-CN" altLang="en-US" dirty="0">
                <a:latin typeface="Times New Roman" panose="02020603050405020304" charset="0"/>
              </a:rPr>
              <a:t>测试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48304" y="1612081"/>
            <a:ext cx="9550399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测试可在缺少某些功能时进行。</a:t>
            </a:r>
            <a:r>
              <a:rPr lang="en-US" altLang="zh-CN" sz="2000" dirty="0"/>
              <a:t>Beta</a:t>
            </a:r>
            <a:r>
              <a:rPr lang="zh-CN" altLang="en-US" sz="2000" dirty="0"/>
              <a:t>测试需要全功能系统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0" indent="0">
              <a:buNone/>
            </a:pPr>
            <a:r>
              <a:rPr lang="en-US" altLang="zh-CN" sz="2000" b="1" dirty="0">
                <a:solidFill>
                  <a:srgbClr val="505122"/>
                </a:solidFill>
              </a:rPr>
              <a:t>Alpha</a:t>
            </a:r>
            <a:r>
              <a:rPr lang="zh-CN" altLang="en-US" sz="2000" b="1" dirty="0">
                <a:solidFill>
                  <a:srgbClr val="505122"/>
                </a:solidFill>
              </a:rPr>
              <a:t>和</a:t>
            </a:r>
            <a:r>
              <a:rPr lang="en-US" altLang="zh-CN" sz="2000" b="1" dirty="0">
                <a:solidFill>
                  <a:srgbClr val="505122"/>
                </a:solidFill>
              </a:rPr>
              <a:t>Beta</a:t>
            </a:r>
            <a:r>
              <a:rPr lang="zh-CN" altLang="en-US" sz="2000" b="1" dirty="0">
                <a:solidFill>
                  <a:srgbClr val="505122"/>
                </a:solidFill>
              </a:rPr>
              <a:t>测试必须被管理</a:t>
            </a:r>
            <a:endParaRPr lang="en-US" altLang="zh-CN" sz="2000" dirty="0"/>
          </a:p>
          <a:p>
            <a:pPr lvl="0" indent="0">
              <a:buNone/>
            </a:pPr>
            <a:r>
              <a:rPr lang="zh-CN" altLang="en-US" sz="2000" dirty="0"/>
              <a:t>如果你只是把软件版本提供给客户：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许多客户永远不会使用它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其他客户只会使用少数功能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只有少数客户会系统地进行测试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只有少数客户会系统地报告问题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endParaRPr lang="en-US" altLang="zh-CN" sz="2000" dirty="0"/>
          </a:p>
          <a:p>
            <a:pPr lvl="0" indent="0">
              <a:buNone/>
            </a:pPr>
            <a:r>
              <a:rPr lang="zh-CN" altLang="en-US" sz="2000" dirty="0"/>
              <a:t>你能给客户什么激励来让他们为你测试软件？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财务激励（例如产品折扣）</a:t>
            </a:r>
            <a:endParaRPr lang="en-US" altLang="zh-CN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声望激励（例如认可、宣传）</a:t>
            </a:r>
            <a:r>
              <a:rPr lang="en-US" altLang="zh-CN" sz="2000" dirty="0"/>
              <a:t> 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charset="0"/>
              </a:rPr>
              <a:t>发布：</a:t>
            </a:r>
            <a:r>
              <a:rPr lang="en-US" altLang="zh-CN" dirty="0">
                <a:latin typeface="Times New Roman" panose="02020603050405020304" charset="0"/>
              </a:rPr>
              <a:t>A/B</a:t>
            </a:r>
            <a:r>
              <a:rPr lang="zh-CN" altLang="en-US" dirty="0">
                <a:latin typeface="Times New Roman" panose="02020603050405020304" charset="0"/>
              </a:rPr>
              <a:t>测试</a:t>
            </a:r>
            <a:endParaRPr lang="zh-CN" altLang="en-US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146976" y="1377032"/>
            <a:ext cx="10371924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/>
              <a:t>在</a:t>
            </a:r>
            <a:r>
              <a:rPr lang="en-US" altLang="zh-CN" sz="2000" dirty="0"/>
              <a:t>A/B</a:t>
            </a:r>
            <a:r>
              <a:rPr lang="zh-CN" altLang="en-US" sz="2000" dirty="0"/>
              <a:t>测试中，你取一个网页或应用屏幕，修改它以创建第二个版本。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一半的流量看到原始版本（称为对照组或</a:t>
            </a:r>
            <a:r>
              <a:rPr lang="en-US" altLang="zh-CN" sz="2000" dirty="0"/>
              <a:t>A</a:t>
            </a:r>
            <a:r>
              <a:rPr lang="zh-CN" altLang="en-US" sz="2000" dirty="0"/>
              <a:t>），另一半看到修改版本（变体或</a:t>
            </a:r>
            <a:r>
              <a:rPr lang="en-US" altLang="zh-CN" sz="2000" dirty="0"/>
              <a:t>B</a:t>
            </a:r>
            <a:r>
              <a:rPr lang="zh-CN" altLang="en-US" sz="2000" dirty="0"/>
              <a:t>）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当访问者被分配到对照组或变体时，他们的互动数据被收集并通过统计分析</a:t>
            </a:r>
            <a:endParaRPr lang="zh-CN" altLang="en-US" sz="2000" dirty="0"/>
          </a:p>
          <a:p>
            <a:endParaRPr lang="en-US" altLang="zh-CN" sz="2000" dirty="0"/>
          </a:p>
          <a:p>
            <a:r>
              <a:rPr lang="zh-CN" altLang="en-US" sz="2000" dirty="0"/>
              <a:t>开发者可以确定改变体验（变体或</a:t>
            </a:r>
            <a:r>
              <a:rPr lang="en-US" altLang="zh-CN" sz="2000" dirty="0"/>
              <a:t>B</a:t>
            </a:r>
            <a:r>
              <a:rPr lang="zh-CN" altLang="en-US" sz="2000" dirty="0"/>
              <a:t>）相对于基线（对照组或</a:t>
            </a:r>
            <a:r>
              <a:rPr lang="en-US" altLang="zh-CN" sz="2000" dirty="0"/>
              <a:t>A</a:t>
            </a:r>
            <a:r>
              <a:rPr lang="zh-CN" altLang="en-US" sz="2000" dirty="0"/>
              <a:t>）是产生了正面、负面还是中性的影响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交付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2020812"/>
            <a:ext cx="9550399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好的交付包带来：</a:t>
            </a:r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满意的客户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满意的用户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更少的支持和维护费用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但是许多项目匆忙处理打包、帮助系统和培训材料，交给经验最少的团队成员，未充分测试，普遍忽视软件过程的这一部分。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交付系统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2020812"/>
            <a:ext cx="9550399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完美是你最大的</a:t>
            </a:r>
            <a:r>
              <a:rPr lang="zh-CN" altLang="en-US" sz="2000" b="1" dirty="0">
                <a:solidFill>
                  <a:srgbClr val="505122"/>
                </a:solidFill>
                <a:latin typeface="Helvetica" pitchFamily="2" charset="0"/>
                <a:cs typeface="Arial" panose="020B0604020202090204" pitchFamily="34" charset="0"/>
              </a:rPr>
              <a:t>敌人。</a:t>
            </a:r>
            <a:endParaRPr lang="zh-CN" altLang="en-US" sz="2000" b="1" dirty="0">
              <a:solidFill>
                <a:srgbClr val="505122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没有系统是完美的。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如果你坚持完美：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你永远不会发布任何东西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lvl="1"/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你仍然永远达不到完美（因为最终的测试来自用户）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了解满足客户的关键是什么，并专注于它。</a:t>
            </a:r>
            <a:endParaRPr lang="zh-CN" altLang="en-US" sz="2000" b="1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交付系统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10596" y="1868335"/>
            <a:ext cx="9550399" cy="25533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赶产品上市和投入运营的压力常常导致糟糕的决策。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必须在打包成本、未来支持和维护成本以及后期问题风险之间做出权衡。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所有这些都是昂贵的，但根据经验，延迟带来的痛点通常小于将糟糕系统投入使用的痛</a:t>
            </a:r>
            <a:r>
              <a:rPr lang="zh-CN" altLang="en-US" sz="2000" dirty="0">
                <a:solidFill>
                  <a:srgbClr val="FF0000"/>
                </a:solidFill>
                <a:latin typeface="Helvetica" pitchFamily="2" charset="0"/>
                <a:cs typeface="Arial" panose="020B0604020202090204" pitchFamily="34" charset="0"/>
              </a:rPr>
              <a:t>点。</a:t>
            </a:r>
            <a:endParaRPr lang="zh-CN" altLang="en-US" sz="2000" dirty="0">
              <a:solidFill>
                <a:srgbClr val="FF0000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不同类别的软件产品需要不同的打包和交付程序。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软件交付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02976" y="1418755"/>
            <a:ext cx="9550399" cy="5015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压缩包或互联网下载的软件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安装脚本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自动化，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应多种硬件和操作系统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卸载、重新安装等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支持（如果需要人员则非常昂贵）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培训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文档（用户、系统管理员、高级用户）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维护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客户没有源代码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只能通过新版本修复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软件交付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830312"/>
            <a:ext cx="9550399" cy="3476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数据处理系统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验收期可能持续数月。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客户应对完整系统感到舒适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支持：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客户应能自给自足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系统管理员和操作员的文档和培训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组织良好的源代码以便维护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维护和支持合同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软件交付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8789" y="1540752"/>
            <a:ext cx="9550399" cy="4092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嵌入式系统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验收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硬件和软件一起开发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验收测试是组合的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维护：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修复</a:t>
            </a:r>
            <a:r>
              <a:rPr lang="en-US" altLang="zh-CN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bug</a:t>
            </a: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可能需要硬件服务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错误可能昂贵或危险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支持：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支持人员培训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用户文档和培训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培训与可用性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345" y="1466215"/>
            <a:ext cx="9550400" cy="5163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设计良好的系统需要更少的培训：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良好的概念模型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直观的界面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不同技能水平需要不同类型的培训：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熟练用户从概念模型工作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技能较低的用户更喜欢菜谱式指令集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偶尔使用的用户会忘记复杂细节，但记住整体结构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800" dirty="0">
                <a:latin typeface="Times New Roman" panose="02020603050405020304" charset="0"/>
              </a:rPr>
              <a:t>帮助系统</a:t>
            </a:r>
            <a:endParaRPr lang="zh-CN" altLang="en-US" sz="48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921752"/>
            <a:ext cx="9550399" cy="2245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资源：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好的帮助系统是一个重要的子项目（耗时、昂贵）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好的帮助系统节省用户时间和支持成本（省时、省钱）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帮助系统设计：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用户需要多种途径查找信息（按多个术语索引、示例、迷你教程等）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帮助系统需要与实际用户一起测试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文档类别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1426452"/>
            <a:ext cx="9550399" cy="4399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05122"/>
                </a:solidFill>
              </a:rPr>
              <a:t>软件开发：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需求、设计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源代码、测试计划和结果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用户：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入门指南（针对不同受众）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用户手册</a:t>
            </a:r>
            <a:endParaRPr lang="zh-CN" altLang="en-US" sz="2000" dirty="0"/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已知问题和</a:t>
            </a:r>
            <a:r>
              <a:rPr lang="en-US" altLang="zh-CN" sz="2000" dirty="0"/>
              <a:t>FAQ</a:t>
            </a:r>
            <a:r>
              <a:rPr lang="zh-CN" altLang="en-US" sz="2000" dirty="0"/>
              <a:t>网站等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系统管理员和操作员：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系统手册</a:t>
            </a:r>
            <a:endParaRPr lang="zh-CN" altLang="en-US" sz="2000" dirty="0"/>
          </a:p>
          <a:p>
            <a:endParaRPr lang="en-US" altLang="zh-CN" sz="2000" dirty="0"/>
          </a:p>
          <a:p>
            <a:pPr algn="l">
              <a:buClrTx/>
              <a:buSzTx/>
              <a:buFontTx/>
            </a:pPr>
            <a:r>
              <a:rPr lang="zh-CN" altLang="en-US" sz="2000" b="1" dirty="0">
                <a:solidFill>
                  <a:srgbClr val="505122"/>
                </a:solidFill>
              </a:rPr>
              <a:t>商业：</a:t>
            </a:r>
            <a:endParaRPr lang="zh-CN" altLang="en-US" sz="2000" b="1" dirty="0">
              <a:solidFill>
                <a:srgbClr val="505122"/>
              </a:solidFill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/>
              <a:t>许可证、合同等</a:t>
            </a:r>
            <a:endParaRPr lang="zh-CN" altLang="en-US" sz="20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安装工具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2828532"/>
            <a:ext cx="9550399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创建安装脚本可能是一个重要的子项目。</a:t>
            </a:r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不同类别的软件需要不同的脚本、工具和程序。</a:t>
            </a:r>
            <a:endParaRPr lang="en-US" altLang="zh-CN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必须与实际用户在其自身环境中进行广泛测试。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1254" y="237834"/>
            <a:ext cx="9099225" cy="790865"/>
          </a:xfrm>
        </p:spPr>
        <p:txBody>
          <a:bodyPr>
            <a:noAutofit/>
          </a:bodyPr>
          <a:lstStyle/>
          <a:p>
            <a:r>
              <a:rPr lang="zh-CN" altLang="en-US" sz="4400" dirty="0">
                <a:latin typeface="Times New Roman" panose="02020603050405020304" charset="0"/>
              </a:rPr>
              <a:t>交付：维护</a:t>
            </a:r>
            <a:endParaRPr lang="zh-CN" altLang="en-US" sz="4400" dirty="0">
              <a:latin typeface="Times New Roman" panose="0202060305040502030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15AB8F-1C56-49E9-90C8-78D22B0C1B97}" type="slidenum">
              <a:rPr lang="zh-CN" altLang="en-US" smtClean="0"/>
            </a:fld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601169" y="2752332"/>
            <a:ext cx="9550399" cy="1938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515223"/>
                </a:solidFill>
                <a:latin typeface="Helvetica" pitchFamily="2" charset="0"/>
                <a:cs typeface="Arial" panose="020B0604020202090204" pitchFamily="34" charset="0"/>
              </a:rPr>
              <a:t>大多数生产程序由非原始编写者的人员维护。</a:t>
            </a:r>
            <a:endParaRPr lang="zh-CN" altLang="en-US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什么因素使程序易于他人维护？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pPr marL="800100" lvl="1" indent="-342900">
              <a:buFont typeface="Arial" panose="020B0604020202090204" pitchFamily="34" charset="0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Helvetica" pitchFamily="2" charset="0"/>
                <a:cs typeface="Arial" panose="020B0604020202090204" pitchFamily="34" charset="0"/>
              </a:rPr>
              <a:t>什么因素使程序难以他人维护？</a:t>
            </a:r>
            <a:endParaRPr lang="zh-CN" altLang="en-US" sz="2000" dirty="0">
              <a:solidFill>
                <a:schemeClr val="tx1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  <a:p>
            <a:endParaRPr lang="en-US" altLang="zh-CN" sz="2000" b="1" dirty="0">
              <a:solidFill>
                <a:srgbClr val="515223"/>
              </a:solidFill>
              <a:latin typeface="Helvetica" pitchFamily="2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主题​​">
  <a:themeElements>
    <a:clrScheme name="SEU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05122"/>
      </a:accent1>
      <a:accent2>
        <a:srgbClr val="FDCA04"/>
      </a:accent2>
      <a:accent3>
        <a:srgbClr val="00529D"/>
      </a:accent3>
      <a:accent4>
        <a:srgbClr val="B01417"/>
      </a:accent4>
      <a:accent5>
        <a:srgbClr val="7F7611"/>
      </a:accent5>
      <a:accent6>
        <a:srgbClr val="5D6B70"/>
      </a:accent6>
      <a:hlink>
        <a:srgbClr val="868A8C"/>
      </a:hlink>
      <a:folHlink>
        <a:srgbClr val="C2C6C8"/>
      </a:folHlink>
    </a:clrScheme>
    <a:fontScheme name="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11189</Words>
  <Application>WPS Presentation</Application>
  <PresentationFormat>宽屏</PresentationFormat>
  <Paragraphs>1435</Paragraphs>
  <Slides>113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113</vt:i4>
      </vt:variant>
    </vt:vector>
  </HeadingPairs>
  <TitlesOfParts>
    <vt:vector size="130" baseType="lpstr">
      <vt:lpstr>Arial</vt:lpstr>
      <vt:lpstr>宋体</vt:lpstr>
      <vt:lpstr>Wingdings</vt:lpstr>
      <vt:lpstr>Helvetica Regular</vt:lpstr>
      <vt:lpstr>微软雅黑</vt:lpstr>
      <vt:lpstr>汉仪旗黑</vt:lpstr>
      <vt:lpstr>Helvetica</vt:lpstr>
      <vt:lpstr>Times New Roman</vt:lpstr>
      <vt:lpstr>宋体</vt:lpstr>
      <vt:lpstr>Arial Unicode MS</vt:lpstr>
      <vt:lpstr>等线</vt:lpstr>
      <vt:lpstr>汉仪中等线KW</vt:lpstr>
      <vt:lpstr>Calibri</vt:lpstr>
      <vt:lpstr>Helvetica Neue</vt:lpstr>
      <vt:lpstr>微软雅黑</vt:lpstr>
      <vt:lpstr>汉仪书宋二KW</vt:lpstr>
      <vt:lpstr>1_Office 主题​​</vt:lpstr>
      <vt:lpstr>PowerPoint 演示文稿</vt:lpstr>
      <vt:lpstr>提醒</vt:lpstr>
      <vt:lpstr>提醒</vt:lpstr>
      <vt:lpstr>提醒</vt:lpstr>
      <vt:lpstr>PowerPoint 演示文稿</vt:lpstr>
      <vt:lpstr>Bug、故障和失效</vt:lpstr>
      <vt:lpstr>术语</vt:lpstr>
      <vt:lpstr>需求的失效</vt:lpstr>
      <vt:lpstr>失效案例研究</vt:lpstr>
      <vt:lpstr>案例分析</vt:lpstr>
      <vt:lpstr>案例研究：软件教训</vt:lpstr>
      <vt:lpstr>可靠软件的关键因素</vt:lpstr>
      <vt:lpstr>构建可靠系统：组织文化</vt:lpstr>
      <vt:lpstr>构建可靠系统：组织文化示例</vt:lpstr>
      <vt:lpstr>构建可靠软件：质量管理流程</vt:lpstr>
      <vt:lpstr>构建可靠软件：质量管理流程</vt:lpstr>
      <vt:lpstr>构建可靠软件：与客户沟通</vt:lpstr>
      <vt:lpstr>构建可靠软件：复杂性</vt:lpstr>
      <vt:lpstr>构建可靠软件：变更</vt:lpstr>
      <vt:lpstr>构建可靠软件：容错</vt:lpstr>
      <vt:lpstr>容错：恢复</vt:lpstr>
      <vt:lpstr>构建可靠软件：小团队和小项目</vt:lpstr>
      <vt:lpstr>可靠性度量</vt:lpstr>
      <vt:lpstr>分布式系统的可靠性度量</vt:lpstr>
      <vt:lpstr>度量：用户对可靠性的感知</vt:lpstr>
      <vt:lpstr>需求的可靠性度量示例</vt:lpstr>
      <vt:lpstr>提高可靠性的成本示例</vt:lpstr>
      <vt:lpstr>示例：中央计算系统</vt:lpstr>
      <vt:lpstr>示例：中央计算系统</vt:lpstr>
      <vt:lpstr>示例：中央计算系统</vt:lpstr>
      <vt:lpstr>PowerPoint 演示文稿</vt:lpstr>
      <vt:lpstr>构建可靠系统的两个原则</vt:lpstr>
      <vt:lpstr>静态与动态验证</vt:lpstr>
      <vt:lpstr>静态验证：审查（Review）</vt:lpstr>
      <vt:lpstr>审查</vt:lpstr>
      <vt:lpstr>审查会议</vt:lpstr>
      <vt:lpstr>审查的好处</vt:lpstr>
      <vt:lpstr>成功审查的要点</vt:lpstr>
      <vt:lpstr>静态验证：结对设计和结对编程</vt:lpstr>
      <vt:lpstr>静态验证：程序检查</vt:lpstr>
      <vt:lpstr>静态验证：分析工具</vt:lpstr>
      <vt:lpstr>静态分析工具（续）</vt:lpstr>
      <vt:lpstr>编程工具包中的静态分析工具</vt:lpstr>
      <vt:lpstr>编程工具包中的静态分析工具</vt:lpstr>
      <vt:lpstr>动态验证</vt:lpstr>
      <vt:lpstr>动态验证</vt:lpstr>
      <vt:lpstr>软件测试类型</vt:lpstr>
      <vt:lpstr>术语</vt:lpstr>
      <vt:lpstr>术语</vt:lpstr>
      <vt:lpstr>术语</vt:lpstr>
      <vt:lpstr>单元测试设计</vt:lpstr>
      <vt:lpstr>测试用例</vt:lpstr>
      <vt:lpstr>语句覆盖率</vt:lpstr>
      <vt:lpstr>分支覆盖率</vt:lpstr>
      <vt:lpstr>路径覆盖率</vt:lpstr>
      <vt:lpstr>模糊测试</vt:lpstr>
      <vt:lpstr>单元测试：Java示例</vt:lpstr>
      <vt:lpstr>单元测试：Java示例</vt:lpstr>
      <vt:lpstr>单元测试：Java示例</vt:lpstr>
      <vt:lpstr>单元测试：Java示例</vt:lpstr>
      <vt:lpstr>单元测试：Java示例</vt:lpstr>
      <vt:lpstr>系统测试和集成测试</vt:lpstr>
      <vt:lpstr>增量测试</vt:lpstr>
      <vt:lpstr>PowerPoint 演示文稿</vt:lpstr>
      <vt:lpstr>增量测试示例</vt:lpstr>
      <vt:lpstr>PowerPoint 演示文稿</vt:lpstr>
      <vt:lpstr>回归测试</vt:lpstr>
      <vt:lpstr>回归测试</vt:lpstr>
      <vt:lpstr>连续集成（Continous Integration, CI）</vt:lpstr>
      <vt:lpstr>CI决策</vt:lpstr>
      <vt:lpstr>自动化、速度与基础设施</vt:lpstr>
      <vt:lpstr>非功能性测试</vt:lpstr>
      <vt:lpstr>性能漏洞</vt:lpstr>
      <vt:lpstr>性能测试</vt:lpstr>
      <vt:lpstr>性能测试</vt:lpstr>
      <vt:lpstr>性能测试</vt:lpstr>
      <vt:lpstr>性能测试挑战</vt:lpstr>
      <vt:lpstr>阿姆达尔定律</vt:lpstr>
      <vt:lpstr>画像分析</vt:lpstr>
      <vt:lpstr>配置文件工具</vt:lpstr>
      <vt:lpstr>监测</vt:lpstr>
      <vt:lpstr>延迟与吞吐量</vt:lpstr>
      <vt:lpstr>测试文档</vt:lpstr>
      <vt:lpstr>SQLite：一个示例</vt:lpstr>
      <vt:lpstr>修复漏洞</vt:lpstr>
      <vt:lpstr>移除Bug</vt:lpstr>
      <vt:lpstr>棘手的Bug</vt:lpstr>
      <vt:lpstr>追踪一个棘手的bug：Heisenbug</vt:lpstr>
      <vt:lpstr>追踪一个棘手的bug：Heisenbug</vt:lpstr>
      <vt:lpstr>修复一个Bug反而会给客户带来麻烦</vt:lpstr>
      <vt:lpstr>关于用户界面测试的说明</vt:lpstr>
      <vt:lpstr>PowerPoint 演示文稿</vt:lpstr>
      <vt:lpstr>验收测试</vt:lpstr>
      <vt:lpstr>改进瀑布模型中的验收测试</vt:lpstr>
      <vt:lpstr>采用迭代开发方法进行验收测试</vt:lpstr>
      <vt:lpstr>敏捷开发中的验收测试</vt:lpstr>
      <vt:lpstr>验收测试的资源</vt:lpstr>
      <vt:lpstr>验收测试</vt:lpstr>
      <vt:lpstr>发布技术</vt:lpstr>
      <vt:lpstr>发布：并行测试</vt:lpstr>
      <vt:lpstr>发布：Alpha和Beta测试</vt:lpstr>
      <vt:lpstr>发布：A/B测试</vt:lpstr>
      <vt:lpstr>交付</vt:lpstr>
      <vt:lpstr>交付系统</vt:lpstr>
      <vt:lpstr>交付系统</vt:lpstr>
      <vt:lpstr>软件交付</vt:lpstr>
      <vt:lpstr>软件交付</vt:lpstr>
      <vt:lpstr>软件交付</vt:lpstr>
      <vt:lpstr>培训与可用性</vt:lpstr>
      <vt:lpstr>帮助系统</vt:lpstr>
      <vt:lpstr>文档类别</vt:lpstr>
      <vt:lpstr>安装工具</vt:lpstr>
      <vt:lpstr>交付：维护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子豪 任</dc:creator>
  <cp:lastModifiedBy>刘光迟</cp:lastModifiedBy>
  <cp:revision>1232</cp:revision>
  <dcterms:created xsi:type="dcterms:W3CDTF">2026-05-07T05:34:13Z</dcterms:created>
  <dcterms:modified xsi:type="dcterms:W3CDTF">2026-05-07T05:34:13Z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2C32CC3D7E80B3D75524FC691C024943_43</vt:lpwstr>
  </property>
  <property fmtid="{D5CDD505-2E9C-101B-9397-08002B2CF9AE}" pid="3" name="KSOProductBuildVer">
    <vt:lpwstr>1033-7.2.2.8955</vt:lpwstr>
  </property>
</Properties>
</file>